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6" r:id="rId2"/>
    <p:sldId id="257" r:id="rId3"/>
    <p:sldId id="280" r:id="rId4"/>
    <p:sldId id="279" r:id="rId5"/>
    <p:sldId id="277" r:id="rId6"/>
    <p:sldId id="258" r:id="rId7"/>
    <p:sldId id="272" r:id="rId8"/>
    <p:sldId id="276" r:id="rId9"/>
    <p:sldId id="282" r:id="rId10"/>
    <p:sldId id="287" r:id="rId11"/>
    <p:sldId id="288" r:id="rId12"/>
    <p:sldId id="289" r:id="rId13"/>
    <p:sldId id="290" r:id="rId14"/>
    <p:sldId id="291" r:id="rId15"/>
    <p:sldId id="308" r:id="rId16"/>
    <p:sldId id="309" r:id="rId17"/>
    <p:sldId id="292" r:id="rId18"/>
    <p:sldId id="283" r:id="rId19"/>
    <p:sldId id="286" r:id="rId20"/>
    <p:sldId id="285" r:id="rId21"/>
    <p:sldId id="284" r:id="rId22"/>
    <p:sldId id="275" r:id="rId23"/>
    <p:sldId id="281" r:id="rId24"/>
    <p:sldId id="278" r:id="rId25"/>
    <p:sldId id="274" r:id="rId26"/>
    <p:sldId id="273" r:id="rId27"/>
    <p:sldId id="271" r:id="rId28"/>
    <p:sldId id="270" r:id="rId29"/>
    <p:sldId id="269" r:id="rId30"/>
    <p:sldId id="268" r:id="rId31"/>
    <p:sldId id="263" r:id="rId32"/>
    <p:sldId id="267" r:id="rId33"/>
    <p:sldId id="266" r:id="rId34"/>
    <p:sldId id="306" r:id="rId35"/>
    <p:sldId id="301" r:id="rId36"/>
    <p:sldId id="339" r:id="rId37"/>
    <p:sldId id="293" r:id="rId38"/>
    <p:sldId id="295" r:id="rId39"/>
    <p:sldId id="294" r:id="rId40"/>
    <p:sldId id="262" r:id="rId41"/>
    <p:sldId id="261" r:id="rId42"/>
    <p:sldId id="260" r:id="rId43"/>
    <p:sldId id="307" r:id="rId44"/>
    <p:sldId id="317" r:id="rId45"/>
    <p:sldId id="318" r:id="rId46"/>
    <p:sldId id="320" r:id="rId47"/>
    <p:sldId id="321" r:id="rId48"/>
    <p:sldId id="322" r:id="rId49"/>
    <p:sldId id="325" r:id="rId50"/>
    <p:sldId id="324" r:id="rId51"/>
    <p:sldId id="323" r:id="rId52"/>
    <p:sldId id="328" r:id="rId53"/>
    <p:sldId id="327" r:id="rId54"/>
    <p:sldId id="326" r:id="rId55"/>
    <p:sldId id="329" r:id="rId56"/>
    <p:sldId id="330" r:id="rId57"/>
    <p:sldId id="331" r:id="rId58"/>
    <p:sldId id="340" r:id="rId59"/>
    <p:sldId id="342" r:id="rId60"/>
    <p:sldId id="343" r:id="rId61"/>
    <p:sldId id="332" r:id="rId62"/>
    <p:sldId id="333" r:id="rId63"/>
    <p:sldId id="336" r:id="rId64"/>
    <p:sldId id="335" r:id="rId65"/>
    <p:sldId id="334" r:id="rId66"/>
    <p:sldId id="337" r:id="rId67"/>
    <p:sldId id="344" r:id="rId68"/>
    <p:sldId id="345" r:id="rId69"/>
    <p:sldId id="346" r:id="rId70"/>
    <p:sldId id="338" r:id="rId71"/>
    <p:sldId id="310" r:id="rId72"/>
    <p:sldId id="311" r:id="rId73"/>
    <p:sldId id="312" r:id="rId74"/>
    <p:sldId id="313" r:id="rId75"/>
    <p:sldId id="314" r:id="rId76"/>
    <p:sldId id="315" r:id="rId77"/>
    <p:sldId id="316"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91D8FC-A318-4D2B-839D-4ED87A57DD07}"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2852B10B-00B9-451F-A96F-1537BD3BDF24}">
      <dgm:prSet phldrT="[Text]"/>
      <dgm:spPr/>
      <dgm:t>
        <a:bodyPr/>
        <a:lstStyle/>
        <a:p>
          <a:r>
            <a:rPr lang="en-US" b="1" dirty="0"/>
            <a:t>COMPUTER SCIENCE AND INFORMATION TECHNOLOGY</a:t>
          </a:r>
        </a:p>
      </dgm:t>
    </dgm:pt>
    <dgm:pt modelId="{87EE7D85-C0A0-4EE0-870D-822B8CBC21D4}" type="parTrans" cxnId="{0B86280D-1D5B-4F49-ADD1-947C6D8A1FA1}">
      <dgm:prSet/>
      <dgm:spPr/>
      <dgm:t>
        <a:bodyPr/>
        <a:lstStyle/>
        <a:p>
          <a:endParaRPr lang="en-US"/>
        </a:p>
      </dgm:t>
    </dgm:pt>
    <dgm:pt modelId="{93696E8E-B8DB-4120-9012-8CDFDACBA04C}" type="sibTrans" cxnId="{0B86280D-1D5B-4F49-ADD1-947C6D8A1FA1}">
      <dgm:prSet/>
      <dgm:spPr/>
      <dgm:t>
        <a:bodyPr/>
        <a:lstStyle/>
        <a:p>
          <a:endParaRPr lang="en-US"/>
        </a:p>
      </dgm:t>
    </dgm:pt>
    <dgm:pt modelId="{338EB083-A2C3-4892-BEF3-72CA1F9EB413}">
      <dgm:prSet phldrT="[Text]"/>
      <dgm:spPr/>
      <dgm:t>
        <a:bodyPr/>
        <a:lstStyle/>
        <a:p>
          <a:r>
            <a:rPr lang="en-US" b="1" u="sng" dirty="0"/>
            <a:t>OPTIMIZATION:</a:t>
          </a:r>
          <a:r>
            <a:rPr lang="en-US" b="1" dirty="0"/>
            <a:t> Enhancing performance of software and hardware through efficient algorithms</a:t>
          </a:r>
          <a:endParaRPr lang="en-US" dirty="0"/>
        </a:p>
      </dgm:t>
    </dgm:pt>
    <dgm:pt modelId="{2FD76FD4-4D61-4654-A66B-171ED391978F}" type="parTrans" cxnId="{2A389400-B8B0-4129-B28B-5F9D90A62BCD}">
      <dgm:prSet/>
      <dgm:spPr/>
      <dgm:t>
        <a:bodyPr/>
        <a:lstStyle/>
        <a:p>
          <a:endParaRPr lang="en-US"/>
        </a:p>
      </dgm:t>
    </dgm:pt>
    <dgm:pt modelId="{77C47FDC-84FD-4B75-AE5F-3F0047D3AFBC}" type="sibTrans" cxnId="{2A389400-B8B0-4129-B28B-5F9D90A62BCD}">
      <dgm:prSet/>
      <dgm:spPr/>
      <dgm:t>
        <a:bodyPr/>
        <a:lstStyle/>
        <a:p>
          <a:endParaRPr lang="en-US"/>
        </a:p>
      </dgm:t>
    </dgm:pt>
    <dgm:pt modelId="{5845372D-3072-45FD-A178-F656F269F00A}">
      <dgm:prSet phldrT="[Text]"/>
      <dgm:spPr/>
      <dgm:t>
        <a:bodyPr/>
        <a:lstStyle/>
        <a:p>
          <a:r>
            <a:rPr lang="en-US" b="1" u="sng" dirty="0"/>
            <a:t>DATABASE MANAGEMENT: </a:t>
          </a:r>
          <a:r>
            <a:rPr lang="en-US" b="1" dirty="0"/>
            <a:t>Use data structure like B-tree and hashing for efficient data storage and retrieval.</a:t>
          </a:r>
          <a:endParaRPr lang="en-US" dirty="0"/>
        </a:p>
      </dgm:t>
    </dgm:pt>
    <dgm:pt modelId="{9A4BF17E-2CE7-4A86-9E18-1D59815F5613}" type="parTrans" cxnId="{BF74DFA5-489D-4846-9FCA-9A0717BDE958}">
      <dgm:prSet/>
      <dgm:spPr/>
      <dgm:t>
        <a:bodyPr/>
        <a:lstStyle/>
        <a:p>
          <a:endParaRPr lang="en-US"/>
        </a:p>
      </dgm:t>
    </dgm:pt>
    <dgm:pt modelId="{D9214A7C-F420-4A31-8E4A-1A600FF001D7}" type="sibTrans" cxnId="{BF74DFA5-489D-4846-9FCA-9A0717BDE958}">
      <dgm:prSet/>
      <dgm:spPr/>
      <dgm:t>
        <a:bodyPr/>
        <a:lstStyle/>
        <a:p>
          <a:endParaRPr lang="en-US"/>
        </a:p>
      </dgm:t>
    </dgm:pt>
    <dgm:pt modelId="{E0D12DE0-7197-4908-BFEB-6F01CBFF5600}">
      <dgm:prSet phldrT="[Text]"/>
      <dgm:spPr/>
      <dgm:t>
        <a:bodyPr/>
        <a:lstStyle/>
        <a:p>
          <a:r>
            <a:rPr lang="en-US" b="1" u="sng" dirty="0"/>
            <a:t>NETWORKING: </a:t>
          </a:r>
          <a:r>
            <a:rPr lang="en-US" b="1" dirty="0"/>
            <a:t>Algorithms for routing, data compression and error detection.</a:t>
          </a:r>
        </a:p>
      </dgm:t>
    </dgm:pt>
    <dgm:pt modelId="{5BB8CC76-2495-4B36-B705-635C7D53C0E2}" type="parTrans" cxnId="{C26F9970-CD85-49F0-A407-199CED44A552}">
      <dgm:prSet/>
      <dgm:spPr/>
      <dgm:t>
        <a:bodyPr/>
        <a:lstStyle/>
        <a:p>
          <a:endParaRPr lang="en-US"/>
        </a:p>
      </dgm:t>
    </dgm:pt>
    <dgm:pt modelId="{92D65D68-F6D5-44D9-934A-541948E666F8}" type="sibTrans" cxnId="{C26F9970-CD85-49F0-A407-199CED44A552}">
      <dgm:prSet/>
      <dgm:spPr/>
      <dgm:t>
        <a:bodyPr/>
        <a:lstStyle/>
        <a:p>
          <a:endParaRPr lang="en-US"/>
        </a:p>
      </dgm:t>
    </dgm:pt>
    <dgm:pt modelId="{C4C1E16C-5C8F-44BC-B87A-71FCC575947F}">
      <dgm:prSet phldrT="[Text]"/>
      <dgm:spPr/>
      <dgm:t>
        <a:bodyPr/>
        <a:lstStyle/>
        <a:p>
          <a:r>
            <a:rPr lang="en-US" b="1" u="sng" dirty="0"/>
            <a:t>OPERATING SYSTEM: </a:t>
          </a:r>
          <a:r>
            <a:rPr lang="en-US" b="1" dirty="0"/>
            <a:t>Implementation of scheduling algorithm, memory management and file management. </a:t>
          </a:r>
        </a:p>
      </dgm:t>
    </dgm:pt>
    <dgm:pt modelId="{EB974377-B2B7-491F-ABA5-1A9619D9B5E8}" type="parTrans" cxnId="{80160F51-6275-48BE-B1E9-86401442B1D0}">
      <dgm:prSet/>
      <dgm:spPr/>
      <dgm:t>
        <a:bodyPr/>
        <a:lstStyle/>
        <a:p>
          <a:endParaRPr lang="en-US"/>
        </a:p>
      </dgm:t>
    </dgm:pt>
    <dgm:pt modelId="{71C68B90-1851-4C12-89EC-E1FEF49DEBDF}" type="sibTrans" cxnId="{80160F51-6275-48BE-B1E9-86401442B1D0}">
      <dgm:prSet/>
      <dgm:spPr/>
      <dgm:t>
        <a:bodyPr/>
        <a:lstStyle/>
        <a:p>
          <a:endParaRPr lang="en-US"/>
        </a:p>
      </dgm:t>
    </dgm:pt>
    <dgm:pt modelId="{39A0C6F0-C259-4073-957D-6C6D6872E2BC}" type="pres">
      <dgm:prSet presAssocID="{3091D8FC-A318-4D2B-839D-4ED87A57DD07}" presName="diagram" presStyleCnt="0">
        <dgm:presLayoutVars>
          <dgm:chMax val="1"/>
          <dgm:dir/>
          <dgm:animLvl val="ctr"/>
          <dgm:resizeHandles val="exact"/>
        </dgm:presLayoutVars>
      </dgm:prSet>
      <dgm:spPr/>
    </dgm:pt>
    <dgm:pt modelId="{68273D03-32CD-488B-96F5-62626DF82D8B}" type="pres">
      <dgm:prSet presAssocID="{3091D8FC-A318-4D2B-839D-4ED87A57DD07}" presName="matrix" presStyleCnt="0"/>
      <dgm:spPr/>
    </dgm:pt>
    <dgm:pt modelId="{CA449B83-9A68-4AD1-B37B-940D2AEA4F24}" type="pres">
      <dgm:prSet presAssocID="{3091D8FC-A318-4D2B-839D-4ED87A57DD07}" presName="tile1" presStyleLbl="node1" presStyleIdx="0" presStyleCnt="4"/>
      <dgm:spPr/>
    </dgm:pt>
    <dgm:pt modelId="{CFA59835-3FEC-4419-AD95-2E399849ACB5}" type="pres">
      <dgm:prSet presAssocID="{3091D8FC-A318-4D2B-839D-4ED87A57DD07}" presName="tile1text" presStyleLbl="node1" presStyleIdx="0" presStyleCnt="4">
        <dgm:presLayoutVars>
          <dgm:chMax val="0"/>
          <dgm:chPref val="0"/>
          <dgm:bulletEnabled val="1"/>
        </dgm:presLayoutVars>
      </dgm:prSet>
      <dgm:spPr/>
    </dgm:pt>
    <dgm:pt modelId="{5C900078-3CD9-46D7-A69F-4C1815AE860B}" type="pres">
      <dgm:prSet presAssocID="{3091D8FC-A318-4D2B-839D-4ED87A57DD07}" presName="tile2" presStyleLbl="node1" presStyleIdx="1" presStyleCnt="4"/>
      <dgm:spPr/>
    </dgm:pt>
    <dgm:pt modelId="{E1C73F7A-B7CB-4C36-A605-E91F22DE139C}" type="pres">
      <dgm:prSet presAssocID="{3091D8FC-A318-4D2B-839D-4ED87A57DD07}" presName="tile2text" presStyleLbl="node1" presStyleIdx="1" presStyleCnt="4">
        <dgm:presLayoutVars>
          <dgm:chMax val="0"/>
          <dgm:chPref val="0"/>
          <dgm:bulletEnabled val="1"/>
        </dgm:presLayoutVars>
      </dgm:prSet>
      <dgm:spPr/>
    </dgm:pt>
    <dgm:pt modelId="{4C496C99-D86F-4E04-941C-A5FE406D7FCC}" type="pres">
      <dgm:prSet presAssocID="{3091D8FC-A318-4D2B-839D-4ED87A57DD07}" presName="tile3" presStyleLbl="node1" presStyleIdx="2" presStyleCnt="4" custLinFactNeighborX="-925" custLinFactNeighborY="7586"/>
      <dgm:spPr/>
    </dgm:pt>
    <dgm:pt modelId="{BBE5B3CF-E6B7-4C7E-ABFD-DC52F191D699}" type="pres">
      <dgm:prSet presAssocID="{3091D8FC-A318-4D2B-839D-4ED87A57DD07}" presName="tile3text" presStyleLbl="node1" presStyleIdx="2" presStyleCnt="4">
        <dgm:presLayoutVars>
          <dgm:chMax val="0"/>
          <dgm:chPref val="0"/>
          <dgm:bulletEnabled val="1"/>
        </dgm:presLayoutVars>
      </dgm:prSet>
      <dgm:spPr/>
    </dgm:pt>
    <dgm:pt modelId="{93903204-2F7A-4394-A19A-33A5726AFA76}" type="pres">
      <dgm:prSet presAssocID="{3091D8FC-A318-4D2B-839D-4ED87A57DD07}" presName="tile4" presStyleLbl="node1" presStyleIdx="3" presStyleCnt="4"/>
      <dgm:spPr/>
    </dgm:pt>
    <dgm:pt modelId="{0B5FEDAC-1327-4198-84A4-D15357341592}" type="pres">
      <dgm:prSet presAssocID="{3091D8FC-A318-4D2B-839D-4ED87A57DD07}" presName="tile4text" presStyleLbl="node1" presStyleIdx="3" presStyleCnt="4">
        <dgm:presLayoutVars>
          <dgm:chMax val="0"/>
          <dgm:chPref val="0"/>
          <dgm:bulletEnabled val="1"/>
        </dgm:presLayoutVars>
      </dgm:prSet>
      <dgm:spPr/>
    </dgm:pt>
    <dgm:pt modelId="{63A8F6F2-A05F-43B9-AC56-57482BCE9428}" type="pres">
      <dgm:prSet presAssocID="{3091D8FC-A318-4D2B-839D-4ED87A57DD07}" presName="centerTile" presStyleLbl="fgShp" presStyleIdx="0" presStyleCnt="1">
        <dgm:presLayoutVars>
          <dgm:chMax val="0"/>
          <dgm:chPref val="0"/>
        </dgm:presLayoutVars>
      </dgm:prSet>
      <dgm:spPr/>
    </dgm:pt>
  </dgm:ptLst>
  <dgm:cxnLst>
    <dgm:cxn modelId="{2A389400-B8B0-4129-B28B-5F9D90A62BCD}" srcId="{2852B10B-00B9-451F-A96F-1537BD3BDF24}" destId="{338EB083-A2C3-4892-BEF3-72CA1F9EB413}" srcOrd="0" destOrd="0" parTransId="{2FD76FD4-4D61-4654-A66B-171ED391978F}" sibTransId="{77C47FDC-84FD-4B75-AE5F-3F0047D3AFBC}"/>
    <dgm:cxn modelId="{0B86280D-1D5B-4F49-ADD1-947C6D8A1FA1}" srcId="{3091D8FC-A318-4D2B-839D-4ED87A57DD07}" destId="{2852B10B-00B9-451F-A96F-1537BD3BDF24}" srcOrd="0" destOrd="0" parTransId="{87EE7D85-C0A0-4EE0-870D-822B8CBC21D4}" sibTransId="{93696E8E-B8DB-4120-9012-8CDFDACBA04C}"/>
    <dgm:cxn modelId="{03F2852F-B844-4D2A-859D-559F51343B01}" type="presOf" srcId="{E0D12DE0-7197-4908-BFEB-6F01CBFF5600}" destId="{BBE5B3CF-E6B7-4C7E-ABFD-DC52F191D699}" srcOrd="1" destOrd="0" presId="urn:microsoft.com/office/officeart/2005/8/layout/matrix1"/>
    <dgm:cxn modelId="{2D70A13A-0334-4363-B09D-D0EA8AE7F568}" type="presOf" srcId="{5845372D-3072-45FD-A178-F656F269F00A}" destId="{E1C73F7A-B7CB-4C36-A605-E91F22DE139C}" srcOrd="1" destOrd="0" presId="urn:microsoft.com/office/officeart/2005/8/layout/matrix1"/>
    <dgm:cxn modelId="{1884715F-AE63-4C9D-B824-314D75CD789F}" type="presOf" srcId="{338EB083-A2C3-4892-BEF3-72CA1F9EB413}" destId="{CA449B83-9A68-4AD1-B37B-940D2AEA4F24}" srcOrd="0" destOrd="0" presId="urn:microsoft.com/office/officeart/2005/8/layout/matrix1"/>
    <dgm:cxn modelId="{C7F1FC62-8D08-40FB-B89A-D1412C0CF7E3}" type="presOf" srcId="{2852B10B-00B9-451F-A96F-1537BD3BDF24}" destId="{63A8F6F2-A05F-43B9-AC56-57482BCE9428}" srcOrd="0" destOrd="0" presId="urn:microsoft.com/office/officeart/2005/8/layout/matrix1"/>
    <dgm:cxn modelId="{B522C547-812F-4B10-846D-C127EC9E5986}" type="presOf" srcId="{E0D12DE0-7197-4908-BFEB-6F01CBFF5600}" destId="{4C496C99-D86F-4E04-941C-A5FE406D7FCC}" srcOrd="0" destOrd="0" presId="urn:microsoft.com/office/officeart/2005/8/layout/matrix1"/>
    <dgm:cxn modelId="{C312CB4B-9F05-4468-921E-1750E4BFE2F2}" type="presOf" srcId="{338EB083-A2C3-4892-BEF3-72CA1F9EB413}" destId="{CFA59835-3FEC-4419-AD95-2E399849ACB5}" srcOrd="1" destOrd="0" presId="urn:microsoft.com/office/officeart/2005/8/layout/matrix1"/>
    <dgm:cxn modelId="{8141556E-7AF0-4FB7-AD55-234AB7ED63A6}" type="presOf" srcId="{C4C1E16C-5C8F-44BC-B87A-71FCC575947F}" destId="{93903204-2F7A-4394-A19A-33A5726AFA76}" srcOrd="0" destOrd="0" presId="urn:microsoft.com/office/officeart/2005/8/layout/matrix1"/>
    <dgm:cxn modelId="{C26F9970-CD85-49F0-A407-199CED44A552}" srcId="{2852B10B-00B9-451F-A96F-1537BD3BDF24}" destId="{E0D12DE0-7197-4908-BFEB-6F01CBFF5600}" srcOrd="2" destOrd="0" parTransId="{5BB8CC76-2495-4B36-B705-635C7D53C0E2}" sibTransId="{92D65D68-F6D5-44D9-934A-541948E666F8}"/>
    <dgm:cxn modelId="{80160F51-6275-48BE-B1E9-86401442B1D0}" srcId="{2852B10B-00B9-451F-A96F-1537BD3BDF24}" destId="{C4C1E16C-5C8F-44BC-B87A-71FCC575947F}" srcOrd="3" destOrd="0" parTransId="{EB974377-B2B7-491F-ABA5-1A9619D9B5E8}" sibTransId="{71C68B90-1851-4C12-89EC-E1FEF49DEBDF}"/>
    <dgm:cxn modelId="{F40F2683-341D-4A59-B4F8-93E0DFD0A8A8}" type="presOf" srcId="{5845372D-3072-45FD-A178-F656F269F00A}" destId="{5C900078-3CD9-46D7-A69F-4C1815AE860B}" srcOrd="0" destOrd="0" presId="urn:microsoft.com/office/officeart/2005/8/layout/matrix1"/>
    <dgm:cxn modelId="{BF74DFA5-489D-4846-9FCA-9A0717BDE958}" srcId="{2852B10B-00B9-451F-A96F-1537BD3BDF24}" destId="{5845372D-3072-45FD-A178-F656F269F00A}" srcOrd="1" destOrd="0" parTransId="{9A4BF17E-2CE7-4A86-9E18-1D59815F5613}" sibTransId="{D9214A7C-F420-4A31-8E4A-1A600FF001D7}"/>
    <dgm:cxn modelId="{309A9FC3-6C75-4433-BFB5-4C5E5E9FD6C7}" type="presOf" srcId="{3091D8FC-A318-4D2B-839D-4ED87A57DD07}" destId="{39A0C6F0-C259-4073-957D-6C6D6872E2BC}" srcOrd="0" destOrd="0" presId="urn:microsoft.com/office/officeart/2005/8/layout/matrix1"/>
    <dgm:cxn modelId="{52DA6FD4-468E-476D-B40A-DDBE2A759372}" type="presOf" srcId="{C4C1E16C-5C8F-44BC-B87A-71FCC575947F}" destId="{0B5FEDAC-1327-4198-84A4-D15357341592}" srcOrd="1" destOrd="0" presId="urn:microsoft.com/office/officeart/2005/8/layout/matrix1"/>
    <dgm:cxn modelId="{56A3CB3A-1122-4276-9413-FD42529F94D1}" type="presParOf" srcId="{39A0C6F0-C259-4073-957D-6C6D6872E2BC}" destId="{68273D03-32CD-488B-96F5-62626DF82D8B}" srcOrd="0" destOrd="0" presId="urn:microsoft.com/office/officeart/2005/8/layout/matrix1"/>
    <dgm:cxn modelId="{C0E01CE1-1285-4466-9138-F686B1276698}" type="presParOf" srcId="{68273D03-32CD-488B-96F5-62626DF82D8B}" destId="{CA449B83-9A68-4AD1-B37B-940D2AEA4F24}" srcOrd="0" destOrd="0" presId="urn:microsoft.com/office/officeart/2005/8/layout/matrix1"/>
    <dgm:cxn modelId="{989BA51D-B364-45CD-9998-16407F1FDD16}" type="presParOf" srcId="{68273D03-32CD-488B-96F5-62626DF82D8B}" destId="{CFA59835-3FEC-4419-AD95-2E399849ACB5}" srcOrd="1" destOrd="0" presId="urn:microsoft.com/office/officeart/2005/8/layout/matrix1"/>
    <dgm:cxn modelId="{F6B3D976-1A6C-49BC-A582-55A5EB3A4AE4}" type="presParOf" srcId="{68273D03-32CD-488B-96F5-62626DF82D8B}" destId="{5C900078-3CD9-46D7-A69F-4C1815AE860B}" srcOrd="2" destOrd="0" presId="urn:microsoft.com/office/officeart/2005/8/layout/matrix1"/>
    <dgm:cxn modelId="{3F0E8DA4-D861-4657-93B5-DBF8FBAFCAE4}" type="presParOf" srcId="{68273D03-32CD-488B-96F5-62626DF82D8B}" destId="{E1C73F7A-B7CB-4C36-A605-E91F22DE139C}" srcOrd="3" destOrd="0" presId="urn:microsoft.com/office/officeart/2005/8/layout/matrix1"/>
    <dgm:cxn modelId="{18C78ED0-9564-452E-998A-019C349ED9D6}" type="presParOf" srcId="{68273D03-32CD-488B-96F5-62626DF82D8B}" destId="{4C496C99-D86F-4E04-941C-A5FE406D7FCC}" srcOrd="4" destOrd="0" presId="urn:microsoft.com/office/officeart/2005/8/layout/matrix1"/>
    <dgm:cxn modelId="{79A320C7-3A5E-4E81-AA8D-1AAA8B7CB1B8}" type="presParOf" srcId="{68273D03-32CD-488B-96F5-62626DF82D8B}" destId="{BBE5B3CF-E6B7-4C7E-ABFD-DC52F191D699}" srcOrd="5" destOrd="0" presId="urn:microsoft.com/office/officeart/2005/8/layout/matrix1"/>
    <dgm:cxn modelId="{57FDD601-D5F7-4F34-AF2A-521832CE59D8}" type="presParOf" srcId="{68273D03-32CD-488B-96F5-62626DF82D8B}" destId="{93903204-2F7A-4394-A19A-33A5726AFA76}" srcOrd="6" destOrd="0" presId="urn:microsoft.com/office/officeart/2005/8/layout/matrix1"/>
    <dgm:cxn modelId="{0CA1F98F-2160-4062-989B-46D29C08FC7A}" type="presParOf" srcId="{68273D03-32CD-488B-96F5-62626DF82D8B}" destId="{0B5FEDAC-1327-4198-84A4-D15357341592}" srcOrd="7" destOrd="0" presId="urn:microsoft.com/office/officeart/2005/8/layout/matrix1"/>
    <dgm:cxn modelId="{88782214-C3FE-484C-8208-03E5EE8A26D0}" type="presParOf" srcId="{39A0C6F0-C259-4073-957D-6C6D6872E2BC}" destId="{63A8F6F2-A05F-43B9-AC56-57482BCE9428}"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449B83-9A68-4AD1-B37B-940D2AEA4F24}">
      <dsp:nvSpPr>
        <dsp:cNvPr id="0" name=""/>
        <dsp:cNvSpPr/>
      </dsp:nvSpPr>
      <dsp:spPr>
        <a:xfrm rot="16200000">
          <a:off x="779741" y="-779741"/>
          <a:ext cx="2364817" cy="3924300"/>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u="sng" kern="1200" dirty="0"/>
            <a:t>OPTIMIZATION:</a:t>
          </a:r>
          <a:r>
            <a:rPr lang="en-US" sz="1900" b="1" kern="1200" dirty="0"/>
            <a:t> Enhancing performance of software and hardware through efficient algorithms</a:t>
          </a:r>
          <a:endParaRPr lang="en-US" sz="1900" kern="1200" dirty="0"/>
        </a:p>
      </dsp:txBody>
      <dsp:txXfrm rot="5400000">
        <a:off x="-1" y="1"/>
        <a:ext cx="3924300" cy="1773612"/>
      </dsp:txXfrm>
    </dsp:sp>
    <dsp:sp modelId="{5C900078-3CD9-46D7-A69F-4C1815AE860B}">
      <dsp:nvSpPr>
        <dsp:cNvPr id="0" name=""/>
        <dsp:cNvSpPr/>
      </dsp:nvSpPr>
      <dsp:spPr>
        <a:xfrm>
          <a:off x="3924300" y="0"/>
          <a:ext cx="3924300" cy="236481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u="sng" kern="1200" dirty="0"/>
            <a:t>DATABASE MANAGEMENT: </a:t>
          </a:r>
          <a:r>
            <a:rPr lang="en-US" sz="1900" b="1" kern="1200" dirty="0"/>
            <a:t>Use data structure like B-tree and hashing for efficient data storage and retrieval.</a:t>
          </a:r>
          <a:endParaRPr lang="en-US" sz="1900" kern="1200" dirty="0"/>
        </a:p>
      </dsp:txBody>
      <dsp:txXfrm>
        <a:off x="3924300" y="0"/>
        <a:ext cx="3924300" cy="1773612"/>
      </dsp:txXfrm>
    </dsp:sp>
    <dsp:sp modelId="{4C496C99-D86F-4E04-941C-A5FE406D7FCC}">
      <dsp:nvSpPr>
        <dsp:cNvPr id="0" name=""/>
        <dsp:cNvSpPr/>
      </dsp:nvSpPr>
      <dsp:spPr>
        <a:xfrm rot="10800000">
          <a:off x="0" y="2364817"/>
          <a:ext cx="3924300" cy="236481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u="sng" kern="1200" dirty="0"/>
            <a:t>NETWORKING: </a:t>
          </a:r>
          <a:r>
            <a:rPr lang="en-US" sz="1900" b="1" kern="1200" dirty="0"/>
            <a:t>Algorithms for routing, data compression and error detection.</a:t>
          </a:r>
        </a:p>
      </dsp:txBody>
      <dsp:txXfrm rot="10800000">
        <a:off x="0" y="2956021"/>
        <a:ext cx="3924300" cy="1773612"/>
      </dsp:txXfrm>
    </dsp:sp>
    <dsp:sp modelId="{93903204-2F7A-4394-A19A-33A5726AFA76}">
      <dsp:nvSpPr>
        <dsp:cNvPr id="0" name=""/>
        <dsp:cNvSpPr/>
      </dsp:nvSpPr>
      <dsp:spPr>
        <a:xfrm rot="5400000">
          <a:off x="4704042" y="1585075"/>
          <a:ext cx="2364817" cy="3924300"/>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b="1" u="sng" kern="1200" dirty="0"/>
            <a:t>OPERATING SYSTEM: </a:t>
          </a:r>
          <a:r>
            <a:rPr lang="en-US" sz="1900" b="1" kern="1200" dirty="0"/>
            <a:t>Implementation of scheduling algorithm, memory management and file management. </a:t>
          </a:r>
        </a:p>
      </dsp:txBody>
      <dsp:txXfrm rot="-5400000">
        <a:off x="3924300" y="2956021"/>
        <a:ext cx="3924300" cy="1773612"/>
      </dsp:txXfrm>
    </dsp:sp>
    <dsp:sp modelId="{63A8F6F2-A05F-43B9-AC56-57482BCE9428}">
      <dsp:nvSpPr>
        <dsp:cNvPr id="0" name=""/>
        <dsp:cNvSpPr/>
      </dsp:nvSpPr>
      <dsp:spPr>
        <a:xfrm>
          <a:off x="2747010" y="1773612"/>
          <a:ext cx="2354580" cy="1182408"/>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1" kern="1200" dirty="0"/>
            <a:t>COMPUTER SCIENCE AND INFORMATION TECHNOLOGY</a:t>
          </a:r>
        </a:p>
      </dsp:txBody>
      <dsp:txXfrm>
        <a:off x="2804730" y="1831332"/>
        <a:ext cx="2239140" cy="1066968"/>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637D41-3546-4F26-BB51-2CC9B2D2319A}" type="datetimeFigureOut">
              <a:rPr lang="en-US" smtClean="0"/>
              <a:t>7/8/2026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655DE4-7432-4002-9AAD-BCE688DBE5DF}" type="slidenum">
              <a:rPr lang="en-US" smtClean="0"/>
              <a:t>‹#›</a:t>
            </a:fld>
            <a:endParaRPr lang="en-US"/>
          </a:p>
        </p:txBody>
      </p:sp>
    </p:spTree>
    <p:extLst>
      <p:ext uri="{BB962C8B-B14F-4D97-AF65-F5344CB8AC3E}">
        <p14:creationId xmlns:p14="http://schemas.microsoft.com/office/powerpoint/2010/main" val="2944290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F0912-E82D-425B-4079-8022344B08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ED2A18-96CF-68B9-4AB2-A0FEFA4003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B0A067-F504-2F2B-0C5F-E9E0DEB9AFC0}"/>
              </a:ext>
            </a:extLst>
          </p:cNvPr>
          <p:cNvSpPr>
            <a:spLocks noGrp="1"/>
          </p:cNvSpPr>
          <p:nvPr>
            <p:ph type="dt" sz="half" idx="10"/>
          </p:nvPr>
        </p:nvSpPr>
        <p:spPr/>
        <p:txBody>
          <a:bodyPr/>
          <a:lstStyle/>
          <a:p>
            <a:fld id="{732F47BC-0185-4D15-9BF4-F2F5AF20C1F0}" type="datetime1">
              <a:rPr lang="en-US" smtClean="0"/>
              <a:t>7/8/2026</a:t>
            </a:fld>
            <a:endParaRPr lang="en-US"/>
          </a:p>
        </p:txBody>
      </p:sp>
      <p:sp>
        <p:nvSpPr>
          <p:cNvPr id="5" name="Footer Placeholder 4">
            <a:extLst>
              <a:ext uri="{FF2B5EF4-FFF2-40B4-BE49-F238E27FC236}">
                <a16:creationId xmlns:a16="http://schemas.microsoft.com/office/drawing/2014/main" id="{72C30EF4-F2A2-2A42-FAF5-EB6C9F5FA86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9FE23D9-BA67-D970-D1C9-69129DD64CED}"/>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141154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B864B-A132-4A65-B378-E43C49BC9E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A8044D-B643-7B74-37BC-8085A2B2EF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361751-56FC-3AA5-183C-2B737396DE97}"/>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D96620BD-0119-4C16-FAE7-E16DF63ED53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6B4D90C7-DB87-D2FE-EFEF-2A16EAD20B61}"/>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655134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40AFF-CE33-50AD-8929-92269430B7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A205AF-ACCF-DCF4-A47A-35C39E0D9C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E7001-2C6E-939C-FAA3-4B7C7403A4C5}"/>
              </a:ext>
            </a:extLst>
          </p:cNvPr>
          <p:cNvSpPr>
            <a:spLocks noGrp="1"/>
          </p:cNvSpPr>
          <p:nvPr>
            <p:ph type="dt" sz="half" idx="10"/>
          </p:nvPr>
        </p:nvSpPr>
        <p:spPr/>
        <p:txBody>
          <a:bodyPr/>
          <a:lstStyle/>
          <a:p>
            <a:fld id="{7711B8C2-CD2A-42E8-B205-46F21D5B4847}" type="datetime1">
              <a:rPr lang="en-US" smtClean="0"/>
              <a:t>7/8/2026</a:t>
            </a:fld>
            <a:endParaRPr lang="en-US"/>
          </a:p>
        </p:txBody>
      </p:sp>
      <p:sp>
        <p:nvSpPr>
          <p:cNvPr id="5" name="Footer Placeholder 4">
            <a:extLst>
              <a:ext uri="{FF2B5EF4-FFF2-40B4-BE49-F238E27FC236}">
                <a16:creationId xmlns:a16="http://schemas.microsoft.com/office/drawing/2014/main" id="{19F16C47-DDAF-BFD5-67D7-52C86A35FA9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49D80F8-E454-9D4C-7017-250D383EB6AC}"/>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29899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919A5-93D9-B010-BE35-0BE49B9EB9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6AF5D6-367A-3BB9-F54E-88746771FD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1043D8-70B5-F8DE-DF40-89567D0E49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325107-9158-93D6-36A5-33AB86EFB692}"/>
              </a:ext>
            </a:extLst>
          </p:cNvPr>
          <p:cNvSpPr>
            <a:spLocks noGrp="1"/>
          </p:cNvSpPr>
          <p:nvPr>
            <p:ph type="dt" sz="half" idx="10"/>
          </p:nvPr>
        </p:nvSpPr>
        <p:spPr/>
        <p:txBody>
          <a:bodyPr/>
          <a:lstStyle/>
          <a:p>
            <a:fld id="{1D47C878-3475-4307-AEDE-8B05E0050F24}" type="datetime1">
              <a:rPr lang="en-US" smtClean="0"/>
              <a:t>7/8/2026</a:t>
            </a:fld>
            <a:endParaRPr lang="en-US"/>
          </a:p>
        </p:txBody>
      </p:sp>
      <p:sp>
        <p:nvSpPr>
          <p:cNvPr id="6" name="Footer Placeholder 5">
            <a:extLst>
              <a:ext uri="{FF2B5EF4-FFF2-40B4-BE49-F238E27FC236}">
                <a16:creationId xmlns:a16="http://schemas.microsoft.com/office/drawing/2014/main" id="{84CB377E-9DB3-A2C3-A090-DB9E831930AE}"/>
              </a:ext>
            </a:extLst>
          </p:cNvPr>
          <p:cNvSpPr>
            <a:spLocks noGrp="1"/>
          </p:cNvSpPr>
          <p:nvPr>
            <p:ph type="ftr" sz="quarter" idx="11"/>
          </p:nvPr>
        </p:nvSpPr>
        <p:spPr/>
        <p:txBody>
          <a:bodyPr/>
          <a:lstStyle/>
          <a:p>
            <a:r>
              <a:rPr lang="en-US"/>
              <a:t>Dr. Amba Mishra    DSA-II Unit-3</a:t>
            </a:r>
          </a:p>
        </p:txBody>
      </p:sp>
      <p:sp>
        <p:nvSpPr>
          <p:cNvPr id="7" name="Slide Number Placeholder 6">
            <a:extLst>
              <a:ext uri="{FF2B5EF4-FFF2-40B4-BE49-F238E27FC236}">
                <a16:creationId xmlns:a16="http://schemas.microsoft.com/office/drawing/2014/main" id="{3491BC86-819E-6CFB-90CC-A8A1D9CF4753}"/>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2291574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9F92-400A-7DC2-46BE-02864BF039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E66813-D695-6649-055E-9381A9628C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29F328-81C5-13B0-A343-85C08FDA52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069E7E-FCC5-9132-E6F8-DCB2DE61A8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564481-E3BA-33E0-0A0F-9C29AEB5BA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B20774-5628-4380-4681-A80C7B941C32}"/>
              </a:ext>
            </a:extLst>
          </p:cNvPr>
          <p:cNvSpPr>
            <a:spLocks noGrp="1"/>
          </p:cNvSpPr>
          <p:nvPr>
            <p:ph type="dt" sz="half" idx="10"/>
          </p:nvPr>
        </p:nvSpPr>
        <p:spPr/>
        <p:txBody>
          <a:bodyPr/>
          <a:lstStyle/>
          <a:p>
            <a:fld id="{9C6C62B9-A68A-47FE-B0EB-931896D21DB6}" type="datetime1">
              <a:rPr lang="en-US" smtClean="0"/>
              <a:t>7/8/2026</a:t>
            </a:fld>
            <a:endParaRPr lang="en-US"/>
          </a:p>
        </p:txBody>
      </p:sp>
      <p:sp>
        <p:nvSpPr>
          <p:cNvPr id="8" name="Footer Placeholder 7">
            <a:extLst>
              <a:ext uri="{FF2B5EF4-FFF2-40B4-BE49-F238E27FC236}">
                <a16:creationId xmlns:a16="http://schemas.microsoft.com/office/drawing/2014/main" id="{49875F43-F091-84B5-37A6-8258EECFBB03}"/>
              </a:ext>
            </a:extLst>
          </p:cNvPr>
          <p:cNvSpPr>
            <a:spLocks noGrp="1"/>
          </p:cNvSpPr>
          <p:nvPr>
            <p:ph type="ftr" sz="quarter" idx="11"/>
          </p:nvPr>
        </p:nvSpPr>
        <p:spPr/>
        <p:txBody>
          <a:bodyPr/>
          <a:lstStyle/>
          <a:p>
            <a:r>
              <a:rPr lang="en-US"/>
              <a:t>Dr. Amba Mishra    DSA-II Unit-3</a:t>
            </a:r>
          </a:p>
        </p:txBody>
      </p:sp>
      <p:sp>
        <p:nvSpPr>
          <p:cNvPr id="9" name="Slide Number Placeholder 8">
            <a:extLst>
              <a:ext uri="{FF2B5EF4-FFF2-40B4-BE49-F238E27FC236}">
                <a16:creationId xmlns:a16="http://schemas.microsoft.com/office/drawing/2014/main" id="{E1A47861-2C4C-37BB-7F7C-0C1845838C62}"/>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1845127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DC4D3-8929-DC3B-40F8-C91F72D9F5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721D64B-E433-B9AC-9322-4F96B85B1170}"/>
              </a:ext>
            </a:extLst>
          </p:cNvPr>
          <p:cNvSpPr>
            <a:spLocks noGrp="1"/>
          </p:cNvSpPr>
          <p:nvPr>
            <p:ph type="dt" sz="half" idx="10"/>
          </p:nvPr>
        </p:nvSpPr>
        <p:spPr/>
        <p:txBody>
          <a:bodyPr/>
          <a:lstStyle/>
          <a:p>
            <a:fld id="{86DD3A16-EE31-43F3-A432-095BD9126CEE}" type="datetime1">
              <a:rPr lang="en-US" smtClean="0"/>
              <a:t>7/8/2026</a:t>
            </a:fld>
            <a:endParaRPr lang="en-US"/>
          </a:p>
        </p:txBody>
      </p:sp>
      <p:sp>
        <p:nvSpPr>
          <p:cNvPr id="4" name="Footer Placeholder 3">
            <a:extLst>
              <a:ext uri="{FF2B5EF4-FFF2-40B4-BE49-F238E27FC236}">
                <a16:creationId xmlns:a16="http://schemas.microsoft.com/office/drawing/2014/main" id="{7F567CF6-8267-78A1-AB31-EA2B317E5044}"/>
              </a:ext>
            </a:extLst>
          </p:cNvPr>
          <p:cNvSpPr>
            <a:spLocks noGrp="1"/>
          </p:cNvSpPr>
          <p:nvPr>
            <p:ph type="ftr" sz="quarter" idx="11"/>
          </p:nvPr>
        </p:nvSpPr>
        <p:spPr/>
        <p:txBody>
          <a:bodyPr/>
          <a:lstStyle/>
          <a:p>
            <a:r>
              <a:rPr lang="en-US"/>
              <a:t>Dr. Amba Mishra    DSA-II Unit-3</a:t>
            </a:r>
          </a:p>
        </p:txBody>
      </p:sp>
      <p:sp>
        <p:nvSpPr>
          <p:cNvPr id="5" name="Slide Number Placeholder 4">
            <a:extLst>
              <a:ext uri="{FF2B5EF4-FFF2-40B4-BE49-F238E27FC236}">
                <a16:creationId xmlns:a16="http://schemas.microsoft.com/office/drawing/2014/main" id="{1CE0D9EB-AFF6-4577-92A1-B09752ADFDEC}"/>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2374367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4F82F7-171E-B609-D320-2EF0B470DE11}"/>
              </a:ext>
            </a:extLst>
          </p:cNvPr>
          <p:cNvSpPr>
            <a:spLocks noGrp="1"/>
          </p:cNvSpPr>
          <p:nvPr>
            <p:ph type="dt" sz="half" idx="10"/>
          </p:nvPr>
        </p:nvSpPr>
        <p:spPr/>
        <p:txBody>
          <a:bodyPr/>
          <a:lstStyle/>
          <a:p>
            <a:fld id="{4ED2935A-3B4F-4182-8BC7-97668405AB88}" type="datetime1">
              <a:rPr lang="en-US" smtClean="0"/>
              <a:t>7/8/2026</a:t>
            </a:fld>
            <a:endParaRPr lang="en-US"/>
          </a:p>
        </p:txBody>
      </p:sp>
      <p:sp>
        <p:nvSpPr>
          <p:cNvPr id="3" name="Footer Placeholder 2">
            <a:extLst>
              <a:ext uri="{FF2B5EF4-FFF2-40B4-BE49-F238E27FC236}">
                <a16:creationId xmlns:a16="http://schemas.microsoft.com/office/drawing/2014/main" id="{0113396A-2273-5DEC-51E8-B2B8D532C534}"/>
              </a:ext>
            </a:extLst>
          </p:cNvPr>
          <p:cNvSpPr>
            <a:spLocks noGrp="1"/>
          </p:cNvSpPr>
          <p:nvPr>
            <p:ph type="ftr" sz="quarter" idx="11"/>
          </p:nvPr>
        </p:nvSpPr>
        <p:spPr/>
        <p:txBody>
          <a:bodyPr/>
          <a:lstStyle/>
          <a:p>
            <a:r>
              <a:rPr lang="en-US"/>
              <a:t>Dr. Amba Mishra    DSA-II Unit-3</a:t>
            </a:r>
          </a:p>
        </p:txBody>
      </p:sp>
      <p:sp>
        <p:nvSpPr>
          <p:cNvPr id="4" name="Slide Number Placeholder 3">
            <a:extLst>
              <a:ext uri="{FF2B5EF4-FFF2-40B4-BE49-F238E27FC236}">
                <a16:creationId xmlns:a16="http://schemas.microsoft.com/office/drawing/2014/main" id="{2393C26C-2683-3385-8DE2-BAF8FF488153}"/>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4011530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6142-4A7E-CAAF-EE9C-6BBBA941B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D13C32-8C94-57A5-C4C5-723DC7AD38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9087A40-B9F6-9877-7FC3-30DDB384FE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8F8655-703C-EB99-8410-813C45046956}"/>
              </a:ext>
            </a:extLst>
          </p:cNvPr>
          <p:cNvSpPr>
            <a:spLocks noGrp="1"/>
          </p:cNvSpPr>
          <p:nvPr>
            <p:ph type="dt" sz="half" idx="10"/>
          </p:nvPr>
        </p:nvSpPr>
        <p:spPr/>
        <p:txBody>
          <a:bodyPr/>
          <a:lstStyle/>
          <a:p>
            <a:fld id="{A5826B73-3041-4642-BFCB-C7A533DF2A26}" type="datetime1">
              <a:rPr lang="en-US" smtClean="0"/>
              <a:t>7/8/2026</a:t>
            </a:fld>
            <a:endParaRPr lang="en-US"/>
          </a:p>
        </p:txBody>
      </p:sp>
      <p:sp>
        <p:nvSpPr>
          <p:cNvPr id="6" name="Footer Placeholder 5">
            <a:extLst>
              <a:ext uri="{FF2B5EF4-FFF2-40B4-BE49-F238E27FC236}">
                <a16:creationId xmlns:a16="http://schemas.microsoft.com/office/drawing/2014/main" id="{D065DCA8-1C43-1C66-1213-B1F5EE2C9263}"/>
              </a:ext>
            </a:extLst>
          </p:cNvPr>
          <p:cNvSpPr>
            <a:spLocks noGrp="1"/>
          </p:cNvSpPr>
          <p:nvPr>
            <p:ph type="ftr" sz="quarter" idx="11"/>
          </p:nvPr>
        </p:nvSpPr>
        <p:spPr/>
        <p:txBody>
          <a:bodyPr/>
          <a:lstStyle/>
          <a:p>
            <a:r>
              <a:rPr lang="en-US"/>
              <a:t>Dr. Amba Mishra    DSA-II Unit-3</a:t>
            </a:r>
          </a:p>
        </p:txBody>
      </p:sp>
      <p:sp>
        <p:nvSpPr>
          <p:cNvPr id="7" name="Slide Number Placeholder 6">
            <a:extLst>
              <a:ext uri="{FF2B5EF4-FFF2-40B4-BE49-F238E27FC236}">
                <a16:creationId xmlns:a16="http://schemas.microsoft.com/office/drawing/2014/main" id="{813E925A-4BAC-BB22-DD8B-B71A2A51A20E}"/>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880643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4C2B-26A7-F380-3D3F-C84DC60019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A4B3B1-81E6-FBF7-C648-28926FF5D6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F83BB0-3A45-E026-9F23-184314B041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5572CE-7B08-DD7D-382B-4A0F0540E368}"/>
              </a:ext>
            </a:extLst>
          </p:cNvPr>
          <p:cNvSpPr>
            <a:spLocks noGrp="1"/>
          </p:cNvSpPr>
          <p:nvPr>
            <p:ph type="dt" sz="half" idx="10"/>
          </p:nvPr>
        </p:nvSpPr>
        <p:spPr/>
        <p:txBody>
          <a:bodyPr/>
          <a:lstStyle/>
          <a:p>
            <a:fld id="{D580C7BC-48DA-4F36-8E83-13A84EC5B561}" type="datetime1">
              <a:rPr lang="en-US" smtClean="0"/>
              <a:t>7/8/2026</a:t>
            </a:fld>
            <a:endParaRPr lang="en-US"/>
          </a:p>
        </p:txBody>
      </p:sp>
      <p:sp>
        <p:nvSpPr>
          <p:cNvPr id="6" name="Footer Placeholder 5">
            <a:extLst>
              <a:ext uri="{FF2B5EF4-FFF2-40B4-BE49-F238E27FC236}">
                <a16:creationId xmlns:a16="http://schemas.microsoft.com/office/drawing/2014/main" id="{2D79EEE5-8749-7447-6DFB-3FE22C90080D}"/>
              </a:ext>
            </a:extLst>
          </p:cNvPr>
          <p:cNvSpPr>
            <a:spLocks noGrp="1"/>
          </p:cNvSpPr>
          <p:nvPr>
            <p:ph type="ftr" sz="quarter" idx="11"/>
          </p:nvPr>
        </p:nvSpPr>
        <p:spPr/>
        <p:txBody>
          <a:bodyPr/>
          <a:lstStyle/>
          <a:p>
            <a:r>
              <a:rPr lang="en-US"/>
              <a:t>Dr. Amba Mishra    DSA-II Unit-3</a:t>
            </a:r>
          </a:p>
        </p:txBody>
      </p:sp>
      <p:sp>
        <p:nvSpPr>
          <p:cNvPr id="7" name="Slide Number Placeholder 6">
            <a:extLst>
              <a:ext uri="{FF2B5EF4-FFF2-40B4-BE49-F238E27FC236}">
                <a16:creationId xmlns:a16="http://schemas.microsoft.com/office/drawing/2014/main" id="{2854CF26-1224-9434-1F22-E80C17CF80F0}"/>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766670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C886F-D616-AE3F-9CD7-D58E43BEE1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CFC023-8A84-F831-A5C7-557EE341D6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278EF2-2984-064B-C943-49F6C448E144}"/>
              </a:ext>
            </a:extLst>
          </p:cNvPr>
          <p:cNvSpPr>
            <a:spLocks noGrp="1"/>
          </p:cNvSpPr>
          <p:nvPr>
            <p:ph type="dt" sz="half" idx="10"/>
          </p:nvPr>
        </p:nvSpPr>
        <p:spPr/>
        <p:txBody>
          <a:bodyPr/>
          <a:lstStyle/>
          <a:p>
            <a:fld id="{71E41A34-4596-4AF9-8B88-39774FC9D3B2}" type="datetime1">
              <a:rPr lang="en-US" smtClean="0"/>
              <a:t>7/8/2026</a:t>
            </a:fld>
            <a:endParaRPr lang="en-US"/>
          </a:p>
        </p:txBody>
      </p:sp>
      <p:sp>
        <p:nvSpPr>
          <p:cNvPr id="5" name="Footer Placeholder 4">
            <a:extLst>
              <a:ext uri="{FF2B5EF4-FFF2-40B4-BE49-F238E27FC236}">
                <a16:creationId xmlns:a16="http://schemas.microsoft.com/office/drawing/2014/main" id="{C7C974D2-2EC4-2AAF-5E38-45FD490B1D4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14A60E44-8D88-C27E-DCE3-11356F671535}"/>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1691028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200E78-172E-B3D4-C8D3-286247CE54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FDFF3D-64FA-B16B-928D-D9F64E6F8D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1082C2-8102-938E-722E-7DF7721D83C4}"/>
              </a:ext>
            </a:extLst>
          </p:cNvPr>
          <p:cNvSpPr>
            <a:spLocks noGrp="1"/>
          </p:cNvSpPr>
          <p:nvPr>
            <p:ph type="dt" sz="half" idx="10"/>
          </p:nvPr>
        </p:nvSpPr>
        <p:spPr/>
        <p:txBody>
          <a:bodyPr/>
          <a:lstStyle/>
          <a:p>
            <a:fld id="{D5DA657E-FED1-4522-B96B-0F6686CC6D80}" type="datetime1">
              <a:rPr lang="en-US" smtClean="0"/>
              <a:t>7/8/2026</a:t>
            </a:fld>
            <a:endParaRPr lang="en-US"/>
          </a:p>
        </p:txBody>
      </p:sp>
      <p:sp>
        <p:nvSpPr>
          <p:cNvPr id="5" name="Footer Placeholder 4">
            <a:extLst>
              <a:ext uri="{FF2B5EF4-FFF2-40B4-BE49-F238E27FC236}">
                <a16:creationId xmlns:a16="http://schemas.microsoft.com/office/drawing/2014/main" id="{046C2241-41FD-F2A5-76BF-8EE318645F6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3D2733E-2FC8-B8FF-216A-E39204265B0B}"/>
              </a:ext>
            </a:extLst>
          </p:cNvPr>
          <p:cNvSpPr>
            <a:spLocks noGrp="1"/>
          </p:cNvSpPr>
          <p:nvPr>
            <p:ph type="sldNum" sz="quarter" idx="12"/>
          </p:nvPr>
        </p:nvSpPr>
        <p:spPr/>
        <p:txBody>
          <a:bodyPr/>
          <a:lstStyle/>
          <a:p>
            <a:fld id="{B41E2F89-97C2-4B18-A593-8150592B5005}" type="slidenum">
              <a:rPr lang="en-US" smtClean="0"/>
              <a:t>‹#›</a:t>
            </a:fld>
            <a:endParaRPr lang="en-US"/>
          </a:p>
        </p:txBody>
      </p:sp>
    </p:spTree>
    <p:extLst>
      <p:ext uri="{BB962C8B-B14F-4D97-AF65-F5344CB8AC3E}">
        <p14:creationId xmlns:p14="http://schemas.microsoft.com/office/powerpoint/2010/main" val="836773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D4CE7C-F39D-5919-4A48-8F8C372C4C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052BA57-40C7-E814-3923-0BEC1CD350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A1E1C-AB03-FC15-655E-C1D56D2062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A6726B-90A2-4B33-9DE5-6E1BBE75063C}" type="datetime1">
              <a:rPr lang="en-US" smtClean="0"/>
              <a:t>7/8/2026</a:t>
            </a:fld>
            <a:endParaRPr lang="en-US"/>
          </a:p>
        </p:txBody>
      </p:sp>
      <p:sp>
        <p:nvSpPr>
          <p:cNvPr id="5" name="Footer Placeholder 4">
            <a:extLst>
              <a:ext uri="{FF2B5EF4-FFF2-40B4-BE49-F238E27FC236}">
                <a16:creationId xmlns:a16="http://schemas.microsoft.com/office/drawing/2014/main" id="{763FF176-F418-AA32-A530-BDF07EF7CB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Amba Mishra    DSA-II Unit-3</a:t>
            </a:r>
          </a:p>
        </p:txBody>
      </p:sp>
      <p:sp>
        <p:nvSpPr>
          <p:cNvPr id="6" name="Slide Number Placeholder 5">
            <a:extLst>
              <a:ext uri="{FF2B5EF4-FFF2-40B4-BE49-F238E27FC236}">
                <a16:creationId xmlns:a16="http://schemas.microsoft.com/office/drawing/2014/main" id="{B2EC8D53-07DF-1802-7041-16D9E3BC60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1E2F89-97C2-4B18-A593-8150592B5005}" type="slidenum">
              <a:rPr lang="en-US" smtClean="0"/>
              <a:t>‹#›</a:t>
            </a:fld>
            <a:endParaRPr lang="en-US"/>
          </a:p>
        </p:txBody>
      </p:sp>
    </p:spTree>
    <p:extLst>
      <p:ext uri="{BB962C8B-B14F-4D97-AF65-F5344CB8AC3E}">
        <p14:creationId xmlns:p14="http://schemas.microsoft.com/office/powerpoint/2010/main" val="2828743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ug7O1lSZyg0&amp;t=558s"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youtube.com/watch?v=6h6Fi6AQiRM&amp;t=21s"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oTTzNMHM05I"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hyperlink" Target="https://www.youtube.com/watch?v=sSno9rV8Rhg"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www.youtube.com/watch?v=P6XopZDtNCM"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youtube.com/watch?v=bXH3qrIbu9E" TargetMode="External"/></Relationships>
</file>

<file path=ppt/slides/_rels/slide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436DA6-7937-F77C-70BA-A209958CDC79}"/>
              </a:ext>
            </a:extLst>
          </p:cNvPr>
          <p:cNvSpPr txBox="1">
            <a:spLocks/>
          </p:cNvSpPr>
          <p:nvPr/>
        </p:nvSpPr>
        <p:spPr>
          <a:xfrm>
            <a:off x="1371600" y="1"/>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400" dirty="0"/>
              <a:t>Noida Institute of Engineering and Technology, Greater Noida</a:t>
            </a:r>
          </a:p>
        </p:txBody>
      </p:sp>
      <p:pic>
        <p:nvPicPr>
          <p:cNvPr id="5" name="Picture 4" descr="A black and red logo&#10;&#10;Description automatically generated">
            <a:extLst>
              <a:ext uri="{FF2B5EF4-FFF2-40B4-BE49-F238E27FC236}">
                <a16:creationId xmlns:a16="http://schemas.microsoft.com/office/drawing/2014/main" id="{1E7CF3FE-05F5-E00D-64EA-4BC533F7434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6" name="Date Placeholder 5">
            <a:extLst>
              <a:ext uri="{FF2B5EF4-FFF2-40B4-BE49-F238E27FC236}">
                <a16:creationId xmlns:a16="http://schemas.microsoft.com/office/drawing/2014/main" id="{D8427B33-9E1C-0B49-5551-388B478349A7}"/>
              </a:ext>
            </a:extLst>
          </p:cNvPr>
          <p:cNvSpPr>
            <a:spLocks noGrp="1"/>
          </p:cNvSpPr>
          <p:nvPr>
            <p:ph type="dt" sz="half" idx="10"/>
          </p:nvPr>
        </p:nvSpPr>
        <p:spPr/>
        <p:txBody>
          <a:bodyPr/>
          <a:lstStyle/>
          <a:p>
            <a:fld id="{4E0D8E15-050C-42F9-8940-5A10ED9F549F}" type="datetime1">
              <a:rPr lang="en-US" smtClean="0"/>
              <a:t>7/8/2026</a:t>
            </a:fld>
            <a:endParaRPr lang="en-US"/>
          </a:p>
        </p:txBody>
      </p:sp>
      <p:sp>
        <p:nvSpPr>
          <p:cNvPr id="7" name="Footer Placeholder 6">
            <a:extLst>
              <a:ext uri="{FF2B5EF4-FFF2-40B4-BE49-F238E27FC236}">
                <a16:creationId xmlns:a16="http://schemas.microsoft.com/office/drawing/2014/main" id="{8611ED45-22C9-BE9A-AA41-EF16D9B31FA4}"/>
              </a:ext>
            </a:extLst>
          </p:cNvPr>
          <p:cNvSpPr>
            <a:spLocks noGrp="1"/>
          </p:cNvSpPr>
          <p:nvPr>
            <p:ph type="ftr" sz="quarter" idx="11"/>
          </p:nvPr>
        </p:nvSpPr>
        <p:spPr/>
        <p:txBody>
          <a:bodyPr/>
          <a:lstStyle/>
          <a:p>
            <a:r>
              <a:rPr lang="en-US"/>
              <a:t>Dr. Amba Mishra    DSA-II Unit-3</a:t>
            </a:r>
          </a:p>
        </p:txBody>
      </p:sp>
      <p:sp>
        <p:nvSpPr>
          <p:cNvPr id="8" name="Slide Number Placeholder 7">
            <a:extLst>
              <a:ext uri="{FF2B5EF4-FFF2-40B4-BE49-F238E27FC236}">
                <a16:creationId xmlns:a16="http://schemas.microsoft.com/office/drawing/2014/main" id="{9D85E1E1-84B0-3565-D381-D58DFBDB8081}"/>
              </a:ext>
            </a:extLst>
          </p:cNvPr>
          <p:cNvSpPr>
            <a:spLocks noGrp="1"/>
          </p:cNvSpPr>
          <p:nvPr>
            <p:ph type="sldNum" sz="quarter" idx="12"/>
          </p:nvPr>
        </p:nvSpPr>
        <p:spPr/>
        <p:txBody>
          <a:bodyPr/>
          <a:lstStyle/>
          <a:p>
            <a:fld id="{B41E2F89-97C2-4B18-A593-8150592B5005}" type="slidenum">
              <a:rPr lang="en-US" smtClean="0"/>
              <a:t>1</a:t>
            </a:fld>
            <a:endParaRPr lang="en-US" dirty="0"/>
          </a:p>
        </p:txBody>
      </p:sp>
      <p:sp>
        <p:nvSpPr>
          <p:cNvPr id="11" name="Subtitle 2">
            <a:extLst>
              <a:ext uri="{FF2B5EF4-FFF2-40B4-BE49-F238E27FC236}">
                <a16:creationId xmlns:a16="http://schemas.microsoft.com/office/drawing/2014/main" id="{2E0B0829-B6DE-4E43-04B4-B303BB89240C}"/>
              </a:ext>
            </a:extLst>
          </p:cNvPr>
          <p:cNvSpPr>
            <a:spLocks noGrp="1"/>
          </p:cNvSpPr>
          <p:nvPr>
            <p:ph type="subTitle" idx="1"/>
          </p:nvPr>
        </p:nvSpPr>
        <p:spPr>
          <a:xfrm>
            <a:off x="3034077" y="1215241"/>
            <a:ext cx="6400800" cy="1717253"/>
          </a:xfrm>
          <a:ln>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a:normAutofit/>
          </a:bodyPr>
          <a:lstStyle/>
          <a:p>
            <a:r>
              <a:rPr lang="en-US" sz="2800" b="1" dirty="0">
                <a:solidFill>
                  <a:schemeClr val="tx1"/>
                </a:solidFill>
              </a:rPr>
              <a:t>UNIT 3</a:t>
            </a:r>
          </a:p>
          <a:p>
            <a:pPr>
              <a:defRPr/>
            </a:pPr>
            <a:r>
              <a:rPr lang="en-US" sz="2800" b="1" dirty="0">
                <a:solidFill>
                  <a:schemeClr val="tx1"/>
                </a:solidFill>
              </a:rPr>
              <a:t>Dynamic Programming</a:t>
            </a:r>
          </a:p>
        </p:txBody>
      </p:sp>
      <p:sp>
        <p:nvSpPr>
          <p:cNvPr id="12" name="Subtitle 2">
            <a:extLst>
              <a:ext uri="{FF2B5EF4-FFF2-40B4-BE49-F238E27FC236}">
                <a16:creationId xmlns:a16="http://schemas.microsoft.com/office/drawing/2014/main" id="{F616A21D-D1E9-A38F-86BF-DA984EEA686C}"/>
              </a:ext>
            </a:extLst>
          </p:cNvPr>
          <p:cNvSpPr txBox="1">
            <a:spLocks/>
          </p:cNvSpPr>
          <p:nvPr/>
        </p:nvSpPr>
        <p:spPr>
          <a:xfrm>
            <a:off x="7910877" y="4112408"/>
            <a:ext cx="3048000" cy="1752600"/>
          </a:xfrm>
          <a:prstGeom prst="rect">
            <a:avLst/>
          </a:prstGeom>
          <a:ln>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Dr. Amba Mishra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Associate</a:t>
            </a:r>
            <a:r>
              <a:rPr kumimoji="0" lang="en-US" sz="2400" b="0" i="0" u="none" strike="noStrike" kern="1200" cap="none" spc="0" normalizeH="0" noProof="0" dirty="0">
                <a:ln>
                  <a:noFill/>
                </a:ln>
                <a:solidFill>
                  <a:schemeClr val="tx1"/>
                </a:solidFill>
                <a:effectLst/>
                <a:uLnTx/>
                <a:uFillTx/>
                <a:latin typeface="+mn-lt"/>
                <a:ea typeface="+mn-ea"/>
                <a:cs typeface="+mn-cs"/>
              </a:rPr>
              <a: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IT </a:t>
            </a:r>
            <a:r>
              <a:rPr lang="en-US" sz="2400" dirty="0" err="1">
                <a:solidFill>
                  <a:schemeClr val="tx1"/>
                </a:solidFill>
              </a:rPr>
              <a:t>Deptt</a:t>
            </a:r>
            <a:r>
              <a:rPr lang="en-US" sz="2400" dirty="0">
                <a:solidFill>
                  <a:schemeClr val="tx1"/>
                </a:solidFill>
              </a:rPr>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Subtitle 2">
            <a:extLst>
              <a:ext uri="{FF2B5EF4-FFF2-40B4-BE49-F238E27FC236}">
                <a16:creationId xmlns:a16="http://schemas.microsoft.com/office/drawing/2014/main" id="{767BFEC2-75C3-568E-7E49-F5C8BA23B9C3}"/>
              </a:ext>
            </a:extLst>
          </p:cNvPr>
          <p:cNvSpPr txBox="1">
            <a:spLocks/>
          </p:cNvSpPr>
          <p:nvPr/>
        </p:nvSpPr>
        <p:spPr>
          <a:xfrm>
            <a:off x="1899007" y="3921908"/>
            <a:ext cx="4191000" cy="838200"/>
          </a:xfrm>
          <a:prstGeom prst="rect">
            <a:avLst/>
          </a:prstGeom>
          <a:ln>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chemeClr val="tx1"/>
                </a:solidFill>
                <a:effectLst/>
                <a:uLnTx/>
                <a:uFillTx/>
                <a:latin typeface="+mn-lt"/>
                <a:ea typeface="+mn-ea"/>
                <a:cs typeface="+mn-cs"/>
              </a:rPr>
              <a:t>Data Structure and Algorithms-II</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C</a:t>
            </a:r>
            <a:r>
              <a:rPr lang="en-US" sz="2000" b="1">
                <a:solidFill>
                  <a:schemeClr val="tx1"/>
                </a:solidFill>
              </a:rPr>
              <a:t>CSE0301</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4" name="Subtitle 2">
            <a:extLst>
              <a:ext uri="{FF2B5EF4-FFF2-40B4-BE49-F238E27FC236}">
                <a16:creationId xmlns:a16="http://schemas.microsoft.com/office/drawing/2014/main" id="{5919CEB6-DC59-B3D9-DE05-331548EFCBE4}"/>
              </a:ext>
            </a:extLst>
          </p:cNvPr>
          <p:cNvSpPr txBox="1">
            <a:spLocks/>
          </p:cNvSpPr>
          <p:nvPr/>
        </p:nvSpPr>
        <p:spPr>
          <a:xfrm>
            <a:off x="1899007" y="4988708"/>
            <a:ext cx="4191000" cy="838200"/>
          </a:xfrm>
          <a:prstGeom prst="rect">
            <a:avLst/>
          </a:prstGeom>
          <a:ln>
            <a:solidFill>
              <a:schemeClr val="accent2">
                <a:lumMod val="75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noProof="0" dirty="0" err="1">
                <a:ln>
                  <a:noFill/>
                </a:ln>
                <a:solidFill>
                  <a:schemeClr val="tx1"/>
                </a:solidFill>
                <a:effectLst/>
                <a:uLnTx/>
                <a:uFillTx/>
                <a:latin typeface="+mn-lt"/>
                <a:ea typeface="+mn-ea"/>
                <a:cs typeface="+mn-cs"/>
              </a:rPr>
              <a:t>B.Tech</a:t>
            </a:r>
            <a:r>
              <a:rPr kumimoji="0" lang="en-US" sz="2000" b="0" i="0" u="none" strike="noStrike" kern="1200" cap="none" spc="0" normalizeH="0" noProof="0" dirty="0">
                <a:ln>
                  <a:noFill/>
                </a:ln>
                <a:solidFill>
                  <a:schemeClr val="tx1"/>
                </a:solidFill>
                <a:effectLst/>
                <a:uLnTx/>
                <a:uFillTx/>
                <a:latin typeface="+mn-lt"/>
                <a:ea typeface="+mn-ea"/>
                <a:cs typeface="+mn-cs"/>
              </a:rPr>
              <a:t> 3</a:t>
            </a:r>
            <a:r>
              <a:rPr kumimoji="0" lang="en-US" sz="2000" b="0" i="0" u="none" strike="noStrike" kern="1200" cap="none" spc="0" normalizeH="0" baseline="30000" noProof="0" dirty="0">
                <a:ln>
                  <a:noFill/>
                </a:ln>
                <a:solidFill>
                  <a:schemeClr val="tx1"/>
                </a:solidFill>
                <a:effectLst/>
                <a:uLnTx/>
                <a:uFillTx/>
                <a:latin typeface="+mn-lt"/>
                <a:ea typeface="+mn-ea"/>
                <a:cs typeface="+mn-cs"/>
              </a:rPr>
              <a:t>rd</a:t>
            </a:r>
            <a:r>
              <a:rPr lang="en-US" sz="2000" dirty="0">
                <a:solidFill>
                  <a:schemeClr val="tx1"/>
                </a:solidFill>
              </a:rPr>
              <a:t> </a:t>
            </a:r>
            <a:r>
              <a:rPr kumimoji="0" lang="en-US" sz="2000" b="0" i="0" u="none" strike="noStrike" kern="1200" cap="none" spc="0" normalizeH="0" noProof="0" dirty="0">
                <a:ln>
                  <a:noFill/>
                </a:ln>
                <a:solidFill>
                  <a:schemeClr val="tx1"/>
                </a:solidFill>
                <a:effectLst/>
                <a:uLnTx/>
                <a:uFillTx/>
                <a:latin typeface="+mn-lt"/>
                <a:ea typeface="+mn-ea"/>
                <a:cs typeface="+mn-cs"/>
              </a:rPr>
              <a:t> Sem</a:t>
            </a:r>
            <a:br>
              <a:rPr kumimoji="0" lang="en-US" sz="2000" b="0" i="0" u="none" strike="noStrike" kern="1200" cap="none" spc="0" normalizeH="0" noProof="0" dirty="0">
                <a:ln>
                  <a:noFill/>
                </a:ln>
                <a:solidFill>
                  <a:schemeClr val="tx1"/>
                </a:solidFill>
                <a:effectLst/>
                <a:uLnTx/>
                <a:uFillTx/>
                <a:latin typeface="+mn-lt"/>
                <a:ea typeface="+mn-ea"/>
                <a:cs typeface="+mn-cs"/>
              </a:rPr>
            </a:b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2" name="Picture 1">
            <a:extLst>
              <a:ext uri="{FF2B5EF4-FFF2-40B4-BE49-F238E27FC236}">
                <a16:creationId xmlns:a16="http://schemas.microsoft.com/office/drawing/2014/main" id="{7DAE1401-02D7-4063-43B2-BE38BC2E06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13718" y="2931666"/>
            <a:ext cx="1242317" cy="1178817"/>
          </a:xfrm>
          <a:prstGeom prst="rect">
            <a:avLst/>
          </a:prstGeom>
        </p:spPr>
      </p:pic>
    </p:spTree>
    <p:extLst>
      <p:ext uri="{BB962C8B-B14F-4D97-AF65-F5344CB8AC3E}">
        <p14:creationId xmlns:p14="http://schemas.microsoft.com/office/powerpoint/2010/main" val="562847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838FD15-CB82-AEE5-1A34-4FC0973AF149}"/>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49F93368-4C3B-E136-D160-5246EF3310D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29BC6AF-35D5-67B8-7BDD-1C022CFB00C1}"/>
              </a:ext>
            </a:extLst>
          </p:cNvPr>
          <p:cNvSpPr>
            <a:spLocks noGrp="1"/>
          </p:cNvSpPr>
          <p:nvPr>
            <p:ph type="sldNum" sz="quarter" idx="12"/>
          </p:nvPr>
        </p:nvSpPr>
        <p:spPr/>
        <p:txBody>
          <a:bodyPr/>
          <a:lstStyle/>
          <a:p>
            <a:fld id="{B41E2F89-97C2-4B18-A593-8150592B5005}" type="slidenum">
              <a:rPr lang="en-US" smtClean="0"/>
              <a:t>2</a:t>
            </a:fld>
            <a:endParaRPr lang="en-US" dirty="0"/>
          </a:p>
        </p:txBody>
      </p:sp>
      <p:sp>
        <p:nvSpPr>
          <p:cNvPr id="7" name="Title 1">
            <a:extLst>
              <a:ext uri="{FF2B5EF4-FFF2-40B4-BE49-F238E27FC236}">
                <a16:creationId xmlns:a16="http://schemas.microsoft.com/office/drawing/2014/main" id="{0B819967-A517-06F6-30BC-D53DE0C78324}"/>
              </a:ext>
            </a:extLst>
          </p:cNvPr>
          <p:cNvSpPr txBox="1">
            <a:spLocks/>
          </p:cNvSpPr>
          <p:nvPr/>
        </p:nvSpPr>
        <p:spPr>
          <a:xfrm>
            <a:off x="1371600" y="1"/>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Brief Introduction</a:t>
            </a:r>
          </a:p>
        </p:txBody>
      </p:sp>
      <p:pic>
        <p:nvPicPr>
          <p:cNvPr id="8" name="Picture 7" descr="A black and red logo&#10;&#10;Description automatically generated">
            <a:extLst>
              <a:ext uri="{FF2B5EF4-FFF2-40B4-BE49-F238E27FC236}">
                <a16:creationId xmlns:a16="http://schemas.microsoft.com/office/drawing/2014/main" id="{20C02628-74CE-C5EA-48DD-DEFB97F748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07F8A614-AB46-43F5-7C16-37CB215261CE}"/>
              </a:ext>
            </a:extLst>
          </p:cNvPr>
          <p:cNvSpPr txBox="1"/>
          <p:nvPr/>
        </p:nvSpPr>
        <p:spPr>
          <a:xfrm>
            <a:off x="892139" y="1462703"/>
            <a:ext cx="10820399" cy="4524315"/>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My self Dr. </a:t>
            </a:r>
            <a:r>
              <a:rPr lang="en-US" sz="2400" dirty="0" err="1">
                <a:latin typeface="Times New Roman" panose="02020603050405020304" pitchFamily="18" charset="0"/>
                <a:cs typeface="Times New Roman" panose="02020603050405020304" pitchFamily="18" charset="0"/>
              </a:rPr>
              <a:t>Amba</a:t>
            </a:r>
            <a:r>
              <a:rPr lang="en-US" sz="2400" dirty="0">
                <a:latin typeface="Times New Roman" panose="02020603050405020304" pitchFamily="18" charset="0"/>
                <a:cs typeface="Times New Roman" panose="02020603050405020304" pitchFamily="18" charset="0"/>
              </a:rPr>
              <a:t> Mishra, currently serving as Associate Professor in IT Department of Noida Institute of Engineering &amp; Technology, Greater Noida, Uttar Pradesh.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 have 17yrs of Teaching and 1Yr. Of Industry experience.</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 did my </a:t>
            </a:r>
            <a:r>
              <a:rPr lang="en-US" sz="2400" dirty="0" err="1">
                <a:latin typeface="Times New Roman" panose="02020603050405020304" pitchFamily="18" charset="0"/>
                <a:cs typeface="Times New Roman" panose="02020603050405020304" pitchFamily="18" charset="0"/>
              </a:rPr>
              <a:t>Ph.D</a:t>
            </a:r>
            <a:r>
              <a:rPr lang="en-US" sz="2400" dirty="0">
                <a:latin typeface="Times New Roman" panose="02020603050405020304" pitchFamily="18" charset="0"/>
                <a:cs typeface="Times New Roman" panose="02020603050405020304" pitchFamily="18" charset="0"/>
              </a:rPr>
              <a:t> from NIU Greater Noida and </a:t>
            </a:r>
            <a:r>
              <a:rPr lang="en-US" sz="2400" dirty="0" err="1">
                <a:latin typeface="Times New Roman" panose="02020603050405020304" pitchFamily="18" charset="0"/>
                <a:cs typeface="Times New Roman" panose="02020603050405020304" pitchFamily="18" charset="0"/>
              </a:rPr>
              <a:t>M.Tech</a:t>
            </a:r>
            <a:r>
              <a:rPr lang="en-US" sz="2400" dirty="0">
                <a:latin typeface="Times New Roman" panose="02020603050405020304" pitchFamily="18" charset="0"/>
                <a:cs typeface="Times New Roman" panose="02020603050405020304" pitchFamily="18" charset="0"/>
              </a:rPr>
              <a:t> from CDAC Noida(GGSIP University, Delhi).</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My research area includes Information security and Artificial Intelligence.</a:t>
            </a:r>
            <a:endParaRPr lang="en-I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845C948-7B49-AF9E-0FD0-EACF310767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2591" y="1191802"/>
            <a:ext cx="2426995" cy="2062395"/>
          </a:xfrm>
          <a:prstGeom prst="rect">
            <a:avLst/>
          </a:prstGeom>
        </p:spPr>
      </p:pic>
    </p:spTree>
    <p:extLst>
      <p:ext uri="{BB962C8B-B14F-4D97-AF65-F5344CB8AC3E}">
        <p14:creationId xmlns:p14="http://schemas.microsoft.com/office/powerpoint/2010/main" val="22532830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AE9B4-F29F-B51B-8303-C5D808949F4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B0C9E68-9AA1-54D4-5160-18B8C9746417}"/>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C943F4B0-A5A3-14BC-B331-7043953B0C8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CFF91B6-CB41-2EEA-52EE-BD5A151658BE}"/>
              </a:ext>
            </a:extLst>
          </p:cNvPr>
          <p:cNvSpPr>
            <a:spLocks noGrp="1"/>
          </p:cNvSpPr>
          <p:nvPr>
            <p:ph type="sldNum" sz="quarter" idx="12"/>
          </p:nvPr>
        </p:nvSpPr>
        <p:spPr/>
        <p:txBody>
          <a:bodyPr/>
          <a:lstStyle/>
          <a:p>
            <a:fld id="{B41E2F89-97C2-4B18-A593-8150592B5005}" type="slidenum">
              <a:rPr lang="en-US" smtClean="0"/>
              <a:t>3</a:t>
            </a:fld>
            <a:endParaRPr lang="en-US" dirty="0"/>
          </a:p>
        </p:txBody>
      </p:sp>
      <p:sp>
        <p:nvSpPr>
          <p:cNvPr id="7" name="Title 1">
            <a:extLst>
              <a:ext uri="{FF2B5EF4-FFF2-40B4-BE49-F238E27FC236}">
                <a16:creationId xmlns:a16="http://schemas.microsoft.com/office/drawing/2014/main" id="{D343D6E2-E7FF-2F69-714F-E5E81C6F4E5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Evaluation scheme</a:t>
            </a:r>
          </a:p>
        </p:txBody>
      </p:sp>
      <p:pic>
        <p:nvPicPr>
          <p:cNvPr id="8" name="Picture 7" descr="A black and red logo&#10;&#10;Description automatically generated">
            <a:extLst>
              <a:ext uri="{FF2B5EF4-FFF2-40B4-BE49-F238E27FC236}">
                <a16:creationId xmlns:a16="http://schemas.microsoft.com/office/drawing/2014/main" id="{8715A8A4-2945-A150-5E69-13C3BD37F1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A736975A-0952-882E-B6E2-A47FABC2E7FB}"/>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3673B31-20F4-5C98-CCA4-CA292C9A8BFA}"/>
              </a:ext>
            </a:extLst>
          </p:cNvPr>
          <p:cNvPicPr>
            <a:picLocks noChangeAspect="1"/>
          </p:cNvPicPr>
          <p:nvPr/>
        </p:nvPicPr>
        <p:blipFill>
          <a:blip r:embed="rId3"/>
          <a:stretch>
            <a:fillRect/>
          </a:stretch>
        </p:blipFill>
        <p:spPr>
          <a:xfrm>
            <a:off x="976045" y="723901"/>
            <a:ext cx="10243335" cy="5594349"/>
          </a:xfrm>
          <a:prstGeom prst="rect">
            <a:avLst/>
          </a:prstGeom>
        </p:spPr>
      </p:pic>
    </p:spTree>
    <p:extLst>
      <p:ext uri="{BB962C8B-B14F-4D97-AF65-F5344CB8AC3E}">
        <p14:creationId xmlns:p14="http://schemas.microsoft.com/office/powerpoint/2010/main" val="49575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20F92-4FE8-8EB7-5F59-139E5ADBD37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ED034B4-D0B9-E76F-F935-AC148E2500DD}"/>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8520ADD8-94B1-9709-661E-C247E78C98B0}"/>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108040E6-5342-EE06-CC49-BC6F7F45E45A}"/>
              </a:ext>
            </a:extLst>
          </p:cNvPr>
          <p:cNvSpPr>
            <a:spLocks noGrp="1"/>
          </p:cNvSpPr>
          <p:nvPr>
            <p:ph type="sldNum" sz="quarter" idx="12"/>
          </p:nvPr>
        </p:nvSpPr>
        <p:spPr/>
        <p:txBody>
          <a:bodyPr/>
          <a:lstStyle/>
          <a:p>
            <a:fld id="{B41E2F89-97C2-4B18-A593-8150592B5005}" type="slidenum">
              <a:rPr lang="en-US" smtClean="0"/>
              <a:t>4</a:t>
            </a:fld>
            <a:endParaRPr lang="en-US" dirty="0"/>
          </a:p>
        </p:txBody>
      </p:sp>
      <p:sp>
        <p:nvSpPr>
          <p:cNvPr id="7" name="Title 1">
            <a:extLst>
              <a:ext uri="{FF2B5EF4-FFF2-40B4-BE49-F238E27FC236}">
                <a16:creationId xmlns:a16="http://schemas.microsoft.com/office/drawing/2014/main" id="{40E2AA6C-B369-8368-8A4C-CEA5B6A9AF37}"/>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Subject Syllabus</a:t>
            </a:r>
          </a:p>
        </p:txBody>
      </p:sp>
      <p:pic>
        <p:nvPicPr>
          <p:cNvPr id="8" name="Picture 7" descr="A black and red logo&#10;&#10;Description automatically generated">
            <a:extLst>
              <a:ext uri="{FF2B5EF4-FFF2-40B4-BE49-F238E27FC236}">
                <a16:creationId xmlns:a16="http://schemas.microsoft.com/office/drawing/2014/main" id="{04A207DC-B310-F163-A837-ECDBEBA5ED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7D8DFC84-3011-E2BA-219F-A9D2BAB1D641}"/>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8589782-9C80-0681-62E3-45CE18EB5FAC}"/>
              </a:ext>
            </a:extLst>
          </p:cNvPr>
          <p:cNvPicPr>
            <a:picLocks noChangeAspect="1"/>
          </p:cNvPicPr>
          <p:nvPr/>
        </p:nvPicPr>
        <p:blipFill>
          <a:blip r:embed="rId3"/>
          <a:stretch>
            <a:fillRect/>
          </a:stretch>
        </p:blipFill>
        <p:spPr>
          <a:xfrm>
            <a:off x="479461" y="780836"/>
            <a:ext cx="11346094" cy="5575513"/>
          </a:xfrm>
          <a:prstGeom prst="rect">
            <a:avLst/>
          </a:prstGeom>
        </p:spPr>
      </p:pic>
    </p:spTree>
    <p:extLst>
      <p:ext uri="{BB962C8B-B14F-4D97-AF65-F5344CB8AC3E}">
        <p14:creationId xmlns:p14="http://schemas.microsoft.com/office/powerpoint/2010/main" val="14490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3211A-5861-40D4-EEAB-33EE81F1779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07AAF35-E75B-C512-656C-35A99165B10E}"/>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4A7CB8A0-5523-101B-71FB-A3A74DB8A1C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9EA4E4A-A8A4-18E8-56C2-EC6A1E25BB38}"/>
              </a:ext>
            </a:extLst>
          </p:cNvPr>
          <p:cNvSpPr>
            <a:spLocks noGrp="1"/>
          </p:cNvSpPr>
          <p:nvPr>
            <p:ph type="sldNum" sz="quarter" idx="12"/>
          </p:nvPr>
        </p:nvSpPr>
        <p:spPr/>
        <p:txBody>
          <a:bodyPr/>
          <a:lstStyle/>
          <a:p>
            <a:fld id="{B41E2F89-97C2-4B18-A593-8150592B5005}" type="slidenum">
              <a:rPr lang="en-US" smtClean="0"/>
              <a:t>5</a:t>
            </a:fld>
            <a:endParaRPr lang="en-US" dirty="0"/>
          </a:p>
        </p:txBody>
      </p:sp>
      <p:sp>
        <p:nvSpPr>
          <p:cNvPr id="7" name="Title 1">
            <a:extLst>
              <a:ext uri="{FF2B5EF4-FFF2-40B4-BE49-F238E27FC236}">
                <a16:creationId xmlns:a16="http://schemas.microsoft.com/office/drawing/2014/main" id="{8B7FCEE5-39EA-6890-9397-66DCE5EA9541}"/>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Branch wise Applications</a:t>
            </a:r>
          </a:p>
        </p:txBody>
      </p:sp>
      <p:pic>
        <p:nvPicPr>
          <p:cNvPr id="8" name="Picture 7" descr="A black and red logo&#10;&#10;Description automatically generated">
            <a:extLst>
              <a:ext uri="{FF2B5EF4-FFF2-40B4-BE49-F238E27FC236}">
                <a16:creationId xmlns:a16="http://schemas.microsoft.com/office/drawing/2014/main" id="{1EAF019E-156E-5FA9-1ECA-4C467FB884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graphicFrame>
        <p:nvGraphicFramePr>
          <p:cNvPr id="12" name="Content Placeholder 6">
            <a:extLst>
              <a:ext uri="{FF2B5EF4-FFF2-40B4-BE49-F238E27FC236}">
                <a16:creationId xmlns:a16="http://schemas.microsoft.com/office/drawing/2014/main" id="{075A7418-33B0-2DDF-BA73-E0BD55F8BE19}"/>
              </a:ext>
            </a:extLst>
          </p:cNvPr>
          <p:cNvGraphicFramePr>
            <a:graphicFrameLocks/>
          </p:cNvGraphicFramePr>
          <p:nvPr>
            <p:extLst>
              <p:ext uri="{D42A27DB-BD31-4B8C-83A1-F6EECF244321}">
                <p14:modId xmlns:p14="http://schemas.microsoft.com/office/powerpoint/2010/main" val="787513886"/>
              </p:ext>
            </p:extLst>
          </p:nvPr>
        </p:nvGraphicFramePr>
        <p:xfrm>
          <a:off x="2718369" y="1156258"/>
          <a:ext cx="7848601" cy="47296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82618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57498-3549-79C0-0877-BD62395FA7F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94CD150-49E9-41EE-F04C-C4A857D1BFA9}"/>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86C4B6AD-CB18-73D3-5F65-7972EDEA7BF4}"/>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8795DD8-BB67-FD3F-D15B-CCAA2E4DEE93}"/>
              </a:ext>
            </a:extLst>
          </p:cNvPr>
          <p:cNvSpPr>
            <a:spLocks noGrp="1"/>
          </p:cNvSpPr>
          <p:nvPr>
            <p:ph type="sldNum" sz="quarter" idx="12"/>
          </p:nvPr>
        </p:nvSpPr>
        <p:spPr/>
        <p:txBody>
          <a:bodyPr/>
          <a:lstStyle/>
          <a:p>
            <a:fld id="{B41E2F89-97C2-4B18-A593-8150592B5005}" type="slidenum">
              <a:rPr lang="en-US" smtClean="0"/>
              <a:t>6</a:t>
            </a:fld>
            <a:endParaRPr lang="en-US" dirty="0"/>
          </a:p>
        </p:txBody>
      </p:sp>
      <p:sp>
        <p:nvSpPr>
          <p:cNvPr id="7" name="Title 1">
            <a:extLst>
              <a:ext uri="{FF2B5EF4-FFF2-40B4-BE49-F238E27FC236}">
                <a16:creationId xmlns:a16="http://schemas.microsoft.com/office/drawing/2014/main" id="{1D721877-AD5C-0D27-4F90-EC1C5ADE31A8}"/>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Course Objective</a:t>
            </a:r>
          </a:p>
        </p:txBody>
      </p:sp>
      <p:pic>
        <p:nvPicPr>
          <p:cNvPr id="8" name="Picture 7" descr="A black and red logo&#10;&#10;Description automatically generated">
            <a:extLst>
              <a:ext uri="{FF2B5EF4-FFF2-40B4-BE49-F238E27FC236}">
                <a16:creationId xmlns:a16="http://schemas.microsoft.com/office/drawing/2014/main" id="{B39C8E27-ADD4-DC25-55BE-D0502B39D45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65E60F86-3C88-4BB2-96EE-8172B34B3A24}"/>
              </a:ext>
            </a:extLst>
          </p:cNvPr>
          <p:cNvSpPr txBox="1"/>
          <p:nvPr/>
        </p:nvSpPr>
        <p:spPr>
          <a:xfrm>
            <a:off x="892139" y="1462703"/>
            <a:ext cx="10820399" cy="2677656"/>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t>The objective of the course is to learn the basic concepts of algorithm analysis, along with the implementation of non-linear data structures.</a:t>
            </a: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2159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54C3C-2C05-542B-8EBF-6E85AC4665C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3252E0A-36C1-7FF9-709B-650A9E3E5120}"/>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98C9CD29-D964-969E-1F70-847B1285D85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B54A0EDC-FB8E-2ACA-9E53-2B7C0D05C647}"/>
              </a:ext>
            </a:extLst>
          </p:cNvPr>
          <p:cNvSpPr>
            <a:spLocks noGrp="1"/>
          </p:cNvSpPr>
          <p:nvPr>
            <p:ph type="sldNum" sz="quarter" idx="12"/>
          </p:nvPr>
        </p:nvSpPr>
        <p:spPr/>
        <p:txBody>
          <a:bodyPr/>
          <a:lstStyle/>
          <a:p>
            <a:fld id="{B41E2F89-97C2-4B18-A593-8150592B5005}" type="slidenum">
              <a:rPr lang="en-US" smtClean="0"/>
              <a:t>7</a:t>
            </a:fld>
            <a:endParaRPr lang="en-US" dirty="0"/>
          </a:p>
        </p:txBody>
      </p:sp>
      <p:sp>
        <p:nvSpPr>
          <p:cNvPr id="7" name="Title 1">
            <a:extLst>
              <a:ext uri="{FF2B5EF4-FFF2-40B4-BE49-F238E27FC236}">
                <a16:creationId xmlns:a16="http://schemas.microsoft.com/office/drawing/2014/main" id="{F521CF0F-546B-F15D-0E28-75F71DCC26D9}"/>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Course Outcomes</a:t>
            </a:r>
          </a:p>
        </p:txBody>
      </p:sp>
      <p:pic>
        <p:nvPicPr>
          <p:cNvPr id="8" name="Picture 7" descr="A black and red logo&#10;&#10;Description automatically generated">
            <a:extLst>
              <a:ext uri="{FF2B5EF4-FFF2-40B4-BE49-F238E27FC236}">
                <a16:creationId xmlns:a16="http://schemas.microsoft.com/office/drawing/2014/main" id="{A0FEB955-D0DF-3496-7587-4BD732C14E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774586E2-053A-D8EB-B2CC-A39564567232}"/>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EBC4EE6C-99A1-C678-43A8-3EFE551D827A}"/>
              </a:ext>
            </a:extLst>
          </p:cNvPr>
          <p:cNvGraphicFramePr>
            <a:graphicFrameLocks noGrp="1"/>
          </p:cNvGraphicFramePr>
          <p:nvPr>
            <p:extLst>
              <p:ext uri="{D42A27DB-BD31-4B8C-83A1-F6EECF244321}">
                <p14:modId xmlns:p14="http://schemas.microsoft.com/office/powerpoint/2010/main" val="4014481297"/>
              </p:ext>
            </p:extLst>
          </p:nvPr>
        </p:nvGraphicFramePr>
        <p:xfrm>
          <a:off x="838201" y="1212351"/>
          <a:ext cx="10461660" cy="4964612"/>
        </p:xfrm>
        <a:graphic>
          <a:graphicData uri="http://schemas.openxmlformats.org/drawingml/2006/table">
            <a:tbl>
              <a:tblPr firstRow="1" firstCol="1" lastRow="1" lastCol="1" bandRow="1" bandCol="1">
                <a:tableStyleId>{5C22544A-7EE6-4342-B048-85BDC9FD1C3A}</a:tableStyleId>
              </a:tblPr>
              <a:tblGrid>
                <a:gridCol w="938106">
                  <a:extLst>
                    <a:ext uri="{9D8B030D-6E8A-4147-A177-3AD203B41FA5}">
                      <a16:colId xmlns:a16="http://schemas.microsoft.com/office/drawing/2014/main" val="1703982282"/>
                    </a:ext>
                  </a:extLst>
                </a:gridCol>
                <a:gridCol w="7544378">
                  <a:extLst>
                    <a:ext uri="{9D8B030D-6E8A-4147-A177-3AD203B41FA5}">
                      <a16:colId xmlns:a16="http://schemas.microsoft.com/office/drawing/2014/main" val="3628568941"/>
                    </a:ext>
                  </a:extLst>
                </a:gridCol>
                <a:gridCol w="1979176">
                  <a:extLst>
                    <a:ext uri="{9D8B030D-6E8A-4147-A177-3AD203B41FA5}">
                      <a16:colId xmlns:a16="http://schemas.microsoft.com/office/drawing/2014/main" val="1695412033"/>
                    </a:ext>
                  </a:extLst>
                </a:gridCol>
              </a:tblGrid>
              <a:tr h="826908">
                <a:tc gridSpan="2">
                  <a:txBody>
                    <a:bodyPr/>
                    <a:lstStyle/>
                    <a:p>
                      <a:pPr marL="0" marR="0" algn="l">
                        <a:lnSpc>
                          <a:spcPts val="1280"/>
                        </a:lnSpc>
                        <a:spcBef>
                          <a:spcPts val="590"/>
                        </a:spcBef>
                        <a:buNone/>
                      </a:pPr>
                      <a:r>
                        <a:rPr lang="en-US" sz="1600" dirty="0">
                          <a:effectLst/>
                        </a:rPr>
                        <a:t> </a:t>
                      </a:r>
                    </a:p>
                    <a:p>
                      <a:pPr marL="1270" marR="0" algn="ctr">
                        <a:lnSpc>
                          <a:spcPts val="1280"/>
                        </a:lnSpc>
                        <a:buNone/>
                      </a:pPr>
                      <a:r>
                        <a:rPr lang="en-US" sz="1600" dirty="0">
                          <a:effectLst/>
                        </a:rPr>
                        <a:t>Course</a:t>
                      </a:r>
                      <a:r>
                        <a:rPr lang="en-US" sz="1600" spc="-75" dirty="0">
                          <a:effectLst/>
                        </a:rPr>
                        <a:t> </a:t>
                      </a:r>
                      <a:r>
                        <a:rPr lang="en-US" sz="1600" dirty="0">
                          <a:effectLst/>
                        </a:rPr>
                        <a:t>Outcomes</a:t>
                      </a:r>
                      <a:r>
                        <a:rPr lang="en-US" sz="1600" spc="-30" dirty="0">
                          <a:effectLst/>
                        </a:rPr>
                        <a:t> </a:t>
                      </a:r>
                      <a:r>
                        <a:rPr lang="en-US" sz="1600" spc="-20" dirty="0">
                          <a:effectLst/>
                        </a:rPr>
                        <a:t>(CO)</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US"/>
                    </a:p>
                  </a:txBody>
                  <a:tcPr/>
                </a:tc>
                <a:tc>
                  <a:txBody>
                    <a:bodyPr/>
                    <a:lstStyle/>
                    <a:p>
                      <a:pPr marL="133350" marR="635" algn="ctr">
                        <a:lnSpc>
                          <a:spcPts val="1375"/>
                        </a:lnSpc>
                        <a:buNone/>
                      </a:pPr>
                      <a:r>
                        <a:rPr lang="en-US" sz="1600" spc="-10" dirty="0">
                          <a:effectLst/>
                        </a:rPr>
                        <a:t>Bloom’s</a:t>
                      </a:r>
                      <a:endParaRPr lang="en-US" sz="1600" dirty="0">
                        <a:effectLst/>
                      </a:endParaRPr>
                    </a:p>
                    <a:p>
                      <a:pPr marL="133350" marR="6985" algn="ctr">
                        <a:lnSpc>
                          <a:spcPts val="1280"/>
                        </a:lnSpc>
                        <a:buNone/>
                      </a:pPr>
                      <a:r>
                        <a:rPr lang="en-US" sz="1600" spc="-10" dirty="0">
                          <a:effectLst/>
                        </a:rPr>
                        <a:t>Knowledge</a:t>
                      </a:r>
                      <a:endParaRPr lang="en-US" sz="1600" dirty="0">
                        <a:effectLst/>
                      </a:endParaRPr>
                    </a:p>
                    <a:p>
                      <a:pPr marL="133350" marR="0" algn="ctr">
                        <a:lnSpc>
                          <a:spcPts val="1280"/>
                        </a:lnSpc>
                        <a:spcBef>
                          <a:spcPts val="1200"/>
                        </a:spcBef>
                        <a:buNone/>
                      </a:pPr>
                      <a:r>
                        <a:rPr lang="en-US" sz="1600" spc="-10" dirty="0">
                          <a:effectLst/>
                        </a:rPr>
                        <a:t>Level(KL)</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460917939"/>
                  </a:ext>
                </a:extLst>
              </a:tr>
              <a:tr h="826908">
                <a:tc>
                  <a:txBody>
                    <a:bodyPr/>
                    <a:lstStyle/>
                    <a:p>
                      <a:pPr marL="0" marR="0" algn="l">
                        <a:lnSpc>
                          <a:spcPts val="1280"/>
                        </a:lnSpc>
                        <a:spcBef>
                          <a:spcPts val="1180"/>
                        </a:spcBef>
                        <a:buNone/>
                      </a:pPr>
                      <a:r>
                        <a:rPr lang="en-US" sz="1600" dirty="0">
                          <a:effectLst/>
                        </a:rPr>
                        <a:t> </a:t>
                      </a:r>
                    </a:p>
                    <a:p>
                      <a:pPr marL="29210" marR="0" algn="ctr">
                        <a:lnSpc>
                          <a:spcPts val="1280"/>
                        </a:lnSpc>
                        <a:buNone/>
                      </a:pPr>
                      <a:r>
                        <a:rPr lang="en-US" sz="1600" spc="-25" dirty="0">
                          <a:effectLst/>
                        </a:rPr>
                        <a:t>CO1</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l">
                        <a:lnSpc>
                          <a:spcPct val="150000"/>
                        </a:lnSpc>
                        <a:spcBef>
                          <a:spcPts val="1190"/>
                        </a:spcBef>
                        <a:buNone/>
                      </a:pPr>
                      <a:r>
                        <a:rPr lang="en-US" sz="1600" dirty="0">
                          <a:effectLst/>
                        </a:rPr>
                        <a:t>Apply</a:t>
                      </a:r>
                      <a:r>
                        <a:rPr lang="en-US" sz="1600" spc="400" dirty="0">
                          <a:effectLst/>
                        </a:rPr>
                        <a:t> </a:t>
                      </a:r>
                      <a:r>
                        <a:rPr lang="en-US" sz="1600" dirty="0">
                          <a:effectLst/>
                        </a:rPr>
                        <a:t>tree</a:t>
                      </a:r>
                      <a:r>
                        <a:rPr lang="en-US" sz="1600" spc="400" dirty="0">
                          <a:effectLst/>
                        </a:rPr>
                        <a:t> </a:t>
                      </a:r>
                      <a:r>
                        <a:rPr lang="en-US" sz="1600" dirty="0">
                          <a:effectLst/>
                        </a:rPr>
                        <a:t>structures</a:t>
                      </a:r>
                      <a:r>
                        <a:rPr lang="en-US" sz="1600" spc="400" dirty="0">
                          <a:effectLst/>
                        </a:rPr>
                        <a:t> </a:t>
                      </a:r>
                      <a:r>
                        <a:rPr lang="en-US" sz="1600" dirty="0">
                          <a:effectLst/>
                        </a:rPr>
                        <a:t>to</a:t>
                      </a:r>
                      <a:r>
                        <a:rPr lang="en-US" sz="1600" spc="400" dirty="0">
                          <a:effectLst/>
                        </a:rPr>
                        <a:t> </a:t>
                      </a:r>
                      <a:r>
                        <a:rPr lang="en-US" sz="1600" dirty="0">
                          <a:effectLst/>
                        </a:rPr>
                        <a:t>solve</a:t>
                      </a:r>
                      <a:r>
                        <a:rPr lang="en-US" sz="1600" spc="400" dirty="0">
                          <a:effectLst/>
                        </a:rPr>
                        <a:t> </a:t>
                      </a:r>
                      <a:r>
                        <a:rPr lang="en-US" sz="1600" dirty="0">
                          <a:effectLst/>
                        </a:rPr>
                        <a:t>specific</a:t>
                      </a:r>
                      <a:r>
                        <a:rPr lang="en-US" sz="1600" spc="400" dirty="0">
                          <a:effectLst/>
                        </a:rPr>
                        <a:t> </a:t>
                      </a:r>
                      <a:r>
                        <a:rPr lang="en-US" sz="1600" dirty="0">
                          <a:effectLst/>
                        </a:rPr>
                        <a:t>problems</a:t>
                      </a:r>
                      <a:r>
                        <a:rPr lang="en-US" sz="1600" spc="400" dirty="0">
                          <a:effectLst/>
                        </a:rPr>
                        <a:t> </a:t>
                      </a:r>
                      <a:r>
                        <a:rPr lang="en-US" sz="1600" dirty="0">
                          <a:effectLst/>
                        </a:rPr>
                        <a:t>using</a:t>
                      </a:r>
                      <a:r>
                        <a:rPr lang="en-US" sz="1600" spc="400" dirty="0">
                          <a:effectLst/>
                        </a:rPr>
                        <a:t> </a:t>
                      </a:r>
                      <a:r>
                        <a:rPr lang="en-US" sz="1600" dirty="0">
                          <a:effectLst/>
                        </a:rPr>
                        <a:t>various</a:t>
                      </a:r>
                      <a:r>
                        <a:rPr lang="en-US" sz="1600" spc="400" dirty="0">
                          <a:effectLst/>
                        </a:rPr>
                        <a:t> </a:t>
                      </a:r>
                      <a:r>
                        <a:rPr lang="en-US" sz="1600" dirty="0">
                          <a:effectLst/>
                        </a:rPr>
                        <a:t>tree operations and algorithms.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l">
                        <a:lnSpc>
                          <a:spcPts val="1280"/>
                        </a:lnSpc>
                        <a:spcBef>
                          <a:spcPts val="1180"/>
                        </a:spcBef>
                        <a:buNone/>
                      </a:pPr>
                      <a:r>
                        <a:rPr lang="en-US" sz="1600">
                          <a:effectLst/>
                        </a:rPr>
                        <a:t> </a:t>
                      </a:r>
                    </a:p>
                    <a:p>
                      <a:pPr marL="133350" marR="104140" algn="ctr">
                        <a:lnSpc>
                          <a:spcPts val="1280"/>
                        </a:lnSpc>
                        <a:buNone/>
                      </a:pPr>
                      <a:r>
                        <a:rPr lang="en-US" sz="1600" spc="-25">
                          <a:effectLst/>
                        </a:rPr>
                        <a:t>K3</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827528818"/>
                  </a:ext>
                </a:extLst>
              </a:tr>
              <a:tr h="828174">
                <a:tc>
                  <a:txBody>
                    <a:bodyPr/>
                    <a:lstStyle/>
                    <a:p>
                      <a:pPr marL="0" marR="0" algn="l">
                        <a:lnSpc>
                          <a:spcPts val="1280"/>
                        </a:lnSpc>
                        <a:spcBef>
                          <a:spcPts val="1180"/>
                        </a:spcBef>
                        <a:buNone/>
                      </a:pPr>
                      <a:r>
                        <a:rPr lang="en-US" sz="1600" dirty="0">
                          <a:effectLst/>
                        </a:rPr>
                        <a:t> </a:t>
                      </a:r>
                    </a:p>
                    <a:p>
                      <a:pPr marL="29210" marR="0" algn="ctr">
                        <a:lnSpc>
                          <a:spcPts val="1280"/>
                        </a:lnSpc>
                        <a:buNone/>
                      </a:pPr>
                      <a:r>
                        <a:rPr lang="en-US" sz="1600" spc="-25" dirty="0">
                          <a:effectLst/>
                        </a:rPr>
                        <a:t>CO2</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l">
                        <a:lnSpc>
                          <a:spcPct val="150000"/>
                        </a:lnSpc>
                        <a:spcBef>
                          <a:spcPts val="1205"/>
                        </a:spcBef>
                        <a:buNone/>
                      </a:pPr>
                      <a:r>
                        <a:rPr lang="en-US" sz="1600" dirty="0" err="1">
                          <a:effectLst/>
                        </a:rPr>
                        <a:t>Analyse</a:t>
                      </a:r>
                      <a:r>
                        <a:rPr lang="en-US" sz="1600" spc="-75" dirty="0">
                          <a:effectLst/>
                        </a:rPr>
                        <a:t> </a:t>
                      </a:r>
                      <a:r>
                        <a:rPr lang="en-US" sz="1600" dirty="0">
                          <a:effectLst/>
                        </a:rPr>
                        <a:t>the</a:t>
                      </a:r>
                      <a:r>
                        <a:rPr lang="en-US" sz="1600" spc="-75" dirty="0">
                          <a:effectLst/>
                        </a:rPr>
                        <a:t> </a:t>
                      </a:r>
                      <a:r>
                        <a:rPr lang="en-US" sz="1600" dirty="0">
                          <a:effectLst/>
                        </a:rPr>
                        <a:t>graph</a:t>
                      </a:r>
                      <a:r>
                        <a:rPr lang="en-US" sz="1600" spc="-70" dirty="0">
                          <a:effectLst/>
                        </a:rPr>
                        <a:t> </a:t>
                      </a:r>
                      <a:r>
                        <a:rPr lang="en-US" sz="1600" dirty="0">
                          <a:effectLst/>
                        </a:rPr>
                        <a:t>data</a:t>
                      </a:r>
                      <a:r>
                        <a:rPr lang="en-US" sz="1600" spc="-75" dirty="0">
                          <a:effectLst/>
                        </a:rPr>
                        <a:t> </a:t>
                      </a:r>
                      <a:r>
                        <a:rPr lang="en-US" sz="1600" dirty="0">
                          <a:effectLst/>
                        </a:rPr>
                        <a:t>structure</a:t>
                      </a:r>
                      <a:r>
                        <a:rPr lang="en-US" sz="1600" spc="-75" dirty="0">
                          <a:effectLst/>
                        </a:rPr>
                        <a:t> </a:t>
                      </a:r>
                      <a:r>
                        <a:rPr lang="en-US" sz="1600" dirty="0">
                          <a:effectLst/>
                        </a:rPr>
                        <a:t>and</a:t>
                      </a:r>
                      <a:r>
                        <a:rPr lang="en-US" sz="1600" spc="-70" dirty="0">
                          <a:effectLst/>
                        </a:rPr>
                        <a:t> </a:t>
                      </a:r>
                      <a:r>
                        <a:rPr lang="en-US" sz="1600" dirty="0">
                          <a:effectLst/>
                        </a:rPr>
                        <a:t>evaluate</a:t>
                      </a:r>
                      <a:r>
                        <a:rPr lang="en-US" sz="1600" spc="-75" dirty="0">
                          <a:effectLst/>
                        </a:rPr>
                        <a:t> </a:t>
                      </a:r>
                      <a:r>
                        <a:rPr lang="en-US" sz="1600" dirty="0">
                          <a:effectLst/>
                        </a:rPr>
                        <a:t>the</a:t>
                      </a:r>
                      <a:r>
                        <a:rPr lang="en-US" sz="1600" spc="-75" dirty="0">
                          <a:effectLst/>
                        </a:rPr>
                        <a:t> </a:t>
                      </a:r>
                      <a:r>
                        <a:rPr lang="en-US" sz="1600" dirty="0">
                          <a:effectLst/>
                        </a:rPr>
                        <a:t>efficiency</a:t>
                      </a:r>
                      <a:r>
                        <a:rPr lang="en-US" sz="1600" spc="-70" dirty="0">
                          <a:effectLst/>
                        </a:rPr>
                        <a:t> </a:t>
                      </a:r>
                      <a:r>
                        <a:rPr lang="en-US" sz="1600" dirty="0">
                          <a:effectLst/>
                        </a:rPr>
                        <a:t>of</a:t>
                      </a:r>
                      <a:r>
                        <a:rPr lang="en-US" sz="1600" spc="-75" dirty="0">
                          <a:effectLst/>
                        </a:rPr>
                        <a:t> </a:t>
                      </a:r>
                      <a:r>
                        <a:rPr lang="en-US" sz="1600" dirty="0">
                          <a:effectLst/>
                        </a:rPr>
                        <a:t>its</a:t>
                      </a:r>
                      <a:r>
                        <a:rPr lang="en-US" sz="1600" spc="-70" dirty="0">
                          <a:effectLst/>
                        </a:rPr>
                        <a:t> </a:t>
                      </a:r>
                      <a:r>
                        <a:rPr lang="en-US" sz="1600" dirty="0">
                          <a:effectLst/>
                        </a:rPr>
                        <a:t>operations for problem solving.</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l">
                        <a:lnSpc>
                          <a:spcPts val="1280"/>
                        </a:lnSpc>
                        <a:spcBef>
                          <a:spcPts val="1180"/>
                        </a:spcBef>
                        <a:buNone/>
                      </a:pPr>
                      <a:r>
                        <a:rPr lang="en-US" sz="1600">
                          <a:effectLst/>
                        </a:rPr>
                        <a:t> </a:t>
                      </a:r>
                    </a:p>
                    <a:p>
                      <a:pPr marL="133350" marR="104140" algn="ctr">
                        <a:lnSpc>
                          <a:spcPts val="1280"/>
                        </a:lnSpc>
                        <a:buNone/>
                      </a:pPr>
                      <a:r>
                        <a:rPr lang="en-US" sz="1600" spc="-25">
                          <a:effectLst/>
                        </a:rPr>
                        <a:t>K4</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97641174"/>
                  </a:ext>
                </a:extLst>
              </a:tr>
              <a:tr h="826908">
                <a:tc>
                  <a:txBody>
                    <a:bodyPr/>
                    <a:lstStyle/>
                    <a:p>
                      <a:pPr marL="0" marR="0" algn="l">
                        <a:lnSpc>
                          <a:spcPts val="1280"/>
                        </a:lnSpc>
                        <a:spcBef>
                          <a:spcPts val="1180"/>
                        </a:spcBef>
                        <a:buNone/>
                      </a:pPr>
                      <a:r>
                        <a:rPr lang="en-US" sz="1600" dirty="0">
                          <a:effectLst/>
                        </a:rPr>
                        <a:t> </a:t>
                      </a:r>
                    </a:p>
                    <a:p>
                      <a:pPr marL="29210" marR="0" algn="ctr">
                        <a:lnSpc>
                          <a:spcPts val="1280"/>
                        </a:lnSpc>
                        <a:buNone/>
                      </a:pPr>
                      <a:r>
                        <a:rPr lang="en-US" sz="1600" spc="-25" dirty="0">
                          <a:effectLst/>
                        </a:rPr>
                        <a:t>CO3</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l">
                        <a:lnSpc>
                          <a:spcPct val="150000"/>
                        </a:lnSpc>
                        <a:spcBef>
                          <a:spcPts val="1195"/>
                        </a:spcBef>
                        <a:buNone/>
                      </a:pPr>
                      <a:r>
                        <a:rPr lang="en-US" sz="1600" dirty="0">
                          <a:effectLst/>
                        </a:rPr>
                        <a:t>Evaluate</a:t>
                      </a:r>
                      <a:r>
                        <a:rPr lang="en-US" sz="1600" spc="200" dirty="0">
                          <a:effectLst/>
                        </a:rPr>
                        <a:t> </a:t>
                      </a:r>
                      <a:r>
                        <a:rPr lang="en-US" sz="1600" dirty="0">
                          <a:effectLst/>
                        </a:rPr>
                        <a:t>dynamic</a:t>
                      </a:r>
                      <a:r>
                        <a:rPr lang="en-US" sz="1600" spc="200" dirty="0">
                          <a:effectLst/>
                        </a:rPr>
                        <a:t> </a:t>
                      </a:r>
                      <a:r>
                        <a:rPr lang="en-US" sz="1600" dirty="0">
                          <a:effectLst/>
                        </a:rPr>
                        <a:t>programming</a:t>
                      </a:r>
                      <a:r>
                        <a:rPr lang="en-US" sz="1600" spc="200" dirty="0">
                          <a:effectLst/>
                        </a:rPr>
                        <a:t> </a:t>
                      </a:r>
                      <a:r>
                        <a:rPr lang="en-US" sz="1600" dirty="0">
                          <a:effectLst/>
                        </a:rPr>
                        <a:t>solutions</a:t>
                      </a:r>
                      <a:r>
                        <a:rPr lang="en-US" sz="1600" spc="200" dirty="0">
                          <a:effectLst/>
                        </a:rPr>
                        <a:t> </a:t>
                      </a:r>
                      <a:r>
                        <a:rPr lang="en-US" sz="1600" dirty="0">
                          <a:effectLst/>
                        </a:rPr>
                        <a:t>for</a:t>
                      </a:r>
                      <a:r>
                        <a:rPr lang="en-US" sz="1600" spc="200" dirty="0">
                          <a:effectLst/>
                        </a:rPr>
                        <a:t> </a:t>
                      </a:r>
                      <a:r>
                        <a:rPr lang="en-US" sz="1600" dirty="0">
                          <a:effectLst/>
                        </a:rPr>
                        <a:t>efficient</a:t>
                      </a:r>
                      <a:r>
                        <a:rPr lang="en-US" sz="1600" spc="200" dirty="0">
                          <a:effectLst/>
                        </a:rPr>
                        <a:t> </a:t>
                      </a:r>
                      <a:r>
                        <a:rPr lang="en-US" sz="1600" dirty="0">
                          <a:effectLst/>
                        </a:rPr>
                        <a:t>problem-solving across diverse contexts.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l">
                        <a:lnSpc>
                          <a:spcPts val="1280"/>
                        </a:lnSpc>
                        <a:spcBef>
                          <a:spcPts val="1180"/>
                        </a:spcBef>
                        <a:buNone/>
                      </a:pPr>
                      <a:r>
                        <a:rPr lang="en-US" sz="1600">
                          <a:effectLst/>
                        </a:rPr>
                        <a:t> </a:t>
                      </a:r>
                    </a:p>
                    <a:p>
                      <a:pPr marL="133350" marR="104140" algn="ctr">
                        <a:lnSpc>
                          <a:spcPts val="1280"/>
                        </a:lnSpc>
                        <a:buNone/>
                      </a:pPr>
                      <a:r>
                        <a:rPr lang="en-US" sz="1600" spc="-25">
                          <a:effectLst/>
                        </a:rPr>
                        <a:t>K4</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644428601"/>
                  </a:ext>
                </a:extLst>
              </a:tr>
              <a:tr h="826908">
                <a:tc>
                  <a:txBody>
                    <a:bodyPr/>
                    <a:lstStyle/>
                    <a:p>
                      <a:pPr marL="0" marR="0" algn="l">
                        <a:lnSpc>
                          <a:spcPts val="1280"/>
                        </a:lnSpc>
                        <a:spcBef>
                          <a:spcPts val="1180"/>
                        </a:spcBef>
                        <a:buNone/>
                      </a:pPr>
                      <a:r>
                        <a:rPr lang="en-US" sz="1600" dirty="0">
                          <a:effectLst/>
                        </a:rPr>
                        <a:t> </a:t>
                      </a:r>
                    </a:p>
                    <a:p>
                      <a:pPr marL="29210" marR="0" algn="ctr">
                        <a:lnSpc>
                          <a:spcPts val="1280"/>
                        </a:lnSpc>
                        <a:buNone/>
                      </a:pPr>
                      <a:r>
                        <a:rPr lang="en-US" sz="1600" spc="-25" dirty="0">
                          <a:effectLst/>
                        </a:rPr>
                        <a:t>CO4</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l">
                        <a:lnSpc>
                          <a:spcPct val="150000"/>
                        </a:lnSpc>
                        <a:spcBef>
                          <a:spcPts val="1190"/>
                        </a:spcBef>
                        <a:buNone/>
                      </a:pPr>
                      <a:r>
                        <a:rPr lang="en-US" sz="1600" dirty="0">
                          <a:effectLst/>
                        </a:rPr>
                        <a:t>Apply</a:t>
                      </a:r>
                      <a:r>
                        <a:rPr lang="en-US" sz="1600" spc="165" dirty="0">
                          <a:effectLst/>
                        </a:rPr>
                        <a:t> </a:t>
                      </a:r>
                      <a:r>
                        <a:rPr lang="en-US" sz="1600" dirty="0">
                          <a:effectLst/>
                        </a:rPr>
                        <a:t>efficient</a:t>
                      </a:r>
                      <a:r>
                        <a:rPr lang="en-US" sz="1600" spc="165" dirty="0">
                          <a:effectLst/>
                        </a:rPr>
                        <a:t> </a:t>
                      </a:r>
                      <a:r>
                        <a:rPr lang="en-US" sz="1600" dirty="0">
                          <a:effectLst/>
                        </a:rPr>
                        <a:t>backtracking</a:t>
                      </a:r>
                      <a:r>
                        <a:rPr lang="en-US" sz="1600" spc="165" dirty="0">
                          <a:effectLst/>
                        </a:rPr>
                        <a:t> </a:t>
                      </a:r>
                      <a:r>
                        <a:rPr lang="en-US" sz="1600" dirty="0">
                          <a:effectLst/>
                        </a:rPr>
                        <a:t>and</a:t>
                      </a:r>
                      <a:r>
                        <a:rPr lang="en-US" sz="1600" spc="165" dirty="0">
                          <a:effectLst/>
                        </a:rPr>
                        <a:t> </a:t>
                      </a:r>
                      <a:r>
                        <a:rPr lang="en-US" sz="1600" dirty="0">
                          <a:effectLst/>
                        </a:rPr>
                        <a:t>branch</a:t>
                      </a:r>
                      <a:r>
                        <a:rPr lang="en-US" sz="1600" spc="175" dirty="0">
                          <a:effectLst/>
                        </a:rPr>
                        <a:t> </a:t>
                      </a:r>
                      <a:r>
                        <a:rPr lang="en-US" sz="1600" dirty="0">
                          <a:effectLst/>
                        </a:rPr>
                        <a:t>–and</a:t>
                      </a:r>
                      <a:r>
                        <a:rPr lang="en-US" sz="1600" spc="165" dirty="0">
                          <a:effectLst/>
                        </a:rPr>
                        <a:t> </a:t>
                      </a:r>
                      <a:r>
                        <a:rPr lang="en-US" sz="1600" dirty="0">
                          <a:effectLst/>
                        </a:rPr>
                        <a:t>–bound</a:t>
                      </a:r>
                      <a:r>
                        <a:rPr lang="en-US" sz="1600" spc="165" dirty="0">
                          <a:effectLst/>
                        </a:rPr>
                        <a:t> </a:t>
                      </a:r>
                      <a:r>
                        <a:rPr lang="en-US" sz="1600" dirty="0">
                          <a:effectLst/>
                        </a:rPr>
                        <a:t>techniques</a:t>
                      </a:r>
                      <a:r>
                        <a:rPr lang="en-US" sz="1600" spc="160" dirty="0">
                          <a:effectLst/>
                        </a:rPr>
                        <a:t> </a:t>
                      </a:r>
                      <a:r>
                        <a:rPr lang="en-US" sz="1600" dirty="0">
                          <a:effectLst/>
                        </a:rPr>
                        <a:t>across diverse problem-solving scenarios.</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l">
                        <a:lnSpc>
                          <a:spcPts val="1280"/>
                        </a:lnSpc>
                        <a:spcBef>
                          <a:spcPts val="1180"/>
                        </a:spcBef>
                        <a:buNone/>
                      </a:pPr>
                      <a:r>
                        <a:rPr lang="en-US" sz="1600" dirty="0">
                          <a:effectLst/>
                        </a:rPr>
                        <a:t> </a:t>
                      </a:r>
                    </a:p>
                    <a:p>
                      <a:pPr marL="133350" marR="104140" algn="ctr">
                        <a:lnSpc>
                          <a:spcPts val="1280"/>
                        </a:lnSpc>
                        <a:buNone/>
                      </a:pPr>
                      <a:r>
                        <a:rPr lang="en-US" sz="1600" spc="-25" dirty="0">
                          <a:effectLst/>
                        </a:rPr>
                        <a:t>K3</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68211408"/>
                  </a:ext>
                </a:extLst>
              </a:tr>
              <a:tr h="828806">
                <a:tc>
                  <a:txBody>
                    <a:bodyPr/>
                    <a:lstStyle/>
                    <a:p>
                      <a:pPr marL="0" marR="0" algn="l">
                        <a:lnSpc>
                          <a:spcPts val="1280"/>
                        </a:lnSpc>
                        <a:spcBef>
                          <a:spcPts val="1190"/>
                        </a:spcBef>
                        <a:buNone/>
                      </a:pPr>
                      <a:r>
                        <a:rPr lang="en-US" sz="1600" dirty="0">
                          <a:effectLst/>
                        </a:rPr>
                        <a:t> </a:t>
                      </a:r>
                    </a:p>
                    <a:p>
                      <a:pPr marL="29210" marR="0" algn="ctr">
                        <a:lnSpc>
                          <a:spcPts val="1280"/>
                        </a:lnSpc>
                        <a:buNone/>
                      </a:pPr>
                      <a:r>
                        <a:rPr lang="en-US" sz="1600" spc="-25" dirty="0">
                          <a:effectLst/>
                        </a:rPr>
                        <a:t>CO5</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715" marR="0" algn="l">
                        <a:lnSpc>
                          <a:spcPct val="150000"/>
                        </a:lnSpc>
                        <a:spcBef>
                          <a:spcPts val="1205"/>
                        </a:spcBef>
                        <a:buNone/>
                      </a:pPr>
                      <a:r>
                        <a:rPr lang="en-US" sz="1600">
                          <a:effectLst/>
                        </a:rPr>
                        <a:t>Understand</a:t>
                      </a:r>
                      <a:r>
                        <a:rPr lang="en-US" sz="1600" spc="400">
                          <a:effectLst/>
                        </a:rPr>
                        <a:t> </a:t>
                      </a:r>
                      <a:r>
                        <a:rPr lang="en-US" sz="1600">
                          <a:effectLst/>
                        </a:rPr>
                        <a:t>principles</a:t>
                      </a:r>
                      <a:r>
                        <a:rPr lang="en-US" sz="1600" spc="400">
                          <a:effectLst/>
                        </a:rPr>
                        <a:t> </a:t>
                      </a:r>
                      <a:r>
                        <a:rPr lang="en-US" sz="1600">
                          <a:effectLst/>
                        </a:rPr>
                        <a:t>of</a:t>
                      </a:r>
                      <a:r>
                        <a:rPr lang="en-US" sz="1600" spc="400">
                          <a:effectLst/>
                        </a:rPr>
                        <a:t> </a:t>
                      </a:r>
                      <a:r>
                        <a:rPr lang="en-US" sz="1600">
                          <a:effectLst/>
                        </a:rPr>
                        <a:t>advanced</a:t>
                      </a:r>
                      <a:r>
                        <a:rPr lang="en-US" sz="1600" spc="400">
                          <a:effectLst/>
                        </a:rPr>
                        <a:t> </a:t>
                      </a:r>
                      <a:r>
                        <a:rPr lang="en-US" sz="1600">
                          <a:effectLst/>
                        </a:rPr>
                        <a:t>data</a:t>
                      </a:r>
                      <a:r>
                        <a:rPr lang="en-US" sz="1600" spc="400">
                          <a:effectLst/>
                        </a:rPr>
                        <a:t> </a:t>
                      </a:r>
                      <a:r>
                        <a:rPr lang="en-US" sz="1600">
                          <a:effectLst/>
                        </a:rPr>
                        <a:t>structures,</a:t>
                      </a:r>
                      <a:r>
                        <a:rPr lang="en-US" sz="1600" spc="400">
                          <a:effectLst/>
                        </a:rPr>
                        <a:t> </a:t>
                      </a:r>
                      <a:r>
                        <a:rPr lang="en-US" sz="1600">
                          <a:effectLst/>
                        </a:rPr>
                        <a:t>including</a:t>
                      </a:r>
                      <a:r>
                        <a:rPr lang="en-US" sz="1600" spc="400">
                          <a:effectLst/>
                        </a:rPr>
                        <a:t> </a:t>
                      </a:r>
                      <a:r>
                        <a:rPr lang="en-US" sz="1600">
                          <a:effectLst/>
                        </a:rPr>
                        <a:t>their implementation and applications.</a:t>
                      </a:r>
                      <a:endParaRPr lang="en-US"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0" marR="0" algn="l">
                        <a:lnSpc>
                          <a:spcPts val="1280"/>
                        </a:lnSpc>
                        <a:spcBef>
                          <a:spcPts val="1190"/>
                        </a:spcBef>
                        <a:buNone/>
                      </a:pPr>
                      <a:r>
                        <a:rPr lang="en-US" sz="1600" dirty="0">
                          <a:effectLst/>
                        </a:rPr>
                        <a:t> </a:t>
                      </a:r>
                    </a:p>
                    <a:p>
                      <a:pPr marL="133350" marR="104140" algn="ctr">
                        <a:lnSpc>
                          <a:spcPts val="1280"/>
                        </a:lnSpc>
                        <a:buNone/>
                      </a:pPr>
                      <a:r>
                        <a:rPr lang="en-US" sz="1600" spc="-25" dirty="0">
                          <a:effectLst/>
                        </a:rPr>
                        <a:t>K2</a:t>
                      </a:r>
                      <a:endParaRPr lang="en-US"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234223863"/>
                  </a:ext>
                </a:extLst>
              </a:tr>
            </a:tbl>
          </a:graphicData>
        </a:graphic>
      </p:graphicFrame>
    </p:spTree>
    <p:extLst>
      <p:ext uri="{BB962C8B-B14F-4D97-AF65-F5344CB8AC3E}">
        <p14:creationId xmlns:p14="http://schemas.microsoft.com/office/powerpoint/2010/main" val="2444643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61E34-23D3-6773-F946-4F190403753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DC81BBC-A1B4-58CE-8855-FB363EFF0860}"/>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329FF371-BD76-D185-FFD0-054AFF78C21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52321467-C372-3A65-BE98-77743BCDDB16}"/>
              </a:ext>
            </a:extLst>
          </p:cNvPr>
          <p:cNvSpPr>
            <a:spLocks noGrp="1"/>
          </p:cNvSpPr>
          <p:nvPr>
            <p:ph type="sldNum" sz="quarter" idx="12"/>
          </p:nvPr>
        </p:nvSpPr>
        <p:spPr/>
        <p:txBody>
          <a:bodyPr/>
          <a:lstStyle/>
          <a:p>
            <a:fld id="{B41E2F89-97C2-4B18-A593-8150592B5005}" type="slidenum">
              <a:rPr lang="en-US" smtClean="0"/>
              <a:t>8</a:t>
            </a:fld>
            <a:endParaRPr lang="en-US" dirty="0"/>
          </a:p>
        </p:txBody>
      </p:sp>
      <p:sp>
        <p:nvSpPr>
          <p:cNvPr id="7" name="Title 1">
            <a:extLst>
              <a:ext uri="{FF2B5EF4-FFF2-40B4-BE49-F238E27FC236}">
                <a16:creationId xmlns:a16="http://schemas.microsoft.com/office/drawing/2014/main" id="{2DFEBA67-939A-0F4D-DAD8-C7E828AF62F1}"/>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Program Outcomes (POs)</a:t>
            </a:r>
          </a:p>
        </p:txBody>
      </p:sp>
      <p:pic>
        <p:nvPicPr>
          <p:cNvPr id="8" name="Picture 7" descr="A black and red logo&#10;&#10;Description automatically generated">
            <a:extLst>
              <a:ext uri="{FF2B5EF4-FFF2-40B4-BE49-F238E27FC236}">
                <a16:creationId xmlns:a16="http://schemas.microsoft.com/office/drawing/2014/main" id="{8420D6DF-74A5-9289-8A8D-757B402CA0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6E9AEA95-96C0-DA40-DCFC-BC37942E3C97}"/>
              </a:ext>
            </a:extLst>
          </p:cNvPr>
          <p:cNvSpPr txBox="1"/>
          <p:nvPr/>
        </p:nvSpPr>
        <p:spPr>
          <a:xfrm>
            <a:off x="892139" y="1472977"/>
            <a:ext cx="10820399" cy="4524315"/>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2400" b="1" dirty="0"/>
              <a:t>Engineering Knowledge</a:t>
            </a:r>
          </a:p>
          <a:p>
            <a:pPr marL="457200" indent="-457200" algn="just">
              <a:buFont typeface="+mj-lt"/>
              <a:buAutoNum type="arabicPeriod"/>
            </a:pPr>
            <a:r>
              <a:rPr lang="en-US" sz="2400" b="1" dirty="0"/>
              <a:t>Problem Analysis</a:t>
            </a:r>
          </a:p>
          <a:p>
            <a:pPr marL="457200" indent="-457200" algn="just">
              <a:buFont typeface="+mj-lt"/>
              <a:buAutoNum type="arabicPeriod"/>
            </a:pPr>
            <a:r>
              <a:rPr lang="en-US" sz="2400" b="1" dirty="0"/>
              <a:t>Design/Development of Solutions</a:t>
            </a:r>
          </a:p>
          <a:p>
            <a:pPr marL="457200" indent="-457200" algn="just">
              <a:buFont typeface="+mj-lt"/>
              <a:buAutoNum type="arabicPeriod"/>
            </a:pPr>
            <a:r>
              <a:rPr lang="en-US" sz="2400" b="1" dirty="0"/>
              <a:t>Conduct Investigations of Complex Problems</a:t>
            </a:r>
            <a:endParaRPr lang="en-US" sz="2400" b="1" dirty="0">
              <a:cs typeface="Times New Roman" panose="02020603050405020304" pitchFamily="18" charset="0"/>
            </a:endParaRPr>
          </a:p>
          <a:p>
            <a:pPr marL="457200" indent="-457200" algn="just">
              <a:buFont typeface="+mj-lt"/>
              <a:buAutoNum type="arabicPeriod"/>
            </a:pPr>
            <a:r>
              <a:rPr lang="en-US" sz="2400" b="1" dirty="0"/>
              <a:t>Engineering Tool Usage</a:t>
            </a:r>
          </a:p>
          <a:p>
            <a:pPr marL="457200" indent="-457200" algn="just">
              <a:buFont typeface="+mj-lt"/>
              <a:buAutoNum type="arabicPeriod"/>
            </a:pPr>
            <a:r>
              <a:rPr lang="en-US" sz="2400" b="1" dirty="0"/>
              <a:t>The Engineer and The World</a:t>
            </a:r>
          </a:p>
          <a:p>
            <a:pPr marL="457200" indent="-457200" algn="just">
              <a:buFont typeface="+mj-lt"/>
              <a:buAutoNum type="arabicPeriod"/>
            </a:pPr>
            <a:r>
              <a:rPr lang="en-US" sz="2400" b="1" dirty="0"/>
              <a:t>Ethics</a:t>
            </a:r>
          </a:p>
          <a:p>
            <a:pPr marL="457200" indent="-457200" algn="just">
              <a:buFont typeface="+mj-lt"/>
              <a:buAutoNum type="arabicPeriod"/>
            </a:pPr>
            <a:r>
              <a:rPr lang="en-US" sz="2400" b="1" dirty="0"/>
              <a:t>Individual and Collaborative Team work</a:t>
            </a:r>
          </a:p>
          <a:p>
            <a:pPr marL="457200" indent="-457200" algn="just">
              <a:buFont typeface="+mj-lt"/>
              <a:buAutoNum type="arabicPeriod"/>
            </a:pPr>
            <a:r>
              <a:rPr lang="en-US" sz="2400" b="1" dirty="0"/>
              <a:t>Communication</a:t>
            </a:r>
          </a:p>
          <a:p>
            <a:pPr marL="457200" indent="-457200" algn="just">
              <a:buFont typeface="+mj-lt"/>
              <a:buAutoNum type="arabicPeriod"/>
            </a:pPr>
            <a:r>
              <a:rPr lang="en-US" sz="2400" b="1" dirty="0"/>
              <a:t>Project Management and Finance</a:t>
            </a:r>
          </a:p>
          <a:p>
            <a:pPr marL="457200" indent="-457200" algn="just">
              <a:buFont typeface="+mj-lt"/>
              <a:buAutoNum type="arabicPeriod"/>
            </a:pPr>
            <a:r>
              <a:rPr lang="en-US" sz="2400" b="1" dirty="0"/>
              <a:t>Life-Long Learning</a:t>
            </a:r>
            <a:endParaRPr lang="en-US" sz="2400" dirty="0">
              <a:cs typeface="Times New Roman" panose="02020603050405020304" pitchFamily="18" charset="0"/>
            </a:endParaRPr>
          </a:p>
        </p:txBody>
      </p:sp>
    </p:spTree>
    <p:extLst>
      <p:ext uri="{BB962C8B-B14F-4D97-AF65-F5344CB8AC3E}">
        <p14:creationId xmlns:p14="http://schemas.microsoft.com/office/powerpoint/2010/main" val="2859290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E2B3-F540-F781-1EB2-D77C636FFA3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EFCBED0-1773-2402-5B36-DB3DEC2F4413}"/>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9CF8E7C2-0C7A-49C7-F389-A9ED190B7DC7}"/>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E674E8DF-DB2A-5F70-0D08-1CB526CAAEDA}"/>
              </a:ext>
            </a:extLst>
          </p:cNvPr>
          <p:cNvSpPr>
            <a:spLocks noGrp="1"/>
          </p:cNvSpPr>
          <p:nvPr>
            <p:ph type="sldNum" sz="quarter" idx="12"/>
          </p:nvPr>
        </p:nvSpPr>
        <p:spPr/>
        <p:txBody>
          <a:bodyPr/>
          <a:lstStyle/>
          <a:p>
            <a:fld id="{B41E2F89-97C2-4B18-A593-8150592B5005}" type="slidenum">
              <a:rPr lang="en-US" smtClean="0"/>
              <a:t>9</a:t>
            </a:fld>
            <a:endParaRPr lang="en-US" dirty="0"/>
          </a:p>
        </p:txBody>
      </p:sp>
      <p:sp>
        <p:nvSpPr>
          <p:cNvPr id="7" name="Title 1">
            <a:extLst>
              <a:ext uri="{FF2B5EF4-FFF2-40B4-BE49-F238E27FC236}">
                <a16:creationId xmlns:a16="http://schemas.microsoft.com/office/drawing/2014/main" id="{9192F65A-4688-AA10-AD0B-4EF951749EB9}"/>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COs and POs Mapping</a:t>
            </a:r>
          </a:p>
        </p:txBody>
      </p:sp>
      <p:pic>
        <p:nvPicPr>
          <p:cNvPr id="8" name="Picture 7" descr="A black and red logo&#10;&#10;Description automatically generated">
            <a:extLst>
              <a:ext uri="{FF2B5EF4-FFF2-40B4-BE49-F238E27FC236}">
                <a16:creationId xmlns:a16="http://schemas.microsoft.com/office/drawing/2014/main" id="{FC2862C2-9E98-37EE-B7A8-E6E5120CA3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5BB6DE2F-A945-91C5-4EE3-E71B5C55BFCF}"/>
              </a:ext>
            </a:extLst>
          </p:cNvPr>
          <p:cNvSpPr txBox="1"/>
          <p:nvPr/>
        </p:nvSpPr>
        <p:spPr>
          <a:xfrm>
            <a:off x="892139" y="1483251"/>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63CC7C21-739D-2E5E-7707-84D6B5D1C46B}"/>
              </a:ext>
            </a:extLst>
          </p:cNvPr>
          <p:cNvGraphicFramePr>
            <a:graphicFrameLocks noGrp="1"/>
          </p:cNvGraphicFramePr>
          <p:nvPr>
            <p:extLst>
              <p:ext uri="{D42A27DB-BD31-4B8C-83A1-F6EECF244321}">
                <p14:modId xmlns:p14="http://schemas.microsoft.com/office/powerpoint/2010/main" val="2629749562"/>
              </p:ext>
            </p:extLst>
          </p:nvPr>
        </p:nvGraphicFramePr>
        <p:xfrm>
          <a:off x="479462" y="893852"/>
          <a:ext cx="11233075" cy="4707036"/>
        </p:xfrm>
        <a:graphic>
          <a:graphicData uri="http://schemas.openxmlformats.org/drawingml/2006/table">
            <a:tbl>
              <a:tblPr firstRow="1" firstCol="1" lastRow="1" lastCol="1" bandRow="1" bandCol="1">
                <a:tableStyleId>{5C22544A-7EE6-4342-B048-85BDC9FD1C3A}</a:tableStyleId>
              </a:tblPr>
              <a:tblGrid>
                <a:gridCol w="991523">
                  <a:extLst>
                    <a:ext uri="{9D8B030D-6E8A-4147-A177-3AD203B41FA5}">
                      <a16:colId xmlns:a16="http://schemas.microsoft.com/office/drawing/2014/main" val="1446934377"/>
                    </a:ext>
                  </a:extLst>
                </a:gridCol>
                <a:gridCol w="563786">
                  <a:extLst>
                    <a:ext uri="{9D8B030D-6E8A-4147-A177-3AD203B41FA5}">
                      <a16:colId xmlns:a16="http://schemas.microsoft.com/office/drawing/2014/main" val="2604557165"/>
                    </a:ext>
                  </a:extLst>
                </a:gridCol>
                <a:gridCol w="853503">
                  <a:extLst>
                    <a:ext uri="{9D8B030D-6E8A-4147-A177-3AD203B41FA5}">
                      <a16:colId xmlns:a16="http://schemas.microsoft.com/office/drawing/2014/main" val="1003676258"/>
                    </a:ext>
                  </a:extLst>
                </a:gridCol>
                <a:gridCol w="853503">
                  <a:extLst>
                    <a:ext uri="{9D8B030D-6E8A-4147-A177-3AD203B41FA5}">
                      <a16:colId xmlns:a16="http://schemas.microsoft.com/office/drawing/2014/main" val="2801106223"/>
                    </a:ext>
                  </a:extLst>
                </a:gridCol>
                <a:gridCol w="854923">
                  <a:extLst>
                    <a:ext uri="{9D8B030D-6E8A-4147-A177-3AD203B41FA5}">
                      <a16:colId xmlns:a16="http://schemas.microsoft.com/office/drawing/2014/main" val="494161096"/>
                    </a:ext>
                  </a:extLst>
                </a:gridCol>
                <a:gridCol w="853503">
                  <a:extLst>
                    <a:ext uri="{9D8B030D-6E8A-4147-A177-3AD203B41FA5}">
                      <a16:colId xmlns:a16="http://schemas.microsoft.com/office/drawing/2014/main" val="1088583638"/>
                    </a:ext>
                  </a:extLst>
                </a:gridCol>
                <a:gridCol w="853503">
                  <a:extLst>
                    <a:ext uri="{9D8B030D-6E8A-4147-A177-3AD203B41FA5}">
                      <a16:colId xmlns:a16="http://schemas.microsoft.com/office/drawing/2014/main" val="518240915"/>
                    </a:ext>
                  </a:extLst>
                </a:gridCol>
                <a:gridCol w="853503">
                  <a:extLst>
                    <a:ext uri="{9D8B030D-6E8A-4147-A177-3AD203B41FA5}">
                      <a16:colId xmlns:a16="http://schemas.microsoft.com/office/drawing/2014/main" val="1060739048"/>
                    </a:ext>
                  </a:extLst>
                </a:gridCol>
                <a:gridCol w="850668">
                  <a:extLst>
                    <a:ext uri="{9D8B030D-6E8A-4147-A177-3AD203B41FA5}">
                      <a16:colId xmlns:a16="http://schemas.microsoft.com/office/drawing/2014/main" val="4194201301"/>
                    </a:ext>
                  </a:extLst>
                </a:gridCol>
                <a:gridCol w="853503">
                  <a:extLst>
                    <a:ext uri="{9D8B030D-6E8A-4147-A177-3AD203B41FA5}">
                      <a16:colId xmlns:a16="http://schemas.microsoft.com/office/drawing/2014/main" val="3796029021"/>
                    </a:ext>
                  </a:extLst>
                </a:gridCol>
                <a:gridCol w="853503">
                  <a:extLst>
                    <a:ext uri="{9D8B030D-6E8A-4147-A177-3AD203B41FA5}">
                      <a16:colId xmlns:a16="http://schemas.microsoft.com/office/drawing/2014/main" val="2318301553"/>
                    </a:ext>
                  </a:extLst>
                </a:gridCol>
                <a:gridCol w="996700">
                  <a:extLst>
                    <a:ext uri="{9D8B030D-6E8A-4147-A177-3AD203B41FA5}">
                      <a16:colId xmlns:a16="http://schemas.microsoft.com/office/drawing/2014/main" val="2897721908"/>
                    </a:ext>
                  </a:extLst>
                </a:gridCol>
                <a:gridCol w="1000954">
                  <a:extLst>
                    <a:ext uri="{9D8B030D-6E8A-4147-A177-3AD203B41FA5}">
                      <a16:colId xmlns:a16="http://schemas.microsoft.com/office/drawing/2014/main" val="1375559645"/>
                    </a:ext>
                  </a:extLst>
                </a:gridCol>
              </a:tblGrid>
              <a:tr h="441788">
                <a:tc>
                  <a:txBody>
                    <a:bodyPr/>
                    <a:lstStyle/>
                    <a:p>
                      <a:pPr marL="5080" marR="0" algn="ctr">
                        <a:lnSpc>
                          <a:spcPts val="1280"/>
                        </a:lnSpc>
                        <a:spcBef>
                          <a:spcPts val="1195"/>
                        </a:spcBef>
                        <a:buNone/>
                      </a:pPr>
                      <a:endParaRPr lang="en-US" sz="1600" spc="-25" dirty="0">
                        <a:solidFill>
                          <a:schemeClr val="tx1"/>
                        </a:solidFill>
                        <a:effectLst/>
                      </a:endParaRPr>
                    </a:p>
                    <a:p>
                      <a:pPr marL="5080" marR="0" algn="ctr">
                        <a:lnSpc>
                          <a:spcPts val="1280"/>
                        </a:lnSpc>
                        <a:spcBef>
                          <a:spcPts val="1195"/>
                        </a:spcBef>
                        <a:buNone/>
                      </a:pPr>
                      <a:r>
                        <a:rPr lang="en-US" sz="1600" spc="-25" dirty="0">
                          <a:solidFill>
                            <a:schemeClr val="tx1"/>
                          </a:solidFill>
                          <a:effectLst/>
                        </a:rPr>
                        <a:t>Sr</a:t>
                      </a:r>
                      <a:r>
                        <a:rPr lang="en-US" sz="1600" spc="-50" dirty="0">
                          <a:solidFill>
                            <a:schemeClr val="tx1"/>
                          </a:solidFill>
                          <a:effectLst/>
                        </a:rPr>
                        <a:t>. No</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0" marR="0" algn="l">
                        <a:lnSpc>
                          <a:spcPts val="1280"/>
                        </a:lnSpc>
                        <a:buNone/>
                      </a:pPr>
                      <a:r>
                        <a:rPr lang="en-US" sz="1600" dirty="0">
                          <a:solidFill>
                            <a:schemeClr val="tx1"/>
                          </a:solidFill>
                          <a:effectLst/>
                        </a:rPr>
                        <a:t> </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1765" marR="74295"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1765" marR="74295" indent="-67310" algn="l">
                        <a:lnSpc>
                          <a:spcPct val="150000"/>
                        </a:lnSpc>
                        <a:spcBef>
                          <a:spcPts val="1195"/>
                        </a:spcBef>
                        <a:buNone/>
                      </a:pPr>
                      <a:r>
                        <a:rPr lang="en-US" sz="1600" spc="-30" dirty="0">
                          <a:solidFill>
                            <a:schemeClr val="tx1"/>
                          </a:solidFill>
                          <a:effectLst/>
                        </a:rPr>
                        <a:t>PO </a:t>
                      </a:r>
                      <a:r>
                        <a:rPr lang="en-US" sz="1600" spc="-50" dirty="0">
                          <a:solidFill>
                            <a:schemeClr val="tx1"/>
                          </a:solidFill>
                          <a:effectLst/>
                        </a:rPr>
                        <a:t>2</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2400" marR="77470"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2400" marR="73660"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4</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2400" marR="73660"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5</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3025"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6</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1755"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7</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3025"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8</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670" marR="72390" indent="-67310" algn="l">
                        <a:lnSpc>
                          <a:spcPct val="150000"/>
                        </a:lnSpc>
                        <a:spcBef>
                          <a:spcPts val="1195"/>
                        </a:spcBef>
                        <a:buNone/>
                      </a:pPr>
                      <a:r>
                        <a:rPr lang="en-US" sz="1600" spc="-30">
                          <a:solidFill>
                            <a:schemeClr val="tx1"/>
                          </a:solidFill>
                          <a:effectLst/>
                        </a:rPr>
                        <a:t>PO </a:t>
                      </a:r>
                      <a:r>
                        <a:rPr lang="en-US" sz="1600" spc="-50">
                          <a:solidFill>
                            <a:schemeClr val="tx1"/>
                          </a:solidFill>
                          <a:effectLst/>
                        </a:rPr>
                        <a:t>9</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86055" marR="69850" indent="-105410" algn="l">
                        <a:lnSpc>
                          <a:spcPct val="150000"/>
                        </a:lnSpc>
                        <a:spcBef>
                          <a:spcPts val="1195"/>
                        </a:spcBef>
                        <a:buNone/>
                      </a:pPr>
                      <a:r>
                        <a:rPr lang="en-US" sz="1600" spc="-20">
                          <a:solidFill>
                            <a:schemeClr val="tx1"/>
                          </a:solidFill>
                          <a:effectLst/>
                        </a:rPr>
                        <a:t>PO1 </a:t>
                      </a:r>
                      <a:r>
                        <a:rPr lang="en-US" sz="1600" spc="-50">
                          <a:solidFill>
                            <a:schemeClr val="tx1"/>
                          </a:solidFill>
                          <a:effectLst/>
                        </a:rPr>
                        <a:t>0</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86055" marR="68580" indent="-106045" algn="l">
                        <a:lnSpc>
                          <a:spcPct val="150000"/>
                        </a:lnSpc>
                        <a:spcBef>
                          <a:spcPts val="1195"/>
                        </a:spcBef>
                        <a:buNone/>
                      </a:pPr>
                      <a:r>
                        <a:rPr lang="en-US" sz="1600" spc="-20">
                          <a:solidFill>
                            <a:schemeClr val="tx1"/>
                          </a:solidFill>
                          <a:effectLst/>
                        </a:rPr>
                        <a:t>PO1 </a:t>
                      </a: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3034453738"/>
                  </a:ext>
                </a:extLst>
              </a:tr>
              <a:tr h="738811">
                <a:tc>
                  <a:txBody>
                    <a:bodyPr/>
                    <a:lstStyle/>
                    <a:p>
                      <a:pPr marL="5080" marR="635" algn="ctr">
                        <a:lnSpc>
                          <a:spcPts val="1280"/>
                        </a:lnSpc>
                        <a:spcBef>
                          <a:spcPts val="119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9385" marR="73025" indent="-76200" algn="l">
                        <a:lnSpc>
                          <a:spcPts val="2050"/>
                        </a:lnSpc>
                        <a:spcBef>
                          <a:spcPts val="525"/>
                        </a:spcBef>
                        <a:buNone/>
                      </a:pPr>
                      <a:r>
                        <a:rPr lang="en-US" sz="1600" spc="-30">
                          <a:solidFill>
                            <a:schemeClr val="tx1"/>
                          </a:solidFill>
                          <a:effectLst/>
                        </a:rPr>
                        <a:t>CO </a:t>
                      </a: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dirty="0">
                          <a:solidFill>
                            <a:schemeClr val="tx1"/>
                          </a:solidFill>
                          <a:effectLst/>
                        </a:rPr>
                        <a:t>3</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1905"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2540" algn="ctr">
                        <a:lnSpc>
                          <a:spcPts val="1375"/>
                        </a:lnSpc>
                        <a:buNone/>
                      </a:pPr>
                      <a:r>
                        <a:rPr lang="en-US" sz="1600" spc="-50" dirty="0">
                          <a:solidFill>
                            <a:schemeClr val="tx1"/>
                          </a:solidFill>
                          <a:effectLst/>
                        </a:rPr>
                        <a:t>1</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905"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1270"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375"/>
                        </a:lnSpc>
                        <a:buNone/>
                      </a:pPr>
                      <a:r>
                        <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0" marR="0" marT="0" marB="0">
                    <a:noFill/>
                  </a:tcPr>
                </a:tc>
                <a:extLst>
                  <a:ext uri="{0D108BD9-81ED-4DB2-BD59-A6C34878D82A}">
                    <a16:rowId xmlns:a16="http://schemas.microsoft.com/office/drawing/2014/main" val="3774923347"/>
                  </a:ext>
                </a:extLst>
              </a:tr>
              <a:tr h="740888">
                <a:tc>
                  <a:txBody>
                    <a:bodyPr/>
                    <a:lstStyle/>
                    <a:p>
                      <a:pPr marL="5080" marR="635" algn="ctr">
                        <a:lnSpc>
                          <a:spcPts val="1280"/>
                        </a:lnSpc>
                        <a:spcBef>
                          <a:spcPts val="1205"/>
                        </a:spcBef>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9385" marR="73025" indent="-76200" algn="l">
                        <a:lnSpc>
                          <a:spcPts val="2050"/>
                        </a:lnSpc>
                        <a:spcBef>
                          <a:spcPts val="535"/>
                        </a:spcBef>
                        <a:buNone/>
                      </a:pPr>
                      <a:r>
                        <a:rPr lang="en-US" sz="1600" spc="-30">
                          <a:solidFill>
                            <a:schemeClr val="tx1"/>
                          </a:solidFill>
                          <a:effectLst/>
                        </a:rPr>
                        <a:t>CO </a:t>
                      </a: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280"/>
                        </a:lnSpc>
                        <a:spcBef>
                          <a:spcPts val="5"/>
                        </a:spcBef>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280"/>
                        </a:lnSpc>
                        <a:spcBef>
                          <a:spcPts val="5"/>
                        </a:spcBef>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1905" algn="ctr">
                        <a:lnSpc>
                          <a:spcPts val="1280"/>
                        </a:lnSpc>
                        <a:spcBef>
                          <a:spcPts val="5"/>
                        </a:spcBef>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2540" algn="ctr">
                        <a:lnSpc>
                          <a:spcPts val="1280"/>
                        </a:lnSpc>
                        <a:spcBef>
                          <a:spcPts val="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905" algn="ctr">
                        <a:lnSpc>
                          <a:spcPts val="1280"/>
                        </a:lnSpc>
                        <a:spcBef>
                          <a:spcPts val="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280"/>
                        </a:lnSpc>
                        <a:spcBef>
                          <a:spcPts val="5"/>
                        </a:spcBef>
                        <a:buNone/>
                      </a:pPr>
                      <a:r>
                        <a:rPr lang="en-US" sz="1600" spc="-50" dirty="0">
                          <a:solidFill>
                            <a:schemeClr val="tx1"/>
                          </a:solidFill>
                          <a:effectLst/>
                        </a:rPr>
                        <a:t>2</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280"/>
                        </a:lnSpc>
                        <a:spcBef>
                          <a:spcPts val="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280"/>
                        </a:lnSpc>
                        <a:spcBef>
                          <a:spcPts val="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280"/>
                        </a:lnSpc>
                        <a:spcBef>
                          <a:spcPts val="5"/>
                        </a:spcBef>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1270" algn="ctr">
                        <a:lnSpc>
                          <a:spcPts val="1280"/>
                        </a:lnSpc>
                        <a:spcBef>
                          <a:spcPts val="5"/>
                        </a:spcBef>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280"/>
                        </a:lnSpc>
                        <a:spcBef>
                          <a:spcPts val="5"/>
                        </a:spcBef>
                        <a:buNone/>
                      </a:pPr>
                      <a:r>
                        <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0" marR="0" marT="0" marB="0">
                    <a:noFill/>
                  </a:tcPr>
                </a:tc>
                <a:extLst>
                  <a:ext uri="{0D108BD9-81ED-4DB2-BD59-A6C34878D82A}">
                    <a16:rowId xmlns:a16="http://schemas.microsoft.com/office/drawing/2014/main" val="4187566053"/>
                  </a:ext>
                </a:extLst>
              </a:tr>
              <a:tr h="738811">
                <a:tc>
                  <a:txBody>
                    <a:bodyPr/>
                    <a:lstStyle/>
                    <a:p>
                      <a:pPr marL="5080" marR="635" algn="ctr">
                        <a:lnSpc>
                          <a:spcPts val="1280"/>
                        </a:lnSpc>
                        <a:spcBef>
                          <a:spcPts val="1195"/>
                        </a:spcBef>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3660" indent="-70485" algn="l">
                        <a:lnSpc>
                          <a:spcPts val="2050"/>
                        </a:lnSpc>
                        <a:spcBef>
                          <a:spcPts val="525"/>
                        </a:spcBef>
                        <a:buNone/>
                      </a:pPr>
                      <a:r>
                        <a:rPr lang="en-US" sz="1600" spc="-30">
                          <a:solidFill>
                            <a:schemeClr val="tx1"/>
                          </a:solidFill>
                          <a:effectLst/>
                        </a:rPr>
                        <a:t>CO </a:t>
                      </a: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1905"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254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905"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375"/>
                        </a:lnSpc>
                        <a:buNone/>
                      </a:pPr>
                      <a:r>
                        <a:rPr lang="en-US" sz="1600" spc="-50" dirty="0">
                          <a:solidFill>
                            <a:schemeClr val="tx1"/>
                          </a:solidFill>
                          <a:effectLst/>
                        </a:rPr>
                        <a:t>1</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50" dirty="0">
                          <a:solidFill>
                            <a:schemeClr val="tx1"/>
                          </a:solidFill>
                          <a:effectLst/>
                        </a:rPr>
                        <a:t>1</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375"/>
                        </a:lnSpc>
                        <a:buNone/>
                      </a:pPr>
                      <a:r>
                        <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0" marR="0" marT="0" marB="0">
                    <a:noFill/>
                  </a:tcPr>
                </a:tc>
                <a:extLst>
                  <a:ext uri="{0D108BD9-81ED-4DB2-BD59-A6C34878D82A}">
                    <a16:rowId xmlns:a16="http://schemas.microsoft.com/office/drawing/2014/main" val="1528649301"/>
                  </a:ext>
                </a:extLst>
              </a:tr>
              <a:tr h="738811">
                <a:tc>
                  <a:txBody>
                    <a:bodyPr/>
                    <a:lstStyle/>
                    <a:p>
                      <a:pPr marL="5080" marR="635" algn="ctr">
                        <a:lnSpc>
                          <a:spcPts val="1280"/>
                        </a:lnSpc>
                        <a:spcBef>
                          <a:spcPts val="1195"/>
                        </a:spcBef>
                        <a:buNone/>
                      </a:pPr>
                      <a:r>
                        <a:rPr lang="en-US" sz="1600" spc="-50">
                          <a:solidFill>
                            <a:schemeClr val="tx1"/>
                          </a:solidFill>
                          <a:effectLst/>
                        </a:rPr>
                        <a:t>4</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3660" indent="-70485" algn="l">
                        <a:lnSpc>
                          <a:spcPts val="2050"/>
                        </a:lnSpc>
                        <a:spcBef>
                          <a:spcPts val="525"/>
                        </a:spcBef>
                        <a:buNone/>
                      </a:pPr>
                      <a:r>
                        <a:rPr lang="en-US" sz="1600" spc="-30">
                          <a:solidFill>
                            <a:schemeClr val="tx1"/>
                          </a:solidFill>
                          <a:effectLst/>
                        </a:rPr>
                        <a:t>CO </a:t>
                      </a:r>
                      <a:r>
                        <a:rPr lang="en-US" sz="1600" spc="-50">
                          <a:solidFill>
                            <a:schemeClr val="tx1"/>
                          </a:solidFill>
                          <a:effectLst/>
                        </a:rPr>
                        <a:t>4</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190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254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905"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50" dirty="0">
                          <a:solidFill>
                            <a:schemeClr val="tx1"/>
                          </a:solidFill>
                          <a:effectLst/>
                        </a:rPr>
                        <a:t>1</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375"/>
                        </a:lnSpc>
                        <a:buNone/>
                      </a:pPr>
                      <a:r>
                        <a:rPr lang="en-US" sz="1600" spc="-50" dirty="0">
                          <a:solidFill>
                            <a:schemeClr val="tx1"/>
                          </a:solidFill>
                          <a:effectLst/>
                        </a:rPr>
                        <a:t>2</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1270" algn="ctr">
                        <a:lnSpc>
                          <a:spcPts val="1375"/>
                        </a:lnSpc>
                        <a:buNone/>
                      </a:pPr>
                      <a:r>
                        <a:rPr lang="en-US" sz="1600" spc="-50" dirty="0">
                          <a:solidFill>
                            <a:schemeClr val="tx1"/>
                          </a:solidFill>
                          <a:effectLst/>
                        </a:rPr>
                        <a:t>1</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375"/>
                        </a:lnSpc>
                        <a:buNone/>
                      </a:pPr>
                      <a:r>
                        <a:rPr lang="en-US" sz="1600" dirty="0">
                          <a:solidFill>
                            <a:schemeClr val="tx1"/>
                          </a:solidFill>
                          <a:effectLst/>
                        </a:rPr>
                        <a:t>-3</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3679214875"/>
                  </a:ext>
                </a:extLst>
              </a:tr>
              <a:tr h="802531">
                <a:tc>
                  <a:txBody>
                    <a:bodyPr/>
                    <a:lstStyle/>
                    <a:p>
                      <a:pPr marL="5080" marR="635" algn="ctr">
                        <a:lnSpc>
                          <a:spcPts val="1280"/>
                        </a:lnSpc>
                        <a:spcBef>
                          <a:spcPts val="1195"/>
                        </a:spcBef>
                        <a:buNone/>
                      </a:pPr>
                      <a:r>
                        <a:rPr lang="en-US" sz="1600" spc="-50">
                          <a:solidFill>
                            <a:schemeClr val="tx1"/>
                          </a:solidFill>
                          <a:effectLst/>
                        </a:rPr>
                        <a:t>5</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53035" marR="73660" indent="-70485" algn="l">
                        <a:lnSpc>
                          <a:spcPts val="2050"/>
                        </a:lnSpc>
                        <a:spcBef>
                          <a:spcPts val="525"/>
                        </a:spcBef>
                        <a:buNone/>
                      </a:pPr>
                      <a:r>
                        <a:rPr lang="en-US" sz="1600" spc="-30">
                          <a:solidFill>
                            <a:schemeClr val="tx1"/>
                          </a:solidFill>
                          <a:effectLst/>
                        </a:rPr>
                        <a:t>CO </a:t>
                      </a:r>
                      <a:r>
                        <a:rPr lang="en-US" sz="1600" spc="-50">
                          <a:solidFill>
                            <a:schemeClr val="tx1"/>
                          </a:solidFill>
                          <a:effectLst/>
                        </a:rPr>
                        <a:t>5</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190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254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905"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375"/>
                        </a:lnSpc>
                        <a:buNone/>
                      </a:pPr>
                      <a:r>
                        <a:rPr lang="en-US" sz="1600" spc="-50" dirty="0">
                          <a:solidFill>
                            <a:schemeClr val="tx1"/>
                          </a:solidFill>
                          <a:effectLst/>
                        </a:rPr>
                        <a:t>2</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1270" algn="ctr">
                        <a:lnSpc>
                          <a:spcPts val="1375"/>
                        </a:lnSpc>
                        <a:buNone/>
                      </a:pPr>
                      <a:r>
                        <a:rPr lang="en-US" sz="1600" spc="-50" dirty="0">
                          <a:solidFill>
                            <a:schemeClr val="tx1"/>
                          </a:solidFill>
                          <a:effectLst/>
                        </a:rPr>
                        <a:t>2</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375"/>
                        </a:lnSpc>
                        <a:buNone/>
                      </a:pPr>
                      <a:r>
                        <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0" marR="0" marT="0" marB="0">
                    <a:noFill/>
                  </a:tcPr>
                </a:tc>
                <a:extLst>
                  <a:ext uri="{0D108BD9-81ED-4DB2-BD59-A6C34878D82A}">
                    <a16:rowId xmlns:a16="http://schemas.microsoft.com/office/drawing/2014/main" val="1365572954"/>
                  </a:ext>
                </a:extLst>
              </a:tr>
              <a:tr h="453535">
                <a:tc gridSpan="2">
                  <a:txBody>
                    <a:bodyPr/>
                    <a:lstStyle/>
                    <a:p>
                      <a:pPr marL="77470" marR="0" algn="l">
                        <a:lnSpc>
                          <a:spcPts val="1280"/>
                        </a:lnSpc>
                        <a:spcBef>
                          <a:spcPts val="1195"/>
                        </a:spcBef>
                        <a:buNone/>
                      </a:pPr>
                      <a:r>
                        <a:rPr lang="en-US" sz="1600" spc="-10" dirty="0">
                          <a:solidFill>
                            <a:schemeClr val="tx1"/>
                          </a:solidFill>
                          <a:effectLst/>
                        </a:rPr>
                        <a:t>Average</a:t>
                      </a: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hMerge="1">
                  <a:txBody>
                    <a:bodyPr/>
                    <a:lstStyle/>
                    <a:p>
                      <a:endParaRPr lang="en-US"/>
                    </a:p>
                  </a:txBody>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3175" algn="ctr">
                        <a:lnSpc>
                          <a:spcPts val="1375"/>
                        </a:lnSpc>
                        <a:buNone/>
                      </a:pPr>
                      <a:r>
                        <a:rPr lang="en-US" sz="1600" spc="-50">
                          <a:solidFill>
                            <a:schemeClr val="tx1"/>
                          </a:solidFill>
                          <a:effectLst/>
                        </a:rPr>
                        <a:t>3</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985" marR="0" algn="ctr">
                        <a:lnSpc>
                          <a:spcPts val="1375"/>
                        </a:lnSpc>
                        <a:buNone/>
                      </a:pPr>
                      <a:r>
                        <a:rPr lang="en-US" sz="1600" spc="-25">
                          <a:solidFill>
                            <a:schemeClr val="tx1"/>
                          </a:solidFill>
                          <a:effectLst/>
                        </a:rPr>
                        <a:t>2.4</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25">
                          <a:solidFill>
                            <a:schemeClr val="tx1"/>
                          </a:solidFill>
                          <a:effectLst/>
                        </a:rPr>
                        <a:t>1.6</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25">
                          <a:solidFill>
                            <a:schemeClr val="tx1"/>
                          </a:solidFill>
                          <a:effectLst/>
                        </a:rPr>
                        <a:t>1.6</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127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255" marR="0"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635" algn="ctr">
                        <a:lnSpc>
                          <a:spcPts val="1375"/>
                        </a:lnSpc>
                        <a:buNone/>
                      </a:pPr>
                      <a:r>
                        <a:rPr lang="en-US" sz="1600" spc="-50">
                          <a:solidFill>
                            <a:schemeClr val="tx1"/>
                          </a:solidFill>
                          <a:effectLst/>
                        </a:rPr>
                        <a:t>1</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7620" marR="0" algn="ctr">
                        <a:lnSpc>
                          <a:spcPts val="1375"/>
                        </a:lnSpc>
                        <a:buNone/>
                      </a:pPr>
                      <a:r>
                        <a:rPr lang="en-US" sz="1600" spc="-50">
                          <a:solidFill>
                            <a:schemeClr val="tx1"/>
                          </a:solidFill>
                          <a:effectLst/>
                        </a:rPr>
                        <a:t>2</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9525" marR="0" algn="ctr">
                        <a:lnSpc>
                          <a:spcPts val="1375"/>
                        </a:lnSpc>
                        <a:buNone/>
                      </a:pPr>
                      <a:r>
                        <a:rPr lang="en-US" sz="1600" spc="-25">
                          <a:solidFill>
                            <a:schemeClr val="tx1"/>
                          </a:solidFill>
                          <a:effectLst/>
                        </a:rPr>
                        <a:t>1.4</a:t>
                      </a:r>
                      <a:endParaRPr lang="en-US" sz="16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8890" marR="0" algn="ctr">
                        <a:lnSpc>
                          <a:spcPts val="1375"/>
                        </a:lnSpc>
                        <a:buNone/>
                      </a:pPr>
                      <a:endParaRPr lang="en-US"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2204320009"/>
                  </a:ext>
                </a:extLst>
              </a:tr>
            </a:tbl>
          </a:graphicData>
        </a:graphic>
      </p:graphicFrame>
    </p:spTree>
    <p:extLst>
      <p:ext uri="{BB962C8B-B14F-4D97-AF65-F5344CB8AC3E}">
        <p14:creationId xmlns:p14="http://schemas.microsoft.com/office/powerpoint/2010/main" val="1244179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0E9A0-7DA1-E9CF-C96B-351902F30E5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94A060F-7172-6EB1-A49F-CD65BD42BC17}"/>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5E7A9632-20AC-BAD6-5BC3-766749EF164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8EDD00C-EE64-C294-750A-0F95CACDA831}"/>
              </a:ext>
            </a:extLst>
          </p:cNvPr>
          <p:cNvSpPr>
            <a:spLocks noGrp="1"/>
          </p:cNvSpPr>
          <p:nvPr>
            <p:ph type="sldNum" sz="quarter" idx="12"/>
          </p:nvPr>
        </p:nvSpPr>
        <p:spPr/>
        <p:txBody>
          <a:bodyPr/>
          <a:lstStyle/>
          <a:p>
            <a:fld id="{B41E2F89-97C2-4B18-A593-8150592B5005}" type="slidenum">
              <a:rPr lang="en-US" smtClean="0"/>
              <a:t>10</a:t>
            </a:fld>
            <a:endParaRPr lang="en-US" dirty="0"/>
          </a:p>
        </p:txBody>
      </p:sp>
      <p:sp>
        <p:nvSpPr>
          <p:cNvPr id="7" name="Title 1">
            <a:extLst>
              <a:ext uri="{FF2B5EF4-FFF2-40B4-BE49-F238E27FC236}">
                <a16:creationId xmlns:a16="http://schemas.microsoft.com/office/drawing/2014/main" id="{AE920461-1554-2DE8-3811-85D920839739}"/>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Program Specific Outcomes (PSOs)</a:t>
            </a:r>
          </a:p>
        </p:txBody>
      </p:sp>
      <p:pic>
        <p:nvPicPr>
          <p:cNvPr id="8" name="Picture 7" descr="A black and red logo&#10;&#10;Description automatically generated">
            <a:extLst>
              <a:ext uri="{FF2B5EF4-FFF2-40B4-BE49-F238E27FC236}">
                <a16:creationId xmlns:a16="http://schemas.microsoft.com/office/drawing/2014/main" id="{6A99F1E4-1B92-99CB-748A-5822567AED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01AC5F22-52B8-246D-62CD-A0AE65B81DF8}"/>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B71D4A4F-BB52-E408-3321-C1E71D129130}"/>
              </a:ext>
            </a:extLst>
          </p:cNvPr>
          <p:cNvGraphicFramePr>
            <a:graphicFrameLocks noGrp="1"/>
          </p:cNvGraphicFramePr>
          <p:nvPr>
            <p:extLst>
              <p:ext uri="{D42A27DB-BD31-4B8C-83A1-F6EECF244321}">
                <p14:modId xmlns:p14="http://schemas.microsoft.com/office/powerpoint/2010/main" val="1616889386"/>
              </p:ext>
            </p:extLst>
          </p:nvPr>
        </p:nvGraphicFramePr>
        <p:xfrm>
          <a:off x="892139" y="1376738"/>
          <a:ext cx="10676562" cy="4582274"/>
        </p:xfrm>
        <a:graphic>
          <a:graphicData uri="http://schemas.openxmlformats.org/drawingml/2006/table">
            <a:tbl>
              <a:tblPr firstRow="1" firstCol="1" lastRow="1" lastCol="1" bandRow="1" bandCol="1">
                <a:tableStyleId>{5C22544A-7EE6-4342-B048-85BDC9FD1C3A}</a:tableStyleId>
              </a:tblPr>
              <a:tblGrid>
                <a:gridCol w="1339606">
                  <a:extLst>
                    <a:ext uri="{9D8B030D-6E8A-4147-A177-3AD203B41FA5}">
                      <a16:colId xmlns:a16="http://schemas.microsoft.com/office/drawing/2014/main" val="2545702966"/>
                    </a:ext>
                  </a:extLst>
                </a:gridCol>
                <a:gridCol w="1569253">
                  <a:extLst>
                    <a:ext uri="{9D8B030D-6E8A-4147-A177-3AD203B41FA5}">
                      <a16:colId xmlns:a16="http://schemas.microsoft.com/office/drawing/2014/main" val="318655469"/>
                    </a:ext>
                  </a:extLst>
                </a:gridCol>
                <a:gridCol w="7767703">
                  <a:extLst>
                    <a:ext uri="{9D8B030D-6E8A-4147-A177-3AD203B41FA5}">
                      <a16:colId xmlns:a16="http://schemas.microsoft.com/office/drawing/2014/main" val="143553510"/>
                    </a:ext>
                  </a:extLst>
                </a:gridCol>
              </a:tblGrid>
              <a:tr h="1221473">
                <a:tc>
                  <a:txBody>
                    <a:bodyPr/>
                    <a:lstStyle/>
                    <a:p>
                      <a:pPr marL="0" marR="0" algn="l">
                        <a:lnSpc>
                          <a:spcPts val="1280"/>
                        </a:lnSpc>
                        <a:spcBef>
                          <a:spcPts val="195"/>
                        </a:spcBef>
                        <a:buNone/>
                      </a:pPr>
                      <a:r>
                        <a:rPr lang="en-US" sz="1800" dirty="0">
                          <a:solidFill>
                            <a:schemeClr val="tx1"/>
                          </a:solidFill>
                          <a:effectLst/>
                        </a:rPr>
                        <a:t> </a:t>
                      </a:r>
                    </a:p>
                    <a:p>
                      <a:pPr marL="6350" marR="635" algn="ctr">
                        <a:lnSpc>
                          <a:spcPts val="1280"/>
                        </a:lnSpc>
                        <a:buNone/>
                      </a:pPr>
                      <a:r>
                        <a:rPr lang="en-US" sz="1800" spc="-10" dirty="0">
                          <a:solidFill>
                            <a:schemeClr val="tx1"/>
                          </a:solidFill>
                          <a:effectLst/>
                        </a:rPr>
                        <a:t>S.NO.</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168910" marR="160655" indent="33020" algn="just">
                        <a:lnSpc>
                          <a:spcPct val="115000"/>
                        </a:lnSpc>
                        <a:buNone/>
                      </a:pPr>
                      <a:r>
                        <a:rPr lang="en-US" sz="1800" spc="-10" dirty="0">
                          <a:solidFill>
                            <a:schemeClr val="tx1"/>
                          </a:solidFill>
                          <a:effectLst/>
                        </a:rPr>
                        <a:t>Program Specific Outcomes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0" marR="0" algn="l">
                        <a:lnSpc>
                          <a:spcPts val="1280"/>
                        </a:lnSpc>
                        <a:spcBef>
                          <a:spcPts val="195"/>
                        </a:spcBef>
                        <a:buNone/>
                      </a:pPr>
                      <a:r>
                        <a:rPr lang="en-US" sz="1800" dirty="0">
                          <a:solidFill>
                            <a:schemeClr val="tx1"/>
                          </a:solidFill>
                          <a:effectLst/>
                        </a:rPr>
                        <a:t> </a:t>
                      </a:r>
                    </a:p>
                    <a:p>
                      <a:pPr marL="3810" marR="0" algn="ctr">
                        <a:lnSpc>
                          <a:spcPts val="1280"/>
                        </a:lnSpc>
                        <a:buNone/>
                      </a:pPr>
                      <a:r>
                        <a:rPr lang="en-US" sz="1800" dirty="0">
                          <a:solidFill>
                            <a:schemeClr val="tx1"/>
                          </a:solidFill>
                          <a:effectLst/>
                        </a:rPr>
                        <a:t>PSO</a:t>
                      </a:r>
                      <a:r>
                        <a:rPr lang="en-US" sz="1800" spc="-5" dirty="0">
                          <a:solidFill>
                            <a:schemeClr val="tx1"/>
                          </a:solidFill>
                          <a:effectLst/>
                        </a:rPr>
                        <a:t> </a:t>
                      </a:r>
                      <a:r>
                        <a:rPr lang="en-US" sz="1800" spc="-10" dirty="0">
                          <a:solidFill>
                            <a:schemeClr val="tx1"/>
                          </a:solidFill>
                          <a:effectLst/>
                        </a:rPr>
                        <a:t>Description</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1227111057"/>
                  </a:ext>
                </a:extLst>
              </a:tr>
              <a:tr h="1254265">
                <a:tc>
                  <a:txBody>
                    <a:bodyPr/>
                    <a:lstStyle/>
                    <a:p>
                      <a:pPr marL="6350" marR="0" algn="ctr">
                        <a:lnSpc>
                          <a:spcPts val="1280"/>
                        </a:lnSpc>
                        <a:spcBef>
                          <a:spcPts val="1085"/>
                        </a:spcBef>
                        <a:buNone/>
                      </a:pPr>
                      <a:r>
                        <a:rPr lang="en-US" sz="1800" spc="-50">
                          <a:solidFill>
                            <a:schemeClr val="tx1"/>
                          </a:solidFill>
                          <a:effectLst/>
                        </a:rPr>
                        <a:t>1</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5080" marR="0" algn="ctr">
                        <a:lnSpc>
                          <a:spcPts val="1280"/>
                        </a:lnSpc>
                        <a:spcBef>
                          <a:spcPts val="845"/>
                        </a:spcBef>
                        <a:buNone/>
                      </a:pPr>
                      <a:r>
                        <a:rPr lang="en-US" sz="1800" spc="-20">
                          <a:solidFill>
                            <a:schemeClr val="tx1"/>
                          </a:solidFill>
                          <a:effectLst/>
                        </a:rPr>
                        <a:t>PSO1</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7945" marR="0" algn="l">
                        <a:lnSpc>
                          <a:spcPts val="1375"/>
                        </a:lnSpc>
                        <a:buNone/>
                      </a:pPr>
                      <a:r>
                        <a:rPr lang="en-US" sz="1800" dirty="0">
                          <a:solidFill>
                            <a:schemeClr val="tx1"/>
                          </a:solidFill>
                          <a:effectLst/>
                        </a:rPr>
                        <a:t>Work</a:t>
                      </a:r>
                      <a:r>
                        <a:rPr lang="en-US" sz="1800" spc="-70" dirty="0">
                          <a:solidFill>
                            <a:schemeClr val="tx1"/>
                          </a:solidFill>
                          <a:effectLst/>
                        </a:rPr>
                        <a:t> </a:t>
                      </a:r>
                      <a:r>
                        <a:rPr lang="en-US" sz="1800" dirty="0">
                          <a:solidFill>
                            <a:schemeClr val="tx1"/>
                          </a:solidFill>
                          <a:effectLst/>
                        </a:rPr>
                        <a:t>as</a:t>
                      </a:r>
                      <a:r>
                        <a:rPr lang="en-US" sz="1800" spc="-55" dirty="0">
                          <a:solidFill>
                            <a:schemeClr val="tx1"/>
                          </a:solidFill>
                          <a:effectLst/>
                        </a:rPr>
                        <a:t> </a:t>
                      </a:r>
                      <a:r>
                        <a:rPr lang="en-US" sz="1800" dirty="0">
                          <a:solidFill>
                            <a:schemeClr val="tx1"/>
                          </a:solidFill>
                          <a:effectLst/>
                        </a:rPr>
                        <a:t>a</a:t>
                      </a:r>
                      <a:r>
                        <a:rPr lang="en-US" sz="1800" spc="-70" dirty="0">
                          <a:solidFill>
                            <a:schemeClr val="tx1"/>
                          </a:solidFill>
                          <a:effectLst/>
                        </a:rPr>
                        <a:t> </a:t>
                      </a:r>
                      <a:r>
                        <a:rPr lang="en-US" sz="1800" dirty="0">
                          <a:solidFill>
                            <a:schemeClr val="tx1"/>
                          </a:solidFill>
                          <a:effectLst/>
                        </a:rPr>
                        <a:t>software</a:t>
                      </a:r>
                      <a:r>
                        <a:rPr lang="en-US" sz="1800" spc="-65" dirty="0">
                          <a:solidFill>
                            <a:schemeClr val="tx1"/>
                          </a:solidFill>
                          <a:effectLst/>
                        </a:rPr>
                        <a:t> </a:t>
                      </a:r>
                      <a:r>
                        <a:rPr lang="en-US" sz="1800" dirty="0">
                          <a:solidFill>
                            <a:schemeClr val="tx1"/>
                          </a:solidFill>
                          <a:effectLst/>
                        </a:rPr>
                        <a:t>engineer</a:t>
                      </a:r>
                      <a:r>
                        <a:rPr lang="en-US" sz="1800" spc="-65" dirty="0">
                          <a:solidFill>
                            <a:schemeClr val="tx1"/>
                          </a:solidFill>
                          <a:effectLst/>
                        </a:rPr>
                        <a:t> </a:t>
                      </a:r>
                      <a:r>
                        <a:rPr lang="en-US" sz="1800" dirty="0">
                          <a:solidFill>
                            <a:schemeClr val="tx1"/>
                          </a:solidFill>
                          <a:effectLst/>
                        </a:rPr>
                        <a:t>in</a:t>
                      </a:r>
                      <a:r>
                        <a:rPr lang="en-US" sz="1800" spc="-65" dirty="0">
                          <a:solidFill>
                            <a:schemeClr val="tx1"/>
                          </a:solidFill>
                          <a:effectLst/>
                        </a:rPr>
                        <a:t> </a:t>
                      </a:r>
                      <a:r>
                        <a:rPr lang="en-US" sz="1800" dirty="0">
                          <a:solidFill>
                            <a:schemeClr val="tx1"/>
                          </a:solidFill>
                          <a:effectLst/>
                        </a:rPr>
                        <a:t>different</a:t>
                      </a:r>
                      <a:r>
                        <a:rPr lang="en-US" sz="1800" spc="-65" dirty="0">
                          <a:solidFill>
                            <a:schemeClr val="tx1"/>
                          </a:solidFill>
                          <a:effectLst/>
                        </a:rPr>
                        <a:t> </a:t>
                      </a:r>
                      <a:r>
                        <a:rPr lang="en-US" sz="1800" dirty="0">
                          <a:solidFill>
                            <a:schemeClr val="tx1"/>
                          </a:solidFill>
                          <a:effectLst/>
                        </a:rPr>
                        <a:t>dimensions</a:t>
                      </a:r>
                      <a:r>
                        <a:rPr lang="en-US" sz="1800" spc="-65" dirty="0">
                          <a:solidFill>
                            <a:schemeClr val="tx1"/>
                          </a:solidFill>
                          <a:effectLst/>
                        </a:rPr>
                        <a:t> </a:t>
                      </a:r>
                      <a:r>
                        <a:rPr lang="en-US" sz="1800" dirty="0">
                          <a:solidFill>
                            <a:schemeClr val="tx1"/>
                          </a:solidFill>
                          <a:effectLst/>
                        </a:rPr>
                        <a:t>of</a:t>
                      </a:r>
                      <a:r>
                        <a:rPr lang="en-US" sz="1800" spc="-70" dirty="0">
                          <a:solidFill>
                            <a:schemeClr val="tx1"/>
                          </a:solidFill>
                          <a:effectLst/>
                        </a:rPr>
                        <a:t> </a:t>
                      </a:r>
                      <a:r>
                        <a:rPr lang="en-US" sz="1800" dirty="0">
                          <a:solidFill>
                            <a:schemeClr val="tx1"/>
                          </a:solidFill>
                          <a:effectLst/>
                        </a:rPr>
                        <a:t>information</a:t>
                      </a:r>
                      <a:r>
                        <a:rPr lang="en-US" sz="1800" spc="-60" dirty="0">
                          <a:solidFill>
                            <a:schemeClr val="tx1"/>
                          </a:solidFill>
                          <a:effectLst/>
                        </a:rPr>
                        <a:t> </a:t>
                      </a:r>
                      <a:r>
                        <a:rPr lang="en-US" sz="1800" spc="-10" dirty="0">
                          <a:solidFill>
                            <a:schemeClr val="tx1"/>
                          </a:solidFill>
                          <a:effectLst/>
                        </a:rPr>
                        <a:t>technology</a:t>
                      </a:r>
                      <a:endParaRPr lang="en-US" sz="1800" dirty="0">
                        <a:solidFill>
                          <a:schemeClr val="tx1"/>
                        </a:solidFill>
                        <a:effectLst/>
                      </a:endParaRPr>
                    </a:p>
                    <a:p>
                      <a:pPr marL="67945" marR="0" algn="l">
                        <a:lnSpc>
                          <a:spcPts val="1550"/>
                        </a:lnSpc>
                        <a:spcBef>
                          <a:spcPts val="45"/>
                        </a:spcBef>
                        <a:buNone/>
                      </a:pPr>
                      <a:r>
                        <a:rPr lang="en-US" sz="1800" dirty="0">
                          <a:solidFill>
                            <a:schemeClr val="tx1"/>
                          </a:solidFill>
                          <a:effectLst/>
                        </a:rPr>
                        <a:t>to provide solutions to real-world and industrial problems in an eco-friendly </a:t>
                      </a:r>
                      <a:r>
                        <a:rPr lang="en-US" sz="1800" spc="-10" dirty="0">
                          <a:solidFill>
                            <a:schemeClr val="tx1"/>
                          </a:solidFill>
                          <a:effectLst/>
                        </a:rPr>
                        <a:t>manner</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221715533"/>
                  </a:ext>
                </a:extLst>
              </a:tr>
              <a:tr h="885063">
                <a:tc>
                  <a:txBody>
                    <a:bodyPr/>
                    <a:lstStyle/>
                    <a:p>
                      <a:pPr marL="6350" marR="0" algn="ctr">
                        <a:lnSpc>
                          <a:spcPts val="1280"/>
                        </a:lnSpc>
                        <a:spcBef>
                          <a:spcPts val="785"/>
                        </a:spcBef>
                        <a:buNone/>
                      </a:pPr>
                      <a:r>
                        <a:rPr lang="en-US" sz="1800" spc="-50">
                          <a:solidFill>
                            <a:schemeClr val="tx1"/>
                          </a:solidFill>
                          <a:effectLst/>
                        </a:rPr>
                        <a:t>2</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5080" marR="0" algn="ctr">
                        <a:lnSpc>
                          <a:spcPts val="1280"/>
                        </a:lnSpc>
                        <a:spcBef>
                          <a:spcPts val="785"/>
                        </a:spcBef>
                        <a:buNone/>
                      </a:pPr>
                      <a:r>
                        <a:rPr lang="en-US" sz="1800" spc="-20">
                          <a:solidFill>
                            <a:schemeClr val="tx1"/>
                          </a:solidFill>
                          <a:effectLst/>
                        </a:rPr>
                        <a:t>PSO2</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7945" marR="0" algn="l">
                        <a:lnSpc>
                          <a:spcPct val="115000"/>
                        </a:lnSpc>
                        <a:buNone/>
                      </a:pPr>
                      <a:r>
                        <a:rPr lang="en-US" sz="1800" dirty="0">
                          <a:solidFill>
                            <a:schemeClr val="tx1"/>
                          </a:solidFill>
                          <a:effectLst/>
                        </a:rPr>
                        <a:t>Apply</a:t>
                      </a:r>
                      <a:r>
                        <a:rPr lang="en-US" sz="1800" spc="400" dirty="0">
                          <a:solidFill>
                            <a:schemeClr val="tx1"/>
                          </a:solidFill>
                          <a:effectLst/>
                        </a:rPr>
                        <a:t> </a:t>
                      </a:r>
                      <a:r>
                        <a:rPr lang="en-US" sz="1800" dirty="0">
                          <a:solidFill>
                            <a:schemeClr val="tx1"/>
                          </a:solidFill>
                          <a:effectLst/>
                        </a:rPr>
                        <a:t>knowledge</a:t>
                      </a:r>
                      <a:r>
                        <a:rPr lang="en-US" sz="1800" spc="400" dirty="0">
                          <a:solidFill>
                            <a:schemeClr val="tx1"/>
                          </a:solidFill>
                          <a:effectLst/>
                        </a:rPr>
                        <a:t> </a:t>
                      </a:r>
                      <a:r>
                        <a:rPr lang="en-US" sz="1800" dirty="0">
                          <a:solidFill>
                            <a:schemeClr val="tx1"/>
                          </a:solidFill>
                          <a:effectLst/>
                        </a:rPr>
                        <a:t>of</a:t>
                      </a:r>
                      <a:r>
                        <a:rPr lang="en-US" sz="1800" spc="400" dirty="0">
                          <a:solidFill>
                            <a:schemeClr val="tx1"/>
                          </a:solidFill>
                          <a:effectLst/>
                        </a:rPr>
                        <a:t> </a:t>
                      </a:r>
                      <a:r>
                        <a:rPr lang="en-US" sz="1800" dirty="0">
                          <a:solidFill>
                            <a:schemeClr val="tx1"/>
                          </a:solidFill>
                          <a:effectLst/>
                        </a:rPr>
                        <a:t>core</a:t>
                      </a:r>
                      <a:r>
                        <a:rPr lang="en-US" sz="1800" spc="400" dirty="0">
                          <a:solidFill>
                            <a:schemeClr val="tx1"/>
                          </a:solidFill>
                          <a:effectLst/>
                        </a:rPr>
                        <a:t> </a:t>
                      </a:r>
                      <a:r>
                        <a:rPr lang="en-US" sz="1800" dirty="0">
                          <a:solidFill>
                            <a:schemeClr val="tx1"/>
                          </a:solidFill>
                          <a:effectLst/>
                        </a:rPr>
                        <a:t>subjects</a:t>
                      </a:r>
                      <a:r>
                        <a:rPr lang="en-US" sz="1800" spc="400" dirty="0">
                          <a:solidFill>
                            <a:schemeClr val="tx1"/>
                          </a:solidFill>
                          <a:effectLst/>
                        </a:rPr>
                        <a:t> </a:t>
                      </a:r>
                      <a:r>
                        <a:rPr lang="en-US" sz="1800" dirty="0">
                          <a:solidFill>
                            <a:schemeClr val="tx1"/>
                          </a:solidFill>
                          <a:effectLst/>
                        </a:rPr>
                        <a:t>with</a:t>
                      </a:r>
                      <a:r>
                        <a:rPr lang="en-US" sz="1800" spc="400" dirty="0">
                          <a:solidFill>
                            <a:schemeClr val="tx1"/>
                          </a:solidFill>
                          <a:effectLst/>
                        </a:rPr>
                        <a:t> </a:t>
                      </a:r>
                      <a:r>
                        <a:rPr lang="en-US" sz="1800" dirty="0">
                          <a:solidFill>
                            <a:schemeClr val="tx1"/>
                          </a:solidFill>
                          <a:effectLst/>
                        </a:rPr>
                        <a:t>multi-disciplinary</a:t>
                      </a:r>
                      <a:r>
                        <a:rPr lang="en-US" sz="1800" spc="400" dirty="0">
                          <a:solidFill>
                            <a:schemeClr val="tx1"/>
                          </a:solidFill>
                          <a:effectLst/>
                        </a:rPr>
                        <a:t> </a:t>
                      </a:r>
                      <a:r>
                        <a:rPr lang="en-US" sz="1800" dirty="0">
                          <a:solidFill>
                            <a:schemeClr val="tx1"/>
                          </a:solidFill>
                          <a:effectLst/>
                        </a:rPr>
                        <a:t>and</a:t>
                      </a:r>
                      <a:r>
                        <a:rPr lang="en-US" sz="1800" spc="400" dirty="0">
                          <a:solidFill>
                            <a:schemeClr val="tx1"/>
                          </a:solidFill>
                          <a:effectLst/>
                        </a:rPr>
                        <a:t> </a:t>
                      </a:r>
                      <a:r>
                        <a:rPr lang="en-US" sz="1800" dirty="0">
                          <a:solidFill>
                            <a:schemeClr val="tx1"/>
                          </a:solidFill>
                          <a:effectLst/>
                        </a:rPr>
                        <a:t>modern computing techniques to solve complex IT problems.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382565225"/>
                  </a:ext>
                </a:extLst>
              </a:tr>
              <a:tr h="1221473">
                <a:tc>
                  <a:txBody>
                    <a:bodyPr/>
                    <a:lstStyle/>
                    <a:p>
                      <a:pPr marL="0" marR="0" algn="l">
                        <a:lnSpc>
                          <a:spcPts val="1280"/>
                        </a:lnSpc>
                        <a:spcBef>
                          <a:spcPts val="195"/>
                        </a:spcBef>
                        <a:buNone/>
                      </a:pPr>
                      <a:r>
                        <a:rPr lang="en-US" sz="1800">
                          <a:solidFill>
                            <a:schemeClr val="tx1"/>
                          </a:solidFill>
                          <a:effectLst/>
                        </a:rPr>
                        <a:t> </a:t>
                      </a:r>
                    </a:p>
                    <a:p>
                      <a:pPr marL="6350" marR="0" algn="ctr">
                        <a:lnSpc>
                          <a:spcPts val="1280"/>
                        </a:lnSpc>
                        <a:buNone/>
                      </a:pPr>
                      <a:r>
                        <a:rPr lang="en-US" sz="1800" spc="-50">
                          <a:solidFill>
                            <a:schemeClr val="tx1"/>
                          </a:solidFill>
                          <a:effectLst/>
                        </a:rPr>
                        <a:t>3</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0" marR="0" algn="l">
                        <a:lnSpc>
                          <a:spcPts val="1280"/>
                        </a:lnSpc>
                        <a:spcBef>
                          <a:spcPts val="195"/>
                        </a:spcBef>
                        <a:buNone/>
                      </a:pPr>
                      <a:r>
                        <a:rPr lang="en-US" sz="1800">
                          <a:solidFill>
                            <a:schemeClr val="tx1"/>
                          </a:solidFill>
                          <a:effectLst/>
                        </a:rPr>
                        <a:t> </a:t>
                      </a:r>
                    </a:p>
                    <a:p>
                      <a:pPr marL="5080" marR="0" algn="ctr">
                        <a:lnSpc>
                          <a:spcPts val="1280"/>
                        </a:lnSpc>
                        <a:buNone/>
                      </a:pPr>
                      <a:r>
                        <a:rPr lang="en-US" sz="1800" spc="-20">
                          <a:solidFill>
                            <a:schemeClr val="tx1"/>
                          </a:solidFill>
                          <a:effectLst/>
                        </a:rPr>
                        <a:t>PSO3</a:t>
                      </a:r>
                      <a:endParaRPr lang="en-US" sz="18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tc>
                  <a:txBody>
                    <a:bodyPr/>
                    <a:lstStyle/>
                    <a:p>
                      <a:pPr marL="67945" marR="77470" algn="l">
                        <a:lnSpc>
                          <a:spcPct val="115000"/>
                        </a:lnSpc>
                        <a:buNone/>
                      </a:pPr>
                      <a:r>
                        <a:rPr lang="en-US" sz="1800" dirty="0">
                          <a:solidFill>
                            <a:schemeClr val="tx1"/>
                          </a:solidFill>
                          <a:effectLst/>
                        </a:rPr>
                        <a:t>Establish</a:t>
                      </a:r>
                      <a:r>
                        <a:rPr lang="en-US" sz="1800" spc="-25" dirty="0">
                          <a:solidFill>
                            <a:schemeClr val="tx1"/>
                          </a:solidFill>
                          <a:effectLst/>
                        </a:rPr>
                        <a:t> </a:t>
                      </a:r>
                      <a:r>
                        <a:rPr lang="en-US" sz="1800" dirty="0">
                          <a:solidFill>
                            <a:schemeClr val="tx1"/>
                          </a:solidFill>
                          <a:effectLst/>
                        </a:rPr>
                        <a:t>a</a:t>
                      </a:r>
                      <a:r>
                        <a:rPr lang="en-US" sz="1800" spc="-25" dirty="0">
                          <a:solidFill>
                            <a:schemeClr val="tx1"/>
                          </a:solidFill>
                          <a:effectLst/>
                        </a:rPr>
                        <a:t> </a:t>
                      </a:r>
                      <a:r>
                        <a:rPr lang="en-US" sz="1800" dirty="0">
                          <a:solidFill>
                            <a:schemeClr val="tx1"/>
                          </a:solidFill>
                          <a:effectLst/>
                        </a:rPr>
                        <a:t>successful</a:t>
                      </a:r>
                      <a:r>
                        <a:rPr lang="en-US" sz="1800" spc="-25" dirty="0">
                          <a:solidFill>
                            <a:schemeClr val="tx1"/>
                          </a:solidFill>
                          <a:effectLst/>
                        </a:rPr>
                        <a:t> </a:t>
                      </a:r>
                      <a:r>
                        <a:rPr lang="en-US" sz="1800" dirty="0">
                          <a:solidFill>
                            <a:schemeClr val="tx1"/>
                          </a:solidFill>
                          <a:effectLst/>
                        </a:rPr>
                        <a:t>and</a:t>
                      </a:r>
                      <a:r>
                        <a:rPr lang="en-US" sz="1800" spc="-25" dirty="0">
                          <a:solidFill>
                            <a:schemeClr val="tx1"/>
                          </a:solidFill>
                          <a:effectLst/>
                        </a:rPr>
                        <a:t> </a:t>
                      </a:r>
                      <a:r>
                        <a:rPr lang="en-US" sz="1800" dirty="0">
                          <a:solidFill>
                            <a:schemeClr val="tx1"/>
                          </a:solidFill>
                          <a:effectLst/>
                        </a:rPr>
                        <a:t>innovative</a:t>
                      </a:r>
                      <a:r>
                        <a:rPr lang="en-US" sz="1800" spc="-25" dirty="0">
                          <a:solidFill>
                            <a:schemeClr val="tx1"/>
                          </a:solidFill>
                          <a:effectLst/>
                        </a:rPr>
                        <a:t> </a:t>
                      </a:r>
                      <a:r>
                        <a:rPr lang="en-US" sz="1800" dirty="0">
                          <a:solidFill>
                            <a:schemeClr val="tx1"/>
                          </a:solidFill>
                          <a:effectLst/>
                        </a:rPr>
                        <a:t>career</a:t>
                      </a:r>
                      <a:r>
                        <a:rPr lang="en-US" sz="1800" spc="-25" dirty="0">
                          <a:solidFill>
                            <a:schemeClr val="tx1"/>
                          </a:solidFill>
                          <a:effectLst/>
                        </a:rPr>
                        <a:t> </a:t>
                      </a:r>
                      <a:r>
                        <a:rPr lang="en-US" sz="1800" dirty="0">
                          <a:solidFill>
                            <a:schemeClr val="tx1"/>
                          </a:solidFill>
                          <a:effectLst/>
                        </a:rPr>
                        <a:t>by</a:t>
                      </a:r>
                      <a:r>
                        <a:rPr lang="en-US" sz="1800" spc="-25" dirty="0">
                          <a:solidFill>
                            <a:schemeClr val="tx1"/>
                          </a:solidFill>
                          <a:effectLst/>
                        </a:rPr>
                        <a:t> </a:t>
                      </a:r>
                      <a:r>
                        <a:rPr lang="en-US" sz="1800" dirty="0">
                          <a:solidFill>
                            <a:schemeClr val="tx1"/>
                          </a:solidFill>
                          <a:effectLst/>
                        </a:rPr>
                        <a:t>practicing</a:t>
                      </a:r>
                      <a:r>
                        <a:rPr lang="en-US" sz="1800" spc="-25" dirty="0">
                          <a:solidFill>
                            <a:schemeClr val="tx1"/>
                          </a:solidFill>
                          <a:effectLst/>
                        </a:rPr>
                        <a:t> </a:t>
                      </a:r>
                      <a:r>
                        <a:rPr lang="en-US" sz="1800" dirty="0">
                          <a:solidFill>
                            <a:schemeClr val="tx1"/>
                          </a:solidFill>
                          <a:effectLst/>
                        </a:rPr>
                        <a:t>lifelong</a:t>
                      </a:r>
                      <a:r>
                        <a:rPr lang="en-US" sz="1800" spc="-25" dirty="0">
                          <a:solidFill>
                            <a:schemeClr val="tx1"/>
                          </a:solidFill>
                          <a:effectLst/>
                        </a:rPr>
                        <a:t> </a:t>
                      </a:r>
                      <a:r>
                        <a:rPr lang="en-US" sz="1800" dirty="0">
                          <a:solidFill>
                            <a:schemeClr val="tx1"/>
                          </a:solidFill>
                          <a:effectLst/>
                        </a:rPr>
                        <a:t>learning and communicating in a team or as an individual to manage projects with ethical concerns.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oFill/>
                  </a:tcPr>
                </a:tc>
                <a:extLst>
                  <a:ext uri="{0D108BD9-81ED-4DB2-BD59-A6C34878D82A}">
                    <a16:rowId xmlns:a16="http://schemas.microsoft.com/office/drawing/2014/main" val="2208093146"/>
                  </a:ext>
                </a:extLst>
              </a:tr>
            </a:tbl>
          </a:graphicData>
        </a:graphic>
      </p:graphicFrame>
    </p:spTree>
    <p:extLst>
      <p:ext uri="{BB962C8B-B14F-4D97-AF65-F5344CB8AC3E}">
        <p14:creationId xmlns:p14="http://schemas.microsoft.com/office/powerpoint/2010/main" val="1765481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79533-4D43-694A-C896-55D8FDBB07C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B67016D-16DB-0FB5-26EC-91530616A0B1}"/>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4C3F57DE-66D9-93F4-8B27-0EDDCB0CC10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DE66521-B7D0-D0FF-D95F-424DE1CE66FE}"/>
              </a:ext>
            </a:extLst>
          </p:cNvPr>
          <p:cNvSpPr>
            <a:spLocks noGrp="1"/>
          </p:cNvSpPr>
          <p:nvPr>
            <p:ph type="sldNum" sz="quarter" idx="12"/>
          </p:nvPr>
        </p:nvSpPr>
        <p:spPr/>
        <p:txBody>
          <a:bodyPr/>
          <a:lstStyle/>
          <a:p>
            <a:fld id="{B41E2F89-97C2-4B18-A593-8150592B5005}" type="slidenum">
              <a:rPr lang="en-US" smtClean="0"/>
              <a:t>11</a:t>
            </a:fld>
            <a:endParaRPr lang="en-US" dirty="0"/>
          </a:p>
        </p:txBody>
      </p:sp>
      <p:sp>
        <p:nvSpPr>
          <p:cNvPr id="7" name="Title 1">
            <a:extLst>
              <a:ext uri="{FF2B5EF4-FFF2-40B4-BE49-F238E27FC236}">
                <a16:creationId xmlns:a16="http://schemas.microsoft.com/office/drawing/2014/main" id="{6CD5670E-610A-04B9-0027-4A4CA74A999A}"/>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COs and PSOs Mapping</a:t>
            </a:r>
          </a:p>
        </p:txBody>
      </p:sp>
      <p:pic>
        <p:nvPicPr>
          <p:cNvPr id="8" name="Picture 7" descr="A black and red logo&#10;&#10;Description automatically generated">
            <a:extLst>
              <a:ext uri="{FF2B5EF4-FFF2-40B4-BE49-F238E27FC236}">
                <a16:creationId xmlns:a16="http://schemas.microsoft.com/office/drawing/2014/main" id="{36416EE7-2BAC-7177-EE19-4B775A565A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E7045181-5107-4A54-7AF2-331504F0D37A}"/>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CC70A7B1-6136-81C6-71C6-5B9473F9B42B}"/>
              </a:ext>
            </a:extLst>
          </p:cNvPr>
          <p:cNvGraphicFramePr>
            <a:graphicFrameLocks noGrp="1"/>
          </p:cNvGraphicFramePr>
          <p:nvPr>
            <p:extLst>
              <p:ext uri="{D42A27DB-BD31-4B8C-83A1-F6EECF244321}">
                <p14:modId xmlns:p14="http://schemas.microsoft.com/office/powerpoint/2010/main" val="189709203"/>
              </p:ext>
            </p:extLst>
          </p:nvPr>
        </p:nvGraphicFramePr>
        <p:xfrm>
          <a:off x="1854200" y="1860097"/>
          <a:ext cx="8128000" cy="2865120"/>
        </p:xfrm>
        <a:graphic>
          <a:graphicData uri="http://schemas.openxmlformats.org/drawingml/2006/table">
            <a:tbl>
              <a:tblPr firstRow="1" bandRow="1">
                <a:tableStyleId>{5C22544A-7EE6-4342-B048-85BDC9FD1C3A}</a:tableStyleId>
              </a:tblPr>
              <a:tblGrid>
                <a:gridCol w="991742">
                  <a:extLst>
                    <a:ext uri="{9D8B030D-6E8A-4147-A177-3AD203B41FA5}">
                      <a16:colId xmlns:a16="http://schemas.microsoft.com/office/drawing/2014/main" val="340716626"/>
                    </a:ext>
                  </a:extLst>
                </a:gridCol>
                <a:gridCol w="2280862">
                  <a:extLst>
                    <a:ext uri="{9D8B030D-6E8A-4147-A177-3AD203B41FA5}">
                      <a16:colId xmlns:a16="http://schemas.microsoft.com/office/drawing/2014/main" val="1225602413"/>
                    </a:ext>
                  </a:extLst>
                </a:gridCol>
                <a:gridCol w="2506895">
                  <a:extLst>
                    <a:ext uri="{9D8B030D-6E8A-4147-A177-3AD203B41FA5}">
                      <a16:colId xmlns:a16="http://schemas.microsoft.com/office/drawing/2014/main" val="2846332779"/>
                    </a:ext>
                  </a:extLst>
                </a:gridCol>
                <a:gridCol w="2348501">
                  <a:extLst>
                    <a:ext uri="{9D8B030D-6E8A-4147-A177-3AD203B41FA5}">
                      <a16:colId xmlns:a16="http://schemas.microsoft.com/office/drawing/2014/main" val="3543563804"/>
                    </a:ext>
                  </a:extLst>
                </a:gridCol>
              </a:tblGrid>
              <a:tr h="370840">
                <a:tc>
                  <a:txBody>
                    <a:bodyPr/>
                    <a:lstStyle/>
                    <a:p>
                      <a:r>
                        <a:rPr lang="en-US" dirty="0" err="1"/>
                        <a:t>S.No</a:t>
                      </a:r>
                      <a:endParaRPr lang="en-US" dirty="0"/>
                    </a:p>
                  </a:txBody>
                  <a:tcPr/>
                </a:tc>
                <a:tc>
                  <a:txBody>
                    <a:bodyPr/>
                    <a:lstStyle/>
                    <a:p>
                      <a:r>
                        <a:rPr lang="en-US" dirty="0"/>
                        <a:t>PSO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PSO 2</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PSO 3</a:t>
                      </a:r>
                    </a:p>
                    <a:p>
                      <a:endParaRPr lang="en-US" dirty="0"/>
                    </a:p>
                  </a:txBody>
                  <a:tcPr/>
                </a:tc>
                <a:extLst>
                  <a:ext uri="{0D108BD9-81ED-4DB2-BD59-A6C34878D82A}">
                    <a16:rowId xmlns:a16="http://schemas.microsoft.com/office/drawing/2014/main" val="4149287585"/>
                  </a:ext>
                </a:extLst>
              </a:tr>
              <a:tr h="370840">
                <a:tc>
                  <a:txBody>
                    <a:bodyPr/>
                    <a:lstStyle/>
                    <a:p>
                      <a:r>
                        <a:rPr lang="en-US" dirty="0"/>
                        <a:t>CO 1</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61755888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 2</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3201560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 3</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4991382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 4</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59684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 5</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85989174"/>
                  </a:ext>
                </a:extLst>
              </a:tr>
              <a:tr h="370840">
                <a:tc>
                  <a:txBody>
                    <a:bodyPr/>
                    <a:lstStyle/>
                    <a:p>
                      <a:r>
                        <a:rPr lang="en-US" dirty="0"/>
                        <a:t>Average</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3407544018"/>
                  </a:ext>
                </a:extLst>
              </a:tr>
            </a:tbl>
          </a:graphicData>
        </a:graphic>
      </p:graphicFrame>
    </p:spTree>
    <p:extLst>
      <p:ext uri="{BB962C8B-B14F-4D97-AF65-F5344CB8AC3E}">
        <p14:creationId xmlns:p14="http://schemas.microsoft.com/office/powerpoint/2010/main" val="878233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3D9F3-368A-A424-AB75-FE3498505B6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5369311-9405-38DD-928A-63715A9106E3}"/>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39649275-CA89-DC56-276D-F5CFF12A67A6}"/>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C78BC65-19EF-B8E6-2E95-1066B06769A6}"/>
              </a:ext>
            </a:extLst>
          </p:cNvPr>
          <p:cNvSpPr>
            <a:spLocks noGrp="1"/>
          </p:cNvSpPr>
          <p:nvPr>
            <p:ph type="sldNum" sz="quarter" idx="12"/>
          </p:nvPr>
        </p:nvSpPr>
        <p:spPr/>
        <p:txBody>
          <a:bodyPr/>
          <a:lstStyle/>
          <a:p>
            <a:fld id="{B41E2F89-97C2-4B18-A593-8150592B5005}" type="slidenum">
              <a:rPr lang="en-US" smtClean="0"/>
              <a:t>12</a:t>
            </a:fld>
            <a:endParaRPr lang="en-US" dirty="0"/>
          </a:p>
        </p:txBody>
      </p:sp>
      <p:sp>
        <p:nvSpPr>
          <p:cNvPr id="7" name="Title 1">
            <a:extLst>
              <a:ext uri="{FF2B5EF4-FFF2-40B4-BE49-F238E27FC236}">
                <a16:creationId xmlns:a16="http://schemas.microsoft.com/office/drawing/2014/main" id="{866D2BDF-9436-3216-29B0-C6BC122C73FA}"/>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Program Educational Objectives (PEOs)</a:t>
            </a:r>
          </a:p>
        </p:txBody>
      </p:sp>
      <p:pic>
        <p:nvPicPr>
          <p:cNvPr id="8" name="Picture 7" descr="A black and red logo&#10;&#10;Description automatically generated">
            <a:extLst>
              <a:ext uri="{FF2B5EF4-FFF2-40B4-BE49-F238E27FC236}">
                <a16:creationId xmlns:a16="http://schemas.microsoft.com/office/drawing/2014/main" id="{64E591C3-7581-6642-A914-52FE2BBE35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51BFD7C9-9CEE-27E8-6DC0-6FC3900F133D}"/>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0A51ADC-8A99-C150-EBDC-9392852C2BFC}"/>
              </a:ext>
            </a:extLst>
          </p:cNvPr>
          <p:cNvSpPr txBox="1"/>
          <p:nvPr/>
        </p:nvSpPr>
        <p:spPr>
          <a:xfrm>
            <a:off x="479461" y="1462703"/>
            <a:ext cx="10820400" cy="4582280"/>
          </a:xfrm>
          <a:prstGeom prst="rect">
            <a:avLst/>
          </a:prstGeom>
          <a:noFill/>
        </p:spPr>
        <p:txBody>
          <a:bodyPr wrap="square">
            <a:spAutoFit/>
          </a:bodyPr>
          <a:lstStyle/>
          <a:p>
            <a:pPr marL="1885315" marR="355600" indent="-685800" algn="just">
              <a:lnSpc>
                <a:spcPct val="150000"/>
              </a:lnSpc>
              <a:spcBef>
                <a:spcPts val="1200"/>
              </a:spcBef>
              <a:buNone/>
            </a:pPr>
            <a:r>
              <a:rPr lang="en-US" sz="1800" b="1" dirty="0">
                <a:effectLst/>
                <a:latin typeface="Times New Roman" panose="02020603050405020304" pitchFamily="18" charset="0"/>
                <a:ea typeface="Times New Roman" panose="02020603050405020304" pitchFamily="18" charset="0"/>
              </a:rPr>
              <a:t>PEO1:</a:t>
            </a:r>
            <a:r>
              <a:rPr lang="en-US" sz="1800" b="1" spc="4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 apply sound knowledge combining technical expertise,</a:t>
            </a:r>
            <a:r>
              <a:rPr lang="en-US" sz="1800"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 problem-solving skills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fulfill</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needs</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industry</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1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stay</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updated</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latest</a:t>
            </a:r>
            <a:r>
              <a:rPr lang="en-US" sz="1800" spc="-1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emerging </a:t>
            </a:r>
            <a:r>
              <a:rPr lang="en-US" sz="1800" spc="-10" dirty="0">
                <a:effectLst/>
                <a:latin typeface="Times New Roman" panose="02020603050405020304" pitchFamily="18" charset="0"/>
                <a:ea typeface="Times New Roman" panose="02020603050405020304" pitchFamily="18" charset="0"/>
              </a:rPr>
              <a:t>trends.</a:t>
            </a:r>
            <a:endParaRPr lang="en-US" sz="1800" dirty="0">
              <a:effectLst/>
              <a:latin typeface="Times New Roman" panose="02020603050405020304" pitchFamily="18" charset="0"/>
              <a:ea typeface="Times New Roman" panose="02020603050405020304" pitchFamily="18" charset="0"/>
            </a:endParaRPr>
          </a:p>
          <a:p>
            <a:pPr marL="1885315" marR="358775" indent="-685800" algn="just">
              <a:lnSpc>
                <a:spcPct val="150000"/>
              </a:lnSpc>
              <a:spcBef>
                <a:spcPts val="1005"/>
              </a:spcBef>
              <a:buNone/>
            </a:pPr>
            <a:r>
              <a:rPr lang="en-US" sz="1800" b="1" dirty="0">
                <a:effectLst/>
                <a:latin typeface="Times New Roman" panose="02020603050405020304" pitchFamily="18" charset="0"/>
                <a:ea typeface="Times New Roman" panose="02020603050405020304" pitchFamily="18" charset="0"/>
              </a:rPr>
              <a:t>PEO2:</a:t>
            </a:r>
            <a:r>
              <a:rPr lang="en-US" sz="1800" b="1"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 provide sustainable solutions for real-life problems by designing innovative and interdisciplinary systems using the latest digital technologies for serving academia, industry, and society.</a:t>
            </a:r>
          </a:p>
          <a:p>
            <a:pPr marL="1885315" marR="360045" indent="-685800" algn="just">
              <a:lnSpc>
                <a:spcPct val="150000"/>
              </a:lnSpc>
              <a:spcBef>
                <a:spcPts val="1000"/>
              </a:spcBef>
              <a:buNone/>
            </a:pPr>
            <a:r>
              <a:rPr lang="en-US" sz="1800" b="1" dirty="0">
                <a:effectLst/>
                <a:latin typeface="Times New Roman" panose="02020603050405020304" pitchFamily="18" charset="0"/>
                <a:ea typeface="Times New Roman" panose="02020603050405020304" pitchFamily="18" charset="0"/>
              </a:rPr>
              <a:t>PEO3:</a:t>
            </a:r>
            <a:r>
              <a:rPr lang="en-US" sz="1800" b="1" spc="4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 reflect professional attitude, social ethics, communication, teamwork, and leadership skills in research and product development to face global challenges.</a:t>
            </a:r>
          </a:p>
          <a:p>
            <a:pPr marL="1885315" marR="360680" indent="-685800" algn="just">
              <a:lnSpc>
                <a:spcPct val="150000"/>
              </a:lnSpc>
              <a:spcBef>
                <a:spcPts val="1000"/>
              </a:spcBef>
              <a:buNone/>
            </a:pPr>
            <a:r>
              <a:rPr lang="en-US" sz="1800" b="1" dirty="0">
                <a:effectLst/>
                <a:latin typeface="Times New Roman" panose="02020603050405020304" pitchFamily="18" charset="0"/>
                <a:ea typeface="Times New Roman" panose="02020603050405020304" pitchFamily="18" charset="0"/>
              </a:rPr>
              <a:t>PEO4:</a:t>
            </a:r>
            <a:r>
              <a:rPr lang="en-US" sz="1800" b="1"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To pursue higher studies and develop their career successfully in the software</a:t>
            </a:r>
            <a:r>
              <a:rPr lang="en-US" sz="1800" spc="2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industry and R&amp;D sectors with a lifelong learning frame of mind.</a:t>
            </a:r>
          </a:p>
          <a:p>
            <a:pPr marL="0" marR="0" algn="just">
              <a:lnSpc>
                <a:spcPct val="150000"/>
              </a:lnSpc>
              <a:buNone/>
            </a:pPr>
            <a:r>
              <a:rPr lang="en-US" sz="1800" dirty="0">
                <a:effectLst/>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82894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99DF3-7DA7-C9CF-3FCB-2693CA51EA8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00A5E00-A930-941E-2E5C-A143AD4F750A}"/>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14C5ACD2-1CBF-F96B-5881-ACCF86FDE54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34E1E4D-DA9F-A3F3-985C-E947B2FD5A21}"/>
              </a:ext>
            </a:extLst>
          </p:cNvPr>
          <p:cNvSpPr>
            <a:spLocks noGrp="1"/>
          </p:cNvSpPr>
          <p:nvPr>
            <p:ph type="sldNum" sz="quarter" idx="12"/>
          </p:nvPr>
        </p:nvSpPr>
        <p:spPr/>
        <p:txBody>
          <a:bodyPr/>
          <a:lstStyle/>
          <a:p>
            <a:fld id="{B41E2F89-97C2-4B18-A593-8150592B5005}" type="slidenum">
              <a:rPr lang="en-US" smtClean="0"/>
              <a:t>13</a:t>
            </a:fld>
            <a:endParaRPr lang="en-US" dirty="0"/>
          </a:p>
        </p:txBody>
      </p:sp>
      <p:sp>
        <p:nvSpPr>
          <p:cNvPr id="7" name="Title 1">
            <a:extLst>
              <a:ext uri="{FF2B5EF4-FFF2-40B4-BE49-F238E27FC236}">
                <a16:creationId xmlns:a16="http://schemas.microsoft.com/office/drawing/2014/main" id="{4753F37E-F1EC-49D2-8637-02B3C4D91EE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Result Analysis 2024-25</a:t>
            </a:r>
          </a:p>
        </p:txBody>
      </p:sp>
      <p:pic>
        <p:nvPicPr>
          <p:cNvPr id="8" name="Picture 7" descr="A black and red logo&#10;&#10;Description automatically generated">
            <a:extLst>
              <a:ext uri="{FF2B5EF4-FFF2-40B4-BE49-F238E27FC236}">
                <a16:creationId xmlns:a16="http://schemas.microsoft.com/office/drawing/2014/main" id="{4D7DA10E-379F-96C7-83DC-3E4582DD504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13268DA6-7922-0851-4008-DBAC2B9EB8F9}"/>
              </a:ext>
            </a:extLst>
          </p:cNvPr>
          <p:cNvSpPr txBox="1"/>
          <p:nvPr/>
        </p:nvSpPr>
        <p:spPr>
          <a:xfrm>
            <a:off x="892139" y="1462703"/>
            <a:ext cx="10820399" cy="230832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B04FAB6-D5F2-D93A-9DE5-D3CF50D056F9}"/>
              </a:ext>
            </a:extLst>
          </p:cNvPr>
          <p:cNvPicPr>
            <a:picLocks noChangeAspect="1"/>
          </p:cNvPicPr>
          <p:nvPr/>
        </p:nvPicPr>
        <p:blipFill>
          <a:blip r:embed="rId3"/>
          <a:stretch>
            <a:fillRect/>
          </a:stretch>
        </p:blipFill>
        <p:spPr>
          <a:xfrm>
            <a:off x="1031576" y="3369924"/>
            <a:ext cx="10091176" cy="1172077"/>
          </a:xfrm>
          <a:prstGeom prst="rect">
            <a:avLst/>
          </a:prstGeom>
        </p:spPr>
      </p:pic>
      <p:pic>
        <p:nvPicPr>
          <p:cNvPr id="11" name="Picture 10">
            <a:extLst>
              <a:ext uri="{FF2B5EF4-FFF2-40B4-BE49-F238E27FC236}">
                <a16:creationId xmlns:a16="http://schemas.microsoft.com/office/drawing/2014/main" id="{95830EE1-2123-0E2E-F2D6-8CB079308DE1}"/>
              </a:ext>
            </a:extLst>
          </p:cNvPr>
          <p:cNvPicPr>
            <a:picLocks noChangeAspect="1"/>
          </p:cNvPicPr>
          <p:nvPr/>
        </p:nvPicPr>
        <p:blipFill>
          <a:blip r:embed="rId4"/>
          <a:stretch>
            <a:fillRect/>
          </a:stretch>
        </p:blipFill>
        <p:spPr>
          <a:xfrm>
            <a:off x="1031575" y="2280863"/>
            <a:ext cx="10109003" cy="1089062"/>
          </a:xfrm>
          <a:prstGeom prst="rect">
            <a:avLst/>
          </a:prstGeom>
        </p:spPr>
      </p:pic>
    </p:spTree>
    <p:extLst>
      <p:ext uri="{BB962C8B-B14F-4D97-AF65-F5344CB8AC3E}">
        <p14:creationId xmlns:p14="http://schemas.microsoft.com/office/powerpoint/2010/main" val="2479085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E937C-7292-4A12-8561-284E8E2879A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A01632F-BCB0-8A22-7C51-3818436B8CE7}"/>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7B18EA8C-8CFE-D607-A7EF-3BE3E444B4D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491D834C-95DE-39A0-B910-ADDC5FEA3F2C}"/>
              </a:ext>
            </a:extLst>
          </p:cNvPr>
          <p:cNvSpPr>
            <a:spLocks noGrp="1"/>
          </p:cNvSpPr>
          <p:nvPr>
            <p:ph type="sldNum" sz="quarter" idx="12"/>
          </p:nvPr>
        </p:nvSpPr>
        <p:spPr/>
        <p:txBody>
          <a:bodyPr/>
          <a:lstStyle/>
          <a:p>
            <a:fld id="{B41E2F89-97C2-4B18-A593-8150592B5005}" type="slidenum">
              <a:rPr lang="en-US" smtClean="0"/>
              <a:t>14</a:t>
            </a:fld>
            <a:endParaRPr lang="en-US" dirty="0"/>
          </a:p>
        </p:txBody>
      </p:sp>
      <p:sp>
        <p:nvSpPr>
          <p:cNvPr id="7" name="Title 1">
            <a:extLst>
              <a:ext uri="{FF2B5EF4-FFF2-40B4-BE49-F238E27FC236}">
                <a16:creationId xmlns:a16="http://schemas.microsoft.com/office/drawing/2014/main" id="{7A1D5EA9-E711-D15A-A048-336B7724D0C7}"/>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End Semester Question Paper Templates</a:t>
            </a:r>
          </a:p>
        </p:txBody>
      </p:sp>
      <p:pic>
        <p:nvPicPr>
          <p:cNvPr id="8" name="Picture 7" descr="A black and red logo&#10;&#10;Description automatically generated">
            <a:extLst>
              <a:ext uri="{FF2B5EF4-FFF2-40B4-BE49-F238E27FC236}">
                <a16:creationId xmlns:a16="http://schemas.microsoft.com/office/drawing/2014/main" id="{F5275331-6E21-8F17-13F0-DC4415366D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0" name="Content Placeholder 1">
            <a:extLst>
              <a:ext uri="{FF2B5EF4-FFF2-40B4-BE49-F238E27FC236}">
                <a16:creationId xmlns:a16="http://schemas.microsoft.com/office/drawing/2014/main" id="{81FEE5BB-8574-17BC-8868-4960DFF3A523}"/>
              </a:ext>
            </a:extLst>
          </p:cNvPr>
          <p:cNvSpPr>
            <a:spLocks noGrp="1"/>
          </p:cNvSpPr>
          <p:nvPr>
            <p:ph idx="1"/>
          </p:nvPr>
        </p:nvSpPr>
        <p:spPr>
          <a:xfrm>
            <a:off x="457200" y="1225550"/>
            <a:ext cx="11049856" cy="3223159"/>
          </a:xfrm>
        </p:spPr>
        <p:txBody>
          <a:bodyPr>
            <a:normAutofit fontScale="92500" lnSpcReduction="10000"/>
          </a:bodyPr>
          <a:lstStyle/>
          <a:p>
            <a:pPr marL="0" indent="0" algn="ctr">
              <a:buFont typeface="Arial" panose="020B0604020202020204" pitchFamily="34" charset="0"/>
              <a:buNone/>
              <a:defRPr/>
            </a:pPr>
            <a:r>
              <a:rPr lang="en-IN" dirty="0">
                <a:sym typeface="Arial" charset="0"/>
              </a:rPr>
              <a:t>B TECH </a:t>
            </a:r>
          </a:p>
          <a:p>
            <a:pPr marL="0" indent="0" algn="ctr">
              <a:buFont typeface="Arial" panose="020B0604020202020204" pitchFamily="34" charset="0"/>
              <a:buNone/>
              <a:defRPr/>
            </a:pPr>
            <a:r>
              <a:rPr lang="en-IN" dirty="0">
                <a:sym typeface="Arial" charset="0"/>
              </a:rPr>
              <a:t>(SEM-IV) THEORY EXAMINATION 20__-20__</a:t>
            </a:r>
          </a:p>
          <a:p>
            <a:pPr marL="0" indent="0" algn="ctr">
              <a:buFont typeface="Arial" panose="020B0604020202020204" pitchFamily="34" charset="0"/>
              <a:buNone/>
              <a:defRPr/>
            </a:pPr>
            <a:r>
              <a:rPr lang="en-IN" dirty="0">
                <a:sym typeface="Arial" charset="0"/>
              </a:rPr>
              <a:t>COMPILER DESIGN</a:t>
            </a:r>
          </a:p>
          <a:p>
            <a:pPr marL="0" indent="0">
              <a:buFont typeface="Arial" panose="020B0604020202020204" pitchFamily="34" charset="0"/>
              <a:buNone/>
              <a:defRPr/>
            </a:pPr>
            <a:r>
              <a:rPr lang="en-IN" dirty="0">
                <a:sym typeface="Arial" charset="0"/>
              </a:rPr>
              <a:t>Time: 3 Hours                                                                                    Total Marks: 100 </a:t>
            </a:r>
          </a:p>
          <a:p>
            <a:pPr marL="0" indent="0" algn="just">
              <a:buFont typeface="Arial" panose="020B0604020202020204" pitchFamily="34" charset="0"/>
              <a:buNone/>
              <a:defRPr/>
            </a:pPr>
            <a:r>
              <a:rPr lang="en-IN" dirty="0">
                <a:sym typeface="Arial" charset="0"/>
              </a:rPr>
              <a:t>Note: 1. Attempt all Sections. If require any missing data; then choose suitably.</a:t>
            </a:r>
          </a:p>
          <a:p>
            <a:pPr marL="0" indent="0" algn="ctr">
              <a:buFont typeface="Arial" panose="020B0604020202020204" pitchFamily="34" charset="0"/>
              <a:buNone/>
              <a:defRPr/>
            </a:pPr>
            <a:r>
              <a:rPr lang="en-IN" dirty="0">
                <a:sym typeface="Arial" charset="0"/>
              </a:rPr>
              <a:t>SECTION A </a:t>
            </a:r>
          </a:p>
          <a:p>
            <a:pPr indent="-457200">
              <a:buFont typeface="Arial" panose="020B0604020202020204" pitchFamily="34" charset="0"/>
              <a:buAutoNum type="arabicPeriod"/>
              <a:defRPr/>
            </a:pPr>
            <a:r>
              <a:rPr lang="en-IN" dirty="0">
                <a:sym typeface="Arial" charset="0"/>
              </a:rPr>
              <a:t>Attempt all questions in brief.                                                        2 x 10 = 20</a:t>
            </a:r>
          </a:p>
          <a:p>
            <a:pPr marL="0" indent="0">
              <a:buFont typeface="Arial" panose="020B0604020202020204" pitchFamily="34" charset="0"/>
              <a:buNone/>
              <a:defRPr/>
            </a:pPr>
            <a:endParaRPr lang="en-IN" dirty="0">
              <a:sym typeface="Arial" charset="0"/>
            </a:endParaRPr>
          </a:p>
        </p:txBody>
      </p:sp>
      <p:graphicFrame>
        <p:nvGraphicFramePr>
          <p:cNvPr id="11" name="Table 10">
            <a:extLst>
              <a:ext uri="{FF2B5EF4-FFF2-40B4-BE49-F238E27FC236}">
                <a16:creationId xmlns:a16="http://schemas.microsoft.com/office/drawing/2014/main" id="{BB42A440-31D9-4D3A-D001-C37633A623C2}"/>
              </a:ext>
            </a:extLst>
          </p:cNvPr>
          <p:cNvGraphicFramePr>
            <a:graphicFrameLocks noGrp="1"/>
          </p:cNvGraphicFramePr>
          <p:nvPr>
            <p:extLst>
              <p:ext uri="{D42A27DB-BD31-4B8C-83A1-F6EECF244321}">
                <p14:modId xmlns:p14="http://schemas.microsoft.com/office/powerpoint/2010/main" val="4083900086"/>
              </p:ext>
            </p:extLst>
          </p:nvPr>
        </p:nvGraphicFramePr>
        <p:xfrm>
          <a:off x="457200" y="4527550"/>
          <a:ext cx="10640602" cy="1828800"/>
        </p:xfrm>
        <a:graphic>
          <a:graphicData uri="http://schemas.openxmlformats.org/drawingml/2006/table">
            <a:tbl>
              <a:tblPr firstRow="1" bandRow="1">
                <a:tableStyleId>{5C22544A-7EE6-4342-B048-85BDC9FD1C3A}</a:tableStyleId>
              </a:tblPr>
              <a:tblGrid>
                <a:gridCol w="1227762">
                  <a:extLst>
                    <a:ext uri="{9D8B030D-6E8A-4147-A177-3AD203B41FA5}">
                      <a16:colId xmlns:a16="http://schemas.microsoft.com/office/drawing/2014/main" val="20000"/>
                    </a:ext>
                  </a:extLst>
                </a:gridCol>
                <a:gridCol w="7161944">
                  <a:extLst>
                    <a:ext uri="{9D8B030D-6E8A-4147-A177-3AD203B41FA5}">
                      <a16:colId xmlns:a16="http://schemas.microsoft.com/office/drawing/2014/main" val="20001"/>
                    </a:ext>
                  </a:extLst>
                </a:gridCol>
                <a:gridCol w="1125448">
                  <a:extLst>
                    <a:ext uri="{9D8B030D-6E8A-4147-A177-3AD203B41FA5}">
                      <a16:colId xmlns:a16="http://schemas.microsoft.com/office/drawing/2014/main" val="20002"/>
                    </a:ext>
                  </a:extLst>
                </a:gridCol>
                <a:gridCol w="1125448">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79983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00F87-0830-30D3-46B0-8013715A62C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A5B17CD-2ED8-D446-7FD5-39B9EA9A45A1}"/>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8F7294EA-6271-0FD0-8BCB-44745C345449}"/>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BB712CA3-F9FB-3F2A-A15E-61DE71A92AB2}"/>
              </a:ext>
            </a:extLst>
          </p:cNvPr>
          <p:cNvSpPr>
            <a:spLocks noGrp="1"/>
          </p:cNvSpPr>
          <p:nvPr>
            <p:ph type="sldNum" sz="quarter" idx="12"/>
          </p:nvPr>
        </p:nvSpPr>
        <p:spPr/>
        <p:txBody>
          <a:bodyPr/>
          <a:lstStyle/>
          <a:p>
            <a:fld id="{B41E2F89-97C2-4B18-A593-8150592B5005}" type="slidenum">
              <a:rPr lang="en-US" smtClean="0"/>
              <a:t>15</a:t>
            </a:fld>
            <a:endParaRPr lang="en-US" dirty="0"/>
          </a:p>
        </p:txBody>
      </p:sp>
      <p:sp>
        <p:nvSpPr>
          <p:cNvPr id="7" name="Title 1">
            <a:extLst>
              <a:ext uri="{FF2B5EF4-FFF2-40B4-BE49-F238E27FC236}">
                <a16:creationId xmlns:a16="http://schemas.microsoft.com/office/drawing/2014/main" id="{CF0A606B-B804-CC89-85DD-CEE7BB8B5F84}"/>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End Semester Question Paper Templates</a:t>
            </a:r>
          </a:p>
        </p:txBody>
      </p:sp>
      <p:pic>
        <p:nvPicPr>
          <p:cNvPr id="8" name="Picture 7" descr="A black and red logo&#10;&#10;Description automatically generated">
            <a:extLst>
              <a:ext uri="{FF2B5EF4-FFF2-40B4-BE49-F238E27FC236}">
                <a16:creationId xmlns:a16="http://schemas.microsoft.com/office/drawing/2014/main" id="{5A04DC1A-8083-97A7-1FB3-840C14E672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1">
            <a:extLst>
              <a:ext uri="{FF2B5EF4-FFF2-40B4-BE49-F238E27FC236}">
                <a16:creationId xmlns:a16="http://schemas.microsoft.com/office/drawing/2014/main" id="{4C6EDFD7-53EE-42E3-C848-C5A6BFAEE121}"/>
              </a:ext>
            </a:extLst>
          </p:cNvPr>
          <p:cNvSpPr txBox="1">
            <a:spLocks noGrp="1"/>
          </p:cNvSpPr>
          <p:nvPr>
            <p:ph idx="1"/>
          </p:nvPr>
        </p:nvSpPr>
        <p:spPr>
          <a:xfrm>
            <a:off x="457199" y="1225550"/>
            <a:ext cx="10561301" cy="5111040"/>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dirty="0">
                <a:latin typeface="+mj-lt"/>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dirty="0">
                <a:latin typeface="Arial" panose="020B0604020202020204" pitchFamily="34" charset="0"/>
                <a:cs typeface="Arial" panose="020B0604020202020204" pitchFamily="34" charset="0"/>
              </a:rPr>
              <a:t>2. </a:t>
            </a:r>
            <a:r>
              <a:rPr lang="en-IN" altLang="en-US" sz="2000" b="1" dirty="0">
                <a:latin typeface="+mj-lt"/>
                <a:cs typeface="Arial" panose="020B0604020202020204" pitchFamily="34" charset="0"/>
              </a:rPr>
              <a:t>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dirty="0">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dirty="0">
                <a:latin typeface="Arial" panose="020B0604020202020204" pitchFamily="34" charset="0"/>
                <a:cs typeface="Arial" panose="020B0604020202020204" pitchFamily="34" charset="0"/>
              </a:rPr>
              <a:t>3. </a:t>
            </a:r>
            <a:r>
              <a:rPr lang="en-IN" altLang="en-US" sz="2000" b="1" dirty="0">
                <a:latin typeface="+mj-lt"/>
                <a:cs typeface="Arial" panose="020B0604020202020204" pitchFamily="34" charset="0"/>
              </a:rPr>
              <a:t>Attempt any one part of the following</a:t>
            </a:r>
            <a:r>
              <a:rPr lang="en-IN" altLang="en-US" sz="2000" b="1" dirty="0">
                <a:latin typeface="Arial" panose="020B0604020202020204" pitchFamily="34" charset="0"/>
                <a:cs typeface="Arial" panose="020B0604020202020204" pitchFamily="34" charset="0"/>
              </a:rPr>
              <a:t>:                          1 x 10 = 10    </a:t>
            </a:r>
            <a:endParaRPr lang="en-IN" altLang="en-US" sz="2000" b="1" i="1" dirty="0">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FDC8E849-6EB1-FB16-CDA5-61D9C833532C}"/>
              </a:ext>
            </a:extLst>
          </p:cNvPr>
          <p:cNvGraphicFramePr>
            <a:graphicFrameLocks noGrp="1"/>
          </p:cNvGraphicFramePr>
          <p:nvPr>
            <p:extLst>
              <p:ext uri="{D42A27DB-BD31-4B8C-83A1-F6EECF244321}">
                <p14:modId xmlns:p14="http://schemas.microsoft.com/office/powerpoint/2010/main" val="3079249190"/>
              </p:ext>
            </p:extLst>
          </p:nvPr>
        </p:nvGraphicFramePr>
        <p:xfrm>
          <a:off x="835025" y="2365375"/>
          <a:ext cx="10249595" cy="1828800"/>
        </p:xfrm>
        <a:graphic>
          <a:graphicData uri="http://schemas.openxmlformats.org/drawingml/2006/table">
            <a:tbl>
              <a:tblPr firstRow="1" bandRow="1">
                <a:tableStyleId>{5C22544A-7EE6-4342-B048-85BDC9FD1C3A}</a:tableStyleId>
              </a:tblPr>
              <a:tblGrid>
                <a:gridCol w="1182646">
                  <a:extLst>
                    <a:ext uri="{9D8B030D-6E8A-4147-A177-3AD203B41FA5}">
                      <a16:colId xmlns:a16="http://schemas.microsoft.com/office/drawing/2014/main" val="20000"/>
                    </a:ext>
                  </a:extLst>
                </a:gridCol>
                <a:gridCol w="6898765">
                  <a:extLst>
                    <a:ext uri="{9D8B030D-6E8A-4147-A177-3AD203B41FA5}">
                      <a16:colId xmlns:a16="http://schemas.microsoft.com/office/drawing/2014/main" val="20001"/>
                    </a:ext>
                  </a:extLst>
                </a:gridCol>
                <a:gridCol w="1084092">
                  <a:extLst>
                    <a:ext uri="{9D8B030D-6E8A-4147-A177-3AD203B41FA5}">
                      <a16:colId xmlns:a16="http://schemas.microsoft.com/office/drawing/2014/main" val="20002"/>
                    </a:ext>
                  </a:extLst>
                </a:gridCol>
                <a:gridCol w="1084092">
                  <a:extLst>
                    <a:ext uri="{9D8B030D-6E8A-4147-A177-3AD203B41FA5}">
                      <a16:colId xmlns:a16="http://schemas.microsoft.com/office/drawing/2014/main" val="20003"/>
                    </a:ext>
                  </a:extLst>
                </a:gridCol>
              </a:tblGrid>
              <a:tr h="363241">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3241">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3241">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3241">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3241">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9" name="Table 8">
            <a:extLst>
              <a:ext uri="{FF2B5EF4-FFF2-40B4-BE49-F238E27FC236}">
                <a16:creationId xmlns:a16="http://schemas.microsoft.com/office/drawing/2014/main" id="{BDC087A3-62E1-4F7C-DF6A-F9E02DE596E4}"/>
              </a:ext>
            </a:extLst>
          </p:cNvPr>
          <p:cNvGraphicFramePr>
            <a:graphicFrameLocks noGrp="1"/>
          </p:cNvGraphicFramePr>
          <p:nvPr>
            <p:extLst>
              <p:ext uri="{D42A27DB-BD31-4B8C-83A1-F6EECF244321}">
                <p14:modId xmlns:p14="http://schemas.microsoft.com/office/powerpoint/2010/main" val="515770721"/>
              </p:ext>
            </p:extLst>
          </p:nvPr>
        </p:nvGraphicFramePr>
        <p:xfrm>
          <a:off x="835025" y="4845089"/>
          <a:ext cx="10249594" cy="1491501"/>
        </p:xfrm>
        <a:graphic>
          <a:graphicData uri="http://schemas.openxmlformats.org/drawingml/2006/table">
            <a:tbl>
              <a:tblPr firstRow="1" bandRow="1">
                <a:tableStyleId>{5C22544A-7EE6-4342-B048-85BDC9FD1C3A}</a:tableStyleId>
              </a:tblPr>
              <a:tblGrid>
                <a:gridCol w="1182646">
                  <a:extLst>
                    <a:ext uri="{9D8B030D-6E8A-4147-A177-3AD203B41FA5}">
                      <a16:colId xmlns:a16="http://schemas.microsoft.com/office/drawing/2014/main" val="20000"/>
                    </a:ext>
                  </a:extLst>
                </a:gridCol>
                <a:gridCol w="6898766">
                  <a:extLst>
                    <a:ext uri="{9D8B030D-6E8A-4147-A177-3AD203B41FA5}">
                      <a16:colId xmlns:a16="http://schemas.microsoft.com/office/drawing/2014/main" val="20001"/>
                    </a:ext>
                  </a:extLst>
                </a:gridCol>
                <a:gridCol w="1084091">
                  <a:extLst>
                    <a:ext uri="{9D8B030D-6E8A-4147-A177-3AD203B41FA5}">
                      <a16:colId xmlns:a16="http://schemas.microsoft.com/office/drawing/2014/main" val="20002"/>
                    </a:ext>
                  </a:extLst>
                </a:gridCol>
                <a:gridCol w="1084091">
                  <a:extLst>
                    <a:ext uri="{9D8B030D-6E8A-4147-A177-3AD203B41FA5}">
                      <a16:colId xmlns:a16="http://schemas.microsoft.com/office/drawing/2014/main" val="20003"/>
                    </a:ext>
                  </a:extLst>
                </a:gridCol>
              </a:tblGrid>
              <a:tr h="696069">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97716">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97716">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540705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FBE88-BD9D-33ED-9A91-E7CCC41ADF3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5872C55-D5BA-1610-1398-E0B244896CB3}"/>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8406E31E-6299-6D14-5B13-83FE768B397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EC430B8-4426-5695-3326-BCBCD44E725E}"/>
              </a:ext>
            </a:extLst>
          </p:cNvPr>
          <p:cNvSpPr>
            <a:spLocks noGrp="1"/>
          </p:cNvSpPr>
          <p:nvPr>
            <p:ph type="sldNum" sz="quarter" idx="12"/>
          </p:nvPr>
        </p:nvSpPr>
        <p:spPr/>
        <p:txBody>
          <a:bodyPr/>
          <a:lstStyle/>
          <a:p>
            <a:fld id="{B41E2F89-97C2-4B18-A593-8150592B5005}" type="slidenum">
              <a:rPr lang="en-US" smtClean="0"/>
              <a:t>16</a:t>
            </a:fld>
            <a:endParaRPr lang="en-US" dirty="0"/>
          </a:p>
        </p:txBody>
      </p:sp>
      <p:sp>
        <p:nvSpPr>
          <p:cNvPr id="7" name="Title 1">
            <a:extLst>
              <a:ext uri="{FF2B5EF4-FFF2-40B4-BE49-F238E27FC236}">
                <a16:creationId xmlns:a16="http://schemas.microsoft.com/office/drawing/2014/main" id="{03AB8BA3-63E3-3574-FA6D-EF9460BF5BA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End Semester Question Paper Templates</a:t>
            </a:r>
          </a:p>
        </p:txBody>
      </p:sp>
      <p:pic>
        <p:nvPicPr>
          <p:cNvPr id="8" name="Picture 7" descr="A black and red logo&#10;&#10;Description automatically generated">
            <a:extLst>
              <a:ext uri="{FF2B5EF4-FFF2-40B4-BE49-F238E27FC236}">
                <a16:creationId xmlns:a16="http://schemas.microsoft.com/office/drawing/2014/main" id="{10819FEA-2842-0CB9-079F-77A2269A3B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1">
            <a:extLst>
              <a:ext uri="{FF2B5EF4-FFF2-40B4-BE49-F238E27FC236}">
                <a16:creationId xmlns:a16="http://schemas.microsoft.com/office/drawing/2014/main" id="{5DAEB6CE-AD1E-EC25-2E8D-1F53580C1084}"/>
              </a:ext>
            </a:extLst>
          </p:cNvPr>
          <p:cNvSpPr txBox="1">
            <a:spLocks noGrp="1"/>
          </p:cNvSpPr>
          <p:nvPr>
            <p:ph idx="1"/>
          </p:nvPr>
        </p:nvSpPr>
        <p:spPr>
          <a:xfrm>
            <a:off x="536575" y="914399"/>
            <a:ext cx="11032151" cy="5311087"/>
          </a:xfrm>
        </p:spPr>
        <p:txBody>
          <a:bodyPr/>
          <a:lstStyle/>
          <a:p>
            <a:pPr marL="0" indent="0">
              <a:spcBef>
                <a:spcPts val="363"/>
              </a:spcBef>
              <a:spcAft>
                <a:spcPct val="0"/>
              </a:spcAft>
              <a:buClr>
                <a:srgbClr val="000000"/>
              </a:buClr>
              <a:buFont typeface="Arial" panose="020B0604020202020204" pitchFamily="34" charset="0"/>
              <a:buNone/>
            </a:pPr>
            <a:r>
              <a:rPr lang="en-IN" altLang="en-US" sz="2000" b="1" dirty="0">
                <a:latin typeface="Arial" panose="020B0604020202020204" pitchFamily="34" charset="0"/>
                <a:cs typeface="Arial" panose="020B0604020202020204" pitchFamily="34" charset="0"/>
              </a:rPr>
              <a:t>4</a:t>
            </a:r>
            <a:r>
              <a:rPr lang="en-IN" altLang="en-US" sz="2000" b="1" dirty="0">
                <a:latin typeface="+mj-lt"/>
                <a:cs typeface="Arial" panose="020B0604020202020204" pitchFamily="34" charset="0"/>
              </a:rPr>
              <a:t>.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dirty="0">
                <a:latin typeface="+mj-lt"/>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dirty="0">
                <a:latin typeface="+mj-lt"/>
                <a:cs typeface="Arial" panose="020B0604020202020204" pitchFamily="34" charset="0"/>
              </a:rPr>
              <a:t> 6. Attempt any one part of the following:                        1 x 10 = 10    </a:t>
            </a:r>
            <a:endParaRPr lang="en-IN" altLang="en-US" sz="2000" b="1" i="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dirty="0">
              <a:latin typeface="+mj-lt"/>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dirty="0">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7B550096-5E6F-7F27-41C2-00375C699D9A}"/>
              </a:ext>
            </a:extLst>
          </p:cNvPr>
          <p:cNvGraphicFramePr>
            <a:graphicFrameLocks noGrp="1"/>
          </p:cNvGraphicFramePr>
          <p:nvPr>
            <p:extLst>
              <p:ext uri="{D42A27DB-BD31-4B8C-83A1-F6EECF244321}">
                <p14:modId xmlns:p14="http://schemas.microsoft.com/office/powerpoint/2010/main" val="3859796399"/>
              </p:ext>
            </p:extLst>
          </p:nvPr>
        </p:nvGraphicFramePr>
        <p:xfrm>
          <a:off x="769395" y="1409374"/>
          <a:ext cx="10886030" cy="1154764"/>
        </p:xfrm>
        <a:graphic>
          <a:graphicData uri="http://schemas.openxmlformats.org/drawingml/2006/table">
            <a:tbl>
              <a:tblPr firstRow="1" bandRow="1">
                <a:tableStyleId>{5C22544A-7EE6-4342-B048-85BDC9FD1C3A}</a:tableStyleId>
              </a:tblPr>
              <a:tblGrid>
                <a:gridCol w="1256079">
                  <a:extLst>
                    <a:ext uri="{9D8B030D-6E8A-4147-A177-3AD203B41FA5}">
                      <a16:colId xmlns:a16="http://schemas.microsoft.com/office/drawing/2014/main" val="20000"/>
                    </a:ext>
                  </a:extLst>
                </a:gridCol>
                <a:gridCol w="7327137">
                  <a:extLst>
                    <a:ext uri="{9D8B030D-6E8A-4147-A177-3AD203B41FA5}">
                      <a16:colId xmlns:a16="http://schemas.microsoft.com/office/drawing/2014/main" val="20001"/>
                    </a:ext>
                  </a:extLst>
                </a:gridCol>
                <a:gridCol w="1151407">
                  <a:extLst>
                    <a:ext uri="{9D8B030D-6E8A-4147-A177-3AD203B41FA5}">
                      <a16:colId xmlns:a16="http://schemas.microsoft.com/office/drawing/2014/main" val="20002"/>
                    </a:ext>
                  </a:extLst>
                </a:gridCol>
                <a:gridCol w="1151407">
                  <a:extLst>
                    <a:ext uri="{9D8B030D-6E8A-4147-A177-3AD203B41FA5}">
                      <a16:colId xmlns:a16="http://schemas.microsoft.com/office/drawing/2014/main" val="20003"/>
                    </a:ext>
                  </a:extLst>
                </a:gridCol>
              </a:tblGrid>
              <a:tr h="42339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23738">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3738">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9" name="Table 8">
            <a:extLst>
              <a:ext uri="{FF2B5EF4-FFF2-40B4-BE49-F238E27FC236}">
                <a16:creationId xmlns:a16="http://schemas.microsoft.com/office/drawing/2014/main" id="{7C360627-EB0F-275C-C1CF-950A1B42A8BF}"/>
              </a:ext>
            </a:extLst>
          </p:cNvPr>
          <p:cNvGraphicFramePr>
            <a:graphicFrameLocks noGrp="1"/>
          </p:cNvGraphicFramePr>
          <p:nvPr>
            <p:extLst>
              <p:ext uri="{D42A27DB-BD31-4B8C-83A1-F6EECF244321}">
                <p14:modId xmlns:p14="http://schemas.microsoft.com/office/powerpoint/2010/main" val="3952089215"/>
              </p:ext>
            </p:extLst>
          </p:nvPr>
        </p:nvGraphicFramePr>
        <p:xfrm>
          <a:off x="769395" y="2955253"/>
          <a:ext cx="10797927" cy="1097022"/>
        </p:xfrm>
        <a:graphic>
          <a:graphicData uri="http://schemas.openxmlformats.org/drawingml/2006/table">
            <a:tbl>
              <a:tblPr firstRow="1" bandRow="1">
                <a:tableStyleId>{5C22544A-7EE6-4342-B048-85BDC9FD1C3A}</a:tableStyleId>
              </a:tblPr>
              <a:tblGrid>
                <a:gridCol w="1245914">
                  <a:extLst>
                    <a:ext uri="{9D8B030D-6E8A-4147-A177-3AD203B41FA5}">
                      <a16:colId xmlns:a16="http://schemas.microsoft.com/office/drawing/2014/main" val="20000"/>
                    </a:ext>
                  </a:extLst>
                </a:gridCol>
                <a:gridCol w="7267837">
                  <a:extLst>
                    <a:ext uri="{9D8B030D-6E8A-4147-A177-3AD203B41FA5}">
                      <a16:colId xmlns:a16="http://schemas.microsoft.com/office/drawing/2014/main" val="20001"/>
                    </a:ext>
                  </a:extLst>
                </a:gridCol>
                <a:gridCol w="1142088">
                  <a:extLst>
                    <a:ext uri="{9D8B030D-6E8A-4147-A177-3AD203B41FA5}">
                      <a16:colId xmlns:a16="http://schemas.microsoft.com/office/drawing/2014/main" val="20002"/>
                    </a:ext>
                  </a:extLst>
                </a:gridCol>
                <a:gridCol w="1142088">
                  <a:extLst>
                    <a:ext uri="{9D8B030D-6E8A-4147-A177-3AD203B41FA5}">
                      <a16:colId xmlns:a16="http://schemas.microsoft.com/office/drawing/2014/main" val="20003"/>
                    </a:ext>
                  </a:extLst>
                </a:gridCol>
              </a:tblGrid>
              <a:tr h="223469">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23469">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23469">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0" name="Table 9">
            <a:extLst>
              <a:ext uri="{FF2B5EF4-FFF2-40B4-BE49-F238E27FC236}">
                <a16:creationId xmlns:a16="http://schemas.microsoft.com/office/drawing/2014/main" id="{E0DC24C9-EC2D-FAC7-89F1-21E5666561C1}"/>
              </a:ext>
            </a:extLst>
          </p:cNvPr>
          <p:cNvGraphicFramePr>
            <a:graphicFrameLocks noGrp="1"/>
          </p:cNvGraphicFramePr>
          <p:nvPr>
            <p:extLst>
              <p:ext uri="{D42A27DB-BD31-4B8C-83A1-F6EECF244321}">
                <p14:modId xmlns:p14="http://schemas.microsoft.com/office/powerpoint/2010/main" val="187331719"/>
              </p:ext>
            </p:extLst>
          </p:nvPr>
        </p:nvGraphicFramePr>
        <p:xfrm>
          <a:off x="803275" y="4603750"/>
          <a:ext cx="10797926" cy="1746672"/>
        </p:xfrm>
        <a:graphic>
          <a:graphicData uri="http://schemas.openxmlformats.org/drawingml/2006/table">
            <a:tbl>
              <a:tblPr firstRow="1" bandRow="1">
                <a:tableStyleId>{5C22544A-7EE6-4342-B048-85BDC9FD1C3A}</a:tableStyleId>
              </a:tblPr>
              <a:tblGrid>
                <a:gridCol w="1245914">
                  <a:extLst>
                    <a:ext uri="{9D8B030D-6E8A-4147-A177-3AD203B41FA5}">
                      <a16:colId xmlns:a16="http://schemas.microsoft.com/office/drawing/2014/main" val="20000"/>
                    </a:ext>
                  </a:extLst>
                </a:gridCol>
                <a:gridCol w="7267836">
                  <a:extLst>
                    <a:ext uri="{9D8B030D-6E8A-4147-A177-3AD203B41FA5}">
                      <a16:colId xmlns:a16="http://schemas.microsoft.com/office/drawing/2014/main" val="20001"/>
                    </a:ext>
                  </a:extLst>
                </a:gridCol>
                <a:gridCol w="1142088">
                  <a:extLst>
                    <a:ext uri="{9D8B030D-6E8A-4147-A177-3AD203B41FA5}">
                      <a16:colId xmlns:a16="http://schemas.microsoft.com/office/drawing/2014/main" val="20002"/>
                    </a:ext>
                  </a:extLst>
                </a:gridCol>
                <a:gridCol w="1142088">
                  <a:extLst>
                    <a:ext uri="{9D8B030D-6E8A-4147-A177-3AD203B41FA5}">
                      <a16:colId xmlns:a16="http://schemas.microsoft.com/office/drawing/2014/main" val="20003"/>
                    </a:ext>
                  </a:extLst>
                </a:gridCol>
              </a:tblGrid>
              <a:tr h="815154">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6575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6575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10711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1C8F6-54B6-FC63-5668-B0DC68C0D31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84D0499-FF3B-A894-0217-37BF80F6F267}"/>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2DB2DDE1-39FA-0692-BB04-5CE0EEC2D80A}"/>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4C884F9-2163-4A37-CBBF-A719C4F58C70}"/>
              </a:ext>
            </a:extLst>
          </p:cNvPr>
          <p:cNvSpPr>
            <a:spLocks noGrp="1"/>
          </p:cNvSpPr>
          <p:nvPr>
            <p:ph type="sldNum" sz="quarter" idx="12"/>
          </p:nvPr>
        </p:nvSpPr>
        <p:spPr/>
        <p:txBody>
          <a:bodyPr/>
          <a:lstStyle/>
          <a:p>
            <a:fld id="{B41E2F89-97C2-4B18-A593-8150592B5005}" type="slidenum">
              <a:rPr lang="en-US" smtClean="0"/>
              <a:t>17</a:t>
            </a:fld>
            <a:endParaRPr lang="en-US" dirty="0"/>
          </a:p>
        </p:txBody>
      </p:sp>
      <p:sp>
        <p:nvSpPr>
          <p:cNvPr id="7" name="Title 1">
            <a:extLst>
              <a:ext uri="{FF2B5EF4-FFF2-40B4-BE49-F238E27FC236}">
                <a16:creationId xmlns:a16="http://schemas.microsoft.com/office/drawing/2014/main" id="{BB1CCEC1-6157-BDEE-F171-4EED4CE55DC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err="1"/>
              <a:t>Prequisite</a:t>
            </a:r>
            <a:r>
              <a:rPr lang="en-US" sz="2400" dirty="0"/>
              <a:t>/ Recap </a:t>
            </a:r>
          </a:p>
        </p:txBody>
      </p:sp>
      <p:pic>
        <p:nvPicPr>
          <p:cNvPr id="8" name="Picture 7" descr="A black and red logo&#10;&#10;Description automatically generated">
            <a:extLst>
              <a:ext uri="{FF2B5EF4-FFF2-40B4-BE49-F238E27FC236}">
                <a16:creationId xmlns:a16="http://schemas.microsoft.com/office/drawing/2014/main" id="{F97C15EF-3B46-49DB-9599-B4E868D0F8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C989C7A7-8C98-5820-5FFE-CF0E856148DC}"/>
              </a:ext>
            </a:extLst>
          </p:cNvPr>
          <p:cNvSpPr txBox="1"/>
          <p:nvPr/>
        </p:nvSpPr>
        <p:spPr>
          <a:xfrm>
            <a:off x="892139" y="1462703"/>
            <a:ext cx="10820399" cy="3046988"/>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Understanding of basic data structures and algorithms.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 to design an algorithm.</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Understanding of asymptotic notations.</a:t>
            </a: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7440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4DB91-C154-5287-4992-12842A4E7DD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D032F12-6D8E-1570-A1EB-64093864E139}"/>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A9EF4F04-2334-FB64-8998-681294BB3039}"/>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CB6FFDF-7ED1-0729-5281-023DFA15CD58}"/>
              </a:ext>
            </a:extLst>
          </p:cNvPr>
          <p:cNvSpPr>
            <a:spLocks noGrp="1"/>
          </p:cNvSpPr>
          <p:nvPr>
            <p:ph type="sldNum" sz="quarter" idx="12"/>
          </p:nvPr>
        </p:nvSpPr>
        <p:spPr/>
        <p:txBody>
          <a:bodyPr/>
          <a:lstStyle/>
          <a:p>
            <a:fld id="{B41E2F89-97C2-4B18-A593-8150592B5005}" type="slidenum">
              <a:rPr lang="en-US" smtClean="0"/>
              <a:t>18</a:t>
            </a:fld>
            <a:endParaRPr lang="en-US" dirty="0"/>
          </a:p>
        </p:txBody>
      </p:sp>
      <p:sp>
        <p:nvSpPr>
          <p:cNvPr id="7" name="Title 1">
            <a:extLst>
              <a:ext uri="{FF2B5EF4-FFF2-40B4-BE49-F238E27FC236}">
                <a16:creationId xmlns:a16="http://schemas.microsoft.com/office/drawing/2014/main" id="{DC13C3DE-D7A7-9327-03DA-A2F5C41A950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Brief Introduction about the Subject with videos</a:t>
            </a:r>
          </a:p>
        </p:txBody>
      </p:sp>
      <p:pic>
        <p:nvPicPr>
          <p:cNvPr id="8" name="Picture 7" descr="A black and red logo&#10;&#10;Description automatically generated">
            <a:extLst>
              <a:ext uri="{FF2B5EF4-FFF2-40B4-BE49-F238E27FC236}">
                <a16:creationId xmlns:a16="http://schemas.microsoft.com/office/drawing/2014/main" id="{05C0090E-7EC7-AC62-4869-5001A0C71C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FA906E61-B20F-EBBC-5603-A9627593C38F}"/>
              </a:ext>
            </a:extLst>
          </p:cNvPr>
          <p:cNvSpPr txBox="1"/>
          <p:nvPr/>
        </p:nvSpPr>
        <p:spPr>
          <a:xfrm>
            <a:off x="892139" y="1462703"/>
            <a:ext cx="10820399" cy="3785652"/>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t>Dynamic Programming is an algorithm design technique that can be used for solving the problem that can be solvable by making sequence of decision.</a:t>
            </a:r>
          </a:p>
          <a:p>
            <a:pPr marL="342900" indent="-342900">
              <a:buFont typeface="Arial" panose="020B0604020202020204" pitchFamily="34" charset="0"/>
              <a:buChar char="•"/>
            </a:pPr>
            <a:r>
              <a:rPr lang="en-US" sz="2400" dirty="0"/>
              <a:t>Used to find optimal solution.</a:t>
            </a:r>
          </a:p>
          <a:p>
            <a:pPr marL="285750" indent="-285750" algn="just">
              <a:buFont typeface="Arial" panose="020B0604020202020204" pitchFamily="34" charset="0"/>
              <a:buChar char="•"/>
            </a:pPr>
            <a:r>
              <a:rPr lang="en-US" sz="2400" dirty="0">
                <a:hlinkClick r:id="rId3"/>
              </a:rPr>
              <a:t>Lec-17 Other Issues - Introduction to Dynamic Programming</a:t>
            </a:r>
            <a:endParaRPr lang="en-US" sz="2400" dirty="0"/>
          </a:p>
          <a:p>
            <a:pPr marL="285750" indent="-285750" algn="just">
              <a:buFont typeface="Arial" panose="020B0604020202020204" pitchFamily="34" charset="0"/>
              <a:buChar char="•"/>
            </a:pPr>
            <a:r>
              <a:rPr lang="en-US" sz="2400" dirty="0">
                <a:hlinkClick r:id="rId4"/>
              </a:rPr>
              <a:t>Lecture -18 Dynamic Programming</a:t>
            </a: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8652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54836-2DC6-D814-ED8B-D11C7FB1E5B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5F92EB0F-5647-AE59-A693-DA6FF5C8BCD0}"/>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A2CA1F7C-EEA9-BA77-EB69-BB46FD4ACF2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3996D286-6A82-E866-8520-DBFF9F9FD312}"/>
              </a:ext>
            </a:extLst>
          </p:cNvPr>
          <p:cNvSpPr>
            <a:spLocks noGrp="1"/>
          </p:cNvSpPr>
          <p:nvPr>
            <p:ph type="sldNum" sz="quarter" idx="12"/>
          </p:nvPr>
        </p:nvSpPr>
        <p:spPr/>
        <p:txBody>
          <a:bodyPr/>
          <a:lstStyle/>
          <a:p>
            <a:fld id="{B41E2F89-97C2-4B18-A593-8150592B5005}" type="slidenum">
              <a:rPr lang="en-US" smtClean="0"/>
              <a:t>19</a:t>
            </a:fld>
            <a:endParaRPr lang="en-US" dirty="0"/>
          </a:p>
        </p:txBody>
      </p:sp>
      <p:sp>
        <p:nvSpPr>
          <p:cNvPr id="7" name="Title 1">
            <a:extLst>
              <a:ext uri="{FF2B5EF4-FFF2-40B4-BE49-F238E27FC236}">
                <a16:creationId xmlns:a16="http://schemas.microsoft.com/office/drawing/2014/main" id="{F7020817-B42B-7FD6-608F-02B67567A33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Unit Content</a:t>
            </a:r>
          </a:p>
        </p:txBody>
      </p:sp>
      <p:pic>
        <p:nvPicPr>
          <p:cNvPr id="8" name="Picture 7" descr="A black and red logo&#10;&#10;Description automatically generated">
            <a:extLst>
              <a:ext uri="{FF2B5EF4-FFF2-40B4-BE49-F238E27FC236}">
                <a16:creationId xmlns:a16="http://schemas.microsoft.com/office/drawing/2014/main" id="{0A03F8E8-FA61-D77F-A2F8-34A565E758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B074E8FC-5DFD-5DE5-3D83-6F983ACE709A}"/>
              </a:ext>
            </a:extLst>
          </p:cNvPr>
          <p:cNvSpPr txBox="1"/>
          <p:nvPr/>
        </p:nvSpPr>
        <p:spPr>
          <a:xfrm>
            <a:off x="912686" y="1533324"/>
            <a:ext cx="10820399" cy="4154984"/>
          </a:xfrm>
          <a:prstGeom prst="rect">
            <a:avLst/>
          </a:prstGeom>
          <a:noFill/>
        </p:spPr>
        <p:txBody>
          <a:bodyPr wrap="square" rtlCol="0">
            <a:spAutoFit/>
          </a:bodyPr>
          <a:lstStyle/>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t>Dynamic programming introduction</a:t>
            </a:r>
          </a:p>
          <a:p>
            <a:pPr marL="342900" indent="-342900">
              <a:buFont typeface="Arial" panose="020B0604020202020204" pitchFamily="34" charset="0"/>
              <a:buChar char="•"/>
            </a:pPr>
            <a:r>
              <a:rPr lang="en-US" sz="2400" dirty="0"/>
              <a:t>Key concepts</a:t>
            </a:r>
          </a:p>
          <a:p>
            <a:pPr marL="342900" indent="-342900">
              <a:buFont typeface="Arial" panose="020B0604020202020204" pitchFamily="34" charset="0"/>
              <a:buChar char="•"/>
            </a:pPr>
            <a:r>
              <a:rPr lang="en-US" sz="2400" dirty="0"/>
              <a:t>Advantages of DP</a:t>
            </a:r>
          </a:p>
          <a:p>
            <a:pPr marL="342900" indent="-342900">
              <a:buFont typeface="Arial" panose="020B0604020202020204" pitchFamily="34" charset="0"/>
              <a:buChar char="•"/>
            </a:pPr>
            <a:r>
              <a:rPr lang="en-US" sz="2400" dirty="0"/>
              <a:t>Disadvantages of DP</a:t>
            </a:r>
          </a:p>
          <a:p>
            <a:pPr marL="342900" indent="-342900">
              <a:buFont typeface="Arial" panose="020B0604020202020204" pitchFamily="34" charset="0"/>
              <a:buChar char="•"/>
            </a:pPr>
            <a:r>
              <a:rPr lang="en-US" sz="2400" dirty="0"/>
              <a:t>Applications of DP</a:t>
            </a:r>
          </a:p>
          <a:p>
            <a:pPr marL="342900" indent="-342900">
              <a:buFont typeface="Arial" panose="020B0604020202020204" pitchFamily="34" charset="0"/>
              <a:buChar char="•"/>
            </a:pPr>
            <a:r>
              <a:rPr lang="en-US" sz="2400" dirty="0"/>
              <a:t>0/1 knapsack problem</a:t>
            </a:r>
          </a:p>
          <a:p>
            <a:pPr marL="342900" indent="-342900">
              <a:buFont typeface="Arial" panose="020B0604020202020204" pitchFamily="34" charset="0"/>
              <a:buChar char="•"/>
            </a:pPr>
            <a:r>
              <a:rPr lang="en-US" sz="2400" dirty="0"/>
              <a:t>Longest common subsequence </a:t>
            </a:r>
          </a:p>
          <a:p>
            <a:pPr marL="342900" indent="-342900">
              <a:buFont typeface="Arial" panose="020B0604020202020204" pitchFamily="34" charset="0"/>
              <a:buChar char="•"/>
            </a:pPr>
            <a:r>
              <a:rPr lang="en-US" sz="2400" dirty="0"/>
              <a:t>Matrix chain multiplication</a:t>
            </a:r>
          </a:p>
          <a:p>
            <a:pPr marL="342900" indent="-342900">
              <a:buFont typeface="Arial" panose="020B0604020202020204" pitchFamily="34" charset="0"/>
              <a:buChar char="•"/>
            </a:pPr>
            <a:r>
              <a:rPr lang="en-US" sz="2400" dirty="0"/>
              <a:t>Resource allocation problem</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27005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C4531-5F83-9C76-F17B-CF1C72CB901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06AEE8F-BAE7-823C-DA95-504C54CC6509}"/>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D063BABF-9185-8BF5-E29B-B689884A7399}"/>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A4DAC31-583E-95FD-CD44-25033DB6A023}"/>
              </a:ext>
            </a:extLst>
          </p:cNvPr>
          <p:cNvSpPr>
            <a:spLocks noGrp="1"/>
          </p:cNvSpPr>
          <p:nvPr>
            <p:ph type="sldNum" sz="quarter" idx="12"/>
          </p:nvPr>
        </p:nvSpPr>
        <p:spPr/>
        <p:txBody>
          <a:bodyPr/>
          <a:lstStyle/>
          <a:p>
            <a:fld id="{B41E2F89-97C2-4B18-A593-8150592B5005}" type="slidenum">
              <a:rPr lang="en-US" smtClean="0"/>
              <a:t>20</a:t>
            </a:fld>
            <a:endParaRPr lang="en-US" dirty="0"/>
          </a:p>
        </p:txBody>
      </p:sp>
      <p:sp>
        <p:nvSpPr>
          <p:cNvPr id="7" name="Title 1">
            <a:extLst>
              <a:ext uri="{FF2B5EF4-FFF2-40B4-BE49-F238E27FC236}">
                <a16:creationId xmlns:a16="http://schemas.microsoft.com/office/drawing/2014/main" id="{9934A34A-A7F5-1856-1ADA-7D4F1D05EDA0}"/>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Unit Objective</a:t>
            </a:r>
          </a:p>
        </p:txBody>
      </p:sp>
      <p:pic>
        <p:nvPicPr>
          <p:cNvPr id="8" name="Picture 7" descr="A black and red logo&#10;&#10;Description automatically generated">
            <a:extLst>
              <a:ext uri="{FF2B5EF4-FFF2-40B4-BE49-F238E27FC236}">
                <a16:creationId xmlns:a16="http://schemas.microsoft.com/office/drawing/2014/main" id="{C5A4CECD-FD4D-68F0-D5B1-7186928F75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357C968D-D6C0-3625-27E9-C84837A83614}"/>
              </a:ext>
            </a:extLst>
          </p:cNvPr>
          <p:cNvSpPr txBox="1"/>
          <p:nvPr/>
        </p:nvSpPr>
        <p:spPr>
          <a:xfrm>
            <a:off x="892139" y="1462703"/>
            <a:ext cx="10820399" cy="2677656"/>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Understanding the concept of Dynamic programming.</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How it can be used to get an optimal solution.</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7219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52537-D665-4CEF-DB01-3E2B69281A1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19C5C75-C71F-C93E-F971-94F35720CD5C}"/>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A8B531ED-18E2-95D0-3C59-65A441CC812C}"/>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6CEB37C-71CD-5359-AC93-539AA1BB154E}"/>
              </a:ext>
            </a:extLst>
          </p:cNvPr>
          <p:cNvSpPr>
            <a:spLocks noGrp="1"/>
          </p:cNvSpPr>
          <p:nvPr>
            <p:ph type="sldNum" sz="quarter" idx="12"/>
          </p:nvPr>
        </p:nvSpPr>
        <p:spPr/>
        <p:txBody>
          <a:bodyPr/>
          <a:lstStyle/>
          <a:p>
            <a:fld id="{B41E2F89-97C2-4B18-A593-8150592B5005}" type="slidenum">
              <a:rPr lang="en-US" smtClean="0"/>
              <a:t>21</a:t>
            </a:fld>
            <a:endParaRPr lang="en-US" dirty="0"/>
          </a:p>
        </p:txBody>
      </p:sp>
      <p:sp>
        <p:nvSpPr>
          <p:cNvPr id="7" name="Title 1">
            <a:extLst>
              <a:ext uri="{FF2B5EF4-FFF2-40B4-BE49-F238E27FC236}">
                <a16:creationId xmlns:a16="http://schemas.microsoft.com/office/drawing/2014/main" id="{6E7D0935-2B7A-B932-256D-3C5D5E80BFB7}"/>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 Introduction to Dynamic Programming</a:t>
            </a:r>
          </a:p>
        </p:txBody>
      </p:sp>
      <p:pic>
        <p:nvPicPr>
          <p:cNvPr id="8" name="Picture 7" descr="A black and red logo&#10;&#10;Description automatically generated">
            <a:extLst>
              <a:ext uri="{FF2B5EF4-FFF2-40B4-BE49-F238E27FC236}">
                <a16:creationId xmlns:a16="http://schemas.microsoft.com/office/drawing/2014/main" id="{3D4D7D35-75AC-9F82-22CB-B6356B9F98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E0B601F1-2A36-A491-FAD9-06B7EF75E382}"/>
              </a:ext>
            </a:extLst>
          </p:cNvPr>
          <p:cNvSpPr txBox="1"/>
          <p:nvPr/>
        </p:nvSpPr>
        <p:spPr>
          <a:xfrm>
            <a:off x="892139" y="1462703"/>
            <a:ext cx="10820399" cy="4154984"/>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Technique by Richard Bellman, 1950s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Breaks problem → overlapping subproblems</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Stores results to avoid </a:t>
            </a:r>
            <a:r>
              <a:rPr lang="en-US" sz="2400" dirty="0" err="1">
                <a:latin typeface="Times New Roman" panose="02020603050405020304" pitchFamily="18" charset="0"/>
                <a:cs typeface="Times New Roman" panose="02020603050405020304" pitchFamily="18" charset="0"/>
              </a:rPr>
              <a:t>recomputation</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Two properties needed:  </a:t>
            </a:r>
          </a:p>
          <a:p>
            <a:pPr marL="800100" lvl="1"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Optimal Substructure  </a:t>
            </a:r>
          </a:p>
          <a:p>
            <a:pPr marL="800100" lvl="1"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Overlapping Subproblems  </a:t>
            </a:r>
          </a:p>
          <a:p>
            <a:pPr marL="742950" lvl="1"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Approach:* Top-Down = </a:t>
            </a:r>
            <a:r>
              <a:rPr lang="en-US" sz="2400" dirty="0" err="1">
                <a:latin typeface="Times New Roman" panose="02020603050405020304" pitchFamily="18" charset="0"/>
                <a:cs typeface="Times New Roman" panose="02020603050405020304" pitchFamily="18" charset="0"/>
              </a:rPr>
              <a:t>Memoization</a:t>
            </a:r>
            <a:r>
              <a:rPr lang="en-US" sz="2400" dirty="0">
                <a:latin typeface="Times New Roman" panose="02020603050405020304" pitchFamily="18" charset="0"/>
                <a:cs typeface="Times New Roman" panose="02020603050405020304" pitchFamily="18" charset="0"/>
              </a:rPr>
              <a:t>, Bottom-Up = Tabulation</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29154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5B6E2-BFB7-F46B-4C39-CFF8C2D6D60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45C74AF-0DA0-CAC8-BFDE-C4539FAE5029}"/>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BEE54660-C8DC-F2A6-EDB2-906E0ACB77D8}"/>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826B4130-3C1A-BFD9-22CA-BE0D18F33B76}"/>
              </a:ext>
            </a:extLst>
          </p:cNvPr>
          <p:cNvSpPr>
            <a:spLocks noGrp="1"/>
          </p:cNvSpPr>
          <p:nvPr>
            <p:ph type="sldNum" sz="quarter" idx="12"/>
          </p:nvPr>
        </p:nvSpPr>
        <p:spPr/>
        <p:txBody>
          <a:bodyPr/>
          <a:lstStyle/>
          <a:p>
            <a:fld id="{B41E2F89-97C2-4B18-A593-8150592B5005}" type="slidenum">
              <a:rPr lang="en-US" smtClean="0"/>
              <a:t>22</a:t>
            </a:fld>
            <a:endParaRPr lang="en-US" dirty="0"/>
          </a:p>
        </p:txBody>
      </p:sp>
      <p:sp>
        <p:nvSpPr>
          <p:cNvPr id="7" name="Title 1">
            <a:extLst>
              <a:ext uri="{FF2B5EF4-FFF2-40B4-BE49-F238E27FC236}">
                <a16:creationId xmlns:a16="http://schemas.microsoft.com/office/drawing/2014/main" id="{25CE5835-0DA3-8AC2-D111-5DCEAD0D32B3}"/>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Key Concepts of DP</a:t>
            </a:r>
          </a:p>
        </p:txBody>
      </p:sp>
      <p:pic>
        <p:nvPicPr>
          <p:cNvPr id="8" name="Picture 7" descr="A black and red logo&#10;&#10;Description automatically generated">
            <a:extLst>
              <a:ext uri="{FF2B5EF4-FFF2-40B4-BE49-F238E27FC236}">
                <a16:creationId xmlns:a16="http://schemas.microsoft.com/office/drawing/2014/main" id="{DE0FF6F2-4CC8-2794-AABA-22BF877BF4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54CC8C77-0EBC-2270-7319-068BA8BAFE40}"/>
              </a:ext>
            </a:extLst>
          </p:cNvPr>
          <p:cNvSpPr txBox="1"/>
          <p:nvPr/>
        </p:nvSpPr>
        <p:spPr>
          <a:xfrm>
            <a:off x="892139" y="1462703"/>
            <a:ext cx="10820399" cy="3046988"/>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State:</a:t>
            </a:r>
            <a:r>
              <a:rPr lang="en-US" sz="2400" dirty="0">
                <a:latin typeface="Times New Roman" panose="02020603050405020304" pitchFamily="18" charset="0"/>
                <a:cs typeface="Times New Roman" panose="02020603050405020304" pitchFamily="18" charset="0"/>
              </a:rPr>
              <a:t> Parameters defining subproblem </a:t>
            </a:r>
            <a:r>
              <a:rPr lang="en-US" sz="2400" dirty="0" err="1">
                <a:latin typeface="Times New Roman" panose="02020603050405020304" pitchFamily="18" charset="0"/>
                <a:cs typeface="Times New Roman" panose="02020603050405020304" pitchFamily="18" charset="0"/>
              </a:rPr>
              <a:t>dp</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i</a:t>
            </a:r>
            <a:r>
              <a:rPr lang="en-US" sz="2400" dirty="0">
                <a:latin typeface="Times New Roman" panose="02020603050405020304" pitchFamily="18" charset="0"/>
                <a:cs typeface="Times New Roman" panose="02020603050405020304" pitchFamily="18" charset="0"/>
              </a:rPr>
              <a:t>][w]  </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Transition/Recurrence: </a:t>
            </a:r>
            <a:r>
              <a:rPr lang="en-US" sz="2400" dirty="0">
                <a:latin typeface="Times New Roman" panose="02020603050405020304" pitchFamily="18" charset="0"/>
                <a:cs typeface="Times New Roman" panose="02020603050405020304" pitchFamily="18" charset="0"/>
              </a:rPr>
              <a:t>Relation between states  </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Base Case: </a:t>
            </a:r>
            <a:r>
              <a:rPr lang="en-US" sz="2400" dirty="0">
                <a:latin typeface="Times New Roman" panose="02020603050405020304" pitchFamily="18" charset="0"/>
                <a:cs typeface="Times New Roman" panose="02020603050405020304" pitchFamily="18" charset="0"/>
              </a:rPr>
              <a:t>Smallest subproblem  </a:t>
            </a:r>
          </a:p>
          <a:p>
            <a:pPr marL="342900" indent="-342900">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Memoization</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Cache recursive results  </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Tabulation: </a:t>
            </a:r>
            <a:r>
              <a:rPr lang="en-US" sz="2400" dirty="0">
                <a:latin typeface="Times New Roman" panose="02020603050405020304" pitchFamily="18" charset="0"/>
                <a:cs typeface="Times New Roman" panose="02020603050405020304" pitchFamily="18" charset="0"/>
              </a:rPr>
              <a:t>Fill table iteratively</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8699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5F0CF-034B-5CA5-6A76-4A4FF23C7B7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C6984F5-2423-0222-747F-B9320E3CB8C5}"/>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EAA2FF35-A61D-CA1E-5E24-5B91AA78B636}"/>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6C01E9B9-AB6A-59F3-7AAB-8AC4B2C89AB8}"/>
              </a:ext>
            </a:extLst>
          </p:cNvPr>
          <p:cNvSpPr>
            <a:spLocks noGrp="1"/>
          </p:cNvSpPr>
          <p:nvPr>
            <p:ph type="sldNum" sz="quarter" idx="12"/>
          </p:nvPr>
        </p:nvSpPr>
        <p:spPr/>
        <p:txBody>
          <a:bodyPr/>
          <a:lstStyle/>
          <a:p>
            <a:fld id="{B41E2F89-97C2-4B18-A593-8150592B5005}" type="slidenum">
              <a:rPr lang="en-US" smtClean="0"/>
              <a:t>23</a:t>
            </a:fld>
            <a:endParaRPr lang="en-US" dirty="0"/>
          </a:p>
        </p:txBody>
      </p:sp>
      <p:sp>
        <p:nvSpPr>
          <p:cNvPr id="7" name="Title 1">
            <a:extLst>
              <a:ext uri="{FF2B5EF4-FFF2-40B4-BE49-F238E27FC236}">
                <a16:creationId xmlns:a16="http://schemas.microsoft.com/office/drawing/2014/main" id="{4BA107DC-997B-632A-3DE8-9A4E28ED0704}"/>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 Advantages of DP</a:t>
            </a:r>
          </a:p>
        </p:txBody>
      </p:sp>
      <p:pic>
        <p:nvPicPr>
          <p:cNvPr id="8" name="Picture 7" descr="A black and red logo&#10;&#10;Description automatically generated">
            <a:extLst>
              <a:ext uri="{FF2B5EF4-FFF2-40B4-BE49-F238E27FC236}">
                <a16:creationId xmlns:a16="http://schemas.microsoft.com/office/drawing/2014/main" id="{58A9B588-DB03-D995-7480-E2B377AC4E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6F1F7A75-DA89-509C-F26E-D790D71B4028}"/>
              </a:ext>
            </a:extLst>
          </p:cNvPr>
          <p:cNvSpPr txBox="1"/>
          <p:nvPr/>
        </p:nvSpPr>
        <p:spPr>
          <a:xfrm>
            <a:off x="892139" y="1462703"/>
            <a:ext cx="10820399" cy="230832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Time Efficient: Exponential → Polynomial. Ex: Fib O(2ⁿ) → O(n)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Guarantees Optimality for problems with optimal substructure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Solves Complex Problems unsolvable by greedy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Reusable </a:t>
            </a:r>
            <a:r>
              <a:rPr lang="en-US" sz="2400" dirty="0" err="1">
                <a:latin typeface="Times New Roman" panose="02020603050405020304" pitchFamily="18" charset="0"/>
                <a:cs typeface="Times New Roman" panose="02020603050405020304" pitchFamily="18" charset="0"/>
              </a:rPr>
              <a:t>Subsolutions</a:t>
            </a: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049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3BCF6-8BE8-8289-B071-63C26AD0CF0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DE77225-21F5-03D6-5474-7BB9DB2A5143}"/>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ACC8567A-C0A9-A2CF-B3FF-1FFF054C6915}"/>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3865B74-6234-0ABB-A6F5-EDB8476A8AF3}"/>
              </a:ext>
            </a:extLst>
          </p:cNvPr>
          <p:cNvSpPr>
            <a:spLocks noGrp="1"/>
          </p:cNvSpPr>
          <p:nvPr>
            <p:ph type="sldNum" sz="quarter" idx="12"/>
          </p:nvPr>
        </p:nvSpPr>
        <p:spPr/>
        <p:txBody>
          <a:bodyPr/>
          <a:lstStyle/>
          <a:p>
            <a:fld id="{B41E2F89-97C2-4B18-A593-8150592B5005}" type="slidenum">
              <a:rPr lang="en-US" smtClean="0"/>
              <a:t>24</a:t>
            </a:fld>
            <a:endParaRPr lang="en-US" dirty="0"/>
          </a:p>
        </p:txBody>
      </p:sp>
      <p:sp>
        <p:nvSpPr>
          <p:cNvPr id="7" name="Title 1">
            <a:extLst>
              <a:ext uri="{FF2B5EF4-FFF2-40B4-BE49-F238E27FC236}">
                <a16:creationId xmlns:a16="http://schemas.microsoft.com/office/drawing/2014/main" id="{8F26DB2D-FC8E-4A2A-DEA2-1C57D37488E0}"/>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Disadvantages of DP</a:t>
            </a:r>
          </a:p>
        </p:txBody>
      </p:sp>
      <p:pic>
        <p:nvPicPr>
          <p:cNvPr id="8" name="Picture 7" descr="A black and red logo&#10;&#10;Description automatically generated">
            <a:extLst>
              <a:ext uri="{FF2B5EF4-FFF2-40B4-BE49-F238E27FC236}">
                <a16:creationId xmlns:a16="http://schemas.microsoft.com/office/drawing/2014/main" id="{7CBF752D-70EA-D6A6-9AA5-9D76B56581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C75566EF-99F3-3472-3D2C-28B1C1774D36}"/>
              </a:ext>
            </a:extLst>
          </p:cNvPr>
          <p:cNvSpPr txBox="1"/>
          <p:nvPr/>
        </p:nvSpPr>
        <p:spPr>
          <a:xfrm>
            <a:off x="892139" y="1462703"/>
            <a:ext cx="10820399" cy="1938992"/>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High Space Complexity</a:t>
            </a:r>
            <a:r>
              <a:rPr lang="en-US" sz="2400" dirty="0">
                <a:latin typeface="Times New Roman" panose="02020603050405020304" pitchFamily="18" charset="0"/>
                <a:cs typeface="Times New Roman" panose="02020603050405020304" pitchFamily="18" charset="0"/>
              </a:rPr>
              <a:t>: O(n²) tables common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Hard to Formulate</a:t>
            </a:r>
            <a:r>
              <a:rPr lang="en-US" sz="2400" dirty="0">
                <a:latin typeface="Times New Roman" panose="02020603050405020304" pitchFamily="18" charset="0"/>
                <a:cs typeface="Times New Roman" panose="02020603050405020304" pitchFamily="18" charset="0"/>
              </a:rPr>
              <a:t>: Defining state/recurrence is tricky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Overkill for Simple Problems</a:t>
            </a:r>
            <a:r>
              <a:rPr lang="en-US" sz="2400" dirty="0">
                <a:latin typeface="Times New Roman" panose="02020603050405020304" pitchFamily="18" charset="0"/>
                <a:cs typeface="Times New Roman" panose="02020603050405020304" pitchFamily="18" charset="0"/>
              </a:rPr>
              <a:t>: Greedy may be better  </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Not Always Intuitive</a:t>
            </a:r>
            <a:r>
              <a:rPr lang="en-US" sz="2400" dirty="0">
                <a:latin typeface="Times New Roman" panose="02020603050405020304" pitchFamily="18" charset="0"/>
                <a:cs typeface="Times New Roman" panose="02020603050405020304" pitchFamily="18" charset="0"/>
              </a:rPr>
              <a:t>: Debugging tables is hard</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40967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4178D-42D6-FA0A-8A3B-364D6155151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B806205-95D2-A4E7-2545-E7BC785B3E4B}"/>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5A88D532-F207-8A9A-D75D-28D0E80E35D7}"/>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45D2B22C-4D7E-36D4-2ACB-91342DF01E82}"/>
              </a:ext>
            </a:extLst>
          </p:cNvPr>
          <p:cNvSpPr>
            <a:spLocks noGrp="1"/>
          </p:cNvSpPr>
          <p:nvPr>
            <p:ph type="sldNum" sz="quarter" idx="12"/>
          </p:nvPr>
        </p:nvSpPr>
        <p:spPr/>
        <p:txBody>
          <a:bodyPr/>
          <a:lstStyle/>
          <a:p>
            <a:fld id="{B41E2F89-97C2-4B18-A593-8150592B5005}" type="slidenum">
              <a:rPr lang="en-US" smtClean="0"/>
              <a:t>25</a:t>
            </a:fld>
            <a:endParaRPr lang="en-US" dirty="0"/>
          </a:p>
        </p:txBody>
      </p:sp>
      <p:sp>
        <p:nvSpPr>
          <p:cNvPr id="7" name="Title 1">
            <a:extLst>
              <a:ext uri="{FF2B5EF4-FFF2-40B4-BE49-F238E27FC236}">
                <a16:creationId xmlns:a16="http://schemas.microsoft.com/office/drawing/2014/main" id="{F1C43E9B-0C84-E6F5-9119-517558139D4A}"/>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Applications of DP</a:t>
            </a:r>
          </a:p>
        </p:txBody>
      </p:sp>
      <p:pic>
        <p:nvPicPr>
          <p:cNvPr id="8" name="Picture 7" descr="A black and red logo&#10;&#10;Description automatically generated">
            <a:extLst>
              <a:ext uri="{FF2B5EF4-FFF2-40B4-BE49-F238E27FC236}">
                <a16:creationId xmlns:a16="http://schemas.microsoft.com/office/drawing/2014/main" id="{2EE4526D-8E0B-C8AD-B02E-86CE73AF2C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89E20B74-AC57-AFDF-4437-057A2743BD2B}"/>
              </a:ext>
            </a:extLst>
          </p:cNvPr>
          <p:cNvSpPr txBox="1"/>
          <p:nvPr/>
        </p:nvSpPr>
        <p:spPr>
          <a:xfrm>
            <a:off x="892139" y="1472977"/>
            <a:ext cx="10820399" cy="3785652"/>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Optimization: Knapsack, MCM, Resource Allocation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Strings: LCS, Edit Distance, Palindromes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Graphs: Floyd-</a:t>
            </a:r>
            <a:r>
              <a:rPr lang="en-US" sz="2400" dirty="0" err="1">
                <a:latin typeface="Times New Roman" panose="02020603050405020304" pitchFamily="18" charset="0"/>
                <a:cs typeface="Times New Roman" panose="02020603050405020304" pitchFamily="18" charset="0"/>
              </a:rPr>
              <a:t>Warshall</a:t>
            </a:r>
            <a:r>
              <a:rPr lang="en-US" sz="2400" dirty="0">
                <a:latin typeface="Times New Roman" panose="02020603050405020304" pitchFamily="18" charset="0"/>
                <a:cs typeface="Times New Roman" panose="02020603050405020304" pitchFamily="18" charset="0"/>
              </a:rPr>
              <a:t>, Bellman-Ford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Bioinformatics: Sequence Alignment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Economics: Investment, Production Planning</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25342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2F602-26B7-30F8-FDF6-DF958C2FA54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86C47A8-DA04-D344-E3DF-C20F4DD7E6C0}"/>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9752B368-A1D3-EA05-2A44-808C4DD910E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D9F2B10-D7AE-40CA-6688-4C179204172A}"/>
              </a:ext>
            </a:extLst>
          </p:cNvPr>
          <p:cNvSpPr>
            <a:spLocks noGrp="1"/>
          </p:cNvSpPr>
          <p:nvPr>
            <p:ph type="sldNum" sz="quarter" idx="12"/>
          </p:nvPr>
        </p:nvSpPr>
        <p:spPr/>
        <p:txBody>
          <a:bodyPr/>
          <a:lstStyle/>
          <a:p>
            <a:fld id="{B41E2F89-97C2-4B18-A593-8150592B5005}" type="slidenum">
              <a:rPr lang="en-US" smtClean="0"/>
              <a:t>26</a:t>
            </a:fld>
            <a:endParaRPr lang="en-US" dirty="0"/>
          </a:p>
        </p:txBody>
      </p:sp>
      <p:sp>
        <p:nvSpPr>
          <p:cNvPr id="7" name="Title 1">
            <a:extLst>
              <a:ext uri="{FF2B5EF4-FFF2-40B4-BE49-F238E27FC236}">
                <a16:creationId xmlns:a16="http://schemas.microsoft.com/office/drawing/2014/main" id="{141FF2CD-D3A5-CC88-6E0A-A57EDF5C65B1}"/>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D816A5E6-53B6-0B88-BFBF-8AE18D1D16C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FB976B22-25A6-6E92-6D03-104A5D37CD2E}"/>
              </a:ext>
            </a:extLst>
          </p:cNvPr>
          <p:cNvSpPr txBox="1"/>
          <p:nvPr/>
        </p:nvSpPr>
        <p:spPr>
          <a:xfrm>
            <a:off x="892139" y="1462703"/>
            <a:ext cx="10820399" cy="3416320"/>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t>Consider a thief gets into a home to rob and he carries a knapsack. There are fixed number of items in the home — each with its own weight and value — </a:t>
            </a:r>
            <a:r>
              <a:rPr lang="en-IN" sz="2400" dirty="0" err="1"/>
              <a:t>Jewelry</a:t>
            </a:r>
            <a:r>
              <a:rPr lang="en-IN" sz="2400" dirty="0"/>
              <a:t>, with less weight and highest value vs tables, with less value but a lot heavy. </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To add fuel to the fire, the thief has an old knapsack which has limited capacity. </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Obviously, he can’t split the table into half or </a:t>
            </a:r>
            <a:r>
              <a:rPr lang="en-IN" sz="2400" dirty="0" err="1"/>
              <a:t>jewelry</a:t>
            </a:r>
            <a:r>
              <a:rPr lang="en-IN" sz="2400" dirty="0"/>
              <a:t> into 3/4ths. He either takes it or leaves it.</a:t>
            </a: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8047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B0581-9263-22DC-360E-F2AEE3A5995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A6F1AA5-DF83-8080-04AF-72640284D1DE}"/>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9B55476F-C309-C74C-6018-587E40F8A76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3011C1F8-7482-03D8-B358-29BA422B5327}"/>
              </a:ext>
            </a:extLst>
          </p:cNvPr>
          <p:cNvSpPr>
            <a:spLocks noGrp="1"/>
          </p:cNvSpPr>
          <p:nvPr>
            <p:ph type="sldNum" sz="quarter" idx="12"/>
          </p:nvPr>
        </p:nvSpPr>
        <p:spPr/>
        <p:txBody>
          <a:bodyPr/>
          <a:lstStyle/>
          <a:p>
            <a:fld id="{B41E2F89-97C2-4B18-A593-8150592B5005}" type="slidenum">
              <a:rPr lang="en-US" smtClean="0"/>
              <a:t>27</a:t>
            </a:fld>
            <a:endParaRPr lang="en-US" dirty="0"/>
          </a:p>
        </p:txBody>
      </p:sp>
      <p:sp>
        <p:nvSpPr>
          <p:cNvPr id="7" name="Title 1">
            <a:extLst>
              <a:ext uri="{FF2B5EF4-FFF2-40B4-BE49-F238E27FC236}">
                <a16:creationId xmlns:a16="http://schemas.microsoft.com/office/drawing/2014/main" id="{30F69805-1362-B4A0-5FDF-ACFDDB9A0CE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1769C5C0-81FE-B613-786C-12B82F0D64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E6E7E329-F54C-5486-EF9A-D4D435C6A27B}"/>
              </a:ext>
            </a:extLst>
          </p:cNvPr>
          <p:cNvSpPr txBox="1"/>
          <p:nvPr/>
        </p:nvSpPr>
        <p:spPr>
          <a:xfrm>
            <a:off x="892139" y="1462703"/>
            <a:ext cx="10820399" cy="4154984"/>
          </a:xfrm>
          <a:prstGeom prst="rect">
            <a:avLst/>
          </a:prstGeom>
          <a:noFill/>
        </p:spPr>
        <p:txBody>
          <a:bodyPr wrap="square" rtlCol="0">
            <a:spAutoFit/>
          </a:bodyPr>
          <a:lstStyle/>
          <a:p>
            <a:r>
              <a:rPr lang="en-IN" sz="2400" b="1" dirty="0"/>
              <a:t>Dynamic-Programming Approach</a:t>
            </a:r>
          </a:p>
          <a:p>
            <a:endParaRPr lang="en-IN" sz="2400" b="1" dirty="0"/>
          </a:p>
          <a:p>
            <a:pPr marL="342900" indent="-342900" algn="just">
              <a:buFont typeface="Arial" panose="020B0604020202020204" pitchFamily="34" charset="0"/>
              <a:buChar char="•"/>
            </a:pPr>
            <a:r>
              <a:rPr lang="en-IN" sz="2400" dirty="0"/>
              <a:t>Let </a:t>
            </a:r>
            <a:r>
              <a:rPr lang="en-IN" sz="2400" b="1" i="1" dirty="0" err="1"/>
              <a:t>i</a:t>
            </a:r>
            <a:r>
              <a:rPr lang="en-IN" sz="2400" dirty="0"/>
              <a:t> be the highest-numbered item in an optimal solution </a:t>
            </a:r>
            <a:r>
              <a:rPr lang="en-IN" sz="2400" b="1" dirty="0"/>
              <a:t>S</a:t>
            </a:r>
            <a:r>
              <a:rPr lang="en-IN" sz="2400" dirty="0"/>
              <a:t> for </a:t>
            </a:r>
            <a:r>
              <a:rPr lang="en-IN" sz="2400" b="1" dirty="0"/>
              <a:t>W</a:t>
            </a:r>
            <a:r>
              <a:rPr lang="en-IN" sz="2400" dirty="0"/>
              <a:t> dollars. Then </a:t>
            </a:r>
            <a:r>
              <a:rPr lang="en-IN" sz="2400" b="1" i="1" dirty="0"/>
              <a:t>S</a:t>
            </a:r>
            <a:r>
              <a:rPr lang="en-IN" sz="2400" b="1" i="1" baseline="30000" dirty="0"/>
              <a:t>'</a:t>
            </a:r>
            <a:r>
              <a:rPr lang="en-IN" sz="2400" b="1" i="1" dirty="0"/>
              <a:t> = S - {</a:t>
            </a:r>
            <a:r>
              <a:rPr lang="en-IN" sz="2400" b="1" i="1" dirty="0" err="1"/>
              <a:t>i</a:t>
            </a:r>
            <a:r>
              <a:rPr lang="en-IN" sz="2400" b="1" i="1" dirty="0"/>
              <a:t>}</a:t>
            </a:r>
            <a:r>
              <a:rPr lang="en-IN" sz="2400" dirty="0"/>
              <a:t> is an optimal solution for </a:t>
            </a:r>
            <a:r>
              <a:rPr lang="en-IN" sz="2400" b="1" i="1" dirty="0"/>
              <a:t>W - </a:t>
            </a:r>
            <a:r>
              <a:rPr lang="en-IN" sz="2400" b="1" i="1" dirty="0" err="1"/>
              <a:t>w</a:t>
            </a:r>
            <a:r>
              <a:rPr lang="en-IN" sz="2400" b="1" i="1" baseline="-25000" dirty="0" err="1"/>
              <a:t>i</a:t>
            </a:r>
            <a:r>
              <a:rPr lang="en-IN" sz="2400" dirty="0"/>
              <a:t> dollars and the value to the solution </a:t>
            </a:r>
            <a:r>
              <a:rPr lang="en-IN" sz="2400" b="1" i="1" dirty="0"/>
              <a:t>S</a:t>
            </a:r>
            <a:r>
              <a:rPr lang="en-IN" sz="2400" dirty="0"/>
              <a:t> is </a:t>
            </a:r>
            <a:r>
              <a:rPr lang="en-IN" sz="2400" b="1" i="1" dirty="0"/>
              <a:t>V</a:t>
            </a:r>
            <a:r>
              <a:rPr lang="en-IN" sz="2400" b="1" i="1" baseline="-25000" dirty="0"/>
              <a:t>i</a:t>
            </a:r>
            <a:r>
              <a:rPr lang="en-IN" sz="2400" dirty="0"/>
              <a:t> plus the value of the sub-problem.</a:t>
            </a:r>
          </a:p>
          <a:p>
            <a:pPr marL="342900" indent="-342900">
              <a:buFont typeface="Arial" panose="020B0604020202020204" pitchFamily="34" charset="0"/>
              <a:buChar char="•"/>
            </a:pPr>
            <a:r>
              <a:rPr lang="en-IN" sz="2400" dirty="0"/>
              <a:t>We can express this fact in the following formula: define </a:t>
            </a:r>
            <a:r>
              <a:rPr lang="en-IN" sz="2400" b="1" dirty="0"/>
              <a:t>c[</a:t>
            </a:r>
            <a:r>
              <a:rPr lang="en-IN" sz="2400" b="1" dirty="0" err="1"/>
              <a:t>i</a:t>
            </a:r>
            <a:r>
              <a:rPr lang="en-IN" sz="2400" b="1" dirty="0"/>
              <a:t>, w]</a:t>
            </a:r>
            <a:r>
              <a:rPr lang="en-IN" sz="2400" dirty="0"/>
              <a:t> to be the solution for items </a:t>
            </a:r>
            <a:r>
              <a:rPr lang="en-IN" sz="2400" b="1" dirty="0"/>
              <a:t>1,2, … , </a:t>
            </a:r>
            <a:r>
              <a:rPr lang="en-IN" sz="2400" b="1" dirty="0" err="1"/>
              <a:t>i</a:t>
            </a:r>
            <a:r>
              <a:rPr lang="en-IN" sz="2400" dirty="0"/>
              <a:t> and the max</a:t>
            </a:r>
            <a:r>
              <a:rPr lang="en-IN" sz="2400" baseline="-25000" dirty="0"/>
              <a:t>i</a:t>
            </a:r>
            <a:r>
              <a:rPr lang="en-IN" sz="2400" dirty="0"/>
              <a:t>mum weight </a:t>
            </a:r>
            <a:r>
              <a:rPr lang="en-IN" sz="2400" b="1" dirty="0"/>
              <a:t>w</a:t>
            </a:r>
            <a:r>
              <a:rPr lang="en-IN" sz="2400" dirty="0"/>
              <a:t>.</a:t>
            </a:r>
          </a:p>
          <a:p>
            <a:pPr marL="342900" indent="-342900">
              <a:buFont typeface="Arial" panose="020B0604020202020204" pitchFamily="34" charset="0"/>
              <a:buChar char="•"/>
            </a:pPr>
            <a:r>
              <a:rPr lang="en-IN" sz="2400" dirty="0"/>
              <a:t>The algorithm takes the following inputs</a:t>
            </a:r>
          </a:p>
          <a:p>
            <a:pPr marL="342900" indent="-342900">
              <a:buFont typeface="Arial" panose="020B0604020202020204" pitchFamily="34" charset="0"/>
              <a:buChar char="•"/>
            </a:pPr>
            <a:r>
              <a:rPr lang="en-IN" sz="2400" dirty="0"/>
              <a:t>The max</a:t>
            </a:r>
            <a:r>
              <a:rPr lang="en-IN" sz="2400" baseline="-25000" dirty="0"/>
              <a:t>i</a:t>
            </a:r>
            <a:r>
              <a:rPr lang="en-IN" sz="2400" dirty="0"/>
              <a:t>mum weight </a:t>
            </a:r>
            <a:r>
              <a:rPr lang="en-IN" sz="2400" b="1" dirty="0"/>
              <a:t>W</a:t>
            </a:r>
            <a:endParaRPr lang="en-IN" sz="2400" dirty="0"/>
          </a:p>
          <a:p>
            <a:pPr marL="342900" indent="-342900">
              <a:buFont typeface="Arial" panose="020B0604020202020204" pitchFamily="34" charset="0"/>
              <a:buChar char="•"/>
            </a:pPr>
            <a:r>
              <a:rPr lang="en-IN" sz="2400" dirty="0"/>
              <a:t>The number of items </a:t>
            </a:r>
            <a:r>
              <a:rPr lang="en-IN" sz="2400" b="1" dirty="0"/>
              <a:t>n</a:t>
            </a:r>
            <a:endParaRPr lang="en-IN" sz="2400" dirty="0"/>
          </a:p>
          <a:p>
            <a:pPr marL="342900" indent="-342900">
              <a:buFont typeface="Arial" panose="020B0604020202020204" pitchFamily="34" charset="0"/>
              <a:buChar char="•"/>
            </a:pPr>
            <a:r>
              <a:rPr lang="en-IN" sz="2400" dirty="0"/>
              <a:t>The two sequences </a:t>
            </a:r>
            <a:r>
              <a:rPr lang="en-IN" sz="2400" b="1" dirty="0"/>
              <a:t>v = &lt;v</a:t>
            </a:r>
            <a:r>
              <a:rPr lang="en-IN" sz="2400" b="1" baseline="-25000" dirty="0"/>
              <a:t>1</a:t>
            </a:r>
            <a:r>
              <a:rPr lang="en-IN" sz="2400" b="1" dirty="0"/>
              <a:t>, v</a:t>
            </a:r>
            <a:r>
              <a:rPr lang="en-IN" sz="2400" b="1" baseline="-25000" dirty="0"/>
              <a:t>2</a:t>
            </a:r>
            <a:r>
              <a:rPr lang="en-IN" sz="2400" b="1" dirty="0"/>
              <a:t>, …, </a:t>
            </a:r>
            <a:r>
              <a:rPr lang="en-IN" sz="2400" b="1" dirty="0" err="1"/>
              <a:t>v</a:t>
            </a:r>
            <a:r>
              <a:rPr lang="en-IN" sz="2400" b="1" baseline="-25000" dirty="0" err="1"/>
              <a:t>n</a:t>
            </a:r>
            <a:r>
              <a:rPr lang="en-IN" sz="2400" b="1" dirty="0"/>
              <a:t>&gt;</a:t>
            </a:r>
            <a:r>
              <a:rPr lang="en-IN" sz="2400" dirty="0"/>
              <a:t> and </a:t>
            </a:r>
            <a:r>
              <a:rPr lang="en-IN" sz="2400" b="1" dirty="0"/>
              <a:t>w = &lt;w</a:t>
            </a:r>
            <a:r>
              <a:rPr lang="en-IN" sz="2400" b="1" baseline="-25000" dirty="0"/>
              <a:t>1</a:t>
            </a:r>
            <a:r>
              <a:rPr lang="en-IN" sz="2400" b="1" dirty="0"/>
              <a:t>, w</a:t>
            </a:r>
            <a:r>
              <a:rPr lang="en-IN" sz="2400" b="1" baseline="-25000" dirty="0"/>
              <a:t>2</a:t>
            </a:r>
            <a:r>
              <a:rPr lang="en-IN" sz="2400" b="1" dirty="0"/>
              <a:t>, …, </a:t>
            </a:r>
            <a:r>
              <a:rPr lang="en-IN" sz="2400" b="1" dirty="0" err="1"/>
              <a:t>w</a:t>
            </a:r>
            <a:r>
              <a:rPr lang="en-IN" sz="2400" b="1" baseline="-25000" dirty="0" err="1"/>
              <a:t>n</a:t>
            </a:r>
            <a:r>
              <a:rPr lang="en-IN" sz="2400" b="1" dirty="0"/>
              <a:t>&gt;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8689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AD705-0AFA-4932-C647-C133C8FBD7D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E74126D-1015-42A5-0967-6AF24F1F17C6}"/>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68956058-2C30-0CEE-AA9E-4D33EBD6580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4107868-5E46-A283-BEF4-49BF3583CBC8}"/>
              </a:ext>
            </a:extLst>
          </p:cNvPr>
          <p:cNvSpPr>
            <a:spLocks noGrp="1"/>
          </p:cNvSpPr>
          <p:nvPr>
            <p:ph type="sldNum" sz="quarter" idx="12"/>
          </p:nvPr>
        </p:nvSpPr>
        <p:spPr/>
        <p:txBody>
          <a:bodyPr/>
          <a:lstStyle/>
          <a:p>
            <a:fld id="{B41E2F89-97C2-4B18-A593-8150592B5005}" type="slidenum">
              <a:rPr lang="en-US" smtClean="0"/>
              <a:t>28</a:t>
            </a:fld>
            <a:endParaRPr lang="en-US" dirty="0"/>
          </a:p>
        </p:txBody>
      </p:sp>
      <p:sp>
        <p:nvSpPr>
          <p:cNvPr id="7" name="Title 1">
            <a:extLst>
              <a:ext uri="{FF2B5EF4-FFF2-40B4-BE49-F238E27FC236}">
                <a16:creationId xmlns:a16="http://schemas.microsoft.com/office/drawing/2014/main" id="{D6BA7193-2122-7BBB-A104-FC4582A41C96}"/>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A67CB47F-1FB5-D2D3-8AB7-D27F824B1A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68B9E2C0-6352-6964-A44A-4A61CCA6A7B2}"/>
              </a:ext>
            </a:extLst>
          </p:cNvPr>
          <p:cNvSpPr txBox="1"/>
          <p:nvPr/>
        </p:nvSpPr>
        <p:spPr>
          <a:xfrm>
            <a:off x="922961" y="1089164"/>
            <a:ext cx="10820399" cy="5632311"/>
          </a:xfrm>
          <a:prstGeom prst="rect">
            <a:avLst/>
          </a:prstGeom>
          <a:noFill/>
        </p:spPr>
        <p:txBody>
          <a:bodyPr wrap="square" rtlCol="0">
            <a:spAutoFit/>
          </a:bodyPr>
          <a:lstStyle/>
          <a:p>
            <a:r>
              <a:rPr lang="en-IN" sz="2400" b="1" dirty="0"/>
              <a:t>Dynamic-0-1-knapsack (v, w, n, W)</a:t>
            </a:r>
          </a:p>
          <a:p>
            <a:pPr algn="just"/>
            <a:r>
              <a:rPr lang="en-IN" sz="2400" dirty="0"/>
              <a:t> </a:t>
            </a:r>
          </a:p>
          <a:p>
            <a:pPr algn="just"/>
            <a:r>
              <a:rPr lang="en-IN" sz="2400" dirty="0"/>
              <a:t>for w = 0 to W do </a:t>
            </a:r>
          </a:p>
          <a:p>
            <a:pPr algn="just"/>
            <a:r>
              <a:rPr lang="en-IN" sz="2400" dirty="0"/>
              <a:t>   c[0, w] = 0 </a:t>
            </a:r>
          </a:p>
          <a:p>
            <a:pPr algn="just"/>
            <a:r>
              <a:rPr lang="en-IN" sz="2400" dirty="0"/>
              <a:t>for </a:t>
            </a:r>
            <a:r>
              <a:rPr lang="en-IN" sz="2400" dirty="0" err="1"/>
              <a:t>i</a:t>
            </a:r>
            <a:r>
              <a:rPr lang="en-IN" sz="2400" dirty="0"/>
              <a:t> = 1 to n do </a:t>
            </a:r>
          </a:p>
          <a:p>
            <a:pPr algn="just"/>
            <a:r>
              <a:rPr lang="en-IN" sz="2400" dirty="0"/>
              <a:t>   c[</a:t>
            </a:r>
            <a:r>
              <a:rPr lang="en-IN" sz="2400" dirty="0" err="1"/>
              <a:t>i</a:t>
            </a:r>
            <a:r>
              <a:rPr lang="en-IN" sz="2400" dirty="0"/>
              <a:t>, 0] = 0 </a:t>
            </a:r>
          </a:p>
          <a:p>
            <a:pPr algn="just"/>
            <a:r>
              <a:rPr lang="en-IN" sz="2400" dirty="0"/>
              <a:t>   for w = 1 to W do </a:t>
            </a:r>
          </a:p>
          <a:p>
            <a:pPr algn="just"/>
            <a:r>
              <a:rPr lang="en-IN" sz="2400" dirty="0"/>
              <a:t>      if </a:t>
            </a:r>
            <a:r>
              <a:rPr lang="en-IN" sz="2400" dirty="0" err="1"/>
              <a:t>w</a:t>
            </a:r>
            <a:r>
              <a:rPr lang="en-IN" sz="2400" baseline="-25000" dirty="0" err="1"/>
              <a:t>i</a:t>
            </a:r>
            <a:r>
              <a:rPr lang="en-IN" sz="2400" dirty="0"/>
              <a:t> ≤ w then </a:t>
            </a:r>
          </a:p>
          <a:p>
            <a:pPr algn="just"/>
            <a:r>
              <a:rPr lang="en-IN" sz="2400" dirty="0"/>
              <a:t>         if p</a:t>
            </a:r>
            <a:r>
              <a:rPr lang="en-IN" sz="2400" baseline="-25000" dirty="0"/>
              <a:t>i</a:t>
            </a:r>
            <a:r>
              <a:rPr lang="en-IN" sz="2400" dirty="0"/>
              <a:t> + c[i-1, w-</a:t>
            </a:r>
            <a:r>
              <a:rPr lang="en-IN" sz="2400" dirty="0" err="1"/>
              <a:t>w</a:t>
            </a:r>
            <a:r>
              <a:rPr lang="en-IN" sz="2400" baseline="-25000" dirty="0" err="1"/>
              <a:t>i</a:t>
            </a:r>
            <a:r>
              <a:rPr lang="en-IN" sz="2400" dirty="0"/>
              <a:t>] &gt; c[i-1, w] </a:t>
            </a:r>
          </a:p>
          <a:p>
            <a:pPr algn="just"/>
            <a:r>
              <a:rPr lang="en-IN" sz="2400" dirty="0"/>
              <a:t>            c[</a:t>
            </a:r>
            <a:r>
              <a:rPr lang="en-IN" sz="2400" dirty="0" err="1"/>
              <a:t>i</a:t>
            </a:r>
            <a:r>
              <a:rPr lang="en-IN" sz="2400" dirty="0"/>
              <a:t>, w] = p</a:t>
            </a:r>
            <a:r>
              <a:rPr lang="en-IN" sz="2400" baseline="-25000" dirty="0"/>
              <a:t>i</a:t>
            </a:r>
            <a:r>
              <a:rPr lang="en-IN" sz="2400" dirty="0"/>
              <a:t> + c[i-1, w-</a:t>
            </a:r>
            <a:r>
              <a:rPr lang="en-IN" sz="2400" dirty="0" err="1"/>
              <a:t>w</a:t>
            </a:r>
            <a:r>
              <a:rPr lang="en-IN" sz="2400" baseline="-25000" dirty="0" err="1"/>
              <a:t>i</a:t>
            </a:r>
            <a:r>
              <a:rPr lang="en-IN" sz="2400" dirty="0"/>
              <a:t>] </a:t>
            </a:r>
          </a:p>
          <a:p>
            <a:pPr algn="just"/>
            <a:r>
              <a:rPr lang="en-IN" sz="2400" dirty="0"/>
              <a:t>         else c[</a:t>
            </a:r>
            <a:r>
              <a:rPr lang="en-IN" sz="2400" dirty="0" err="1"/>
              <a:t>i</a:t>
            </a:r>
            <a:r>
              <a:rPr lang="en-IN" sz="2400" dirty="0"/>
              <a:t>, w] = c[i-1, w] </a:t>
            </a:r>
          </a:p>
          <a:p>
            <a:pPr algn="just"/>
            <a:r>
              <a:rPr lang="en-IN" sz="2400" dirty="0"/>
              <a:t>      else </a:t>
            </a:r>
          </a:p>
          <a:p>
            <a:pPr algn="just"/>
            <a:r>
              <a:rPr lang="en-IN" sz="2400" dirty="0"/>
              <a:t>         c[</a:t>
            </a:r>
            <a:r>
              <a:rPr lang="en-IN" sz="2400" dirty="0" err="1"/>
              <a:t>i</a:t>
            </a:r>
            <a:r>
              <a:rPr lang="en-IN" sz="2400" dirty="0"/>
              <a:t>, w] = c[i-1, w] </a:t>
            </a:r>
          </a:p>
          <a:p>
            <a:pPr algn="just"/>
            <a:r>
              <a:rPr lang="en-IN" sz="2400" dirty="0"/>
              <a:t>return c </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0382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BE114-9DCD-9222-62AF-2DAFBD8BD61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3ECEDA0-AF85-285F-2ABF-73D0CB7E7380}"/>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D9B5BA63-4B95-98AA-2CDD-215EDACFDEE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7FED096-11BE-7C09-B8A5-B4F0C3DFF9B3}"/>
              </a:ext>
            </a:extLst>
          </p:cNvPr>
          <p:cNvSpPr>
            <a:spLocks noGrp="1"/>
          </p:cNvSpPr>
          <p:nvPr>
            <p:ph type="sldNum" sz="quarter" idx="12"/>
          </p:nvPr>
        </p:nvSpPr>
        <p:spPr/>
        <p:txBody>
          <a:bodyPr/>
          <a:lstStyle/>
          <a:p>
            <a:fld id="{B41E2F89-97C2-4B18-A593-8150592B5005}" type="slidenum">
              <a:rPr lang="en-US" smtClean="0"/>
              <a:t>29</a:t>
            </a:fld>
            <a:endParaRPr lang="en-US" dirty="0"/>
          </a:p>
        </p:txBody>
      </p:sp>
      <p:sp>
        <p:nvSpPr>
          <p:cNvPr id="7" name="Title 1">
            <a:extLst>
              <a:ext uri="{FF2B5EF4-FFF2-40B4-BE49-F238E27FC236}">
                <a16:creationId xmlns:a16="http://schemas.microsoft.com/office/drawing/2014/main" id="{A14AA07E-E616-69D1-42E3-BE017439099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FAC43C47-1B8B-8A9F-4FF3-B55B5746F2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graphicFrame>
        <p:nvGraphicFramePr>
          <p:cNvPr id="2" name="Content Placeholder 8">
            <a:extLst>
              <a:ext uri="{FF2B5EF4-FFF2-40B4-BE49-F238E27FC236}">
                <a16:creationId xmlns:a16="http://schemas.microsoft.com/office/drawing/2014/main" id="{8CAA6CB3-BC88-8C24-93C7-F3EE7DDE2588}"/>
              </a:ext>
            </a:extLst>
          </p:cNvPr>
          <p:cNvGraphicFramePr>
            <a:graphicFrameLocks noGrp="1"/>
          </p:cNvGraphicFramePr>
          <p:nvPr>
            <p:ph idx="1"/>
            <p:extLst>
              <p:ext uri="{D42A27DB-BD31-4B8C-83A1-F6EECF244321}">
                <p14:modId xmlns:p14="http://schemas.microsoft.com/office/powerpoint/2010/main" val="2570524036"/>
              </p:ext>
            </p:extLst>
          </p:nvPr>
        </p:nvGraphicFramePr>
        <p:xfrm>
          <a:off x="3402449" y="2791291"/>
          <a:ext cx="7571186" cy="2219960"/>
        </p:xfrm>
        <a:graphic>
          <a:graphicData uri="http://schemas.openxmlformats.org/drawingml/2006/table">
            <a:tbl>
              <a:tblPr firstRow="1" bandRow="1">
                <a:tableStyleId>{5C22544A-7EE6-4342-B048-85BDC9FD1C3A}</a:tableStyleId>
              </a:tblPr>
              <a:tblGrid>
                <a:gridCol w="1081598">
                  <a:extLst>
                    <a:ext uri="{9D8B030D-6E8A-4147-A177-3AD203B41FA5}">
                      <a16:colId xmlns:a16="http://schemas.microsoft.com/office/drawing/2014/main" val="1754453040"/>
                    </a:ext>
                  </a:extLst>
                </a:gridCol>
                <a:gridCol w="1081598">
                  <a:extLst>
                    <a:ext uri="{9D8B030D-6E8A-4147-A177-3AD203B41FA5}">
                      <a16:colId xmlns:a16="http://schemas.microsoft.com/office/drawing/2014/main" val="2981507891"/>
                    </a:ext>
                  </a:extLst>
                </a:gridCol>
                <a:gridCol w="1081598">
                  <a:extLst>
                    <a:ext uri="{9D8B030D-6E8A-4147-A177-3AD203B41FA5}">
                      <a16:colId xmlns:a16="http://schemas.microsoft.com/office/drawing/2014/main" val="3363826064"/>
                    </a:ext>
                  </a:extLst>
                </a:gridCol>
                <a:gridCol w="1081598">
                  <a:extLst>
                    <a:ext uri="{9D8B030D-6E8A-4147-A177-3AD203B41FA5}">
                      <a16:colId xmlns:a16="http://schemas.microsoft.com/office/drawing/2014/main" val="4215843072"/>
                    </a:ext>
                  </a:extLst>
                </a:gridCol>
                <a:gridCol w="1081598">
                  <a:extLst>
                    <a:ext uri="{9D8B030D-6E8A-4147-A177-3AD203B41FA5}">
                      <a16:colId xmlns:a16="http://schemas.microsoft.com/office/drawing/2014/main" val="1283257148"/>
                    </a:ext>
                  </a:extLst>
                </a:gridCol>
                <a:gridCol w="1081598">
                  <a:extLst>
                    <a:ext uri="{9D8B030D-6E8A-4147-A177-3AD203B41FA5}">
                      <a16:colId xmlns:a16="http://schemas.microsoft.com/office/drawing/2014/main" val="2635203946"/>
                    </a:ext>
                  </a:extLst>
                </a:gridCol>
                <a:gridCol w="1081598">
                  <a:extLst>
                    <a:ext uri="{9D8B030D-6E8A-4147-A177-3AD203B41FA5}">
                      <a16:colId xmlns:a16="http://schemas.microsoft.com/office/drawing/2014/main" val="1994573477"/>
                    </a:ext>
                  </a:extLst>
                </a:gridCol>
              </a:tblGrid>
              <a:tr h="226824">
                <a:tc>
                  <a:txBody>
                    <a:bodyPr/>
                    <a:lstStyle/>
                    <a:p>
                      <a:r>
                        <a:rPr lang="en-US" dirty="0"/>
                        <a:t>i\</a:t>
                      </a:r>
                      <a:r>
                        <a:rPr lang="en-US" dirty="0" err="1"/>
                        <a:t>wi</a:t>
                      </a:r>
                      <a:endParaRPr lang="en-US" dirty="0"/>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2277060710"/>
                  </a:ext>
                </a:extLst>
              </a:tr>
              <a:tr h="370840">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824649864"/>
                  </a:ext>
                </a:extLst>
              </a:tr>
              <a:tr h="370840">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3</a:t>
                      </a:r>
                    </a:p>
                  </a:txBody>
                  <a:tcPr/>
                </a:tc>
                <a:tc>
                  <a:txBody>
                    <a:bodyPr/>
                    <a:lstStyle/>
                    <a:p>
                      <a:r>
                        <a:rPr lang="en-US" dirty="0"/>
                        <a:t>3</a:t>
                      </a:r>
                    </a:p>
                  </a:txBody>
                  <a:tcPr/>
                </a:tc>
                <a:tc>
                  <a:txBody>
                    <a:bodyPr/>
                    <a:lstStyle/>
                    <a:p>
                      <a:r>
                        <a:rPr lang="en-US" dirty="0"/>
                        <a:t>3</a:t>
                      </a:r>
                    </a:p>
                  </a:txBody>
                  <a:tcPr/>
                </a:tc>
                <a:tc>
                  <a:txBody>
                    <a:bodyPr/>
                    <a:lstStyle/>
                    <a:p>
                      <a:r>
                        <a:rPr lang="en-US" dirty="0"/>
                        <a:t>3</a:t>
                      </a:r>
                    </a:p>
                  </a:txBody>
                  <a:tcPr/>
                </a:tc>
                <a:extLst>
                  <a:ext uri="{0D108BD9-81ED-4DB2-BD59-A6C34878D82A}">
                    <a16:rowId xmlns:a16="http://schemas.microsoft.com/office/drawing/2014/main" val="1564571375"/>
                  </a:ext>
                </a:extLst>
              </a:tr>
              <a:tr h="370840">
                <a:tc>
                  <a:txBody>
                    <a:bodyPr/>
                    <a:lstStyle/>
                    <a:p>
                      <a:r>
                        <a:rPr lang="en-US" dirty="0"/>
                        <a:t>2</a:t>
                      </a:r>
                    </a:p>
                  </a:txBody>
                  <a:tcPr/>
                </a:tc>
                <a:tc>
                  <a:txBody>
                    <a:bodyPr/>
                    <a:lstStyle/>
                    <a:p>
                      <a:r>
                        <a:rPr lang="en-US" dirty="0"/>
                        <a:t>0</a:t>
                      </a:r>
                    </a:p>
                  </a:txBody>
                  <a:tcPr/>
                </a:tc>
                <a:tc>
                  <a:txBody>
                    <a:bodyPr/>
                    <a:lstStyle/>
                    <a:p>
                      <a:r>
                        <a:rPr lang="en-US" dirty="0"/>
                        <a:t>0</a:t>
                      </a:r>
                    </a:p>
                  </a:txBody>
                  <a:tcPr/>
                </a:tc>
                <a:tc>
                  <a:txBody>
                    <a:bodyPr/>
                    <a:lstStyle/>
                    <a:p>
                      <a:r>
                        <a:rPr lang="en-US" dirty="0"/>
                        <a:t>3</a:t>
                      </a:r>
                    </a:p>
                  </a:txBody>
                  <a:tcPr/>
                </a:tc>
                <a:tc>
                  <a:txBody>
                    <a:bodyPr/>
                    <a:lstStyle/>
                    <a:p>
                      <a:r>
                        <a:rPr lang="en-US" dirty="0"/>
                        <a:t>4</a:t>
                      </a:r>
                    </a:p>
                  </a:txBody>
                  <a:tcPr/>
                </a:tc>
                <a:tc>
                  <a:txBody>
                    <a:bodyPr/>
                    <a:lstStyle/>
                    <a:p>
                      <a:r>
                        <a:rPr lang="en-US" dirty="0"/>
                        <a:t>4</a:t>
                      </a:r>
                    </a:p>
                  </a:txBody>
                  <a:tcPr/>
                </a:tc>
                <a:tc>
                  <a:txBody>
                    <a:bodyPr/>
                    <a:lstStyle/>
                    <a:p>
                      <a:r>
                        <a:rPr lang="en-US" dirty="0"/>
                        <a:t>7</a:t>
                      </a:r>
                    </a:p>
                  </a:txBody>
                  <a:tcPr/>
                </a:tc>
                <a:extLst>
                  <a:ext uri="{0D108BD9-81ED-4DB2-BD59-A6C34878D82A}">
                    <a16:rowId xmlns:a16="http://schemas.microsoft.com/office/drawing/2014/main" val="2492492940"/>
                  </a:ext>
                </a:extLst>
              </a:tr>
              <a:tr h="370840">
                <a:tc>
                  <a:txBody>
                    <a:bodyPr/>
                    <a:lstStyle/>
                    <a:p>
                      <a:r>
                        <a:rPr lang="en-US" dirty="0"/>
                        <a:t>3</a:t>
                      </a:r>
                    </a:p>
                  </a:txBody>
                  <a:tcPr/>
                </a:tc>
                <a:tc>
                  <a:txBody>
                    <a:bodyPr/>
                    <a:lstStyle/>
                    <a:p>
                      <a:r>
                        <a:rPr lang="en-US"/>
                        <a:t>0</a:t>
                      </a:r>
                      <a:endParaRPr lang="en-US" dirty="0"/>
                    </a:p>
                  </a:txBody>
                  <a:tcPr/>
                </a:tc>
                <a:tc>
                  <a:txBody>
                    <a:bodyPr/>
                    <a:lstStyle/>
                    <a:p>
                      <a:r>
                        <a:rPr lang="en-US"/>
                        <a:t>0</a:t>
                      </a:r>
                      <a:endParaRPr lang="en-US" dirty="0"/>
                    </a:p>
                  </a:txBody>
                  <a:tcPr/>
                </a:tc>
                <a:tc>
                  <a:txBody>
                    <a:bodyPr/>
                    <a:lstStyle/>
                    <a:p>
                      <a:r>
                        <a:rPr lang="en-US"/>
                        <a:t>3</a:t>
                      </a:r>
                      <a:endParaRPr lang="en-US" dirty="0"/>
                    </a:p>
                  </a:txBody>
                  <a:tcPr/>
                </a:tc>
                <a:tc>
                  <a:txBody>
                    <a:bodyPr/>
                    <a:lstStyle/>
                    <a:p>
                      <a:r>
                        <a:rPr lang="en-US"/>
                        <a:t>4</a:t>
                      </a:r>
                      <a:endParaRPr lang="en-US" dirty="0"/>
                    </a:p>
                  </a:txBody>
                  <a:tcPr/>
                </a:tc>
                <a:tc>
                  <a:txBody>
                    <a:bodyPr/>
                    <a:lstStyle/>
                    <a:p>
                      <a:r>
                        <a:rPr lang="en-US"/>
                        <a:t>5</a:t>
                      </a:r>
                      <a:endParaRPr lang="en-US" dirty="0"/>
                    </a:p>
                  </a:txBody>
                  <a:tcPr/>
                </a:tc>
                <a:tc>
                  <a:txBody>
                    <a:bodyPr/>
                    <a:lstStyle/>
                    <a:p>
                      <a:r>
                        <a:rPr lang="en-US"/>
                        <a:t>7</a:t>
                      </a:r>
                      <a:endParaRPr lang="en-US" dirty="0"/>
                    </a:p>
                  </a:txBody>
                  <a:tcPr/>
                </a:tc>
                <a:extLst>
                  <a:ext uri="{0D108BD9-81ED-4DB2-BD59-A6C34878D82A}">
                    <a16:rowId xmlns:a16="http://schemas.microsoft.com/office/drawing/2014/main" val="2759765667"/>
                  </a:ext>
                </a:extLst>
              </a:tr>
              <a:tr h="370840">
                <a:tc>
                  <a:txBody>
                    <a:bodyPr/>
                    <a:lstStyle/>
                    <a:p>
                      <a:r>
                        <a:rPr lang="en-US"/>
                        <a:t>4</a:t>
                      </a:r>
                      <a:endParaRPr lang="en-US" dirty="0"/>
                    </a:p>
                  </a:txBody>
                  <a:tcPr/>
                </a:tc>
                <a:tc>
                  <a:txBody>
                    <a:bodyPr/>
                    <a:lstStyle/>
                    <a:p>
                      <a:r>
                        <a:rPr lang="en-US"/>
                        <a:t>0</a:t>
                      </a:r>
                      <a:endParaRPr lang="en-US" dirty="0"/>
                    </a:p>
                  </a:txBody>
                  <a:tcPr/>
                </a:tc>
                <a:tc>
                  <a:txBody>
                    <a:bodyPr/>
                    <a:lstStyle/>
                    <a:p>
                      <a:r>
                        <a:rPr lang="en-US"/>
                        <a:t>0</a:t>
                      </a:r>
                      <a:endParaRPr lang="en-US" dirty="0"/>
                    </a:p>
                  </a:txBody>
                  <a:tcPr/>
                </a:tc>
                <a:tc>
                  <a:txBody>
                    <a:bodyPr/>
                    <a:lstStyle/>
                    <a:p>
                      <a:r>
                        <a:rPr lang="en-US"/>
                        <a:t>3</a:t>
                      </a:r>
                      <a:endParaRPr lang="en-US" dirty="0"/>
                    </a:p>
                  </a:txBody>
                  <a:tcPr/>
                </a:tc>
                <a:tc>
                  <a:txBody>
                    <a:bodyPr/>
                    <a:lstStyle/>
                    <a:p>
                      <a:r>
                        <a:rPr lang="en-US"/>
                        <a:t>4</a:t>
                      </a:r>
                      <a:endParaRPr lang="en-US" dirty="0"/>
                    </a:p>
                  </a:txBody>
                  <a:tcPr/>
                </a:tc>
                <a:tc>
                  <a:txBody>
                    <a:bodyPr/>
                    <a:lstStyle/>
                    <a:p>
                      <a:r>
                        <a:rPr lang="en-US"/>
                        <a:t>5</a:t>
                      </a:r>
                      <a:endParaRPr lang="en-US" dirty="0"/>
                    </a:p>
                  </a:txBody>
                  <a:tcPr/>
                </a:tc>
                <a:tc>
                  <a:txBody>
                    <a:bodyPr/>
                    <a:lstStyle/>
                    <a:p>
                      <a:r>
                        <a:rPr lang="en-US" dirty="0"/>
                        <a:t>7</a:t>
                      </a:r>
                    </a:p>
                  </a:txBody>
                  <a:tcPr/>
                </a:tc>
                <a:extLst>
                  <a:ext uri="{0D108BD9-81ED-4DB2-BD59-A6C34878D82A}">
                    <a16:rowId xmlns:a16="http://schemas.microsoft.com/office/drawing/2014/main" val="2909466350"/>
                  </a:ext>
                </a:extLst>
              </a:tr>
            </a:tbl>
          </a:graphicData>
        </a:graphic>
      </p:graphicFrame>
      <p:graphicFrame>
        <p:nvGraphicFramePr>
          <p:cNvPr id="3" name="Table 2">
            <a:extLst>
              <a:ext uri="{FF2B5EF4-FFF2-40B4-BE49-F238E27FC236}">
                <a16:creationId xmlns:a16="http://schemas.microsoft.com/office/drawing/2014/main" id="{017BB050-E0D3-D546-DB03-35110F94ACD2}"/>
              </a:ext>
            </a:extLst>
          </p:cNvPr>
          <p:cNvGraphicFramePr>
            <a:graphicFrameLocks noGrp="1"/>
          </p:cNvGraphicFramePr>
          <p:nvPr>
            <p:extLst>
              <p:ext uri="{D42A27DB-BD31-4B8C-83A1-F6EECF244321}">
                <p14:modId xmlns:p14="http://schemas.microsoft.com/office/powerpoint/2010/main" val="1429938141"/>
              </p:ext>
            </p:extLst>
          </p:nvPr>
        </p:nvGraphicFramePr>
        <p:xfrm>
          <a:off x="3342313" y="1079454"/>
          <a:ext cx="6096000" cy="1112520"/>
        </p:xfrm>
        <a:graphic>
          <a:graphicData uri="http://schemas.openxmlformats.org/drawingml/2006/table">
            <a:tbl>
              <a:tblPr firstRow="1" bandRow="1">
                <a:tableStyleId>{073A0DAA-6AF3-43AB-8588-CEC1D06C72B9}</a:tableStyleId>
              </a:tblPr>
              <a:tblGrid>
                <a:gridCol w="1219200">
                  <a:extLst>
                    <a:ext uri="{9D8B030D-6E8A-4147-A177-3AD203B41FA5}">
                      <a16:colId xmlns:a16="http://schemas.microsoft.com/office/drawing/2014/main" val="299678324"/>
                    </a:ext>
                  </a:extLst>
                </a:gridCol>
                <a:gridCol w="1219200">
                  <a:extLst>
                    <a:ext uri="{9D8B030D-6E8A-4147-A177-3AD203B41FA5}">
                      <a16:colId xmlns:a16="http://schemas.microsoft.com/office/drawing/2014/main" val="1822906276"/>
                    </a:ext>
                  </a:extLst>
                </a:gridCol>
                <a:gridCol w="1219200">
                  <a:extLst>
                    <a:ext uri="{9D8B030D-6E8A-4147-A177-3AD203B41FA5}">
                      <a16:colId xmlns:a16="http://schemas.microsoft.com/office/drawing/2014/main" val="363547298"/>
                    </a:ext>
                  </a:extLst>
                </a:gridCol>
                <a:gridCol w="1219200">
                  <a:extLst>
                    <a:ext uri="{9D8B030D-6E8A-4147-A177-3AD203B41FA5}">
                      <a16:colId xmlns:a16="http://schemas.microsoft.com/office/drawing/2014/main" val="3126212042"/>
                    </a:ext>
                  </a:extLst>
                </a:gridCol>
                <a:gridCol w="1219200">
                  <a:extLst>
                    <a:ext uri="{9D8B030D-6E8A-4147-A177-3AD203B41FA5}">
                      <a16:colId xmlns:a16="http://schemas.microsoft.com/office/drawing/2014/main" val="1598823882"/>
                    </a:ext>
                  </a:extLst>
                </a:gridCol>
              </a:tblGrid>
              <a:tr h="370840">
                <a:tc>
                  <a:txBody>
                    <a:bodyPr/>
                    <a:lstStyle/>
                    <a:p>
                      <a:endParaRPr lang="en-US" dirty="0"/>
                    </a:p>
                  </a:txBody>
                  <a:tcPr/>
                </a:tc>
                <a:tc>
                  <a:txBody>
                    <a:bodyPr/>
                    <a:lstStyle/>
                    <a:p>
                      <a:r>
                        <a:rPr lang="en-US" dirty="0"/>
                        <a:t>Obj 1 </a:t>
                      </a:r>
                    </a:p>
                  </a:txBody>
                  <a:tcPr/>
                </a:tc>
                <a:tc>
                  <a:txBody>
                    <a:bodyPr/>
                    <a:lstStyle/>
                    <a:p>
                      <a:r>
                        <a:rPr lang="en-US" dirty="0"/>
                        <a:t>Obj 2</a:t>
                      </a:r>
                    </a:p>
                  </a:txBody>
                  <a:tcPr/>
                </a:tc>
                <a:tc>
                  <a:txBody>
                    <a:bodyPr/>
                    <a:lstStyle/>
                    <a:p>
                      <a:r>
                        <a:rPr lang="en-US" dirty="0"/>
                        <a:t>Obj 3</a:t>
                      </a:r>
                    </a:p>
                  </a:txBody>
                  <a:tcPr/>
                </a:tc>
                <a:tc>
                  <a:txBody>
                    <a:bodyPr/>
                    <a:lstStyle/>
                    <a:p>
                      <a:r>
                        <a:rPr lang="en-US" dirty="0"/>
                        <a:t>Obj4</a:t>
                      </a:r>
                    </a:p>
                  </a:txBody>
                  <a:tcPr/>
                </a:tc>
                <a:extLst>
                  <a:ext uri="{0D108BD9-81ED-4DB2-BD59-A6C34878D82A}">
                    <a16:rowId xmlns:a16="http://schemas.microsoft.com/office/drawing/2014/main" val="3226108261"/>
                  </a:ext>
                </a:extLst>
              </a:tr>
              <a:tr h="370840">
                <a:tc>
                  <a:txBody>
                    <a:bodyPr/>
                    <a:lstStyle/>
                    <a:p>
                      <a:r>
                        <a:rPr lang="en-US" dirty="0"/>
                        <a:t>Wi</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extLst>
                  <a:ext uri="{0D108BD9-81ED-4DB2-BD59-A6C34878D82A}">
                    <a16:rowId xmlns:a16="http://schemas.microsoft.com/office/drawing/2014/main" val="2428826594"/>
                  </a:ext>
                </a:extLst>
              </a:tr>
              <a:tr h="370840">
                <a:tc>
                  <a:txBody>
                    <a:bodyPr/>
                    <a:lstStyle/>
                    <a:p>
                      <a:r>
                        <a:rPr lang="en-US" dirty="0"/>
                        <a:t>Pi</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4234637660"/>
                  </a:ext>
                </a:extLst>
              </a:tr>
            </a:tbl>
          </a:graphicData>
        </a:graphic>
      </p:graphicFrame>
      <p:sp>
        <p:nvSpPr>
          <p:cNvPr id="10" name="TextBox 9">
            <a:extLst>
              <a:ext uri="{FF2B5EF4-FFF2-40B4-BE49-F238E27FC236}">
                <a16:creationId xmlns:a16="http://schemas.microsoft.com/office/drawing/2014/main" id="{F5DBA39E-A049-AA23-DA22-62BF0C9EA8B7}"/>
              </a:ext>
            </a:extLst>
          </p:cNvPr>
          <p:cNvSpPr txBox="1"/>
          <p:nvPr/>
        </p:nvSpPr>
        <p:spPr>
          <a:xfrm>
            <a:off x="9683393" y="1207115"/>
            <a:ext cx="832048" cy="369332"/>
          </a:xfrm>
          <a:prstGeom prst="rect">
            <a:avLst/>
          </a:prstGeom>
          <a:noFill/>
        </p:spPr>
        <p:txBody>
          <a:bodyPr wrap="square" rtlCol="0">
            <a:spAutoFit/>
          </a:bodyPr>
          <a:lstStyle/>
          <a:p>
            <a:r>
              <a:rPr lang="en-US" dirty="0"/>
              <a:t>M = 5</a:t>
            </a:r>
          </a:p>
        </p:txBody>
      </p:sp>
      <p:graphicFrame>
        <p:nvGraphicFramePr>
          <p:cNvPr id="11" name="Table 10">
            <a:extLst>
              <a:ext uri="{FF2B5EF4-FFF2-40B4-BE49-F238E27FC236}">
                <a16:creationId xmlns:a16="http://schemas.microsoft.com/office/drawing/2014/main" id="{3A256ED7-6C2C-97AD-546F-BEDC0714F991}"/>
              </a:ext>
            </a:extLst>
          </p:cNvPr>
          <p:cNvGraphicFramePr>
            <a:graphicFrameLocks noGrp="1"/>
          </p:cNvGraphicFramePr>
          <p:nvPr>
            <p:extLst>
              <p:ext uri="{D42A27DB-BD31-4B8C-83A1-F6EECF244321}">
                <p14:modId xmlns:p14="http://schemas.microsoft.com/office/powerpoint/2010/main" val="3882028210"/>
              </p:ext>
            </p:extLst>
          </p:nvPr>
        </p:nvGraphicFramePr>
        <p:xfrm>
          <a:off x="1958111" y="3199854"/>
          <a:ext cx="1247800" cy="1854200"/>
        </p:xfrm>
        <a:graphic>
          <a:graphicData uri="http://schemas.openxmlformats.org/drawingml/2006/table">
            <a:tbl>
              <a:tblPr firstRow="1" bandRow="1">
                <a:tableStyleId>{5C22544A-7EE6-4342-B048-85BDC9FD1C3A}</a:tableStyleId>
              </a:tblPr>
              <a:tblGrid>
                <a:gridCol w="623900">
                  <a:extLst>
                    <a:ext uri="{9D8B030D-6E8A-4147-A177-3AD203B41FA5}">
                      <a16:colId xmlns:a16="http://schemas.microsoft.com/office/drawing/2014/main" val="1204308170"/>
                    </a:ext>
                  </a:extLst>
                </a:gridCol>
                <a:gridCol w="623900">
                  <a:extLst>
                    <a:ext uri="{9D8B030D-6E8A-4147-A177-3AD203B41FA5}">
                      <a16:colId xmlns:a16="http://schemas.microsoft.com/office/drawing/2014/main" val="4269351229"/>
                    </a:ext>
                  </a:extLst>
                </a:gridCol>
              </a:tblGrid>
              <a:tr h="370840">
                <a:tc>
                  <a:txBody>
                    <a:bodyPr/>
                    <a:lstStyle/>
                    <a:p>
                      <a:r>
                        <a:rPr lang="en-US" dirty="0"/>
                        <a:t>Pi</a:t>
                      </a:r>
                    </a:p>
                  </a:txBody>
                  <a:tcPr/>
                </a:tc>
                <a:tc>
                  <a:txBody>
                    <a:bodyPr/>
                    <a:lstStyle/>
                    <a:p>
                      <a:r>
                        <a:rPr lang="en-US" dirty="0"/>
                        <a:t>Wi</a:t>
                      </a:r>
                    </a:p>
                  </a:txBody>
                  <a:tcPr/>
                </a:tc>
                <a:extLst>
                  <a:ext uri="{0D108BD9-81ED-4DB2-BD59-A6C34878D82A}">
                    <a16:rowId xmlns:a16="http://schemas.microsoft.com/office/drawing/2014/main" val="1025583743"/>
                  </a:ext>
                </a:extLst>
              </a:tr>
              <a:tr h="370840">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2223481312"/>
                  </a:ext>
                </a:extLst>
              </a:tr>
              <a:tr h="370840">
                <a:tc>
                  <a:txBody>
                    <a:bodyPr/>
                    <a:lstStyle/>
                    <a:p>
                      <a:r>
                        <a:rPr lang="en-US" dirty="0"/>
                        <a:t>4</a:t>
                      </a:r>
                    </a:p>
                  </a:txBody>
                  <a:tcPr/>
                </a:tc>
                <a:tc>
                  <a:txBody>
                    <a:bodyPr/>
                    <a:lstStyle/>
                    <a:p>
                      <a:r>
                        <a:rPr lang="en-US" dirty="0"/>
                        <a:t>3</a:t>
                      </a:r>
                    </a:p>
                  </a:txBody>
                  <a:tcPr/>
                </a:tc>
                <a:extLst>
                  <a:ext uri="{0D108BD9-81ED-4DB2-BD59-A6C34878D82A}">
                    <a16:rowId xmlns:a16="http://schemas.microsoft.com/office/drawing/2014/main" val="181622902"/>
                  </a:ext>
                </a:extLst>
              </a:tr>
              <a:tr h="370840">
                <a:tc>
                  <a:txBody>
                    <a:bodyPr/>
                    <a:lstStyle/>
                    <a:p>
                      <a:r>
                        <a:rPr lang="en-US" dirty="0"/>
                        <a:t>5</a:t>
                      </a:r>
                    </a:p>
                  </a:txBody>
                  <a:tcPr/>
                </a:tc>
                <a:tc>
                  <a:txBody>
                    <a:bodyPr/>
                    <a:lstStyle/>
                    <a:p>
                      <a:r>
                        <a:rPr lang="en-US" dirty="0"/>
                        <a:t>4</a:t>
                      </a:r>
                    </a:p>
                  </a:txBody>
                  <a:tcPr/>
                </a:tc>
                <a:extLst>
                  <a:ext uri="{0D108BD9-81ED-4DB2-BD59-A6C34878D82A}">
                    <a16:rowId xmlns:a16="http://schemas.microsoft.com/office/drawing/2014/main" val="3063168308"/>
                  </a:ext>
                </a:extLst>
              </a:tr>
              <a:tr h="370840">
                <a:tc>
                  <a:txBody>
                    <a:bodyPr/>
                    <a:lstStyle/>
                    <a:p>
                      <a:r>
                        <a:rPr lang="en-US" dirty="0"/>
                        <a:t>6</a:t>
                      </a:r>
                    </a:p>
                  </a:txBody>
                  <a:tcPr/>
                </a:tc>
                <a:tc>
                  <a:txBody>
                    <a:bodyPr/>
                    <a:lstStyle/>
                    <a:p>
                      <a:r>
                        <a:rPr lang="en-US" dirty="0"/>
                        <a:t>5</a:t>
                      </a:r>
                    </a:p>
                  </a:txBody>
                  <a:tcPr/>
                </a:tc>
                <a:extLst>
                  <a:ext uri="{0D108BD9-81ED-4DB2-BD59-A6C34878D82A}">
                    <a16:rowId xmlns:a16="http://schemas.microsoft.com/office/drawing/2014/main" val="678186775"/>
                  </a:ext>
                </a:extLst>
              </a:tr>
            </a:tbl>
          </a:graphicData>
        </a:graphic>
      </p:graphicFrame>
    </p:spTree>
    <p:extLst>
      <p:ext uri="{BB962C8B-B14F-4D97-AF65-F5344CB8AC3E}">
        <p14:creationId xmlns:p14="http://schemas.microsoft.com/office/powerpoint/2010/main" val="2611039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09345-5776-1EFD-16D0-515FE3207D4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CAEC37D-556C-4AA4-42FD-1BBDC1B8EB18}"/>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87E25C71-FDD2-D8DA-9BF5-85430AD8E55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8BC1C56B-03B0-F7C0-058C-A759520AB1AE}"/>
              </a:ext>
            </a:extLst>
          </p:cNvPr>
          <p:cNvSpPr>
            <a:spLocks noGrp="1"/>
          </p:cNvSpPr>
          <p:nvPr>
            <p:ph type="sldNum" sz="quarter" idx="12"/>
          </p:nvPr>
        </p:nvSpPr>
        <p:spPr/>
        <p:txBody>
          <a:bodyPr/>
          <a:lstStyle/>
          <a:p>
            <a:fld id="{B41E2F89-97C2-4B18-A593-8150592B5005}" type="slidenum">
              <a:rPr lang="en-US" smtClean="0"/>
              <a:t>30</a:t>
            </a:fld>
            <a:endParaRPr lang="en-US" dirty="0"/>
          </a:p>
        </p:txBody>
      </p:sp>
      <p:sp>
        <p:nvSpPr>
          <p:cNvPr id="7" name="Title 1">
            <a:extLst>
              <a:ext uri="{FF2B5EF4-FFF2-40B4-BE49-F238E27FC236}">
                <a16:creationId xmlns:a16="http://schemas.microsoft.com/office/drawing/2014/main" id="{4FCB98C0-F170-896A-1D73-255F46F3E7C3}"/>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CF8096FF-47F6-990A-73D4-66F6601BEBF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E9C3045A-CE02-C622-A16A-D8968AD8931E}"/>
              </a:ext>
            </a:extLst>
          </p:cNvPr>
          <p:cNvSpPr txBox="1"/>
          <p:nvPr/>
        </p:nvSpPr>
        <p:spPr>
          <a:xfrm>
            <a:off x="892139" y="1462703"/>
            <a:ext cx="10820399" cy="4339650"/>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t>The set of items to take can be deduced from the table, starting at </a:t>
            </a:r>
            <a:r>
              <a:rPr lang="en-IN" sz="2400" b="1" dirty="0"/>
              <a:t>c[n, w]</a:t>
            </a:r>
            <a:r>
              <a:rPr lang="en-IN" sz="2400" dirty="0"/>
              <a:t> and tracing backwards where the optimal values came from.</a:t>
            </a:r>
          </a:p>
          <a:p>
            <a:pPr marL="342900" indent="-342900" algn="just">
              <a:buFont typeface="Arial" panose="020B0604020202020204" pitchFamily="34" charset="0"/>
              <a:buChar char="•"/>
            </a:pPr>
            <a:r>
              <a:rPr lang="en-IN" sz="2400" dirty="0"/>
              <a:t>If </a:t>
            </a:r>
            <a:r>
              <a:rPr lang="en-IN" sz="2400" i="1" dirty="0"/>
              <a:t>c[</a:t>
            </a:r>
            <a:r>
              <a:rPr lang="en-IN" sz="2400" i="1" dirty="0" err="1"/>
              <a:t>i</a:t>
            </a:r>
            <a:r>
              <a:rPr lang="en-IN" sz="2400" i="1" dirty="0"/>
              <a:t>, w] = c[i-1, w]</a:t>
            </a:r>
            <a:r>
              <a:rPr lang="en-IN" sz="2400" dirty="0"/>
              <a:t>, then item </a:t>
            </a:r>
            <a:r>
              <a:rPr lang="en-IN" sz="2400" b="1" i="1" dirty="0" err="1"/>
              <a:t>i</a:t>
            </a:r>
            <a:r>
              <a:rPr lang="en-IN" sz="2400" dirty="0"/>
              <a:t> is not part of the solution, and we continue tracing with </a:t>
            </a:r>
            <a:r>
              <a:rPr lang="en-IN" sz="2400" b="1" dirty="0"/>
              <a:t>c[i-1, w]</a:t>
            </a:r>
            <a:r>
              <a:rPr lang="en-IN" sz="2400" dirty="0"/>
              <a:t>. Otherwise, item </a:t>
            </a:r>
            <a:r>
              <a:rPr lang="en-IN" sz="2400" b="1" i="1" dirty="0" err="1"/>
              <a:t>i</a:t>
            </a:r>
            <a:r>
              <a:rPr lang="en-IN" sz="2400" dirty="0"/>
              <a:t> is part of the solution, and we continue tracing with </a:t>
            </a:r>
            <a:r>
              <a:rPr lang="en-IN" sz="2400" b="1" dirty="0"/>
              <a:t>c[i-1, w-W]</a:t>
            </a:r>
            <a:r>
              <a:rPr lang="en-IN" sz="2400" dirty="0"/>
              <a:t>.</a:t>
            </a:r>
          </a:p>
          <a:p>
            <a:pPr algn="just"/>
            <a:endParaRPr lang="en-IN" sz="2800" dirty="0"/>
          </a:p>
          <a:p>
            <a:pPr algn="just"/>
            <a:r>
              <a:rPr lang="en-IN" sz="2800" b="1" dirty="0"/>
              <a:t>Analysis</a:t>
            </a:r>
          </a:p>
          <a:p>
            <a:pPr algn="just"/>
            <a:endParaRPr lang="en-IN" sz="2800" dirty="0"/>
          </a:p>
          <a:p>
            <a:pPr marL="342900" indent="-342900" algn="just">
              <a:buFont typeface="Arial" panose="020B0604020202020204" pitchFamily="34" charset="0"/>
              <a:buChar char="•"/>
            </a:pPr>
            <a:r>
              <a:rPr lang="en-IN" sz="2400" dirty="0"/>
              <a:t>This algorithm takes θ(</a:t>
            </a:r>
            <a:r>
              <a:rPr lang="en-IN" sz="2400" i="1" dirty="0"/>
              <a:t>n</a:t>
            </a:r>
            <a:r>
              <a:rPr lang="en-IN" sz="2400" dirty="0"/>
              <a:t>, </a:t>
            </a:r>
            <a:r>
              <a:rPr lang="en-IN" sz="2400" i="1" dirty="0"/>
              <a:t>w</a:t>
            </a:r>
            <a:r>
              <a:rPr lang="en-IN" sz="2400" dirty="0"/>
              <a:t>) times as table </a:t>
            </a:r>
            <a:r>
              <a:rPr lang="en-IN" sz="2400" i="1" dirty="0"/>
              <a:t>c</a:t>
            </a:r>
            <a:r>
              <a:rPr lang="en-IN" sz="2400" dirty="0"/>
              <a:t> has (</a:t>
            </a:r>
            <a:r>
              <a:rPr lang="en-IN" sz="2400" i="1" dirty="0"/>
              <a:t>n</a:t>
            </a:r>
            <a:r>
              <a:rPr lang="en-IN" sz="2400" dirty="0"/>
              <a:t> + 1).(</a:t>
            </a:r>
            <a:r>
              <a:rPr lang="en-IN" sz="2400" i="1" dirty="0"/>
              <a:t>w</a:t>
            </a:r>
            <a:r>
              <a:rPr lang="en-IN" sz="2400" dirty="0"/>
              <a:t> + 1) entries, where each entry requires θ(1) time to compute.</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93423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998AA-333F-EBC6-22AF-D2D5803FEC4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71A1372-A970-A73E-46A5-3ED1D5808DE3}"/>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F9521136-C47E-4D6B-FE6F-5FB589E19BEA}"/>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F0494909-65D4-2D26-D064-C025624F90B8}"/>
              </a:ext>
            </a:extLst>
          </p:cNvPr>
          <p:cNvSpPr>
            <a:spLocks noGrp="1"/>
          </p:cNvSpPr>
          <p:nvPr>
            <p:ph type="sldNum" sz="quarter" idx="12"/>
          </p:nvPr>
        </p:nvSpPr>
        <p:spPr/>
        <p:txBody>
          <a:bodyPr/>
          <a:lstStyle/>
          <a:p>
            <a:fld id="{B41E2F89-97C2-4B18-A593-8150592B5005}" type="slidenum">
              <a:rPr lang="en-US" smtClean="0"/>
              <a:t>31</a:t>
            </a:fld>
            <a:endParaRPr lang="en-US" dirty="0"/>
          </a:p>
        </p:txBody>
      </p:sp>
      <p:sp>
        <p:nvSpPr>
          <p:cNvPr id="7" name="Title 1">
            <a:extLst>
              <a:ext uri="{FF2B5EF4-FFF2-40B4-BE49-F238E27FC236}">
                <a16:creationId xmlns:a16="http://schemas.microsoft.com/office/drawing/2014/main" id="{2AD03F92-2760-8A53-2986-38BC79F57927}"/>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7543A8E7-8EDC-6FF6-9987-A5B0C641B5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336C4ADC-A2D2-3F5D-9089-6A94A3A04B9C}"/>
              </a:ext>
            </a:extLst>
          </p:cNvPr>
          <p:cNvSpPr txBox="1"/>
          <p:nvPr/>
        </p:nvSpPr>
        <p:spPr>
          <a:xfrm>
            <a:off x="892139" y="1462703"/>
            <a:ext cx="10820399" cy="3785652"/>
          </a:xfrm>
          <a:prstGeom prst="rect">
            <a:avLst/>
          </a:prstGeom>
          <a:noFill/>
        </p:spPr>
        <p:txBody>
          <a:bodyPr wrap="square" rtlCol="0">
            <a:spAutoFit/>
          </a:bodyPr>
          <a:lstStyle/>
          <a:p>
            <a:pPr algn="just"/>
            <a:r>
              <a:rPr lang="en-IN" sz="2400" b="1" dirty="0"/>
              <a:t>Steps</a:t>
            </a:r>
          </a:p>
          <a:p>
            <a:pPr marL="342900" indent="-342900" algn="just">
              <a:buFont typeface="Arial" panose="020B0604020202020204" pitchFamily="34" charset="0"/>
              <a:buChar char="•"/>
            </a:pPr>
            <a:r>
              <a:rPr lang="en-IN" sz="2400" dirty="0"/>
              <a:t>To calculate the maximum value that we can obtain </a:t>
            </a:r>
            <a:r>
              <a:rPr lang="en-IN" sz="2400" i="1" dirty="0"/>
              <a:t>with </a:t>
            </a:r>
            <a:r>
              <a:rPr lang="en-IN" sz="2400" dirty="0"/>
              <a:t>item </a:t>
            </a:r>
            <a:r>
              <a:rPr lang="en-IN" sz="2400" i="1" dirty="0" err="1"/>
              <a:t>i</a:t>
            </a:r>
            <a:r>
              <a:rPr lang="en-IN" sz="2400" dirty="0"/>
              <a:t>, we first need to compare the weight of item </a:t>
            </a:r>
            <a:r>
              <a:rPr lang="en-IN" sz="2400" i="1" dirty="0" err="1"/>
              <a:t>i</a:t>
            </a:r>
            <a:r>
              <a:rPr lang="en-IN" sz="2400" dirty="0"/>
              <a:t> with the knapsack’s weight capacity. </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Obviously, if item </a:t>
            </a:r>
            <a:r>
              <a:rPr lang="en-IN" sz="2400" i="1" dirty="0" err="1"/>
              <a:t>i</a:t>
            </a:r>
            <a:r>
              <a:rPr lang="en-IN" sz="2400" dirty="0"/>
              <a:t> weighs more than what the knapsack can hold, we can’t include it, so it does not make sense to perform the calculation. </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In that case, the solution to this problem is simply the maximum value that we can obtain without item </a:t>
            </a:r>
            <a:r>
              <a:rPr lang="en-IN" sz="2400" i="1" dirty="0" err="1"/>
              <a:t>i</a:t>
            </a:r>
            <a:r>
              <a:rPr lang="en-IN" sz="2400" dirty="0"/>
              <a:t> (i.e. the value in the row above, at the same column).</a:t>
            </a:r>
            <a:endParaRPr lang="en-US" sz="2400" dirty="0"/>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53278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D5105-FE5B-DDD0-6D37-09177AEADD0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6307BDA-E936-0FCE-9C7B-8DE3C4551D77}"/>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2E94F4A2-7FB0-2AE3-5F4D-721F8F53618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5B5A0B0-053E-188A-F0B1-6FF84CECE533}"/>
              </a:ext>
            </a:extLst>
          </p:cNvPr>
          <p:cNvSpPr>
            <a:spLocks noGrp="1"/>
          </p:cNvSpPr>
          <p:nvPr>
            <p:ph type="sldNum" sz="quarter" idx="12"/>
          </p:nvPr>
        </p:nvSpPr>
        <p:spPr/>
        <p:txBody>
          <a:bodyPr/>
          <a:lstStyle/>
          <a:p>
            <a:fld id="{B41E2F89-97C2-4B18-A593-8150592B5005}" type="slidenum">
              <a:rPr lang="en-US" smtClean="0"/>
              <a:t>32</a:t>
            </a:fld>
            <a:endParaRPr lang="en-US" dirty="0"/>
          </a:p>
        </p:txBody>
      </p:sp>
      <p:sp>
        <p:nvSpPr>
          <p:cNvPr id="7" name="Title 1">
            <a:extLst>
              <a:ext uri="{FF2B5EF4-FFF2-40B4-BE49-F238E27FC236}">
                <a16:creationId xmlns:a16="http://schemas.microsoft.com/office/drawing/2014/main" id="{06D0A618-EA6A-DC0D-ED36-D02C1FC0FB2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A808C700-26BC-75C4-6C2F-6197FCCCE6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0D9C255A-FFDA-BC00-6840-C7E4973ECC81}"/>
              </a:ext>
            </a:extLst>
          </p:cNvPr>
          <p:cNvSpPr txBox="1"/>
          <p:nvPr/>
        </p:nvSpPr>
        <p:spPr>
          <a:xfrm>
            <a:off x="534257" y="1462703"/>
            <a:ext cx="11178282" cy="4154984"/>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t>However, suppose that item </a:t>
            </a:r>
            <a:r>
              <a:rPr lang="en-IN" sz="2400" i="1" dirty="0" err="1"/>
              <a:t>i</a:t>
            </a:r>
            <a:r>
              <a:rPr lang="en-IN" sz="2400" dirty="0"/>
              <a:t> weighs less than the knapsack’s capacity. </a:t>
            </a:r>
          </a:p>
          <a:p>
            <a:pPr marL="342900" indent="-342900" algn="just">
              <a:buFont typeface="Arial" panose="020B0604020202020204" pitchFamily="34" charset="0"/>
              <a:buChar char="•"/>
            </a:pPr>
            <a:r>
              <a:rPr lang="en-IN" sz="2400" dirty="0"/>
              <a:t>We thus have the option to include it, if it potentially increases the maximum obtainable value. </a:t>
            </a:r>
          </a:p>
          <a:p>
            <a:pPr marL="342900" indent="-342900" algn="just">
              <a:buFont typeface="Arial" panose="020B0604020202020204" pitchFamily="34" charset="0"/>
              <a:buChar char="•"/>
            </a:pPr>
            <a:r>
              <a:rPr lang="en-IN" sz="2400" dirty="0"/>
              <a:t>The maximum obtainable value by including item </a:t>
            </a:r>
            <a:r>
              <a:rPr lang="en-IN" sz="2400" i="1" dirty="0" err="1"/>
              <a:t>i</a:t>
            </a:r>
            <a:r>
              <a:rPr lang="en-IN" sz="2400" dirty="0"/>
              <a:t> is thus = the value of item </a:t>
            </a:r>
            <a:r>
              <a:rPr lang="en-IN" sz="2400" i="1" dirty="0" err="1"/>
              <a:t>i</a:t>
            </a:r>
            <a:r>
              <a:rPr lang="en-IN" sz="2400" i="1" dirty="0"/>
              <a:t> </a:t>
            </a:r>
            <a:r>
              <a:rPr lang="en-IN" sz="2400" dirty="0"/>
              <a:t>itself + the maximum value that can be obtained with the remaining capacity of the knapsack. </a:t>
            </a:r>
          </a:p>
          <a:p>
            <a:pPr marL="342900" indent="-342900" algn="just">
              <a:buFont typeface="Arial" panose="020B0604020202020204" pitchFamily="34" charset="0"/>
              <a:buChar char="•"/>
            </a:pPr>
            <a:r>
              <a:rPr lang="en-IN" sz="2400" dirty="0"/>
              <a:t>We obviously want to make full use of the capacity of our knapsack, and not let any remaining capacity go to waste.</a:t>
            </a:r>
          </a:p>
          <a:p>
            <a:pPr marL="342900" indent="-342900" algn="just">
              <a:buFont typeface="Arial" panose="020B0604020202020204" pitchFamily="34" charset="0"/>
              <a:buChar char="•"/>
            </a:pPr>
            <a:r>
              <a:rPr lang="en-IN" sz="2400" dirty="0"/>
              <a:t>Therefore, at row </a:t>
            </a:r>
            <a:r>
              <a:rPr lang="en-IN" sz="2400" i="1" dirty="0" err="1"/>
              <a:t>i</a:t>
            </a:r>
            <a:r>
              <a:rPr lang="en-IN" sz="2400" i="1" dirty="0"/>
              <a:t> </a:t>
            </a:r>
            <a:r>
              <a:rPr lang="en-IN" sz="2400" dirty="0"/>
              <a:t>and column </a:t>
            </a:r>
            <a:r>
              <a:rPr lang="en-IN" sz="2400" i="1" dirty="0"/>
              <a:t>j </a:t>
            </a:r>
            <a:r>
              <a:rPr lang="en-IN" sz="2400" dirty="0"/>
              <a:t>(which represents the maximum value we can obtain there), we would pick either the maximum value that we can obtain </a:t>
            </a:r>
            <a:r>
              <a:rPr lang="en-IN" sz="2400" i="1" dirty="0"/>
              <a:t>without</a:t>
            </a:r>
            <a:r>
              <a:rPr lang="en-IN" sz="2400" dirty="0"/>
              <a:t> item </a:t>
            </a:r>
            <a:r>
              <a:rPr lang="en-IN" sz="2400" i="1" dirty="0" err="1"/>
              <a:t>i</a:t>
            </a:r>
            <a:r>
              <a:rPr lang="en-IN" sz="2400" dirty="0"/>
              <a:t>, or the maximum value that we can obtain </a:t>
            </a:r>
            <a:r>
              <a:rPr lang="en-IN" sz="2400" i="1" dirty="0"/>
              <a:t>with </a:t>
            </a:r>
            <a:r>
              <a:rPr lang="en-IN" sz="2400" dirty="0"/>
              <a:t>item </a:t>
            </a:r>
            <a:r>
              <a:rPr lang="en-IN" sz="2400" i="1" dirty="0" err="1"/>
              <a:t>i</a:t>
            </a:r>
            <a:r>
              <a:rPr lang="en-IN" sz="2400" dirty="0"/>
              <a:t>, </a:t>
            </a:r>
            <a:r>
              <a:rPr lang="en-IN" sz="2400" i="1" dirty="0"/>
              <a:t>whichever is larger</a:t>
            </a:r>
            <a:r>
              <a:rPr lang="en-IN" sz="2400" dirty="0"/>
              <a:t>.</a:t>
            </a:r>
            <a:endParaRPr lang="en-US" sz="2400" dirty="0"/>
          </a:p>
        </p:txBody>
      </p:sp>
    </p:spTree>
    <p:extLst>
      <p:ext uri="{BB962C8B-B14F-4D97-AF65-F5344CB8AC3E}">
        <p14:creationId xmlns:p14="http://schemas.microsoft.com/office/powerpoint/2010/main" val="12832896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4ECFA-9AD8-01DE-6215-EA4EBCF9426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B50BD14-8CEE-8E52-49DF-E7A199AE3F17}"/>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68FC357A-5417-2B58-D719-08511DA5B480}"/>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9A028861-8ED2-1226-908F-923C27820D45}"/>
              </a:ext>
            </a:extLst>
          </p:cNvPr>
          <p:cNvSpPr>
            <a:spLocks noGrp="1"/>
          </p:cNvSpPr>
          <p:nvPr>
            <p:ph type="sldNum" sz="quarter" idx="12"/>
          </p:nvPr>
        </p:nvSpPr>
        <p:spPr/>
        <p:txBody>
          <a:bodyPr/>
          <a:lstStyle/>
          <a:p>
            <a:fld id="{B41E2F89-97C2-4B18-A593-8150592B5005}" type="slidenum">
              <a:rPr lang="en-US" smtClean="0"/>
              <a:t>33</a:t>
            </a:fld>
            <a:endParaRPr lang="en-US" dirty="0"/>
          </a:p>
        </p:txBody>
      </p:sp>
      <p:sp>
        <p:nvSpPr>
          <p:cNvPr id="7" name="Title 1">
            <a:extLst>
              <a:ext uri="{FF2B5EF4-FFF2-40B4-BE49-F238E27FC236}">
                <a16:creationId xmlns:a16="http://schemas.microsoft.com/office/drawing/2014/main" id="{4C1E5EF5-9E5D-6301-652C-51BB7FEF83D4}"/>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5FE4E6CE-6950-EAE9-15D8-4D4DFAE4BD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96A651E9-E326-EEC6-7925-3FF46E4D8B74}"/>
              </a:ext>
            </a:extLst>
          </p:cNvPr>
          <p:cNvSpPr>
            <a:spLocks noGrp="1"/>
          </p:cNvSpPr>
          <p:nvPr>
            <p:ph idx="1"/>
          </p:nvPr>
        </p:nvSpPr>
        <p:spPr>
          <a:xfrm>
            <a:off x="838201" y="1120775"/>
            <a:ext cx="10720226" cy="5074542"/>
          </a:xfrm>
        </p:spPr>
        <p:txBody>
          <a:bodyPr>
            <a:noAutofit/>
          </a:bodyPr>
          <a:lstStyle/>
          <a:p>
            <a:pPr algn="just"/>
            <a:r>
              <a:rPr lang="en-IN" sz="2200" dirty="0"/>
              <a:t>For Example</a:t>
            </a:r>
          </a:p>
          <a:p>
            <a:pPr algn="just"/>
            <a:endParaRPr lang="en-IN" sz="2200" dirty="0"/>
          </a:p>
          <a:p>
            <a:pPr algn="just"/>
            <a:endParaRPr lang="en-IN" sz="2200" dirty="0"/>
          </a:p>
          <a:p>
            <a:pPr algn="just"/>
            <a:endParaRPr lang="en-IN" sz="2200" dirty="0"/>
          </a:p>
          <a:p>
            <a:pPr algn="just"/>
            <a:endParaRPr lang="en-IN" sz="2200" dirty="0"/>
          </a:p>
          <a:p>
            <a:pPr algn="just"/>
            <a:endParaRPr lang="en-IN" sz="2200" dirty="0"/>
          </a:p>
          <a:p>
            <a:pPr algn="just"/>
            <a:r>
              <a:rPr lang="en-IN" sz="2200" dirty="0"/>
              <a:t>At row 3 (item 2), and column 5 (knapsack capacity of 4), we can choose to either include item 2 (which weighs 4 units) or not.</a:t>
            </a:r>
          </a:p>
          <a:p>
            <a:pPr algn="just"/>
            <a:endParaRPr lang="en-IN" sz="2200" dirty="0"/>
          </a:p>
          <a:p>
            <a:pPr algn="just"/>
            <a:r>
              <a:rPr lang="en-IN" sz="2200" dirty="0"/>
              <a:t> If we choose not to include it, the maximum value we can obtain is the same as if we only have item 1 to choose from (which is found in the row above, i.e. 0).</a:t>
            </a:r>
          </a:p>
        </p:txBody>
      </p:sp>
      <p:pic>
        <p:nvPicPr>
          <p:cNvPr id="3" name="Picture 2">
            <a:extLst>
              <a:ext uri="{FF2B5EF4-FFF2-40B4-BE49-F238E27FC236}">
                <a16:creationId xmlns:a16="http://schemas.microsoft.com/office/drawing/2014/main" id="{F91479C2-B319-B05A-6C67-68239A495B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671" y="1667428"/>
            <a:ext cx="8940657" cy="1990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6333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3FD1B-6A20-58C3-0849-8E427DF4E65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0080343-39DF-DAE1-9664-8C38D205E131}"/>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52F3D830-949E-0D22-A93A-A1551A1B7D9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4AF72983-F47A-AECD-7F69-A5B81E163A2F}"/>
              </a:ext>
            </a:extLst>
          </p:cNvPr>
          <p:cNvSpPr>
            <a:spLocks noGrp="1"/>
          </p:cNvSpPr>
          <p:nvPr>
            <p:ph type="sldNum" sz="quarter" idx="12"/>
          </p:nvPr>
        </p:nvSpPr>
        <p:spPr/>
        <p:txBody>
          <a:bodyPr/>
          <a:lstStyle/>
          <a:p>
            <a:fld id="{B41E2F89-97C2-4B18-A593-8150592B5005}" type="slidenum">
              <a:rPr lang="en-US" smtClean="0"/>
              <a:t>34</a:t>
            </a:fld>
            <a:endParaRPr lang="en-US" dirty="0"/>
          </a:p>
        </p:txBody>
      </p:sp>
      <p:sp>
        <p:nvSpPr>
          <p:cNvPr id="7" name="Title 1">
            <a:extLst>
              <a:ext uri="{FF2B5EF4-FFF2-40B4-BE49-F238E27FC236}">
                <a16:creationId xmlns:a16="http://schemas.microsoft.com/office/drawing/2014/main" id="{0A13AE7A-4BE5-CDED-7A16-C096BDC7DDA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BFC317AD-3BD2-249F-F986-E1BC5B1084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B41712ED-A199-54BD-3C92-1ED57D64BB3F}"/>
              </a:ext>
            </a:extLst>
          </p:cNvPr>
          <p:cNvSpPr txBox="1"/>
          <p:nvPr/>
        </p:nvSpPr>
        <p:spPr>
          <a:xfrm>
            <a:off x="892139" y="1462703"/>
            <a:ext cx="10820399" cy="3785652"/>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t>If we want to include item 2, the maximum value we can obtain with item 2 is the value of item 2 (40) + the maximum value we can obtain with the remaining capacity (which is 0, because the knapsack is completely full already).</a:t>
            </a:r>
            <a:endParaRPr lang="en-US" sz="2400" dirty="0"/>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At row 3 (item 2), and column 10 (knapsack capacity of 9), again, we can choose to either include item 2 or not.</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 If we choose not to, the maximum value we can obtain is the same as that in the row above at the same column, i.e. 10 (by including only item 1, which has a value of 10). </a:t>
            </a:r>
          </a:p>
        </p:txBody>
      </p:sp>
    </p:spTree>
    <p:extLst>
      <p:ext uri="{BB962C8B-B14F-4D97-AF65-F5344CB8AC3E}">
        <p14:creationId xmlns:p14="http://schemas.microsoft.com/office/powerpoint/2010/main" val="1307627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6C15B-A238-9780-1903-3D5C47C42A3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D7948AB-164B-D8E2-AB2C-AE8A5DC412B3}"/>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903E717F-EDEE-E0E5-1994-FB4FE88FFCE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17CBA75-6D1F-AD7D-7281-93448A4C1874}"/>
              </a:ext>
            </a:extLst>
          </p:cNvPr>
          <p:cNvSpPr>
            <a:spLocks noGrp="1"/>
          </p:cNvSpPr>
          <p:nvPr>
            <p:ph type="sldNum" sz="quarter" idx="12"/>
          </p:nvPr>
        </p:nvSpPr>
        <p:spPr/>
        <p:txBody>
          <a:bodyPr/>
          <a:lstStyle/>
          <a:p>
            <a:fld id="{B41E2F89-97C2-4B18-A593-8150592B5005}" type="slidenum">
              <a:rPr lang="en-US" smtClean="0"/>
              <a:t>35</a:t>
            </a:fld>
            <a:endParaRPr lang="en-US" dirty="0"/>
          </a:p>
        </p:txBody>
      </p:sp>
      <p:sp>
        <p:nvSpPr>
          <p:cNvPr id="7" name="Title 1">
            <a:extLst>
              <a:ext uri="{FF2B5EF4-FFF2-40B4-BE49-F238E27FC236}">
                <a16:creationId xmlns:a16="http://schemas.microsoft.com/office/drawing/2014/main" id="{85649B37-C58A-F59C-0D66-CDAE012F7B0A}"/>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A33EA615-9F7D-C6B2-08EF-127302C33E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34DDDB2C-DE0F-29E9-F6ED-17A2642DF947}"/>
              </a:ext>
            </a:extLst>
          </p:cNvPr>
          <p:cNvSpPr txBox="1"/>
          <p:nvPr/>
        </p:nvSpPr>
        <p:spPr>
          <a:xfrm>
            <a:off x="308225" y="897625"/>
            <a:ext cx="11609797" cy="5693866"/>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t>If we include item 2, we have a remaining knapsack capacity of 9 - 4 = 5. </a:t>
            </a:r>
          </a:p>
          <a:p>
            <a:pPr marL="342900" indent="-342900" algn="just">
              <a:buFont typeface="Arial" panose="020B0604020202020204" pitchFamily="34" charset="0"/>
              <a:buChar char="•"/>
            </a:pPr>
            <a:r>
              <a:rPr lang="en-IN" sz="2400" dirty="0"/>
              <a:t>We can find out the maximum value that can be obtained with a capacity of 5 by looking at the row above, at column 5. </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Thus, the maximum value we can obtain by including item 2 is 40 (the value of item 2) + 10 = 50.</a:t>
            </a:r>
          </a:p>
          <a:p>
            <a:pPr marL="342900" indent="-342900" algn="just">
              <a:buFont typeface="Arial" panose="020B0604020202020204" pitchFamily="34" charset="0"/>
              <a:buChar char="•"/>
            </a:pPr>
            <a:r>
              <a:rPr lang="en-IN" sz="2400" dirty="0"/>
              <a:t>We pick the larger of 50 vs 10, and so the maximum value we can obtain with items 1 and 2, with a knapsack capacity of 9, is 50.</a:t>
            </a:r>
          </a:p>
          <a:p>
            <a:pPr marL="342900" indent="-342900" algn="just">
              <a:buFont typeface="Arial" panose="020B0604020202020204" pitchFamily="34" charset="0"/>
              <a:buChar char="•"/>
            </a:pPr>
            <a:endParaRPr lang="en-US" sz="2400" dirty="0"/>
          </a:p>
          <a:p>
            <a:pPr marL="342900" indent="-342900" algn="just">
              <a:buFont typeface="Arial" panose="020B0604020202020204" pitchFamily="34" charset="0"/>
              <a:buChar char="•"/>
            </a:pPr>
            <a:r>
              <a:rPr lang="en-IN" sz="2400" dirty="0"/>
              <a:t>Once the table has been populated, the final solution can be found at the last row in the last column, which represents the maximum value obtainable with </a:t>
            </a:r>
            <a:r>
              <a:rPr lang="en-IN" sz="2400" i="1" dirty="0"/>
              <a:t>all the items</a:t>
            </a:r>
            <a:r>
              <a:rPr lang="en-IN" sz="2400" dirty="0"/>
              <a:t> and the </a:t>
            </a:r>
            <a:r>
              <a:rPr lang="en-IN" sz="2400" i="1" dirty="0"/>
              <a:t>full capacity </a:t>
            </a:r>
            <a:r>
              <a:rPr lang="en-IN" sz="2400" dirty="0"/>
              <a:t>of the knapsack.</a:t>
            </a:r>
          </a:p>
          <a:p>
            <a:pPr marL="342900" indent="-342900" algn="just">
              <a:buFont typeface="Arial" panose="020B0604020202020204" pitchFamily="34" charset="0"/>
              <a:buChar char="•"/>
            </a:pPr>
            <a:endParaRPr lang="en-IN" sz="2400" dirty="0"/>
          </a:p>
          <a:p>
            <a:pPr marL="342900" indent="-342900" algn="just">
              <a:buFont typeface="Arial" panose="020B0604020202020204" pitchFamily="34" charset="0"/>
              <a:buChar char="•"/>
            </a:pPr>
            <a:r>
              <a:rPr lang="en-IN" sz="2400" dirty="0"/>
              <a:t>For more examples watch the following </a:t>
            </a:r>
            <a:r>
              <a:rPr lang="en-IN" sz="2400" dirty="0" err="1"/>
              <a:t>youtube</a:t>
            </a:r>
            <a:r>
              <a:rPr lang="en-IN" sz="2400" dirty="0"/>
              <a:t> link</a:t>
            </a:r>
          </a:p>
          <a:p>
            <a:pPr marL="457200" indent="-457200" algn="just">
              <a:buFont typeface="Arial" panose="020B0604020202020204" pitchFamily="34" charset="0"/>
              <a:buChar char="•"/>
            </a:pPr>
            <a:r>
              <a:rPr lang="en-IN" sz="2800" dirty="0">
                <a:hlinkClick r:id="rId3"/>
              </a:rPr>
              <a:t>https://www.youtube.com/watch?v=oTTzNMHM05I</a:t>
            </a:r>
            <a:endParaRPr lang="en-US" sz="2400" dirty="0"/>
          </a:p>
        </p:txBody>
      </p:sp>
    </p:spTree>
    <p:extLst>
      <p:ext uri="{BB962C8B-B14F-4D97-AF65-F5344CB8AC3E}">
        <p14:creationId xmlns:p14="http://schemas.microsoft.com/office/powerpoint/2010/main" val="26868415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B92F9-8886-D936-0769-DFF436BAE43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A2A8C2B-5BE0-EF8E-D133-791733F93DCC}"/>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1922A801-6B25-67D2-D8A5-2FE4499CBD7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E8A49787-1AB0-4EFA-177C-D9474C969A49}"/>
              </a:ext>
            </a:extLst>
          </p:cNvPr>
          <p:cNvSpPr>
            <a:spLocks noGrp="1"/>
          </p:cNvSpPr>
          <p:nvPr>
            <p:ph type="sldNum" sz="quarter" idx="12"/>
          </p:nvPr>
        </p:nvSpPr>
        <p:spPr/>
        <p:txBody>
          <a:bodyPr/>
          <a:lstStyle/>
          <a:p>
            <a:fld id="{B41E2F89-97C2-4B18-A593-8150592B5005}" type="slidenum">
              <a:rPr lang="en-US" smtClean="0"/>
              <a:t>36</a:t>
            </a:fld>
            <a:endParaRPr lang="en-US" dirty="0"/>
          </a:p>
        </p:txBody>
      </p:sp>
      <p:sp>
        <p:nvSpPr>
          <p:cNvPr id="7" name="Title 1">
            <a:extLst>
              <a:ext uri="{FF2B5EF4-FFF2-40B4-BE49-F238E27FC236}">
                <a16:creationId xmlns:a16="http://schemas.microsoft.com/office/drawing/2014/main" id="{E90EA47A-A4FD-FF0F-BA23-72324B876C3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0/1 Knapsack Problem</a:t>
            </a:r>
          </a:p>
        </p:txBody>
      </p:sp>
      <p:pic>
        <p:nvPicPr>
          <p:cNvPr id="8" name="Picture 7" descr="A black and red logo&#10;&#10;Description automatically generated">
            <a:extLst>
              <a:ext uri="{FF2B5EF4-FFF2-40B4-BE49-F238E27FC236}">
                <a16:creationId xmlns:a16="http://schemas.microsoft.com/office/drawing/2014/main" id="{B8503FD1-9944-91FE-40B9-ED78F12847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9780FA21-F451-4AA8-F63A-B4C4654531F3}"/>
              </a:ext>
            </a:extLst>
          </p:cNvPr>
          <p:cNvSpPr txBox="1"/>
          <p:nvPr/>
        </p:nvSpPr>
        <p:spPr>
          <a:xfrm>
            <a:off x="308225" y="897625"/>
            <a:ext cx="11609797" cy="5447645"/>
          </a:xfrm>
          <a:prstGeom prst="rect">
            <a:avLst/>
          </a:prstGeom>
          <a:noFill/>
        </p:spPr>
        <p:txBody>
          <a:bodyPr wrap="square" rtlCol="0">
            <a:spAutoFit/>
          </a:bodyPr>
          <a:lstStyle/>
          <a:p>
            <a:pPr algn="just"/>
            <a:r>
              <a:rPr lang="en-US" sz="2400" b="1" dirty="0"/>
              <a:t>Daily </a:t>
            </a:r>
            <a:r>
              <a:rPr lang="en-US" sz="2400" b="1" dirty="0" err="1"/>
              <a:t>Qquuiz</a:t>
            </a:r>
            <a:endParaRPr lang="en-US" sz="2400" b="1" dirty="0"/>
          </a:p>
          <a:p>
            <a:pPr algn="just"/>
            <a:endParaRPr lang="en-US" sz="2400" dirty="0"/>
          </a:p>
          <a:p>
            <a:pPr marL="457200" indent="-457200" algn="just">
              <a:buFont typeface="+mj-lt"/>
              <a:buAutoNum type="arabicPeriod"/>
            </a:pPr>
            <a:r>
              <a:rPr lang="en-US" sz="2000" dirty="0"/>
              <a:t>Which property is NOT required for DP to be applicable?</a:t>
            </a:r>
          </a:p>
          <a:p>
            <a:pPr algn="just"/>
            <a:r>
              <a:rPr lang="en-US" sz="2000" dirty="0"/>
              <a:t>	A. Optimal Substructure</a:t>
            </a:r>
          </a:p>
          <a:p>
            <a:pPr algn="just"/>
            <a:r>
              <a:rPr lang="en-US" sz="2000" dirty="0"/>
              <a:t>	B. Overlapping Subproblems</a:t>
            </a:r>
          </a:p>
          <a:p>
            <a:pPr algn="just"/>
            <a:r>
              <a:rPr lang="en-US" sz="2000" dirty="0"/>
              <a:t>	C. Greedy Choice Property</a:t>
            </a:r>
          </a:p>
          <a:p>
            <a:pPr algn="just"/>
            <a:r>
              <a:rPr lang="en-US" sz="2000" dirty="0"/>
              <a:t>	D. Both A and B are required</a:t>
            </a:r>
          </a:p>
          <a:p>
            <a:pPr marL="457200" indent="-457200" algn="just">
              <a:buAutoNum type="arabicPeriod" startAt="2"/>
            </a:pPr>
            <a:r>
              <a:rPr lang="en-US" sz="2000" dirty="0"/>
              <a:t>In 0/1 Knapsack, if </a:t>
            </a:r>
            <a:r>
              <a:rPr lang="en-US" sz="2000" dirty="0" err="1"/>
              <a:t>wt</a:t>
            </a:r>
            <a:r>
              <a:rPr lang="en-US" sz="2000" dirty="0"/>
              <a:t>[</a:t>
            </a:r>
            <a:r>
              <a:rPr lang="en-US" sz="2000" dirty="0" err="1"/>
              <a:t>i</a:t>
            </a:r>
            <a:r>
              <a:rPr lang="en-US" sz="2000" dirty="0"/>
              <a:t>] &gt; W then:</a:t>
            </a:r>
          </a:p>
          <a:p>
            <a:pPr algn="just"/>
            <a:r>
              <a:rPr lang="en-US" sz="2000" dirty="0"/>
              <a:t>	A. </a:t>
            </a:r>
            <a:r>
              <a:rPr lang="en-US" sz="2000" dirty="0" err="1"/>
              <a:t>dp</a:t>
            </a:r>
            <a:r>
              <a:rPr lang="en-US" sz="2000" dirty="0"/>
              <a:t>[</a:t>
            </a:r>
            <a:r>
              <a:rPr lang="en-US" sz="2000" dirty="0" err="1"/>
              <a:t>i</a:t>
            </a:r>
            <a:r>
              <a:rPr lang="en-US" sz="2000" dirty="0"/>
              <a:t>][w] = </a:t>
            </a:r>
            <a:r>
              <a:rPr lang="en-US" sz="2000" dirty="0" err="1"/>
              <a:t>dp</a:t>
            </a:r>
            <a:r>
              <a:rPr lang="en-US" sz="2000" dirty="0"/>
              <a:t>[i-1][w]</a:t>
            </a:r>
          </a:p>
          <a:p>
            <a:pPr algn="just"/>
            <a:r>
              <a:rPr lang="en-US" sz="2000" dirty="0"/>
              <a:t>	B. </a:t>
            </a:r>
            <a:r>
              <a:rPr lang="en-US" sz="2000" dirty="0" err="1"/>
              <a:t>dp</a:t>
            </a:r>
            <a:r>
              <a:rPr lang="en-US" sz="2000" dirty="0"/>
              <a:t>[</a:t>
            </a:r>
            <a:r>
              <a:rPr lang="en-US" sz="2000" dirty="0" err="1"/>
              <a:t>i</a:t>
            </a:r>
            <a:r>
              <a:rPr lang="en-US" sz="2000" dirty="0"/>
              <a:t>][w] = 0</a:t>
            </a:r>
          </a:p>
          <a:p>
            <a:pPr algn="just"/>
            <a:r>
              <a:rPr lang="en-US" sz="2000" dirty="0"/>
              <a:t>	C. </a:t>
            </a:r>
            <a:r>
              <a:rPr lang="en-US" sz="2000" dirty="0" err="1"/>
              <a:t>dp</a:t>
            </a:r>
            <a:r>
              <a:rPr lang="en-US" sz="2000" dirty="0"/>
              <a:t>[</a:t>
            </a:r>
            <a:r>
              <a:rPr lang="en-US" sz="2000" dirty="0" err="1"/>
              <a:t>i</a:t>
            </a:r>
            <a:r>
              <a:rPr lang="en-US" sz="2000" dirty="0"/>
              <a:t>][w] = </a:t>
            </a:r>
            <a:r>
              <a:rPr lang="en-US" sz="2000" dirty="0" err="1"/>
              <a:t>val</a:t>
            </a:r>
            <a:r>
              <a:rPr lang="en-US" sz="2000" dirty="0"/>
              <a:t>[</a:t>
            </a:r>
            <a:r>
              <a:rPr lang="en-US" sz="2000" dirty="0" err="1"/>
              <a:t>i</a:t>
            </a:r>
            <a:r>
              <a:rPr lang="en-US" sz="2000" dirty="0"/>
              <a:t>]</a:t>
            </a:r>
          </a:p>
          <a:p>
            <a:pPr algn="just"/>
            <a:r>
              <a:rPr lang="en-US" sz="2000" dirty="0"/>
              <a:t>	D. Item must be included</a:t>
            </a:r>
          </a:p>
          <a:p>
            <a:pPr marL="457200" indent="-457200" algn="just">
              <a:buAutoNum type="arabicPeriod" startAt="3"/>
            </a:pPr>
            <a:r>
              <a:rPr lang="en-US" sz="2000" dirty="0"/>
              <a:t>0/1 Knapsack cannot be solved by greedy because:</a:t>
            </a:r>
          </a:p>
          <a:p>
            <a:pPr algn="just"/>
            <a:r>
              <a:rPr lang="en-US" sz="2000" dirty="0"/>
              <a:t>	A. It’s too slow</a:t>
            </a:r>
          </a:p>
          <a:p>
            <a:pPr algn="just"/>
            <a:r>
              <a:rPr lang="en-US" sz="2000" dirty="0"/>
              <a:t>	B. Local optimal ≠ Global optimal</a:t>
            </a:r>
          </a:p>
          <a:p>
            <a:pPr algn="just"/>
            <a:r>
              <a:rPr lang="en-US" sz="2000" dirty="0"/>
              <a:t>	C. No overlapping subproblems</a:t>
            </a:r>
          </a:p>
          <a:p>
            <a:pPr algn="just"/>
            <a:r>
              <a:rPr lang="en-US" sz="2000" dirty="0"/>
              <a:t>	D. It needs sorting</a:t>
            </a:r>
          </a:p>
        </p:txBody>
      </p:sp>
    </p:spTree>
    <p:extLst>
      <p:ext uri="{BB962C8B-B14F-4D97-AF65-F5344CB8AC3E}">
        <p14:creationId xmlns:p14="http://schemas.microsoft.com/office/powerpoint/2010/main" val="9784223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5F64B-4353-54CA-FFFA-2C558C5BEE9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E2C7444-29A1-FE1F-BB3E-7CA3FA6EEC05}"/>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9ECF9284-4BBB-A607-1FDE-4491622762F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85DC95DE-6DEF-25A0-B0A6-FBCD47A7406F}"/>
              </a:ext>
            </a:extLst>
          </p:cNvPr>
          <p:cNvSpPr>
            <a:spLocks noGrp="1"/>
          </p:cNvSpPr>
          <p:nvPr>
            <p:ph type="sldNum" sz="quarter" idx="12"/>
          </p:nvPr>
        </p:nvSpPr>
        <p:spPr/>
        <p:txBody>
          <a:bodyPr/>
          <a:lstStyle/>
          <a:p>
            <a:fld id="{B41E2F89-97C2-4B18-A593-8150592B5005}" type="slidenum">
              <a:rPr lang="en-US" smtClean="0"/>
              <a:t>37</a:t>
            </a:fld>
            <a:endParaRPr lang="en-US" dirty="0"/>
          </a:p>
        </p:txBody>
      </p:sp>
      <p:sp>
        <p:nvSpPr>
          <p:cNvPr id="7" name="Title 1">
            <a:extLst>
              <a:ext uri="{FF2B5EF4-FFF2-40B4-BE49-F238E27FC236}">
                <a16:creationId xmlns:a16="http://schemas.microsoft.com/office/drawing/2014/main" id="{F2E3A186-5D85-2F05-2CB9-4A6CE5974BE3}"/>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B933A848-07F9-EC0F-1505-06B4F5715C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81B52E64-5639-ABC7-D142-8CA7EF9B37F0}"/>
              </a:ext>
            </a:extLst>
          </p:cNvPr>
          <p:cNvSpPr txBox="1"/>
          <p:nvPr/>
        </p:nvSpPr>
        <p:spPr>
          <a:xfrm>
            <a:off x="892139" y="1462703"/>
            <a:ext cx="10820399"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Substring – Group of characters in contiguous location.</a:t>
            </a:r>
          </a:p>
          <a:p>
            <a:pPr marL="342900" indent="-342900">
              <a:buFont typeface="Arial" panose="020B0604020202020204" pitchFamily="34" charset="0"/>
              <a:buChar char="•"/>
            </a:pPr>
            <a:r>
              <a:rPr lang="en-US" sz="2400" dirty="0"/>
              <a:t>Subsequence – Group of characters in non -contiguous location.</a:t>
            </a:r>
          </a:p>
          <a:p>
            <a:pPr marL="342900" indent="-342900">
              <a:buFont typeface="Arial" panose="020B0604020202020204" pitchFamily="34" charset="0"/>
              <a:buChar char="•"/>
            </a:pPr>
            <a:endParaRPr lang="en-US" sz="2400" dirty="0"/>
          </a:p>
          <a:p>
            <a:r>
              <a:rPr lang="en-US" sz="2400" dirty="0"/>
              <a:t>Example</a:t>
            </a:r>
          </a:p>
          <a:p>
            <a:pPr marL="342900" indent="-342900">
              <a:buFont typeface="Arial" panose="020B0604020202020204" pitchFamily="34" charset="0"/>
              <a:buChar char="•"/>
            </a:pPr>
            <a:r>
              <a:rPr lang="en-US" sz="2400" dirty="0"/>
              <a:t>String : ABCDEF</a:t>
            </a:r>
          </a:p>
          <a:p>
            <a:pPr marL="342900" indent="-342900">
              <a:buFont typeface="Arial" panose="020B0604020202020204" pitchFamily="34" charset="0"/>
              <a:buChar char="•"/>
            </a:pPr>
            <a:r>
              <a:rPr lang="en-US" sz="2400" dirty="0"/>
              <a:t>Substring – ABC</a:t>
            </a:r>
          </a:p>
          <a:p>
            <a:pPr marL="342900" indent="-342900">
              <a:buFont typeface="Arial" panose="020B0604020202020204" pitchFamily="34" charset="0"/>
              <a:buChar char="•"/>
            </a:pPr>
            <a:r>
              <a:rPr lang="en-US" sz="2400" dirty="0"/>
              <a:t>Subsequence – ACE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Application: DNA Matching, Matching of two version of </a:t>
            </a:r>
            <a:r>
              <a:rPr lang="en-US" sz="2400" dirty="0" err="1"/>
              <a:t>softwares</a:t>
            </a:r>
            <a:r>
              <a:rPr lang="en-US" sz="2400" dirty="0"/>
              <a:t>, Search engines, Plagiarism.</a:t>
            </a: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86769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6F412-711F-85E5-F106-204B270219B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864E8FF-5D77-25E2-FC1A-4A85A9CEFC5B}"/>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C5892BFC-DAAF-33AC-24A9-AFDA1DACC11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6CC8DB73-369A-012C-5EE4-A7F0F5809FAD}"/>
              </a:ext>
            </a:extLst>
          </p:cNvPr>
          <p:cNvSpPr>
            <a:spLocks noGrp="1"/>
          </p:cNvSpPr>
          <p:nvPr>
            <p:ph type="sldNum" sz="quarter" idx="12"/>
          </p:nvPr>
        </p:nvSpPr>
        <p:spPr/>
        <p:txBody>
          <a:bodyPr/>
          <a:lstStyle/>
          <a:p>
            <a:fld id="{B41E2F89-97C2-4B18-A593-8150592B5005}" type="slidenum">
              <a:rPr lang="en-US" smtClean="0"/>
              <a:t>38</a:t>
            </a:fld>
            <a:endParaRPr lang="en-US" dirty="0"/>
          </a:p>
        </p:txBody>
      </p:sp>
      <p:sp>
        <p:nvSpPr>
          <p:cNvPr id="7" name="Title 1">
            <a:extLst>
              <a:ext uri="{FF2B5EF4-FFF2-40B4-BE49-F238E27FC236}">
                <a16:creationId xmlns:a16="http://schemas.microsoft.com/office/drawing/2014/main" id="{DC44D7F5-265C-6C80-6D76-74AFF27D39D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5958A035-D15D-45A8-034E-EDECF71AC21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EB056889-2DCE-F629-FA54-F260A6894C61}"/>
              </a:ext>
            </a:extLst>
          </p:cNvPr>
          <p:cNvSpPr txBox="1"/>
          <p:nvPr/>
        </p:nvSpPr>
        <p:spPr>
          <a:xfrm>
            <a:off x="892139" y="1462703"/>
            <a:ext cx="10820399"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longest common subsequence (LCS) is defined as the longest subsequence that is common to all the given sequences, provided that the elements of the subsequence are not required to occupy consecutive positions within the original sequences.</a:t>
            </a:r>
          </a:p>
          <a:p>
            <a:pPr marL="342900" indent="-342900">
              <a:buFont typeface="Arial" panose="020B0604020202020204" pitchFamily="34" charset="0"/>
              <a:buChar char="•"/>
            </a:pPr>
            <a:r>
              <a:rPr lang="en-US" sz="2400" dirty="0"/>
              <a:t>If S1 and S2 are the two given sequences then, Z is the common subsequence of S1 and S2 if Z is a subsequence of both S1 and S2. Furthermore, Z must be a </a:t>
            </a:r>
            <a:r>
              <a:rPr lang="en-US" sz="2400" b="1" dirty="0"/>
              <a:t>strictly increasing sequence</a:t>
            </a:r>
            <a:r>
              <a:rPr lang="en-US" sz="2400" dirty="0"/>
              <a:t> of the indices of both S1 and S2.</a:t>
            </a:r>
          </a:p>
          <a:p>
            <a:pPr marL="342900" indent="-342900">
              <a:buFont typeface="Arial" panose="020B0604020202020204" pitchFamily="34" charset="0"/>
              <a:buChar char="•"/>
            </a:pPr>
            <a:r>
              <a:rPr lang="en-US" sz="2400" dirty="0"/>
              <a:t>In a strictly increasing sequence, the indices of the elements chosen from the original sequences must be in ascending order in Z.</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0294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C87B2-A221-5996-26D0-7C8939019C3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BCD42C7-889D-3EF6-861D-248D9F0AF72F}"/>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8D8047E9-3F94-2714-8FA8-0F465A0FE9CB}"/>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CF5E634-FEC5-7752-A2AE-D97423487CC3}"/>
              </a:ext>
            </a:extLst>
          </p:cNvPr>
          <p:cNvSpPr>
            <a:spLocks noGrp="1"/>
          </p:cNvSpPr>
          <p:nvPr>
            <p:ph type="sldNum" sz="quarter" idx="12"/>
          </p:nvPr>
        </p:nvSpPr>
        <p:spPr/>
        <p:txBody>
          <a:bodyPr/>
          <a:lstStyle/>
          <a:p>
            <a:fld id="{B41E2F89-97C2-4B18-A593-8150592B5005}" type="slidenum">
              <a:rPr lang="en-US" smtClean="0"/>
              <a:t>39</a:t>
            </a:fld>
            <a:endParaRPr lang="en-US" dirty="0"/>
          </a:p>
        </p:txBody>
      </p:sp>
      <p:sp>
        <p:nvSpPr>
          <p:cNvPr id="7" name="Title 1">
            <a:extLst>
              <a:ext uri="{FF2B5EF4-FFF2-40B4-BE49-F238E27FC236}">
                <a16:creationId xmlns:a16="http://schemas.microsoft.com/office/drawing/2014/main" id="{46DA5446-EA3C-C6E7-BA7B-456D5F2C9338}"/>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32ECCF75-5760-C59A-9FEC-4C62207BFE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TextBox 8">
            <a:extLst>
              <a:ext uri="{FF2B5EF4-FFF2-40B4-BE49-F238E27FC236}">
                <a16:creationId xmlns:a16="http://schemas.microsoft.com/office/drawing/2014/main" id="{AEAECC3E-FF5D-78F8-7815-6AA1BB5192FA}"/>
              </a:ext>
            </a:extLst>
          </p:cNvPr>
          <p:cNvSpPr txBox="1"/>
          <p:nvPr/>
        </p:nvSpPr>
        <p:spPr>
          <a:xfrm>
            <a:off x="892139" y="1462703"/>
            <a:ext cx="10820399" cy="415498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If S1={B,C,D,A,A,C,D} then, {A,D,B} cannot be a subsequence of S1 as the order of the elements is not the same (</a:t>
            </a:r>
            <a:r>
              <a:rPr lang="en-US" sz="2400" dirty="0" err="1"/>
              <a:t>ie</a:t>
            </a:r>
            <a:r>
              <a:rPr lang="en-US" sz="2400" dirty="0"/>
              <a:t>. not strictly increasing sequence).</a:t>
            </a:r>
          </a:p>
          <a:p>
            <a:pPr marL="342900" indent="-342900">
              <a:buFont typeface="Arial" panose="020B0604020202020204" pitchFamily="34" charset="0"/>
              <a:buChar char="•"/>
            </a:pPr>
            <a:r>
              <a:rPr lang="en-US" sz="2400" dirty="0"/>
              <a:t>Let us understand LCS with an example:</a:t>
            </a:r>
          </a:p>
          <a:p>
            <a:pPr marL="342900" indent="-342900">
              <a:buFont typeface="Arial" panose="020B0604020202020204" pitchFamily="34" charset="0"/>
              <a:buChar char="•"/>
            </a:pPr>
            <a:r>
              <a:rPr lang="en-US" sz="2400" dirty="0"/>
              <a:t>If </a:t>
            </a:r>
            <a:r>
              <a:rPr lang="en-US" sz="2400" b="1" dirty="0"/>
              <a:t>S1 = {B,C,D,A,A,C,D}</a:t>
            </a:r>
          </a:p>
          <a:p>
            <a:r>
              <a:rPr lang="en-US" sz="2400" b="1" dirty="0"/>
              <a:t>	    S2 = {A,C, D,B,A,C}</a:t>
            </a:r>
          </a:p>
          <a:p>
            <a:pPr marL="342900" indent="-342900">
              <a:buFont typeface="Arial" panose="020B0604020202020204" pitchFamily="34" charset="0"/>
              <a:buChar char="•"/>
            </a:pPr>
            <a:r>
              <a:rPr lang="en-IN" sz="2400" dirty="0"/>
              <a:t>Then, common </a:t>
            </a:r>
            <a:r>
              <a:rPr lang="en-IN" sz="2400" dirty="0" err="1"/>
              <a:t>subsequences</a:t>
            </a:r>
            <a:r>
              <a:rPr lang="en-IN" sz="2400" dirty="0"/>
              <a:t> are:</a:t>
            </a:r>
          </a:p>
          <a:p>
            <a:pPr marL="342900" indent="-342900">
              <a:buFont typeface="Arial" panose="020B0604020202020204" pitchFamily="34" charset="0"/>
              <a:buChar char="•"/>
            </a:pPr>
            <a:r>
              <a:rPr lang="en-US" sz="2400" b="1" dirty="0"/>
              <a:t>{B,C}{C,D,A,C}{D,A,C}{A,A,C}{A,C}{C,D}…</a:t>
            </a:r>
          </a:p>
          <a:p>
            <a:pPr marL="342900" indent="-342900">
              <a:buFont typeface="Arial" panose="020B0604020202020204" pitchFamily="34" charset="0"/>
              <a:buChar char="•"/>
            </a:pPr>
            <a:r>
              <a:rPr lang="en-IN" sz="2400" dirty="0"/>
              <a:t>Among these </a:t>
            </a:r>
            <a:r>
              <a:rPr lang="en-IN" sz="2400" dirty="0" err="1"/>
              <a:t>subsequences</a:t>
            </a:r>
            <a:r>
              <a:rPr lang="en-IN" sz="2400" dirty="0"/>
              <a:t>, </a:t>
            </a:r>
            <a:r>
              <a:rPr lang="en-US" sz="2400" dirty="0"/>
              <a:t>{C,D,A,C}  is the longest common subsequence. We are going to find this longest common subsequence using dynamic programming.</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1589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9EA35-F000-DC4E-1C12-474F957C9E8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063C348-21B4-186C-6FC9-12A300B94C72}"/>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292A1881-9C89-F73A-BF85-88DF4653C34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50BF6CEC-3172-86B9-0433-00A058F62C14}"/>
              </a:ext>
            </a:extLst>
          </p:cNvPr>
          <p:cNvSpPr>
            <a:spLocks noGrp="1"/>
          </p:cNvSpPr>
          <p:nvPr>
            <p:ph type="sldNum" sz="quarter" idx="12"/>
          </p:nvPr>
        </p:nvSpPr>
        <p:spPr/>
        <p:txBody>
          <a:bodyPr/>
          <a:lstStyle/>
          <a:p>
            <a:fld id="{B41E2F89-97C2-4B18-A593-8150592B5005}" type="slidenum">
              <a:rPr lang="en-US" smtClean="0"/>
              <a:t>40</a:t>
            </a:fld>
            <a:endParaRPr lang="en-US" dirty="0"/>
          </a:p>
        </p:txBody>
      </p:sp>
      <p:sp>
        <p:nvSpPr>
          <p:cNvPr id="7" name="Title 1">
            <a:extLst>
              <a:ext uri="{FF2B5EF4-FFF2-40B4-BE49-F238E27FC236}">
                <a16:creationId xmlns:a16="http://schemas.microsoft.com/office/drawing/2014/main" id="{DD15B76D-700D-48F4-815D-87F6FEAC8A26}"/>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38B5D065-7F64-F26A-AB8B-65D12A34CF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C3AD6381-1241-ADC1-6402-3E2E6C6D3F98}"/>
              </a:ext>
            </a:extLst>
          </p:cNvPr>
          <p:cNvSpPr>
            <a:spLocks noGrp="1"/>
          </p:cNvSpPr>
          <p:nvPr>
            <p:ph idx="1"/>
          </p:nvPr>
        </p:nvSpPr>
        <p:spPr>
          <a:xfrm>
            <a:off x="457200" y="1181099"/>
            <a:ext cx="10689518" cy="5047811"/>
          </a:xfrm>
        </p:spPr>
        <p:txBody>
          <a:bodyPr>
            <a:normAutofit/>
          </a:bodyPr>
          <a:lstStyle/>
          <a:p>
            <a:pPr marL="0" indent="0">
              <a:buNone/>
            </a:pPr>
            <a:r>
              <a:rPr lang="en-US" b="1" dirty="0"/>
              <a:t>Using Dynamic Programming to find the LCS</a:t>
            </a:r>
          </a:p>
          <a:p>
            <a:r>
              <a:rPr lang="en-US" dirty="0"/>
              <a:t>Let us take two sequences:</a:t>
            </a:r>
          </a:p>
          <a:p>
            <a:endParaRPr lang="en-US" dirty="0"/>
          </a:p>
          <a:p>
            <a:endParaRPr lang="en-US" dirty="0"/>
          </a:p>
          <a:p>
            <a:endParaRPr lang="en-US" dirty="0"/>
          </a:p>
          <a:p>
            <a:r>
              <a:rPr lang="en-US" dirty="0"/>
              <a:t>The following steps are followed for finding the longest common subsequence.</a:t>
            </a:r>
          </a:p>
          <a:p>
            <a:r>
              <a:rPr lang="en-US" dirty="0"/>
              <a:t>Create a table of dimension n+1*m+1 where n and m are the lengths of X and Y respectively. The first row and the first column are filled with zeros.</a:t>
            </a:r>
          </a:p>
          <a:p>
            <a:pPr marL="0" indent="0">
              <a:buNone/>
            </a:pPr>
            <a:endParaRPr lang="en-US" sz="2200" dirty="0"/>
          </a:p>
        </p:txBody>
      </p:sp>
      <p:pic>
        <p:nvPicPr>
          <p:cNvPr id="3" name="Picture 2" descr="Longest Common Subsequence first sequence">
            <a:extLst>
              <a:ext uri="{FF2B5EF4-FFF2-40B4-BE49-F238E27FC236}">
                <a16:creationId xmlns:a16="http://schemas.microsoft.com/office/drawing/2014/main" id="{4F715E58-4C17-12D4-1CCC-11E0F7E26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4264" y="2204864"/>
            <a:ext cx="5338936" cy="7200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Longest Common Subsequence first sequence">
            <a:extLst>
              <a:ext uri="{FF2B5EF4-FFF2-40B4-BE49-F238E27FC236}">
                <a16:creationId xmlns:a16="http://schemas.microsoft.com/office/drawing/2014/main" id="{0B4C2409-E118-7CE4-784E-7FA8D7929E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5282" y="3052384"/>
            <a:ext cx="5614950" cy="736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7415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16D0B-03AA-FFD6-F4D3-2F1B9064C33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231F29D-D3BE-63E7-0F2F-A5A212EF53A0}"/>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64E56B93-D6E5-8620-4ED7-8C6B2F30F14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4E29E64-2440-2392-E5F0-02065977269B}"/>
              </a:ext>
            </a:extLst>
          </p:cNvPr>
          <p:cNvSpPr>
            <a:spLocks noGrp="1"/>
          </p:cNvSpPr>
          <p:nvPr>
            <p:ph type="sldNum" sz="quarter" idx="12"/>
          </p:nvPr>
        </p:nvSpPr>
        <p:spPr/>
        <p:txBody>
          <a:bodyPr/>
          <a:lstStyle/>
          <a:p>
            <a:fld id="{B41E2F89-97C2-4B18-A593-8150592B5005}" type="slidenum">
              <a:rPr lang="en-US" smtClean="0"/>
              <a:t>41</a:t>
            </a:fld>
            <a:endParaRPr lang="en-US" dirty="0"/>
          </a:p>
        </p:txBody>
      </p:sp>
      <p:sp>
        <p:nvSpPr>
          <p:cNvPr id="7" name="Title 1">
            <a:extLst>
              <a:ext uri="{FF2B5EF4-FFF2-40B4-BE49-F238E27FC236}">
                <a16:creationId xmlns:a16="http://schemas.microsoft.com/office/drawing/2014/main" id="{4CD62AF7-1F0E-91FC-E5BB-DBE2520A57F9}"/>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9CFA2A7B-88D5-C7BD-1ACE-DD864F4E7B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DA141DC0-59D6-C148-6C16-2777A3CB6952}"/>
              </a:ext>
            </a:extLst>
          </p:cNvPr>
          <p:cNvSpPr>
            <a:spLocks noGrp="1"/>
          </p:cNvSpPr>
          <p:nvPr>
            <p:ph idx="1"/>
          </p:nvPr>
        </p:nvSpPr>
        <p:spPr>
          <a:xfrm>
            <a:off x="228600" y="4664466"/>
            <a:ext cx="11288730" cy="1596509"/>
          </a:xfrm>
        </p:spPr>
        <p:txBody>
          <a:bodyPr>
            <a:normAutofit fontScale="70000" lnSpcReduction="20000"/>
          </a:bodyPr>
          <a:lstStyle/>
          <a:p>
            <a:r>
              <a:rPr lang="en-US" dirty="0"/>
              <a:t>Fill each cell of the table using the following logic.</a:t>
            </a:r>
          </a:p>
          <a:p>
            <a:r>
              <a:rPr lang="en-US" dirty="0"/>
              <a:t>If the character corresponding to the current row and current column are matching, then fill the current cell by adding one to the diagonal element. Point an arrow to the diagonal cell.</a:t>
            </a:r>
          </a:p>
          <a:p>
            <a:r>
              <a:rPr lang="en-US" dirty="0"/>
              <a:t>Else take the maximum value from the previous column and previous row element for filling the current cell. Point an arrow to the cell with maximum value. If they are equal, point to any of them.</a:t>
            </a:r>
          </a:p>
        </p:txBody>
      </p:sp>
      <p:pic>
        <p:nvPicPr>
          <p:cNvPr id="3" name="Picture 2" descr="Longest Common Subsequence initialise table">
            <a:extLst>
              <a:ext uri="{FF2B5EF4-FFF2-40B4-BE49-F238E27FC236}">
                <a16:creationId xmlns:a16="http://schemas.microsoft.com/office/drawing/2014/main" id="{AFBF851F-7B13-5E2C-42B2-FE36606AF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592" y="1315093"/>
            <a:ext cx="9976207" cy="2845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0550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52FE3-C059-6FB3-5FF2-F9242ABA49F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B600C43-C352-8CA0-619A-CB511A370B29}"/>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0DA8C1F0-E1F6-544D-0B11-D5B17F683780}"/>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879CC887-A35A-1FC8-C975-38CEE9AEF194}"/>
              </a:ext>
            </a:extLst>
          </p:cNvPr>
          <p:cNvSpPr>
            <a:spLocks noGrp="1"/>
          </p:cNvSpPr>
          <p:nvPr>
            <p:ph type="sldNum" sz="quarter" idx="12"/>
          </p:nvPr>
        </p:nvSpPr>
        <p:spPr/>
        <p:txBody>
          <a:bodyPr/>
          <a:lstStyle/>
          <a:p>
            <a:fld id="{B41E2F89-97C2-4B18-A593-8150592B5005}" type="slidenum">
              <a:rPr lang="en-US" smtClean="0"/>
              <a:t>42</a:t>
            </a:fld>
            <a:endParaRPr lang="en-US" dirty="0"/>
          </a:p>
        </p:txBody>
      </p:sp>
      <p:sp>
        <p:nvSpPr>
          <p:cNvPr id="7" name="Title 1">
            <a:extLst>
              <a:ext uri="{FF2B5EF4-FFF2-40B4-BE49-F238E27FC236}">
                <a16:creationId xmlns:a16="http://schemas.microsoft.com/office/drawing/2014/main" id="{4F363A4D-753D-0016-8639-1DCEB2414BDF}"/>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ED494911-690B-BE98-AC30-5FB8B6CC9A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BE0DB78B-5777-48ED-BEDF-CBED4C43FF2D}"/>
              </a:ext>
            </a:extLst>
          </p:cNvPr>
          <p:cNvSpPr>
            <a:spLocks noGrp="1"/>
          </p:cNvSpPr>
          <p:nvPr>
            <p:ph idx="1"/>
          </p:nvPr>
        </p:nvSpPr>
        <p:spPr>
          <a:xfrm>
            <a:off x="457200" y="4609542"/>
            <a:ext cx="8382000" cy="722746"/>
          </a:xfrm>
        </p:spPr>
        <p:txBody>
          <a:bodyPr>
            <a:normAutofit/>
          </a:bodyPr>
          <a:lstStyle/>
          <a:p>
            <a:r>
              <a:rPr lang="en-US" b="1" dirty="0"/>
              <a:t>Step 2</a:t>
            </a:r>
            <a:r>
              <a:rPr lang="en-US" dirty="0"/>
              <a:t> is repeated until the table is filled.</a:t>
            </a:r>
            <a:endParaRPr lang="en-US" sz="2200" dirty="0"/>
          </a:p>
        </p:txBody>
      </p:sp>
      <p:pic>
        <p:nvPicPr>
          <p:cNvPr id="3" name="Picture 2" descr="Longest Common Subsequence fill the values">
            <a:extLst>
              <a:ext uri="{FF2B5EF4-FFF2-40B4-BE49-F238E27FC236}">
                <a16:creationId xmlns:a16="http://schemas.microsoft.com/office/drawing/2014/main" id="{2B4F6E09-0B70-20C7-DACF-F95F19DEB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1143000"/>
            <a:ext cx="7544610" cy="3182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3101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B5E0D-7C5F-F03D-2F0F-5E0DD2E6BD9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B919FF0-4CDD-6B5A-7908-E9112B8B34DD}"/>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D9E41454-1CA0-A108-749E-DDC52D2C924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46E0AFD-1BB1-D385-5D76-7411B50AB1C3}"/>
              </a:ext>
            </a:extLst>
          </p:cNvPr>
          <p:cNvSpPr>
            <a:spLocks noGrp="1"/>
          </p:cNvSpPr>
          <p:nvPr>
            <p:ph type="sldNum" sz="quarter" idx="12"/>
          </p:nvPr>
        </p:nvSpPr>
        <p:spPr/>
        <p:txBody>
          <a:bodyPr/>
          <a:lstStyle/>
          <a:p>
            <a:fld id="{B41E2F89-97C2-4B18-A593-8150592B5005}" type="slidenum">
              <a:rPr lang="en-US" smtClean="0"/>
              <a:t>43</a:t>
            </a:fld>
            <a:endParaRPr lang="en-US" dirty="0"/>
          </a:p>
        </p:txBody>
      </p:sp>
      <p:sp>
        <p:nvSpPr>
          <p:cNvPr id="7" name="Title 1">
            <a:extLst>
              <a:ext uri="{FF2B5EF4-FFF2-40B4-BE49-F238E27FC236}">
                <a16:creationId xmlns:a16="http://schemas.microsoft.com/office/drawing/2014/main" id="{58A7BB89-DA59-AB36-A95E-E6281429D461}"/>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D25E75CD-FAAC-4F46-6C27-055CA401191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1" name="Content Placeholder 2">
            <a:extLst>
              <a:ext uri="{FF2B5EF4-FFF2-40B4-BE49-F238E27FC236}">
                <a16:creationId xmlns:a16="http://schemas.microsoft.com/office/drawing/2014/main" id="{60B896AA-C420-1862-C432-A408CBB1D860}"/>
              </a:ext>
            </a:extLst>
          </p:cNvPr>
          <p:cNvSpPr>
            <a:spLocks noGrp="1"/>
          </p:cNvSpPr>
          <p:nvPr>
            <p:ph idx="1"/>
          </p:nvPr>
        </p:nvSpPr>
        <p:spPr>
          <a:xfrm>
            <a:off x="838200" y="4787757"/>
            <a:ext cx="10679130" cy="1156766"/>
          </a:xfrm>
        </p:spPr>
        <p:txBody>
          <a:bodyPr>
            <a:normAutofit/>
          </a:bodyPr>
          <a:lstStyle/>
          <a:p>
            <a:r>
              <a:rPr lang="en-US" dirty="0"/>
              <a:t>The value in the last row and the last column is the length of the longest common subsequence.</a:t>
            </a:r>
            <a:endParaRPr lang="en-US" sz="2200" dirty="0"/>
          </a:p>
        </p:txBody>
      </p:sp>
      <p:pic>
        <p:nvPicPr>
          <p:cNvPr id="12" name="Picture 2" descr="Longest Common Subsequence fill all the values">
            <a:extLst>
              <a:ext uri="{FF2B5EF4-FFF2-40B4-BE49-F238E27FC236}">
                <a16:creationId xmlns:a16="http://schemas.microsoft.com/office/drawing/2014/main" id="{0C6FDD07-732C-49D1-CB45-6FF6BDF96D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44603"/>
            <a:ext cx="10470222" cy="3730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38690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DD07F-5E35-DE6F-D3FF-234BB6DF0D2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5A7F0C9-0726-1A32-9D29-4203318C4DA9}"/>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5282649A-E024-8B30-68DE-4965B79A6369}"/>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A52EA077-01D4-6CB1-2FD1-A8456B4FD652}"/>
              </a:ext>
            </a:extLst>
          </p:cNvPr>
          <p:cNvSpPr>
            <a:spLocks noGrp="1"/>
          </p:cNvSpPr>
          <p:nvPr>
            <p:ph type="sldNum" sz="quarter" idx="12"/>
          </p:nvPr>
        </p:nvSpPr>
        <p:spPr/>
        <p:txBody>
          <a:bodyPr/>
          <a:lstStyle/>
          <a:p>
            <a:fld id="{B41E2F89-97C2-4B18-A593-8150592B5005}" type="slidenum">
              <a:rPr lang="en-US" smtClean="0"/>
              <a:t>44</a:t>
            </a:fld>
            <a:endParaRPr lang="en-US" dirty="0"/>
          </a:p>
        </p:txBody>
      </p:sp>
      <p:sp>
        <p:nvSpPr>
          <p:cNvPr id="7" name="Title 1">
            <a:extLst>
              <a:ext uri="{FF2B5EF4-FFF2-40B4-BE49-F238E27FC236}">
                <a16:creationId xmlns:a16="http://schemas.microsoft.com/office/drawing/2014/main" id="{47EA818F-0C2E-29F8-B36D-F1E61D064D26}"/>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8633C062-40AC-373E-46BF-6FFC4222CA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Content Placeholder 2">
            <a:extLst>
              <a:ext uri="{FF2B5EF4-FFF2-40B4-BE49-F238E27FC236}">
                <a16:creationId xmlns:a16="http://schemas.microsoft.com/office/drawing/2014/main" id="{846EA433-34A8-93AC-C88F-99625C2A771B}"/>
              </a:ext>
            </a:extLst>
          </p:cNvPr>
          <p:cNvSpPr txBox="1">
            <a:spLocks/>
          </p:cNvSpPr>
          <p:nvPr/>
        </p:nvSpPr>
        <p:spPr>
          <a:xfrm>
            <a:off x="534256" y="4787756"/>
            <a:ext cx="11219380" cy="16644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order to find the longest common subsequence, start from the last element and follow the direction of the arrow. The elements corresponding to () symbol form the longest common subsequence.</a:t>
            </a:r>
            <a:endParaRPr lang="en-US" sz="2200" dirty="0"/>
          </a:p>
        </p:txBody>
      </p:sp>
      <p:pic>
        <p:nvPicPr>
          <p:cNvPr id="10" name="Picture 2" descr="Longest Common Subsequence length">
            <a:extLst>
              <a:ext uri="{FF2B5EF4-FFF2-40B4-BE49-F238E27FC236}">
                <a16:creationId xmlns:a16="http://schemas.microsoft.com/office/drawing/2014/main" id="{B7F1C4E2-3E3F-8474-3C11-560A056B56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799" y="928335"/>
            <a:ext cx="9473629" cy="3674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61886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7B7F5-0490-185A-5CA0-F4AA65FE15C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BAE5622-9420-14F0-3A51-9EF3BA94B90A}"/>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676D9B31-6C99-AB37-D42A-7FC192C8599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0EB2BC5-396D-C26A-6806-AE3A2865C12B}"/>
              </a:ext>
            </a:extLst>
          </p:cNvPr>
          <p:cNvSpPr>
            <a:spLocks noGrp="1"/>
          </p:cNvSpPr>
          <p:nvPr>
            <p:ph type="sldNum" sz="quarter" idx="12"/>
          </p:nvPr>
        </p:nvSpPr>
        <p:spPr/>
        <p:txBody>
          <a:bodyPr/>
          <a:lstStyle/>
          <a:p>
            <a:fld id="{B41E2F89-97C2-4B18-A593-8150592B5005}" type="slidenum">
              <a:rPr lang="en-US" smtClean="0"/>
              <a:t>45</a:t>
            </a:fld>
            <a:endParaRPr lang="en-US" dirty="0"/>
          </a:p>
        </p:txBody>
      </p:sp>
      <p:sp>
        <p:nvSpPr>
          <p:cNvPr id="7" name="Title 1">
            <a:extLst>
              <a:ext uri="{FF2B5EF4-FFF2-40B4-BE49-F238E27FC236}">
                <a16:creationId xmlns:a16="http://schemas.microsoft.com/office/drawing/2014/main" id="{59673280-5CF4-2FD2-D3C9-8333C819F56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5503D5B6-FBD8-71F1-E890-6E16BD15EBD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21E221B4-6F4C-4DFE-D76D-735183E53551}"/>
              </a:ext>
            </a:extLst>
          </p:cNvPr>
          <p:cNvSpPr>
            <a:spLocks noGrp="1"/>
          </p:cNvSpPr>
          <p:nvPr>
            <p:ph idx="1"/>
          </p:nvPr>
        </p:nvSpPr>
        <p:spPr>
          <a:xfrm>
            <a:off x="457200" y="5280916"/>
            <a:ext cx="8382000" cy="947993"/>
          </a:xfrm>
        </p:spPr>
        <p:txBody>
          <a:bodyPr>
            <a:normAutofit/>
          </a:bodyPr>
          <a:lstStyle/>
          <a:p>
            <a:r>
              <a:rPr lang="en-US" dirty="0"/>
              <a:t>Thus, the longest common subsequence is C,A</a:t>
            </a:r>
            <a:endParaRPr lang="en-US" sz="2200" dirty="0"/>
          </a:p>
        </p:txBody>
      </p:sp>
      <p:pic>
        <p:nvPicPr>
          <p:cNvPr id="3" name="Picture 2" descr="Longest Common Subsequence create a path">
            <a:extLst>
              <a:ext uri="{FF2B5EF4-FFF2-40B4-BE49-F238E27FC236}">
                <a16:creationId xmlns:a16="http://schemas.microsoft.com/office/drawing/2014/main" id="{F5B599EF-4A1B-0E08-841E-DEBA59CC3D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528" y="831517"/>
            <a:ext cx="11030272" cy="4321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36384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DECFF-6481-C811-2F95-C7A1A8D6A1A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D7FB1FB-6B35-A3B3-5CC8-1F8EB7599CC9}"/>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49F2DA99-FE1A-9C1D-A43D-859B4F079187}"/>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28162B38-6BE0-925B-37BF-AE150F9E5531}"/>
              </a:ext>
            </a:extLst>
          </p:cNvPr>
          <p:cNvSpPr>
            <a:spLocks noGrp="1"/>
          </p:cNvSpPr>
          <p:nvPr>
            <p:ph type="sldNum" sz="quarter" idx="12"/>
          </p:nvPr>
        </p:nvSpPr>
        <p:spPr/>
        <p:txBody>
          <a:bodyPr/>
          <a:lstStyle/>
          <a:p>
            <a:fld id="{B41E2F89-97C2-4B18-A593-8150592B5005}" type="slidenum">
              <a:rPr lang="en-US" smtClean="0"/>
              <a:t>46</a:t>
            </a:fld>
            <a:endParaRPr lang="en-US" dirty="0"/>
          </a:p>
        </p:txBody>
      </p:sp>
      <p:sp>
        <p:nvSpPr>
          <p:cNvPr id="7" name="Title 1">
            <a:extLst>
              <a:ext uri="{FF2B5EF4-FFF2-40B4-BE49-F238E27FC236}">
                <a16:creationId xmlns:a16="http://schemas.microsoft.com/office/drawing/2014/main" id="{BA9689EB-D041-35EF-BE2C-17EB4CF94C7E}"/>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10D193A7-37F2-78A0-A3C0-F012886881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9" name="Content Placeholder 8">
            <a:extLst>
              <a:ext uri="{FF2B5EF4-FFF2-40B4-BE49-F238E27FC236}">
                <a16:creationId xmlns:a16="http://schemas.microsoft.com/office/drawing/2014/main" id="{0F43C450-CD45-D394-6292-F787751DF79C}"/>
              </a:ext>
            </a:extLst>
          </p:cNvPr>
          <p:cNvSpPr>
            <a:spLocks noGrp="1"/>
          </p:cNvSpPr>
          <p:nvPr>
            <p:ph idx="1"/>
          </p:nvPr>
        </p:nvSpPr>
        <p:spPr>
          <a:xfrm>
            <a:off x="838200" y="1315092"/>
            <a:ext cx="10515600" cy="4861871"/>
          </a:xfrm>
        </p:spPr>
        <p:txBody>
          <a:bodyPr/>
          <a:lstStyle/>
          <a:p>
            <a:pPr marL="0" indent="0">
              <a:buNone/>
            </a:pPr>
            <a:r>
              <a:rPr lang="en-US" b="1" dirty="0"/>
              <a:t>How is a dynamic programming algorithm more efficient than the recursive algorithm while solving an LCS problem?</a:t>
            </a:r>
          </a:p>
          <a:p>
            <a:r>
              <a:rPr lang="en-US" dirty="0"/>
              <a:t>The method of dynamic programming reduces the number of function calls. It stores the result of each function call so that it can be used in future calls without the need for redundant calls.</a:t>
            </a:r>
          </a:p>
          <a:p>
            <a:r>
              <a:rPr lang="en-US" dirty="0"/>
              <a:t>In the above dynamic algorithm, the results obtained from each comparison between elements of X </a:t>
            </a:r>
            <a:r>
              <a:rPr lang="en-IN" dirty="0"/>
              <a:t>and the elements of Y </a:t>
            </a:r>
            <a:r>
              <a:rPr lang="en-US" dirty="0"/>
              <a:t> are stored in a table so that they can be used in future computations.</a:t>
            </a:r>
          </a:p>
          <a:p>
            <a:r>
              <a:rPr lang="en-US" dirty="0"/>
              <a:t>So, the time taken by a dynamic approach is the time taken to fill the table (</a:t>
            </a:r>
            <a:r>
              <a:rPr lang="en-US" dirty="0" err="1"/>
              <a:t>ie</a:t>
            </a:r>
            <a:r>
              <a:rPr lang="en-US" dirty="0"/>
              <a:t>. O(</a:t>
            </a:r>
            <a:r>
              <a:rPr lang="en-US" dirty="0" err="1"/>
              <a:t>mn</a:t>
            </a:r>
            <a:r>
              <a:rPr lang="en-US" dirty="0"/>
              <a:t>)). Whereas, the recursion algorithm has the complexity of 2</a:t>
            </a:r>
            <a:r>
              <a:rPr lang="en-US" baseline="30000" dirty="0"/>
              <a:t>max(</a:t>
            </a:r>
            <a:r>
              <a:rPr lang="en-US" baseline="30000" dirty="0" err="1"/>
              <a:t>m,n</a:t>
            </a:r>
            <a:r>
              <a:rPr lang="en-US" baseline="30000" dirty="0"/>
              <a:t>)</a:t>
            </a:r>
          </a:p>
          <a:p>
            <a:endParaRPr lang="en-US" sz="2000" dirty="0"/>
          </a:p>
        </p:txBody>
      </p:sp>
    </p:spTree>
    <p:extLst>
      <p:ext uri="{BB962C8B-B14F-4D97-AF65-F5344CB8AC3E}">
        <p14:creationId xmlns:p14="http://schemas.microsoft.com/office/powerpoint/2010/main" val="9392565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8E0F1-19EF-F69F-9E5F-A2095FB90C6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FE8EFB7-25A4-B4DA-569F-572028993AE9}"/>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3FA3801C-C0E9-C399-003A-D12E2157EFBC}"/>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12912202-C83A-13D0-893A-FE3D80F0AD80}"/>
              </a:ext>
            </a:extLst>
          </p:cNvPr>
          <p:cNvSpPr>
            <a:spLocks noGrp="1"/>
          </p:cNvSpPr>
          <p:nvPr>
            <p:ph type="sldNum" sz="quarter" idx="12"/>
          </p:nvPr>
        </p:nvSpPr>
        <p:spPr/>
        <p:txBody>
          <a:bodyPr/>
          <a:lstStyle/>
          <a:p>
            <a:fld id="{B41E2F89-97C2-4B18-A593-8150592B5005}" type="slidenum">
              <a:rPr lang="en-US" smtClean="0"/>
              <a:t>47</a:t>
            </a:fld>
            <a:endParaRPr lang="en-US" dirty="0"/>
          </a:p>
        </p:txBody>
      </p:sp>
      <p:sp>
        <p:nvSpPr>
          <p:cNvPr id="7" name="Title 1">
            <a:extLst>
              <a:ext uri="{FF2B5EF4-FFF2-40B4-BE49-F238E27FC236}">
                <a16:creationId xmlns:a16="http://schemas.microsoft.com/office/drawing/2014/main" id="{7FF405FD-115E-4E1A-D3A2-2D96769E354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FC43641B-2B72-2830-C929-7B45C87ECCF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0" name="Content Placeholder 2">
            <a:extLst>
              <a:ext uri="{FF2B5EF4-FFF2-40B4-BE49-F238E27FC236}">
                <a16:creationId xmlns:a16="http://schemas.microsoft.com/office/drawing/2014/main" id="{3CCC8834-FFF6-9747-D60B-087BFA80581B}"/>
              </a:ext>
            </a:extLst>
          </p:cNvPr>
          <p:cNvSpPr>
            <a:spLocks noGrp="1"/>
          </p:cNvSpPr>
          <p:nvPr>
            <p:ph idx="1"/>
          </p:nvPr>
        </p:nvSpPr>
        <p:spPr>
          <a:xfrm>
            <a:off x="457200" y="986319"/>
            <a:ext cx="8382000" cy="5455578"/>
          </a:xfrm>
        </p:spPr>
        <p:txBody>
          <a:bodyPr>
            <a:normAutofit fontScale="77500" lnSpcReduction="20000"/>
          </a:bodyPr>
          <a:lstStyle/>
          <a:p>
            <a:pPr marL="0" indent="0">
              <a:buNone/>
            </a:pPr>
            <a:r>
              <a:rPr lang="en-IN" b="1" dirty="0"/>
              <a:t>Longest Common Subsequence Algorithm</a:t>
            </a:r>
          </a:p>
          <a:p>
            <a:pPr marL="0" indent="0">
              <a:buNone/>
            </a:pPr>
            <a:r>
              <a:rPr lang="en-IN" dirty="0"/>
              <a:t>X and Y be two given sequences</a:t>
            </a:r>
          </a:p>
          <a:p>
            <a:pPr marL="0" indent="0">
              <a:buNone/>
            </a:pPr>
            <a:r>
              <a:rPr lang="en-IN" dirty="0"/>
              <a:t>Initialize a table LCS of dimension X.length+1 * Y.length+1</a:t>
            </a:r>
          </a:p>
          <a:p>
            <a:pPr marL="0" indent="0">
              <a:buNone/>
            </a:pPr>
            <a:r>
              <a:rPr lang="en-IN" dirty="0" err="1"/>
              <a:t>X.label</a:t>
            </a:r>
            <a:r>
              <a:rPr lang="en-IN" dirty="0"/>
              <a:t> = X</a:t>
            </a:r>
          </a:p>
          <a:p>
            <a:pPr marL="0" indent="0">
              <a:buNone/>
            </a:pPr>
            <a:r>
              <a:rPr lang="en-IN" dirty="0" err="1"/>
              <a:t>Y.label</a:t>
            </a:r>
            <a:r>
              <a:rPr lang="en-IN" dirty="0"/>
              <a:t> = Y</a:t>
            </a:r>
          </a:p>
          <a:p>
            <a:pPr marL="0" indent="0">
              <a:buNone/>
            </a:pPr>
            <a:r>
              <a:rPr lang="en-IN" dirty="0"/>
              <a:t>LCS[0][] = 0</a:t>
            </a:r>
          </a:p>
          <a:p>
            <a:pPr marL="0" indent="0">
              <a:buNone/>
            </a:pPr>
            <a:r>
              <a:rPr lang="en-IN" dirty="0"/>
              <a:t>LCS[][0] = 0</a:t>
            </a:r>
          </a:p>
          <a:p>
            <a:pPr marL="0" indent="0">
              <a:buNone/>
            </a:pPr>
            <a:r>
              <a:rPr lang="en-IN" dirty="0"/>
              <a:t>Start from LCS[1][1]</a:t>
            </a:r>
          </a:p>
          <a:p>
            <a:pPr marL="0" indent="0">
              <a:buNone/>
            </a:pPr>
            <a:r>
              <a:rPr lang="en-IN" dirty="0"/>
              <a:t>Compare X[</a:t>
            </a:r>
            <a:r>
              <a:rPr lang="en-IN" dirty="0" err="1"/>
              <a:t>i</a:t>
            </a:r>
            <a:r>
              <a:rPr lang="en-IN" dirty="0"/>
              <a:t>] and Y[j]</a:t>
            </a:r>
          </a:p>
          <a:p>
            <a:pPr marL="0" indent="0">
              <a:buNone/>
            </a:pPr>
            <a:r>
              <a:rPr lang="en-IN" dirty="0"/>
              <a:t>    If X[</a:t>
            </a:r>
            <a:r>
              <a:rPr lang="en-IN" dirty="0" err="1"/>
              <a:t>i</a:t>
            </a:r>
            <a:r>
              <a:rPr lang="en-IN" dirty="0"/>
              <a:t>] = Y[j]</a:t>
            </a:r>
          </a:p>
          <a:p>
            <a:pPr marL="0" indent="0">
              <a:buNone/>
            </a:pPr>
            <a:r>
              <a:rPr lang="en-IN" dirty="0"/>
              <a:t>        LCS[</a:t>
            </a:r>
            <a:r>
              <a:rPr lang="en-IN" dirty="0" err="1"/>
              <a:t>i</a:t>
            </a:r>
            <a:r>
              <a:rPr lang="en-IN" dirty="0"/>
              <a:t>][j] = 1 + LCS[i-1, j-1]   </a:t>
            </a:r>
          </a:p>
          <a:p>
            <a:pPr marL="0" indent="0">
              <a:buNone/>
            </a:pPr>
            <a:r>
              <a:rPr lang="en-IN" dirty="0"/>
              <a:t>        Point an arrow to LCS[</a:t>
            </a:r>
            <a:r>
              <a:rPr lang="en-IN" dirty="0" err="1"/>
              <a:t>i</a:t>
            </a:r>
            <a:r>
              <a:rPr lang="en-IN" dirty="0"/>
              <a:t>][j]</a:t>
            </a:r>
          </a:p>
          <a:p>
            <a:pPr marL="0" indent="0">
              <a:buNone/>
            </a:pPr>
            <a:r>
              <a:rPr lang="en-IN" dirty="0"/>
              <a:t>    Else</a:t>
            </a:r>
          </a:p>
          <a:p>
            <a:pPr marL="0" indent="0">
              <a:buNone/>
            </a:pPr>
            <a:r>
              <a:rPr lang="en-IN" dirty="0"/>
              <a:t>        LCS[</a:t>
            </a:r>
            <a:r>
              <a:rPr lang="en-IN" dirty="0" err="1"/>
              <a:t>i</a:t>
            </a:r>
            <a:r>
              <a:rPr lang="en-IN" dirty="0"/>
              <a:t>][j] = max(LCS[i-1][j], LCS[</a:t>
            </a:r>
            <a:r>
              <a:rPr lang="en-IN" dirty="0" err="1"/>
              <a:t>i</a:t>
            </a:r>
            <a:r>
              <a:rPr lang="en-IN" dirty="0"/>
              <a:t>][j-1])</a:t>
            </a:r>
          </a:p>
          <a:p>
            <a:pPr marL="0" indent="0">
              <a:buNone/>
            </a:pPr>
            <a:r>
              <a:rPr lang="en-IN" dirty="0"/>
              <a:t>        Point an arrow to max(LCS[i-1][j], LCS[</a:t>
            </a:r>
            <a:r>
              <a:rPr lang="en-IN" dirty="0" err="1"/>
              <a:t>i</a:t>
            </a:r>
            <a:r>
              <a:rPr lang="en-IN" dirty="0"/>
              <a:t>][j-1])</a:t>
            </a:r>
          </a:p>
          <a:p>
            <a:pPr marL="0" indent="0">
              <a:buNone/>
            </a:pPr>
            <a:endParaRPr lang="en-IN" b="1" dirty="0"/>
          </a:p>
          <a:p>
            <a:pPr marL="0" indent="0">
              <a:buNone/>
            </a:pPr>
            <a:endParaRPr lang="en-US" sz="2200" dirty="0"/>
          </a:p>
        </p:txBody>
      </p:sp>
    </p:spTree>
    <p:extLst>
      <p:ext uri="{BB962C8B-B14F-4D97-AF65-F5344CB8AC3E}">
        <p14:creationId xmlns:p14="http://schemas.microsoft.com/office/powerpoint/2010/main" val="1743534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5C636-A5DA-ABDF-4A98-030925873EF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40B4182-6591-6C6E-FD59-B6A3A6186752}"/>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8AD2853B-00D0-462D-84CB-EDD5BB954D76}"/>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A62D37D1-6355-E2FB-A5D8-4AFC7E414438}"/>
              </a:ext>
            </a:extLst>
          </p:cNvPr>
          <p:cNvSpPr>
            <a:spLocks noGrp="1"/>
          </p:cNvSpPr>
          <p:nvPr>
            <p:ph type="sldNum" sz="quarter" idx="12"/>
          </p:nvPr>
        </p:nvSpPr>
        <p:spPr/>
        <p:txBody>
          <a:bodyPr/>
          <a:lstStyle/>
          <a:p>
            <a:fld id="{B41E2F89-97C2-4B18-A593-8150592B5005}" type="slidenum">
              <a:rPr lang="en-US" smtClean="0"/>
              <a:t>48</a:t>
            </a:fld>
            <a:endParaRPr lang="en-US" dirty="0"/>
          </a:p>
        </p:txBody>
      </p:sp>
      <p:sp>
        <p:nvSpPr>
          <p:cNvPr id="7" name="Title 1">
            <a:extLst>
              <a:ext uri="{FF2B5EF4-FFF2-40B4-BE49-F238E27FC236}">
                <a16:creationId xmlns:a16="http://schemas.microsoft.com/office/drawing/2014/main" id="{E8ED204F-4ABC-2623-043D-D4B90F0F3E4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539D1AF2-2FFF-80E1-0620-2A1906F093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3CE07E4A-7639-2321-1EC1-6D6F841B80F8}"/>
              </a:ext>
            </a:extLst>
          </p:cNvPr>
          <p:cNvSpPr>
            <a:spLocks noGrp="1"/>
          </p:cNvSpPr>
          <p:nvPr>
            <p:ph idx="1"/>
          </p:nvPr>
        </p:nvSpPr>
        <p:spPr>
          <a:xfrm>
            <a:off x="838200" y="1695236"/>
            <a:ext cx="10515600" cy="4481727"/>
          </a:xfrm>
        </p:spPr>
        <p:txBody>
          <a:bodyPr/>
          <a:lstStyle/>
          <a:p>
            <a:r>
              <a:rPr lang="en-US" b="1" dirty="0"/>
              <a:t>Matrix Chain Multiplication </a:t>
            </a:r>
            <a:r>
              <a:rPr lang="en-US" dirty="0"/>
              <a:t>is an algorithm that is applied to determine the lowest cost way for multiplying matrices. </a:t>
            </a:r>
          </a:p>
          <a:p>
            <a:r>
              <a:rPr lang="en-US" dirty="0"/>
              <a:t>The actual multiplication is done using the standard way of multiplying the matrices, i.e., it follows the basic rule that the number of rows in one matrix must be equal to the number of columns in another matrix. </a:t>
            </a:r>
          </a:p>
          <a:p>
            <a:r>
              <a:rPr lang="en-US" dirty="0"/>
              <a:t>Hence, multiple scalar multiplications must be done to achieve the product.</a:t>
            </a:r>
            <a:endParaRPr lang="en-IN" b="1" dirty="0"/>
          </a:p>
        </p:txBody>
      </p:sp>
    </p:spTree>
    <p:extLst>
      <p:ext uri="{BB962C8B-B14F-4D97-AF65-F5344CB8AC3E}">
        <p14:creationId xmlns:p14="http://schemas.microsoft.com/office/powerpoint/2010/main" val="3704135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E71E8-B83E-C56A-6B54-270A58D6E0D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1A268FA-9A64-2B15-244A-C3986EDE9700}"/>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D1F57ACF-67E0-F728-7499-0CDC6584A7EA}"/>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A1F8B551-9D0E-15A1-CCC6-7C8B1EF3E641}"/>
              </a:ext>
            </a:extLst>
          </p:cNvPr>
          <p:cNvSpPr>
            <a:spLocks noGrp="1"/>
          </p:cNvSpPr>
          <p:nvPr>
            <p:ph type="sldNum" sz="quarter" idx="12"/>
          </p:nvPr>
        </p:nvSpPr>
        <p:spPr/>
        <p:txBody>
          <a:bodyPr/>
          <a:lstStyle/>
          <a:p>
            <a:fld id="{B41E2F89-97C2-4B18-A593-8150592B5005}" type="slidenum">
              <a:rPr lang="en-US" smtClean="0"/>
              <a:t>49</a:t>
            </a:fld>
            <a:endParaRPr lang="en-US" dirty="0"/>
          </a:p>
        </p:txBody>
      </p:sp>
      <p:sp>
        <p:nvSpPr>
          <p:cNvPr id="7" name="Title 1">
            <a:extLst>
              <a:ext uri="{FF2B5EF4-FFF2-40B4-BE49-F238E27FC236}">
                <a16:creationId xmlns:a16="http://schemas.microsoft.com/office/drawing/2014/main" id="{1E54D9B3-15B0-801E-DE94-BA0FA875F17E}"/>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2E44B68E-B615-435F-BF9B-CA1E5184CB3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4121A37C-8E24-0CDB-94A3-3D4097F911EE}"/>
              </a:ext>
            </a:extLst>
          </p:cNvPr>
          <p:cNvSpPr>
            <a:spLocks noGrp="1"/>
          </p:cNvSpPr>
          <p:nvPr>
            <p:ph idx="1"/>
          </p:nvPr>
        </p:nvSpPr>
        <p:spPr>
          <a:xfrm>
            <a:off x="838200" y="976044"/>
            <a:ext cx="10515600" cy="5200919"/>
          </a:xfrm>
        </p:spPr>
        <p:txBody>
          <a:bodyPr>
            <a:normAutofit/>
          </a:bodyPr>
          <a:lstStyle/>
          <a:p>
            <a:r>
              <a:rPr lang="en-US" dirty="0"/>
              <a:t>consider matrices A, B, C, and D, to be multiplied; hence, the multiplication is done using the standard matrix multiplication. There are multiple combinations of the matrices found while using the standard approach since matrix multiplication is associative. For instance, there are five ways to multiply the four matrices given above −</a:t>
            </a:r>
          </a:p>
          <a:p>
            <a:pPr lvl="1">
              <a:buFont typeface="Wingdings" panose="05000000000000000000" pitchFamily="2" charset="2"/>
              <a:buChar char="Ø"/>
            </a:pPr>
            <a:r>
              <a:rPr lang="en-US" dirty="0"/>
              <a:t>(A(B(CD)))</a:t>
            </a:r>
          </a:p>
          <a:p>
            <a:pPr lvl="1">
              <a:buFont typeface="Wingdings" panose="05000000000000000000" pitchFamily="2" charset="2"/>
              <a:buChar char="Ø"/>
            </a:pPr>
            <a:r>
              <a:rPr lang="en-US" dirty="0"/>
              <a:t>(A((BC)D))</a:t>
            </a:r>
          </a:p>
          <a:p>
            <a:pPr lvl="1">
              <a:buFont typeface="Wingdings" panose="05000000000000000000" pitchFamily="2" charset="2"/>
              <a:buChar char="Ø"/>
            </a:pPr>
            <a:r>
              <a:rPr lang="en-US" dirty="0"/>
              <a:t>((AB)(CD))</a:t>
            </a:r>
          </a:p>
          <a:p>
            <a:pPr lvl="1">
              <a:buFont typeface="Wingdings" panose="05000000000000000000" pitchFamily="2" charset="2"/>
              <a:buChar char="Ø"/>
            </a:pPr>
            <a:r>
              <a:rPr lang="en-US" dirty="0"/>
              <a:t>((A(BC))D)</a:t>
            </a:r>
          </a:p>
          <a:p>
            <a:pPr lvl="1">
              <a:buFont typeface="Wingdings" panose="05000000000000000000" pitchFamily="2" charset="2"/>
              <a:buChar char="Ø"/>
            </a:pPr>
            <a:r>
              <a:rPr lang="en-US" dirty="0"/>
              <a:t>(((AB)C)D)</a:t>
            </a:r>
          </a:p>
          <a:p>
            <a:endParaRPr lang="en-US" dirty="0"/>
          </a:p>
        </p:txBody>
      </p:sp>
    </p:spTree>
    <p:extLst>
      <p:ext uri="{BB962C8B-B14F-4D97-AF65-F5344CB8AC3E}">
        <p14:creationId xmlns:p14="http://schemas.microsoft.com/office/powerpoint/2010/main" val="19062318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DCBAE-16C5-1295-8773-D65B46C5FB1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457D81F-F7C2-0226-A335-784B6050F275}"/>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3F4613E1-64BB-6993-2E25-BE2D20FF8F5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6987ACC-AD8D-C838-658D-263F3AD868F1}"/>
              </a:ext>
            </a:extLst>
          </p:cNvPr>
          <p:cNvSpPr>
            <a:spLocks noGrp="1"/>
          </p:cNvSpPr>
          <p:nvPr>
            <p:ph type="sldNum" sz="quarter" idx="12"/>
          </p:nvPr>
        </p:nvSpPr>
        <p:spPr/>
        <p:txBody>
          <a:bodyPr/>
          <a:lstStyle/>
          <a:p>
            <a:fld id="{B41E2F89-97C2-4B18-A593-8150592B5005}" type="slidenum">
              <a:rPr lang="en-US" smtClean="0"/>
              <a:t>50</a:t>
            </a:fld>
            <a:endParaRPr lang="en-US" dirty="0"/>
          </a:p>
        </p:txBody>
      </p:sp>
      <p:sp>
        <p:nvSpPr>
          <p:cNvPr id="7" name="Title 1">
            <a:extLst>
              <a:ext uri="{FF2B5EF4-FFF2-40B4-BE49-F238E27FC236}">
                <a16:creationId xmlns:a16="http://schemas.microsoft.com/office/drawing/2014/main" id="{6B5E7479-2F5A-5499-CE2F-124582E2E76D}"/>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16806CF3-90C8-89BB-DEB7-37C9412D2B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1" name="TextBox 10">
            <a:extLst>
              <a:ext uri="{FF2B5EF4-FFF2-40B4-BE49-F238E27FC236}">
                <a16:creationId xmlns:a16="http://schemas.microsoft.com/office/drawing/2014/main" id="{083E339E-C046-6D92-457E-522969B44177}"/>
              </a:ext>
            </a:extLst>
          </p:cNvPr>
          <p:cNvSpPr txBox="1"/>
          <p:nvPr/>
        </p:nvSpPr>
        <p:spPr>
          <a:xfrm>
            <a:off x="523982" y="1841360"/>
            <a:ext cx="11054992" cy="3970318"/>
          </a:xfrm>
          <a:prstGeom prst="rect">
            <a:avLst/>
          </a:prstGeom>
          <a:noFill/>
        </p:spPr>
        <p:txBody>
          <a:bodyPr wrap="square">
            <a:spAutoFit/>
          </a:bodyPr>
          <a:lstStyle/>
          <a:p>
            <a:pPr marL="457200" indent="-457200">
              <a:buFont typeface="Arial" panose="020B0604020202020204" pitchFamily="34" charset="0"/>
              <a:buChar char="•"/>
            </a:pPr>
            <a:r>
              <a:rPr lang="en-US" sz="2800" dirty="0"/>
              <a:t>Now, if the size of matrices A, B, C, and D are </a:t>
            </a:r>
            <a:r>
              <a:rPr lang="en-US" sz="2800" b="1" dirty="0"/>
              <a:t>l × m, m × n, n × p, p × q</a:t>
            </a:r>
            <a:r>
              <a:rPr lang="en-US" sz="2800" dirty="0"/>
              <a:t> respectively, then the number of scalar multiplications performed will be </a:t>
            </a:r>
            <a:r>
              <a:rPr lang="en-US" sz="2800" b="1" i="1" dirty="0" err="1"/>
              <a:t>lmnpq</a:t>
            </a:r>
            <a:r>
              <a:rPr lang="en-US" sz="2800" dirty="0"/>
              <a:t>. </a:t>
            </a:r>
          </a:p>
          <a:p>
            <a:pPr marL="457200" indent="-457200">
              <a:buFont typeface="Arial" panose="020B0604020202020204" pitchFamily="34" charset="0"/>
              <a:buChar char="•"/>
            </a:pPr>
            <a:r>
              <a:rPr lang="en-US" sz="2800" dirty="0"/>
              <a:t>But the cost of the matrices change based on the rows and columns present in it. Suppose, the values of l, m, n, p, q are 5, 10, 15, 20, 25 respectively, the cost of (A(B(CD))) is 5 × 100 × 25 = 12,500; however, the cost of (A((BC)D)) is 10 × 25 × 37 = 9,250.</a:t>
            </a:r>
          </a:p>
          <a:p>
            <a:pPr marL="457200" indent="-457200">
              <a:buFont typeface="Arial" panose="020B0604020202020204" pitchFamily="34" charset="0"/>
              <a:buChar char="•"/>
            </a:pPr>
            <a:r>
              <a:rPr lang="en-US" sz="2800" dirty="0"/>
              <a:t>So, dynamic programming approach of the matrix chain multiplication is adopted in order to find the combination with the lowest cost.</a:t>
            </a:r>
          </a:p>
        </p:txBody>
      </p:sp>
    </p:spTree>
    <p:extLst>
      <p:ext uri="{BB962C8B-B14F-4D97-AF65-F5344CB8AC3E}">
        <p14:creationId xmlns:p14="http://schemas.microsoft.com/office/powerpoint/2010/main" val="20759841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4A698-2A87-23B1-38B0-50C1A2B6A31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39B8034-A88F-FF32-7331-690240851F13}"/>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2510228F-CAAB-4806-BD5F-1476CD594C8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335CFDD-FD66-0D38-5213-573134B3139E}"/>
              </a:ext>
            </a:extLst>
          </p:cNvPr>
          <p:cNvSpPr>
            <a:spLocks noGrp="1"/>
          </p:cNvSpPr>
          <p:nvPr>
            <p:ph type="sldNum" sz="quarter" idx="12"/>
          </p:nvPr>
        </p:nvSpPr>
        <p:spPr/>
        <p:txBody>
          <a:bodyPr/>
          <a:lstStyle/>
          <a:p>
            <a:fld id="{B41E2F89-97C2-4B18-A593-8150592B5005}" type="slidenum">
              <a:rPr lang="en-US" smtClean="0"/>
              <a:t>51</a:t>
            </a:fld>
            <a:endParaRPr lang="en-US" dirty="0"/>
          </a:p>
        </p:txBody>
      </p:sp>
      <p:sp>
        <p:nvSpPr>
          <p:cNvPr id="7" name="Title 1">
            <a:extLst>
              <a:ext uri="{FF2B5EF4-FFF2-40B4-BE49-F238E27FC236}">
                <a16:creationId xmlns:a16="http://schemas.microsoft.com/office/drawing/2014/main" id="{3174B790-E04C-C0B5-39E4-6A046F3473D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0982019F-FDF7-4700-89DD-12F6BD42A6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7CC4158E-6CE5-3315-9BB1-ED21DD4338C6}"/>
              </a:ext>
            </a:extLst>
          </p:cNvPr>
          <p:cNvSpPr>
            <a:spLocks noGrp="1"/>
          </p:cNvSpPr>
          <p:nvPr>
            <p:ph idx="1"/>
          </p:nvPr>
        </p:nvSpPr>
        <p:spPr>
          <a:xfrm>
            <a:off x="359597" y="1047964"/>
            <a:ext cx="11455684" cy="5229546"/>
          </a:xfrm>
        </p:spPr>
        <p:txBody>
          <a:bodyPr>
            <a:normAutofit fontScale="92500" lnSpcReduction="20000"/>
          </a:bodyPr>
          <a:lstStyle/>
          <a:p>
            <a:pPr marL="0" indent="0">
              <a:buNone/>
            </a:pPr>
            <a:r>
              <a:rPr lang="en-IN" b="1" dirty="0"/>
              <a:t>Matrix Chain Multiplication Algorithm</a:t>
            </a:r>
          </a:p>
          <a:p>
            <a:r>
              <a:rPr lang="en-US" dirty="0"/>
              <a:t>Matrix chain multiplication algorithm is only applied to find the minimum cost way to multiply a sequence of matrices. Therefore, the input taken by the algorithm is the sequence of matrices while the output achieved is the lowest cost </a:t>
            </a:r>
            <a:r>
              <a:rPr lang="en-US" dirty="0" err="1"/>
              <a:t>parenthesization</a:t>
            </a:r>
            <a:r>
              <a:rPr lang="en-US" dirty="0"/>
              <a:t>.</a:t>
            </a:r>
          </a:p>
          <a:p>
            <a:pPr marL="514350" indent="-514350">
              <a:buFont typeface="+mj-lt"/>
              <a:buAutoNum type="arabicPeriod"/>
            </a:pPr>
            <a:r>
              <a:rPr lang="en-US" dirty="0"/>
              <a:t>Count the number of </a:t>
            </a:r>
            <a:r>
              <a:rPr lang="en-US" dirty="0" err="1"/>
              <a:t>parenthesizations</a:t>
            </a:r>
            <a:r>
              <a:rPr lang="en-US" dirty="0"/>
              <a:t>. Find the number of ways in which the input matrices can be multiplied.</a:t>
            </a:r>
            <a:endParaRPr lang="en-IN" dirty="0"/>
          </a:p>
          <a:p>
            <a:pPr marL="514350" indent="-514350">
              <a:buFont typeface="+mj-lt"/>
              <a:buAutoNum type="arabicPeriod"/>
            </a:pPr>
            <a:r>
              <a:rPr lang="en-US" dirty="0"/>
              <a:t>Once the </a:t>
            </a:r>
            <a:r>
              <a:rPr lang="en-US" dirty="0" err="1"/>
              <a:t>parenthesization</a:t>
            </a:r>
            <a:r>
              <a:rPr lang="en-US" dirty="0"/>
              <a:t> is done, the optimal substructure must be devised as the first step of dynamic programming approach so the final product achieved is optimal. In matrix chain multiplication, the optimal substructure is found by dividing the sequence of matrices </a:t>
            </a:r>
            <a:r>
              <a:rPr lang="en-US" b="1" i="1" dirty="0"/>
              <a:t>A[</a:t>
            </a:r>
            <a:r>
              <a:rPr lang="en-US" b="1" i="1" dirty="0" err="1"/>
              <a:t>i</a:t>
            </a:r>
            <a:r>
              <a:rPr lang="en-US" b="1" i="1" dirty="0"/>
              <a:t>….j]</a:t>
            </a:r>
            <a:r>
              <a:rPr lang="en-US" dirty="0"/>
              <a:t> into two parts </a:t>
            </a:r>
            <a:r>
              <a:rPr lang="en-US" b="1" i="1" dirty="0"/>
              <a:t>A[</a:t>
            </a:r>
            <a:r>
              <a:rPr lang="en-US" b="1" i="1" dirty="0" err="1"/>
              <a:t>i,k</a:t>
            </a:r>
            <a:r>
              <a:rPr lang="en-US" b="1" i="1" dirty="0"/>
              <a:t>] and A[k+1,j]</a:t>
            </a:r>
            <a:r>
              <a:rPr lang="en-US" dirty="0"/>
              <a:t>. It must be ensured that the parts are divided in such a way that optimal solution is achieved. Find the lowest cost </a:t>
            </a:r>
            <a:r>
              <a:rPr lang="en-US" dirty="0" err="1"/>
              <a:t>parenthesization</a:t>
            </a:r>
            <a:r>
              <a:rPr lang="en-US" dirty="0"/>
              <a:t> of the sequence of matrices by constructing cost tables and corresponding </a:t>
            </a:r>
            <a:r>
              <a:rPr lang="en-US" b="1" i="1" dirty="0"/>
              <a:t>k</a:t>
            </a:r>
            <a:r>
              <a:rPr lang="en-US" dirty="0"/>
              <a:t> values table.</a:t>
            </a:r>
          </a:p>
          <a:p>
            <a:pPr marL="0" indent="0">
              <a:buNone/>
            </a:pPr>
            <a:r>
              <a:rPr lang="en-US" dirty="0"/>
              <a:t>3.   Once the lowest cost is found, print the corresponding </a:t>
            </a:r>
            <a:r>
              <a:rPr lang="en-US" dirty="0" err="1"/>
              <a:t>parenthesization</a:t>
            </a:r>
            <a:r>
              <a:rPr lang="en-US" dirty="0"/>
              <a:t> as the         output.</a:t>
            </a:r>
          </a:p>
          <a:p>
            <a:pPr marL="514350" indent="-514350">
              <a:buFont typeface="+mj-lt"/>
              <a:buAutoNum type="arabicPeriod"/>
            </a:pPr>
            <a:endParaRPr lang="en-US" dirty="0"/>
          </a:p>
        </p:txBody>
      </p:sp>
    </p:spTree>
    <p:extLst>
      <p:ext uri="{BB962C8B-B14F-4D97-AF65-F5344CB8AC3E}">
        <p14:creationId xmlns:p14="http://schemas.microsoft.com/office/powerpoint/2010/main" val="40650828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BCA44-C8FE-905F-80C2-EF763BD0C85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B2B4B83-5617-721D-7116-F27930A4A62C}"/>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5BE79366-A31B-CA2A-2373-0006EAC0C87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F0961B73-F105-6517-D4D8-68C6D933FC1E}"/>
              </a:ext>
            </a:extLst>
          </p:cNvPr>
          <p:cNvSpPr>
            <a:spLocks noGrp="1"/>
          </p:cNvSpPr>
          <p:nvPr>
            <p:ph type="sldNum" sz="quarter" idx="12"/>
          </p:nvPr>
        </p:nvSpPr>
        <p:spPr/>
        <p:txBody>
          <a:bodyPr/>
          <a:lstStyle/>
          <a:p>
            <a:fld id="{B41E2F89-97C2-4B18-A593-8150592B5005}" type="slidenum">
              <a:rPr lang="en-US" smtClean="0"/>
              <a:t>52</a:t>
            </a:fld>
            <a:endParaRPr lang="en-US" dirty="0"/>
          </a:p>
        </p:txBody>
      </p:sp>
      <p:sp>
        <p:nvSpPr>
          <p:cNvPr id="7" name="Title 1">
            <a:extLst>
              <a:ext uri="{FF2B5EF4-FFF2-40B4-BE49-F238E27FC236}">
                <a16:creationId xmlns:a16="http://schemas.microsoft.com/office/drawing/2014/main" id="{FB7228B8-B5A6-EFBE-3BFC-CDD1042A230E}"/>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8F5BC43D-7469-0D96-7CBA-0663E3272D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C476AB05-A9F0-5F3A-D9AD-DD0A31F5376F}"/>
              </a:ext>
            </a:extLst>
          </p:cNvPr>
          <p:cNvSpPr>
            <a:spLocks noGrp="1"/>
          </p:cNvSpPr>
          <p:nvPr>
            <p:ph idx="1"/>
          </p:nvPr>
        </p:nvSpPr>
        <p:spPr>
          <a:xfrm>
            <a:off x="838200" y="1232899"/>
            <a:ext cx="10515600" cy="4944064"/>
          </a:xfrm>
        </p:spPr>
        <p:txBody>
          <a:bodyPr/>
          <a:lstStyle/>
          <a:p>
            <a:pPr marL="0" indent="0" fontAlgn="base">
              <a:buNone/>
            </a:pPr>
            <a:r>
              <a:rPr lang="en-US" dirty="0"/>
              <a:t>Let’s consider an example to illustrate the matrix chain multiplication.</a:t>
            </a:r>
          </a:p>
          <a:p>
            <a:pPr marL="0" indent="0" fontAlgn="base">
              <a:buNone/>
            </a:pPr>
            <a:r>
              <a:rPr lang="en-US" dirty="0"/>
              <a:t>Suppose we have a chain of four matrices: A, B, C, and D, with dimensions as follows:</a:t>
            </a:r>
          </a:p>
          <a:p>
            <a:pPr marL="0" indent="0" fontAlgn="base">
              <a:buNone/>
            </a:pPr>
            <a:r>
              <a:rPr lang="en-US" dirty="0"/>
              <a:t>A: 10 x 30</a:t>
            </a:r>
          </a:p>
          <a:p>
            <a:pPr marL="0" indent="0" fontAlgn="base">
              <a:buNone/>
            </a:pPr>
            <a:r>
              <a:rPr lang="en-US" dirty="0"/>
              <a:t>B: 30 x 5</a:t>
            </a:r>
          </a:p>
          <a:p>
            <a:pPr marL="0" indent="0" fontAlgn="base">
              <a:buNone/>
            </a:pPr>
            <a:r>
              <a:rPr lang="en-US" dirty="0"/>
              <a:t>C: 5 x 60</a:t>
            </a:r>
          </a:p>
          <a:p>
            <a:pPr marL="0" indent="0" fontAlgn="base">
              <a:buNone/>
            </a:pPr>
            <a:r>
              <a:rPr lang="en-US" dirty="0"/>
              <a:t>D: 60 x 8</a:t>
            </a:r>
          </a:p>
          <a:p>
            <a:pPr marL="0" indent="0" fontAlgn="base">
              <a:buNone/>
            </a:pPr>
            <a:r>
              <a:rPr lang="en-US" dirty="0"/>
              <a:t>The goal is to find the optimal order of multiplying these matrices that minimizes the total number of scalar multiplications.</a:t>
            </a:r>
          </a:p>
          <a:p>
            <a:endParaRPr lang="en-US" dirty="0"/>
          </a:p>
        </p:txBody>
      </p:sp>
    </p:spTree>
    <p:extLst>
      <p:ext uri="{BB962C8B-B14F-4D97-AF65-F5344CB8AC3E}">
        <p14:creationId xmlns:p14="http://schemas.microsoft.com/office/powerpoint/2010/main" val="26351626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5CF50-E080-9349-1171-A9DD656F978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599FEE1-9906-A44F-9688-7FFA216423BE}"/>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4EBDFF6A-F2D1-A0F6-1403-80E6A4E72ECD}"/>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F470F5CE-E07A-6850-1CEA-97CC26845B45}"/>
              </a:ext>
            </a:extLst>
          </p:cNvPr>
          <p:cNvSpPr>
            <a:spLocks noGrp="1"/>
          </p:cNvSpPr>
          <p:nvPr>
            <p:ph type="sldNum" sz="quarter" idx="12"/>
          </p:nvPr>
        </p:nvSpPr>
        <p:spPr/>
        <p:txBody>
          <a:bodyPr/>
          <a:lstStyle/>
          <a:p>
            <a:fld id="{B41E2F89-97C2-4B18-A593-8150592B5005}" type="slidenum">
              <a:rPr lang="en-US" smtClean="0"/>
              <a:t>53</a:t>
            </a:fld>
            <a:endParaRPr lang="en-US" dirty="0"/>
          </a:p>
        </p:txBody>
      </p:sp>
      <p:sp>
        <p:nvSpPr>
          <p:cNvPr id="7" name="Title 1">
            <a:extLst>
              <a:ext uri="{FF2B5EF4-FFF2-40B4-BE49-F238E27FC236}">
                <a16:creationId xmlns:a16="http://schemas.microsoft.com/office/drawing/2014/main" id="{A83561BE-2317-7CF1-46A2-A4692C63B54D}"/>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5216DAA1-6317-C175-671D-880E504CBB4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4D2370A4-2523-C7ED-44CB-2FCB0CEA41BF}"/>
              </a:ext>
            </a:extLst>
          </p:cNvPr>
          <p:cNvSpPr>
            <a:spLocks noGrp="1"/>
          </p:cNvSpPr>
          <p:nvPr>
            <p:ph idx="1"/>
          </p:nvPr>
        </p:nvSpPr>
        <p:spPr>
          <a:xfrm>
            <a:off x="267129" y="1006866"/>
            <a:ext cx="11661168" cy="5343555"/>
          </a:xfrm>
        </p:spPr>
        <p:txBody>
          <a:bodyPr>
            <a:normAutofit fontScale="85000" lnSpcReduction="20000"/>
          </a:bodyPr>
          <a:lstStyle/>
          <a:p>
            <a:pPr lvl="0" algn="just">
              <a:buNone/>
            </a:pPr>
            <a:r>
              <a:rPr lang="en-US" b="1" dirty="0">
                <a:solidFill>
                  <a:srgbClr val="333333"/>
                </a:solidFill>
                <a:latin typeface="inherit"/>
                <a:cs typeface="Arial" pitchFamily="34" charset="0"/>
              </a:rPr>
              <a:t>Step 1:</a:t>
            </a:r>
            <a:r>
              <a:rPr lang="en-US" dirty="0">
                <a:solidFill>
                  <a:srgbClr val="333333"/>
                </a:solidFill>
                <a:latin typeface="Noto Serif"/>
                <a:cs typeface="Arial" pitchFamily="34" charset="0"/>
              </a:rPr>
              <a:t> Create the table We create a 4×4 table to store the minimum number of scalar multiplications needed for each </a:t>
            </a:r>
            <a:r>
              <a:rPr lang="en-US" dirty="0" err="1">
                <a:solidFill>
                  <a:srgbClr val="333333"/>
                </a:solidFill>
                <a:latin typeface="Noto Serif"/>
                <a:cs typeface="Arial" pitchFamily="34" charset="0"/>
              </a:rPr>
              <a:t>subchain</a:t>
            </a:r>
            <a:r>
              <a:rPr lang="en-US" dirty="0">
                <a:solidFill>
                  <a:srgbClr val="333333"/>
                </a:solidFill>
                <a:latin typeface="Noto Serif"/>
                <a:cs typeface="Arial" pitchFamily="34" charset="0"/>
              </a:rPr>
              <a:t>. The table initially looks like this:</a:t>
            </a:r>
            <a:endParaRPr lang="en-US" sz="1200" dirty="0">
              <a:latin typeface="Arial" pitchFamily="34" charset="0"/>
              <a:cs typeface="Arial" pitchFamily="34" charset="0"/>
            </a:endParaRPr>
          </a:p>
          <a:p>
            <a:pPr algn="just">
              <a:buNone/>
            </a:pPr>
            <a:br>
              <a:rPr lang="en-US" dirty="0"/>
            </a:br>
            <a:endParaRPr lang="en-US" dirty="0"/>
          </a:p>
          <a:p>
            <a:pPr algn="just">
              <a:buNone/>
            </a:pPr>
            <a:endParaRPr lang="en-US" dirty="0"/>
          </a:p>
          <a:p>
            <a:pPr algn="just">
              <a:buNone/>
            </a:pPr>
            <a:endParaRPr lang="en-US" dirty="0"/>
          </a:p>
          <a:p>
            <a:pPr algn="just">
              <a:buNone/>
            </a:pPr>
            <a:endParaRPr lang="en-US" dirty="0"/>
          </a:p>
          <a:p>
            <a:pPr marL="0" indent="0" fontAlgn="base">
              <a:buNone/>
            </a:pPr>
            <a:r>
              <a:rPr lang="en-US" b="1" dirty="0"/>
              <a:t>Step 2: </a:t>
            </a:r>
            <a:r>
              <a:rPr lang="en-US" dirty="0"/>
              <a:t>Fill in the table We iterate diagonally through the table, calculating the minimum number of scalar multiplications for each </a:t>
            </a:r>
            <a:r>
              <a:rPr lang="en-US" dirty="0" err="1"/>
              <a:t>subchain</a:t>
            </a:r>
            <a:r>
              <a:rPr lang="en-US" dirty="0"/>
              <a:t>.</a:t>
            </a:r>
          </a:p>
          <a:p>
            <a:pPr marL="0" indent="0" fontAlgn="base">
              <a:buNone/>
            </a:pPr>
            <a:r>
              <a:rPr lang="en-US" dirty="0"/>
              <a:t>First, we consider </a:t>
            </a:r>
            <a:r>
              <a:rPr lang="en-US" dirty="0" err="1"/>
              <a:t>subchains</a:t>
            </a:r>
            <a:r>
              <a:rPr lang="en-US" dirty="0"/>
              <a:t> of length 2: For the </a:t>
            </a:r>
            <a:r>
              <a:rPr lang="en-US" dirty="0" err="1"/>
              <a:t>subchain</a:t>
            </a:r>
            <a:r>
              <a:rPr lang="en-US" dirty="0"/>
              <a:t> AB, the only option is multiplying matrices A and B, resulting in 10 x 5 scalar multiplications. For the </a:t>
            </a:r>
            <a:r>
              <a:rPr lang="en-US" dirty="0" err="1"/>
              <a:t>subchain</a:t>
            </a:r>
            <a:r>
              <a:rPr lang="en-US" dirty="0"/>
              <a:t> BC, the only option is multiplying matrices B and C, resulting in 30 x 5 scalar multiplications. For the </a:t>
            </a:r>
            <a:r>
              <a:rPr lang="en-US" dirty="0" err="1"/>
              <a:t>subchain</a:t>
            </a:r>
            <a:r>
              <a:rPr lang="en-US" dirty="0"/>
              <a:t> CD, the only option is multiplying matrices C and D, resulting in 5 x 8 scalar multiplications.</a:t>
            </a:r>
          </a:p>
          <a:p>
            <a:pPr marL="0" indent="0" fontAlgn="base">
              <a:buNone/>
            </a:pPr>
            <a:r>
              <a:rPr lang="en-US" dirty="0"/>
              <a:t>Updating the table:</a:t>
            </a:r>
          </a:p>
          <a:p>
            <a:endParaRPr lang="en-US" dirty="0"/>
          </a:p>
        </p:txBody>
      </p:sp>
      <p:pic>
        <p:nvPicPr>
          <p:cNvPr id="2" name="Picture 2" descr="matrix chain multiplication example 1">
            <a:extLst>
              <a:ext uri="{FF2B5EF4-FFF2-40B4-BE49-F238E27FC236}">
                <a16:creationId xmlns:a16="http://schemas.microsoft.com/office/drawing/2014/main" id="{E23F0DCC-8652-E117-6F71-8D8BE9458D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3400" y="1500027"/>
            <a:ext cx="4063999" cy="21472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82890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F7060-63E7-242B-C719-695E1642C1F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7075DDC-7033-AF38-0221-1867158A0898}"/>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01C387CB-1845-A9FE-9D45-978ACE74F098}"/>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B77252E6-BB24-8E9E-7D72-F458D769DD9B}"/>
              </a:ext>
            </a:extLst>
          </p:cNvPr>
          <p:cNvSpPr>
            <a:spLocks noGrp="1"/>
          </p:cNvSpPr>
          <p:nvPr>
            <p:ph type="sldNum" sz="quarter" idx="12"/>
          </p:nvPr>
        </p:nvSpPr>
        <p:spPr/>
        <p:txBody>
          <a:bodyPr/>
          <a:lstStyle/>
          <a:p>
            <a:fld id="{B41E2F89-97C2-4B18-A593-8150592B5005}" type="slidenum">
              <a:rPr lang="en-US" smtClean="0"/>
              <a:t>54</a:t>
            </a:fld>
            <a:endParaRPr lang="en-US" dirty="0"/>
          </a:p>
        </p:txBody>
      </p:sp>
      <p:sp>
        <p:nvSpPr>
          <p:cNvPr id="7" name="Title 1">
            <a:extLst>
              <a:ext uri="{FF2B5EF4-FFF2-40B4-BE49-F238E27FC236}">
                <a16:creationId xmlns:a16="http://schemas.microsoft.com/office/drawing/2014/main" id="{FB98D675-8AFA-6327-2165-7F515CB276FF}"/>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D52F6B67-D210-F6CD-3E7A-3CA71E8099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2" name="Content Placeholder 2">
            <a:extLst>
              <a:ext uri="{FF2B5EF4-FFF2-40B4-BE49-F238E27FC236}">
                <a16:creationId xmlns:a16="http://schemas.microsoft.com/office/drawing/2014/main" id="{2EDACD10-F9D8-9F7F-B9DF-D8CE37EDEC16}"/>
              </a:ext>
            </a:extLst>
          </p:cNvPr>
          <p:cNvSpPr>
            <a:spLocks noGrp="1"/>
          </p:cNvSpPr>
          <p:nvPr>
            <p:ph idx="1"/>
          </p:nvPr>
        </p:nvSpPr>
        <p:spPr>
          <a:xfrm>
            <a:off x="533399" y="2976934"/>
            <a:ext cx="11179139" cy="3271465"/>
          </a:xfrm>
        </p:spPr>
        <p:txBody>
          <a:bodyPr>
            <a:normAutofit fontScale="55000" lnSpcReduction="20000"/>
          </a:bodyPr>
          <a:lstStyle/>
          <a:p>
            <a:pPr lvl="0" algn="just">
              <a:buNone/>
            </a:pPr>
            <a:endParaRPr lang="en-US" sz="1100" dirty="0">
              <a:latin typeface="Arial" pitchFamily="34" charset="0"/>
              <a:cs typeface="Arial" pitchFamily="34" charset="0"/>
            </a:endParaRPr>
          </a:p>
          <a:p>
            <a:pPr fontAlgn="base"/>
            <a:r>
              <a:rPr lang="en-US" sz="4000" dirty="0"/>
              <a:t>Next, we consider </a:t>
            </a:r>
            <a:r>
              <a:rPr lang="en-US" sz="4000" dirty="0" err="1"/>
              <a:t>subchains</a:t>
            </a:r>
            <a:r>
              <a:rPr lang="en-US" sz="4000" dirty="0"/>
              <a:t> of length 3: For the </a:t>
            </a:r>
            <a:r>
              <a:rPr lang="en-US" sz="4000" dirty="0" err="1"/>
              <a:t>subchain</a:t>
            </a:r>
            <a:r>
              <a:rPr lang="en-US" sz="4000" dirty="0"/>
              <a:t> ABC, we have two options: (AB)C or A(BC). Let’s calculate the scalar multiplications for each option:</a:t>
            </a:r>
          </a:p>
          <a:p>
            <a:pPr fontAlgn="base"/>
            <a:r>
              <a:rPr lang="en-US" sz="4000" dirty="0"/>
              <a:t>(AB)C: We multiply matrices A and B (10 x 30) resulting in a temporary matrix of size 10 x 5. Then, we multiply this temporary matrix with matrix C (10 x 5) resulting in a final matrix of size 10 x 60. The total scalar multiplications for this option are 10 x 30 x 5 + 10 x 5 x 60 = 4500.</a:t>
            </a:r>
          </a:p>
          <a:p>
            <a:pPr fontAlgn="base"/>
            <a:r>
              <a:rPr lang="en-US" sz="4000" dirty="0"/>
              <a:t>A(BC): We multiply matrices B and C (30 x 5) resulting in a temporary matrix of size 30 x 60. Then, we multiply matrix A (10 x 30) with this temporary matrix, resulting in a final matrix of size 10 x 60. The total scalar multiplications for this option are 10 x 30 x 60 + 10 x 5 x 60 = 9000.</a:t>
            </a:r>
          </a:p>
          <a:p>
            <a:pPr fontAlgn="base"/>
            <a:r>
              <a:rPr lang="en-US" sz="4400" dirty="0"/>
              <a:t>Updating the table</a:t>
            </a:r>
          </a:p>
        </p:txBody>
      </p:sp>
      <p:pic>
        <p:nvPicPr>
          <p:cNvPr id="9" name="Picture 2">
            <a:extLst>
              <a:ext uri="{FF2B5EF4-FFF2-40B4-BE49-F238E27FC236}">
                <a16:creationId xmlns:a16="http://schemas.microsoft.com/office/drawing/2014/main" id="{26AD968D-F0A3-2460-4A6B-CB660E62E5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8163" y="799678"/>
            <a:ext cx="5257953" cy="2177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79117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2C06-6A6F-3C15-C432-E5D185C4F06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70D8364-D783-BB32-6695-D1E6CE800DE7}"/>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C801229A-1C54-ED21-E846-B4D30D579074}"/>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AA065DA-E348-C5DA-6957-61BAE237F2D7}"/>
              </a:ext>
            </a:extLst>
          </p:cNvPr>
          <p:cNvSpPr>
            <a:spLocks noGrp="1"/>
          </p:cNvSpPr>
          <p:nvPr>
            <p:ph type="sldNum" sz="quarter" idx="12"/>
          </p:nvPr>
        </p:nvSpPr>
        <p:spPr/>
        <p:txBody>
          <a:bodyPr/>
          <a:lstStyle/>
          <a:p>
            <a:fld id="{B41E2F89-97C2-4B18-A593-8150592B5005}" type="slidenum">
              <a:rPr lang="en-US" smtClean="0"/>
              <a:t>55</a:t>
            </a:fld>
            <a:endParaRPr lang="en-US" dirty="0"/>
          </a:p>
        </p:txBody>
      </p:sp>
      <p:sp>
        <p:nvSpPr>
          <p:cNvPr id="7" name="Title 1">
            <a:extLst>
              <a:ext uri="{FF2B5EF4-FFF2-40B4-BE49-F238E27FC236}">
                <a16:creationId xmlns:a16="http://schemas.microsoft.com/office/drawing/2014/main" id="{026BD262-091D-C514-A3C0-3FBD418C8B0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C6B9410F-8610-6099-29F4-407EBD71AE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1" name="Content Placeholder 2">
            <a:extLst>
              <a:ext uri="{FF2B5EF4-FFF2-40B4-BE49-F238E27FC236}">
                <a16:creationId xmlns:a16="http://schemas.microsoft.com/office/drawing/2014/main" id="{17DD0987-A839-12D2-5039-82F5617C528A}"/>
              </a:ext>
            </a:extLst>
          </p:cNvPr>
          <p:cNvSpPr>
            <a:spLocks noGrp="1"/>
          </p:cNvSpPr>
          <p:nvPr>
            <p:ph idx="1"/>
          </p:nvPr>
        </p:nvSpPr>
        <p:spPr>
          <a:xfrm>
            <a:off x="277402" y="2938463"/>
            <a:ext cx="11712540" cy="3423815"/>
          </a:xfrm>
        </p:spPr>
        <p:txBody>
          <a:bodyPr>
            <a:normAutofit fontScale="85000" lnSpcReduction="20000"/>
          </a:bodyPr>
          <a:lstStyle/>
          <a:p>
            <a:pPr fontAlgn="base"/>
            <a:r>
              <a:rPr lang="en-US" dirty="0"/>
              <a:t>Finally, we consider the entire chain of matrices ABCD: We have two options: ((AB)C)D or (A(BC))D. Calculating the scalar multiplications for each option:</a:t>
            </a:r>
          </a:p>
          <a:p>
            <a:pPr fontAlgn="base"/>
            <a:r>
              <a:rPr lang="en-US" dirty="0"/>
              <a:t>((AB)C)D: We multiply matrices (AB) and C, resulting in a temporary matrix of size 10 x 60. Then, we multiply this temporary matrix with matrix D (10 x 60), resulting in a final matrix of size 10 x 8. The total scalar multiplications for this option are 10 x 5 x 60 + 10 x 60 x 8 = 6000.</a:t>
            </a:r>
          </a:p>
          <a:p>
            <a:pPr fontAlgn="base"/>
            <a:r>
              <a:rPr lang="en-US" dirty="0"/>
              <a:t>(A(BC))D: We multiply matrices A and (BC), resulting in a temporary matrix of size 10 x 60. Then, we multiply this temporary matrix with matrix D (10 x 60), resulting in a final matrix of size 10 x 8. The total scalar multiplications for this option is 10 x 30 x 5 + 10 x 5 x 8 = 1300.</a:t>
            </a:r>
          </a:p>
          <a:p>
            <a:pPr fontAlgn="base"/>
            <a:r>
              <a:rPr lang="en-US" dirty="0"/>
              <a:t>Updating the table:</a:t>
            </a:r>
          </a:p>
          <a:p>
            <a:pPr algn="just">
              <a:buNone/>
            </a:pPr>
            <a:endParaRPr lang="en-US" sz="2200" dirty="0"/>
          </a:p>
          <a:p>
            <a:pPr algn="just">
              <a:buNone/>
            </a:pPr>
            <a:endParaRPr lang="en-US" sz="2200" dirty="0"/>
          </a:p>
        </p:txBody>
      </p:sp>
      <p:pic>
        <p:nvPicPr>
          <p:cNvPr id="12" name="Picture 2">
            <a:extLst>
              <a:ext uri="{FF2B5EF4-FFF2-40B4-BE49-F238E27FC236}">
                <a16:creationId xmlns:a16="http://schemas.microsoft.com/office/drawing/2014/main" id="{7E237F2E-8F7C-B0AE-284C-3F7FD41CC5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5999" y="838200"/>
            <a:ext cx="6796356"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94947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B3491-F760-A1B6-9A08-6D6607AAA25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C2AF748-BD61-F181-FDA4-7DC5241242E8}"/>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C0259BF2-7174-E02D-9991-FDF845687FF8}"/>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06920715-D281-47EF-F490-B58C890406CF}"/>
              </a:ext>
            </a:extLst>
          </p:cNvPr>
          <p:cNvSpPr>
            <a:spLocks noGrp="1"/>
          </p:cNvSpPr>
          <p:nvPr>
            <p:ph type="sldNum" sz="quarter" idx="12"/>
          </p:nvPr>
        </p:nvSpPr>
        <p:spPr/>
        <p:txBody>
          <a:bodyPr/>
          <a:lstStyle/>
          <a:p>
            <a:fld id="{B41E2F89-97C2-4B18-A593-8150592B5005}" type="slidenum">
              <a:rPr lang="en-US" smtClean="0"/>
              <a:t>56</a:t>
            </a:fld>
            <a:endParaRPr lang="en-US" dirty="0"/>
          </a:p>
        </p:txBody>
      </p:sp>
      <p:sp>
        <p:nvSpPr>
          <p:cNvPr id="7" name="Title 1">
            <a:extLst>
              <a:ext uri="{FF2B5EF4-FFF2-40B4-BE49-F238E27FC236}">
                <a16:creationId xmlns:a16="http://schemas.microsoft.com/office/drawing/2014/main" id="{4FEEF1CD-1C30-F20C-B610-A7A77A24AA63}"/>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3EC3F51A-C738-B80E-8782-70B93DB03F0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1" name="Content Placeholder 2">
            <a:extLst>
              <a:ext uri="{FF2B5EF4-FFF2-40B4-BE49-F238E27FC236}">
                <a16:creationId xmlns:a16="http://schemas.microsoft.com/office/drawing/2014/main" id="{F2C60D3E-3F23-66EA-1E49-4E0E2161951F}"/>
              </a:ext>
            </a:extLst>
          </p:cNvPr>
          <p:cNvSpPr>
            <a:spLocks noGrp="1"/>
          </p:cNvSpPr>
          <p:nvPr>
            <p:ph idx="1"/>
          </p:nvPr>
        </p:nvSpPr>
        <p:spPr>
          <a:xfrm>
            <a:off x="277402" y="1150707"/>
            <a:ext cx="11712540" cy="5211572"/>
          </a:xfrm>
        </p:spPr>
        <p:txBody>
          <a:bodyPr>
            <a:normAutofit lnSpcReduction="10000"/>
          </a:bodyPr>
          <a:lstStyle/>
          <a:p>
            <a:pPr marL="0" indent="0">
              <a:buNone/>
            </a:pPr>
            <a:r>
              <a:rPr lang="en-IN" sz="3200" b="1" dirty="0"/>
              <a:t>Pseudocode</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MATRIX-CHAIN-MULTIPLICATION(p)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n =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p.length</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 1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let m[1…n, 1…n] and s[1…n ─ 1, 2…n] be new matrices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for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 1 to n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m[</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 0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for diff= 1 to n-1</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for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 1 to n - diff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j =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 diff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m[</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j] = ∞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for k = </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to j - 1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q = m[</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k] + m[k + 1, j] + pi-1pkpj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if q &lt; m[</a:t>
            </a:r>
            <a:r>
              <a:rPr lang="en-US" altLang="en-US" sz="2400" dirty="0" err="1">
                <a:solidFill>
                  <a:srgbClr val="000000"/>
                </a:solidFill>
                <a:latin typeface="Arial" panose="020B0604020202020204" pitchFamily="34" charset="0"/>
                <a:ea typeface="Times New Roman" panose="02020603050405020304" pitchFamily="18" charset="0"/>
                <a:cs typeface="Arial" panose="020B0604020202020204" pitchFamily="34" charset="0"/>
              </a:rPr>
              <a:t>i</a:t>
            </a:r>
            <a:r>
              <a:rPr lang="en-US" altLang="en-US" sz="2400" dirty="0">
                <a:solidFill>
                  <a:srgbClr val="000000"/>
                </a:solidFill>
                <a:latin typeface="Arial" panose="020B0604020202020204" pitchFamily="34" charset="0"/>
                <a:ea typeface="Times New Roman" panose="02020603050405020304" pitchFamily="18" charset="0"/>
                <a:cs typeface="Arial" panose="020B0604020202020204" pitchFamily="34" charset="0"/>
              </a:rPr>
              <a:t>, j]</a:t>
            </a:r>
            <a:r>
              <a:rPr lang="en-US" altLang="en-US" sz="2400" dirty="0">
                <a:solidFill>
                  <a:srgbClr val="000000"/>
                </a:solidFill>
                <a:latin typeface="Arial" panose="020B0604020202020204" pitchFamily="34" charset="0"/>
                <a:ea typeface="Calibri" panose="020F0502020204030204" pitchFamily="34" charset="0"/>
                <a:cs typeface="Arial" panose="020B0604020202020204" pitchFamily="34" charset="0"/>
              </a:rPr>
              <a:t>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ea typeface="Calibri" panose="020F0502020204030204" pitchFamily="34" charset="0"/>
                <a:cs typeface="Arial" panose="020B0604020202020204" pitchFamily="34" charset="0"/>
              </a:rPr>
              <a:t>					 m[</a:t>
            </a:r>
            <a:r>
              <a:rPr lang="en-US" altLang="en-US" sz="2400" dirty="0" err="1">
                <a:solidFill>
                  <a:srgbClr val="000000"/>
                </a:solidFill>
                <a:latin typeface="Arial" panose="020B0604020202020204" pitchFamily="34" charset="0"/>
                <a:ea typeface="Calibri" panose="020F0502020204030204" pitchFamily="34" charset="0"/>
                <a:cs typeface="Arial" panose="020B0604020202020204" pitchFamily="34" charset="0"/>
              </a:rPr>
              <a:t>i</a:t>
            </a:r>
            <a:r>
              <a:rPr lang="en-US" altLang="en-US" sz="2400" dirty="0">
                <a:solidFill>
                  <a:srgbClr val="000000"/>
                </a:solidFill>
                <a:latin typeface="Arial" panose="020B0604020202020204" pitchFamily="34" charset="0"/>
                <a:ea typeface="Calibri" panose="020F0502020204030204" pitchFamily="34" charset="0"/>
                <a:cs typeface="Arial" panose="020B0604020202020204" pitchFamily="34" charset="0"/>
              </a:rPr>
              <a:t>, j] = q</a:t>
            </a:r>
            <a:r>
              <a:rPr lang="en-US" altLang="en-US" sz="2400" dirty="0">
                <a:latin typeface="Arial" panose="020B0604020202020204" pitchFamily="34" charset="0"/>
                <a:cs typeface="Arial" panose="020B0604020202020204" pitchFamily="34" charset="0"/>
              </a:rPr>
              <a:t> </a:t>
            </a:r>
          </a:p>
          <a:p>
            <a:pPr marL="0" lvl="0" indent="0" eaLnBrk="0" fontAlgn="base" hangingPunct="0">
              <a:lnSpc>
                <a:spcPct val="100000"/>
              </a:lnSpc>
              <a:spcBef>
                <a:spcPct val="0"/>
              </a:spcBef>
              <a:spcAft>
                <a:spcPct val="0"/>
              </a:spcAft>
              <a:buNone/>
            </a:pPr>
            <a:r>
              <a:rPr lang="en-US" altLang="en-US" sz="2400" dirty="0">
                <a:latin typeface="Arial" panose="020B0604020202020204" pitchFamily="34" charset="0"/>
                <a:cs typeface="Arial" panose="020B0604020202020204" pitchFamily="34" charset="0"/>
              </a:rPr>
              <a:t>					 s[</a:t>
            </a:r>
            <a:r>
              <a:rPr lang="en-US" altLang="en-US" sz="2400" dirty="0" err="1">
                <a:latin typeface="Arial" panose="020B0604020202020204" pitchFamily="34" charset="0"/>
                <a:cs typeface="Arial" panose="020B0604020202020204" pitchFamily="34" charset="0"/>
              </a:rPr>
              <a:t>i,j</a:t>
            </a:r>
            <a:r>
              <a:rPr lang="en-US" altLang="en-US" sz="2400" dirty="0">
                <a:latin typeface="Arial" panose="020B0604020202020204" pitchFamily="34" charset="0"/>
                <a:cs typeface="Arial" panose="020B0604020202020204" pitchFamily="34" charset="0"/>
              </a:rPr>
              <a:t>] = k</a:t>
            </a:r>
          </a:p>
          <a:p>
            <a:pPr marL="0" indent="0">
              <a:buNone/>
            </a:pPr>
            <a:endParaRPr lang="en-IN" sz="2400" dirty="0"/>
          </a:p>
        </p:txBody>
      </p:sp>
    </p:spTree>
    <p:extLst>
      <p:ext uri="{BB962C8B-B14F-4D97-AF65-F5344CB8AC3E}">
        <p14:creationId xmlns:p14="http://schemas.microsoft.com/office/powerpoint/2010/main" val="41074090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15BB4-AA3A-6B6B-0EED-BA5B76F4F2DF}"/>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4667E60-47E1-0F5E-F9CD-E7ECD2E0D232}"/>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E6859A3A-32DF-94EC-0562-12CD1724B79C}"/>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676EE32-2E10-300C-957D-FA7167ED7B20}"/>
              </a:ext>
            </a:extLst>
          </p:cNvPr>
          <p:cNvSpPr>
            <a:spLocks noGrp="1"/>
          </p:cNvSpPr>
          <p:nvPr>
            <p:ph type="sldNum" sz="quarter" idx="12"/>
          </p:nvPr>
        </p:nvSpPr>
        <p:spPr/>
        <p:txBody>
          <a:bodyPr/>
          <a:lstStyle/>
          <a:p>
            <a:fld id="{B41E2F89-97C2-4B18-A593-8150592B5005}" type="slidenum">
              <a:rPr lang="en-US" smtClean="0"/>
              <a:t>57</a:t>
            </a:fld>
            <a:endParaRPr lang="en-US" dirty="0"/>
          </a:p>
        </p:txBody>
      </p:sp>
      <p:sp>
        <p:nvSpPr>
          <p:cNvPr id="7" name="Title 1">
            <a:extLst>
              <a:ext uri="{FF2B5EF4-FFF2-40B4-BE49-F238E27FC236}">
                <a16:creationId xmlns:a16="http://schemas.microsoft.com/office/drawing/2014/main" id="{C25FF2D9-2A85-E0B1-D78C-22E91330063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IN" sz="2400" dirty="0"/>
              <a:t>Matrix Chain Multiplication</a:t>
            </a:r>
            <a:endParaRPr lang="en-US" sz="2400" dirty="0"/>
          </a:p>
        </p:txBody>
      </p:sp>
      <p:pic>
        <p:nvPicPr>
          <p:cNvPr id="8" name="Picture 7" descr="A black and red logo&#10;&#10;Description automatically generated">
            <a:extLst>
              <a:ext uri="{FF2B5EF4-FFF2-40B4-BE49-F238E27FC236}">
                <a16:creationId xmlns:a16="http://schemas.microsoft.com/office/drawing/2014/main" id="{02146FE4-00A7-58E0-A68D-81A703E407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145F71B7-2EFF-6F14-2123-EB0066B85555}"/>
              </a:ext>
            </a:extLst>
          </p:cNvPr>
          <p:cNvSpPr>
            <a:spLocks noGrp="1"/>
          </p:cNvSpPr>
          <p:nvPr>
            <p:ph idx="1"/>
          </p:nvPr>
        </p:nvSpPr>
        <p:spPr/>
        <p:txBody>
          <a:bodyPr/>
          <a:lstStyle/>
          <a:p>
            <a:pPr marL="0" indent="0">
              <a:buNone/>
            </a:pPr>
            <a:r>
              <a:rPr lang="en-US" sz="3200" dirty="0"/>
              <a:t>Pseudocode to print the optimal output </a:t>
            </a:r>
            <a:r>
              <a:rPr lang="en-US" sz="3200" dirty="0" err="1"/>
              <a:t>parenthesization</a:t>
            </a:r>
            <a:r>
              <a:rPr lang="en-US" sz="3200" dirty="0"/>
              <a:t> −</a:t>
            </a:r>
          </a:p>
          <a:p>
            <a:pPr marL="0" indent="0">
              <a:buNone/>
            </a:pPr>
            <a:endParaRPr lang="en-US" sz="2400" dirty="0"/>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PRINT-OPTIMAL-OUTPUT(s, </a:t>
            </a:r>
            <a:r>
              <a:rPr lang="en-US" altLang="en-US" sz="2400" dirty="0" err="1">
                <a:solidFill>
                  <a:srgbClr val="000000"/>
                </a:solidFill>
                <a:latin typeface="Arial" panose="020B0604020202020204" pitchFamily="34" charset="0"/>
                <a:cs typeface="Arial" panose="020B0604020202020204" pitchFamily="34" charset="0"/>
              </a:rPr>
              <a:t>i</a:t>
            </a:r>
            <a:r>
              <a:rPr lang="en-US" altLang="en-US" sz="2400" dirty="0">
                <a:solidFill>
                  <a:srgbClr val="000000"/>
                </a:solidFill>
                <a:latin typeface="Arial" panose="020B0604020202020204" pitchFamily="34" charset="0"/>
                <a:cs typeface="Arial" panose="020B0604020202020204" pitchFamily="34" charset="0"/>
              </a:rPr>
              <a:t>, j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 if </a:t>
            </a:r>
            <a:r>
              <a:rPr lang="en-US" altLang="en-US" sz="2400" dirty="0" err="1">
                <a:solidFill>
                  <a:srgbClr val="000000"/>
                </a:solidFill>
                <a:latin typeface="Arial" panose="020B0604020202020204" pitchFamily="34" charset="0"/>
                <a:cs typeface="Arial" panose="020B0604020202020204" pitchFamily="34" charset="0"/>
              </a:rPr>
              <a:t>i</a:t>
            </a:r>
            <a:r>
              <a:rPr lang="en-US" altLang="en-US" sz="2400" dirty="0">
                <a:solidFill>
                  <a:srgbClr val="000000"/>
                </a:solidFill>
                <a:latin typeface="Arial" panose="020B0604020202020204" pitchFamily="34" charset="0"/>
                <a:cs typeface="Arial" panose="020B0604020202020204" pitchFamily="34" charset="0"/>
              </a:rPr>
              <a:t> == j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print “A”I</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 else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print “(” PRINT-OPTIMAL-OUTPUT(s, </a:t>
            </a:r>
            <a:r>
              <a:rPr lang="en-US" altLang="en-US" sz="2400" dirty="0" err="1">
                <a:solidFill>
                  <a:srgbClr val="000000"/>
                </a:solidFill>
                <a:latin typeface="Arial" panose="020B0604020202020204" pitchFamily="34" charset="0"/>
                <a:cs typeface="Arial" panose="020B0604020202020204" pitchFamily="34" charset="0"/>
              </a:rPr>
              <a:t>i</a:t>
            </a:r>
            <a:r>
              <a:rPr lang="en-US" altLang="en-US" sz="2400" dirty="0">
                <a:solidFill>
                  <a:srgbClr val="000000"/>
                </a:solidFill>
                <a:latin typeface="Arial" panose="020B0604020202020204" pitchFamily="34" charset="0"/>
                <a:cs typeface="Arial" panose="020B0604020202020204" pitchFamily="34" charset="0"/>
              </a:rPr>
              <a:t>, s[</a:t>
            </a:r>
            <a:r>
              <a:rPr lang="en-US" altLang="en-US" sz="2400" dirty="0" err="1">
                <a:solidFill>
                  <a:srgbClr val="000000"/>
                </a:solidFill>
                <a:latin typeface="Arial" panose="020B0604020202020204" pitchFamily="34" charset="0"/>
                <a:cs typeface="Arial" panose="020B0604020202020204" pitchFamily="34" charset="0"/>
              </a:rPr>
              <a:t>i</a:t>
            </a:r>
            <a:r>
              <a:rPr lang="en-US" altLang="en-US" sz="2400" dirty="0">
                <a:solidFill>
                  <a:srgbClr val="000000"/>
                </a:solidFill>
                <a:latin typeface="Arial" panose="020B0604020202020204" pitchFamily="34" charset="0"/>
                <a:cs typeface="Arial" panose="020B0604020202020204" pitchFamily="34" charset="0"/>
              </a:rPr>
              <a:t>, j]) </a:t>
            </a:r>
          </a:p>
          <a:p>
            <a:pPr marL="0" lvl="0" indent="0" eaLnBrk="0" fontAlgn="base" hangingPunct="0">
              <a:lnSpc>
                <a:spcPct val="100000"/>
              </a:lnSpc>
              <a:spcBef>
                <a:spcPct val="0"/>
              </a:spcBef>
              <a:spcAft>
                <a:spcPct val="0"/>
              </a:spcAft>
              <a:buNone/>
            </a:pPr>
            <a:r>
              <a:rPr lang="en-US" altLang="en-US" sz="2400" dirty="0">
                <a:solidFill>
                  <a:srgbClr val="000000"/>
                </a:solidFill>
                <a:latin typeface="Arial" panose="020B0604020202020204" pitchFamily="34" charset="0"/>
                <a:cs typeface="Arial" panose="020B0604020202020204" pitchFamily="34" charset="0"/>
              </a:rPr>
              <a:t>PRINT-OPTIMAL-OUTPUT(s, s[</a:t>
            </a:r>
            <a:r>
              <a:rPr lang="en-US" altLang="en-US" sz="2400" dirty="0" err="1">
                <a:solidFill>
                  <a:srgbClr val="000000"/>
                </a:solidFill>
                <a:latin typeface="Arial" panose="020B0604020202020204" pitchFamily="34" charset="0"/>
                <a:cs typeface="Arial" panose="020B0604020202020204" pitchFamily="34" charset="0"/>
              </a:rPr>
              <a:t>i</a:t>
            </a:r>
            <a:r>
              <a:rPr lang="en-US" altLang="en-US" sz="2400" dirty="0">
                <a:solidFill>
                  <a:srgbClr val="000000"/>
                </a:solidFill>
                <a:latin typeface="Arial" panose="020B0604020202020204" pitchFamily="34" charset="0"/>
                <a:cs typeface="Arial" panose="020B0604020202020204" pitchFamily="34" charset="0"/>
              </a:rPr>
              <a:t>, j] + 1, j) print “)”</a:t>
            </a:r>
            <a:r>
              <a:rPr lang="en-US" altLang="en-US" sz="2400" dirty="0">
                <a:latin typeface="Arial" panose="020B0604020202020204" pitchFamily="34" charset="0"/>
                <a:cs typeface="Arial" panose="020B0604020202020204" pitchFamily="34" charset="0"/>
              </a:rPr>
              <a:t> </a:t>
            </a:r>
          </a:p>
          <a:p>
            <a:pPr marL="0" indent="0">
              <a:buNone/>
            </a:pPr>
            <a:endParaRPr lang="en-US" dirty="0"/>
          </a:p>
        </p:txBody>
      </p:sp>
    </p:spTree>
    <p:extLst>
      <p:ext uri="{BB962C8B-B14F-4D97-AF65-F5344CB8AC3E}">
        <p14:creationId xmlns:p14="http://schemas.microsoft.com/office/powerpoint/2010/main" val="39260001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CD8DF-4A97-20E4-DB8F-98297D36516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1751990-5D31-2CB0-F066-DECF35F95524}"/>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9CB269CE-40D4-6478-F92C-AAB4ACC699F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AF3DB2AF-64ED-CE3E-F2A7-04632DBB76D7}"/>
              </a:ext>
            </a:extLst>
          </p:cNvPr>
          <p:cNvSpPr>
            <a:spLocks noGrp="1"/>
          </p:cNvSpPr>
          <p:nvPr>
            <p:ph type="sldNum" sz="quarter" idx="12"/>
          </p:nvPr>
        </p:nvSpPr>
        <p:spPr/>
        <p:txBody>
          <a:bodyPr/>
          <a:lstStyle/>
          <a:p>
            <a:fld id="{B41E2F89-97C2-4B18-A593-8150592B5005}" type="slidenum">
              <a:rPr lang="en-US" smtClean="0"/>
              <a:t>58</a:t>
            </a:fld>
            <a:endParaRPr lang="en-US" dirty="0"/>
          </a:p>
        </p:txBody>
      </p:sp>
      <p:sp>
        <p:nvSpPr>
          <p:cNvPr id="7" name="Title 1">
            <a:extLst>
              <a:ext uri="{FF2B5EF4-FFF2-40B4-BE49-F238E27FC236}">
                <a16:creationId xmlns:a16="http://schemas.microsoft.com/office/drawing/2014/main" id="{26F7B9D9-3A5A-6254-8FC9-66495FDEDE9D}"/>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9193D174-8A41-95BF-019B-2B14482F4D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0" name="Content Placeholder 2">
            <a:extLst>
              <a:ext uri="{FF2B5EF4-FFF2-40B4-BE49-F238E27FC236}">
                <a16:creationId xmlns:a16="http://schemas.microsoft.com/office/drawing/2014/main" id="{8861AB54-BF9F-C2D4-C4B5-A08B7C8469DB}"/>
              </a:ext>
            </a:extLst>
          </p:cNvPr>
          <p:cNvSpPr>
            <a:spLocks noGrp="1"/>
          </p:cNvSpPr>
          <p:nvPr>
            <p:ph idx="1"/>
          </p:nvPr>
        </p:nvSpPr>
        <p:spPr>
          <a:xfrm>
            <a:off x="457199" y="986319"/>
            <a:ext cx="11080679" cy="5455578"/>
          </a:xfrm>
        </p:spPr>
        <p:txBody>
          <a:bodyPr>
            <a:normAutofit/>
          </a:bodyPr>
          <a:lstStyle/>
          <a:p>
            <a:pPr marL="0" indent="0">
              <a:buNone/>
            </a:pPr>
            <a:r>
              <a:rPr lang="en-US" sz="2200" b="1" dirty="0"/>
              <a:t>Topic link:</a:t>
            </a:r>
          </a:p>
          <a:p>
            <a:r>
              <a:rPr lang="en-US" sz="2400" dirty="0">
                <a:hlinkClick r:id="rId3"/>
              </a:rPr>
              <a:t>4.9 Longest Common Subsequence (LCS) - Recursion and Dynamic Programming – YouTube</a:t>
            </a:r>
            <a:endParaRPr lang="en-US" sz="2400" dirty="0"/>
          </a:p>
          <a:p>
            <a:endParaRPr lang="en-US" sz="2200" dirty="0"/>
          </a:p>
        </p:txBody>
      </p:sp>
    </p:spTree>
    <p:extLst>
      <p:ext uri="{BB962C8B-B14F-4D97-AF65-F5344CB8AC3E}">
        <p14:creationId xmlns:p14="http://schemas.microsoft.com/office/powerpoint/2010/main" val="33373009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6E805-BC4D-B23D-8408-77A5CBC7E45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500CD11-1869-27F0-BC44-5A7A752AAEE5}"/>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AF797407-BAF8-A93C-05FC-FE413998683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1D5FCE0-3008-5F8D-D37D-F0705C6C6E18}"/>
              </a:ext>
            </a:extLst>
          </p:cNvPr>
          <p:cNvSpPr>
            <a:spLocks noGrp="1"/>
          </p:cNvSpPr>
          <p:nvPr>
            <p:ph type="sldNum" sz="quarter" idx="12"/>
          </p:nvPr>
        </p:nvSpPr>
        <p:spPr/>
        <p:txBody>
          <a:bodyPr/>
          <a:lstStyle/>
          <a:p>
            <a:fld id="{B41E2F89-97C2-4B18-A593-8150592B5005}" type="slidenum">
              <a:rPr lang="en-US" smtClean="0"/>
              <a:t>59</a:t>
            </a:fld>
            <a:endParaRPr lang="en-US" dirty="0"/>
          </a:p>
        </p:txBody>
      </p:sp>
      <p:sp>
        <p:nvSpPr>
          <p:cNvPr id="7" name="Title 1">
            <a:extLst>
              <a:ext uri="{FF2B5EF4-FFF2-40B4-BE49-F238E27FC236}">
                <a16:creationId xmlns:a16="http://schemas.microsoft.com/office/drawing/2014/main" id="{1CF50988-8CB8-9A23-CE70-E9E55C91941F}"/>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2CABCA51-2101-CA30-00D7-331539AA1F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0" name="Content Placeholder 2">
            <a:extLst>
              <a:ext uri="{FF2B5EF4-FFF2-40B4-BE49-F238E27FC236}">
                <a16:creationId xmlns:a16="http://schemas.microsoft.com/office/drawing/2014/main" id="{2ADE6504-1E6C-3CB6-6F7D-609D7B6217B1}"/>
              </a:ext>
            </a:extLst>
          </p:cNvPr>
          <p:cNvSpPr>
            <a:spLocks noGrp="1"/>
          </p:cNvSpPr>
          <p:nvPr>
            <p:ph idx="1"/>
          </p:nvPr>
        </p:nvSpPr>
        <p:spPr>
          <a:xfrm>
            <a:off x="457199" y="986319"/>
            <a:ext cx="11080679" cy="5455578"/>
          </a:xfrm>
        </p:spPr>
        <p:txBody>
          <a:bodyPr>
            <a:normAutofit lnSpcReduction="10000"/>
          </a:bodyPr>
          <a:lstStyle/>
          <a:p>
            <a:pPr marL="0" indent="0">
              <a:buNone/>
            </a:pPr>
            <a:r>
              <a:rPr lang="en-US" sz="2200" b="1" dirty="0"/>
              <a:t>Daily Quiz</a:t>
            </a:r>
          </a:p>
          <a:p>
            <a:pPr marL="457200" indent="-457200">
              <a:buFont typeface="+mj-lt"/>
              <a:buAutoNum type="arabicPeriod"/>
            </a:pPr>
            <a:r>
              <a:rPr lang="pt-BR" sz="2000" dirty="0"/>
              <a:t>Number of unique subproblems in MCM for n matrices:</a:t>
            </a:r>
          </a:p>
          <a:p>
            <a:pPr marL="457200" lvl="1" indent="0">
              <a:buNone/>
            </a:pPr>
            <a:r>
              <a:rPr lang="pt-BR" sz="2000" dirty="0"/>
              <a:t>	A. O(n)</a:t>
            </a:r>
          </a:p>
          <a:p>
            <a:pPr marL="457200" lvl="1" indent="0">
              <a:buNone/>
            </a:pPr>
            <a:r>
              <a:rPr lang="pt-BR" sz="2000" dirty="0"/>
              <a:t>	B. O(n²)</a:t>
            </a:r>
          </a:p>
          <a:p>
            <a:pPr marL="457200" lvl="1" indent="0">
              <a:buNone/>
            </a:pPr>
            <a:r>
              <a:rPr lang="pt-BR" sz="2000" dirty="0"/>
              <a:t>	C. O(n³)</a:t>
            </a:r>
          </a:p>
          <a:p>
            <a:pPr marL="457200" lvl="1" indent="0">
              <a:buNone/>
            </a:pPr>
            <a:r>
              <a:rPr lang="pt-BR" sz="2000" dirty="0"/>
              <a:t>	D. O(2ⁿ)</a:t>
            </a:r>
          </a:p>
          <a:p>
            <a:pPr marL="457200" indent="-457200">
              <a:buFont typeface="+mj-lt"/>
              <a:buAutoNum type="arabicPeriod"/>
            </a:pPr>
            <a:r>
              <a:rPr lang="en-US" sz="2000" dirty="0"/>
              <a:t>Matrix Chain Multiplication for 4 matrices uses DP because:</a:t>
            </a:r>
          </a:p>
          <a:p>
            <a:pPr marL="0" indent="0">
              <a:buNone/>
            </a:pPr>
            <a:r>
              <a:rPr lang="en-US" sz="2000" dirty="0"/>
              <a:t>	A. Subproblems repeat</a:t>
            </a:r>
          </a:p>
          <a:p>
            <a:pPr marL="0" indent="0">
              <a:buNone/>
            </a:pPr>
            <a:r>
              <a:rPr lang="en-US" sz="2000" dirty="0"/>
              <a:t>	B. Greedy gives optimal</a:t>
            </a:r>
          </a:p>
          <a:p>
            <a:pPr marL="0" indent="0">
              <a:buNone/>
            </a:pPr>
            <a:r>
              <a:rPr lang="en-US" sz="2000" dirty="0"/>
              <a:t>	C. It's a sorting problem</a:t>
            </a:r>
          </a:p>
          <a:p>
            <a:pPr marL="0" indent="0">
              <a:buNone/>
            </a:pPr>
            <a:r>
              <a:rPr lang="en-US" sz="2000" dirty="0"/>
              <a:t>	D. No optimal substructure</a:t>
            </a:r>
          </a:p>
          <a:p>
            <a:pPr marL="457200" indent="-457200">
              <a:buAutoNum type="arabicPeriod" startAt="3"/>
            </a:pPr>
            <a:r>
              <a:rPr lang="en-US" sz="2000" dirty="0"/>
              <a:t>Matrix Chain Multiplication is solved using which technique?</a:t>
            </a:r>
          </a:p>
          <a:p>
            <a:pPr marL="1257300" lvl="2" indent="-342900">
              <a:buAutoNum type="alphaUcPeriod"/>
            </a:pPr>
            <a:r>
              <a:rPr lang="en-US" dirty="0"/>
              <a:t>Greedy Algorithm</a:t>
            </a:r>
          </a:p>
          <a:p>
            <a:pPr marL="1257300" lvl="2" indent="-342900">
              <a:buAutoNum type="alphaUcPeriod"/>
            </a:pPr>
            <a:r>
              <a:rPr lang="en-US" dirty="0"/>
              <a:t>Divide and Conquer</a:t>
            </a:r>
          </a:p>
          <a:p>
            <a:pPr marL="1257300" lvl="2" indent="-342900">
              <a:buAutoNum type="alphaUcPeriod"/>
            </a:pPr>
            <a:r>
              <a:rPr lang="en-US" sz="2000" dirty="0"/>
              <a:t>Dynamic Programming</a:t>
            </a:r>
          </a:p>
          <a:p>
            <a:pPr marL="1257300" lvl="2" indent="-342900">
              <a:buAutoNum type="alphaUcPeriod"/>
            </a:pPr>
            <a:r>
              <a:rPr lang="en-US" sz="2000" dirty="0"/>
              <a:t>Backtracking</a:t>
            </a:r>
            <a:endParaRPr lang="pt-BR" sz="2000" dirty="0"/>
          </a:p>
        </p:txBody>
      </p:sp>
    </p:spTree>
    <p:extLst>
      <p:ext uri="{BB962C8B-B14F-4D97-AF65-F5344CB8AC3E}">
        <p14:creationId xmlns:p14="http://schemas.microsoft.com/office/powerpoint/2010/main" val="4474068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F79B5-C09A-A3AC-EAB9-FABC20E299B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91F5CB8-D70F-79E8-AEC5-C17A616DDFF6}"/>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8244D1E3-91E3-9DBF-F327-7325D82ECBB7}"/>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18124C59-864A-7DAE-5102-4941436DD9AB}"/>
              </a:ext>
            </a:extLst>
          </p:cNvPr>
          <p:cNvSpPr>
            <a:spLocks noGrp="1"/>
          </p:cNvSpPr>
          <p:nvPr>
            <p:ph type="sldNum" sz="quarter" idx="12"/>
          </p:nvPr>
        </p:nvSpPr>
        <p:spPr/>
        <p:txBody>
          <a:bodyPr/>
          <a:lstStyle/>
          <a:p>
            <a:fld id="{B41E2F89-97C2-4B18-A593-8150592B5005}" type="slidenum">
              <a:rPr lang="en-US" smtClean="0"/>
              <a:t>60</a:t>
            </a:fld>
            <a:endParaRPr lang="en-US" dirty="0"/>
          </a:p>
        </p:txBody>
      </p:sp>
      <p:sp>
        <p:nvSpPr>
          <p:cNvPr id="7" name="Title 1">
            <a:extLst>
              <a:ext uri="{FF2B5EF4-FFF2-40B4-BE49-F238E27FC236}">
                <a16:creationId xmlns:a16="http://schemas.microsoft.com/office/drawing/2014/main" id="{F248F16E-62F5-2AE5-85B8-9F87BAFD76D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Longest Common Subsequence (LCS) </a:t>
            </a:r>
          </a:p>
        </p:txBody>
      </p:sp>
      <p:pic>
        <p:nvPicPr>
          <p:cNvPr id="8" name="Picture 7" descr="A black and red logo&#10;&#10;Description automatically generated">
            <a:extLst>
              <a:ext uri="{FF2B5EF4-FFF2-40B4-BE49-F238E27FC236}">
                <a16:creationId xmlns:a16="http://schemas.microsoft.com/office/drawing/2014/main" id="{D19D0079-3597-4356-52E4-AE21591EA8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0" name="Content Placeholder 2">
            <a:extLst>
              <a:ext uri="{FF2B5EF4-FFF2-40B4-BE49-F238E27FC236}">
                <a16:creationId xmlns:a16="http://schemas.microsoft.com/office/drawing/2014/main" id="{D56AE24F-8F8D-2C19-75C0-9482CB1B3744}"/>
              </a:ext>
            </a:extLst>
          </p:cNvPr>
          <p:cNvSpPr>
            <a:spLocks noGrp="1"/>
          </p:cNvSpPr>
          <p:nvPr>
            <p:ph idx="1"/>
          </p:nvPr>
        </p:nvSpPr>
        <p:spPr>
          <a:xfrm>
            <a:off x="457199" y="986319"/>
            <a:ext cx="11080679" cy="5455578"/>
          </a:xfrm>
        </p:spPr>
        <p:txBody>
          <a:bodyPr>
            <a:normAutofit/>
          </a:bodyPr>
          <a:lstStyle/>
          <a:p>
            <a:pPr marL="0" indent="0">
              <a:buNone/>
            </a:pPr>
            <a:r>
              <a:rPr lang="en-US" sz="2200" b="1" dirty="0"/>
              <a:t>Daily Quiz</a:t>
            </a:r>
          </a:p>
          <a:p>
            <a:pPr marL="457200" indent="-457200">
              <a:lnSpc>
                <a:spcPct val="100000"/>
              </a:lnSpc>
              <a:spcBef>
                <a:spcPts val="0"/>
              </a:spcBef>
              <a:buAutoNum type="arabicPeriod" startAt="4"/>
            </a:pPr>
            <a:r>
              <a:rPr lang="en-US" sz="2000" dirty="0"/>
              <a:t>What does </a:t>
            </a:r>
            <a:r>
              <a:rPr lang="en-US" sz="2000" dirty="0" err="1"/>
              <a:t>dp</a:t>
            </a:r>
            <a:r>
              <a:rPr lang="en-US" sz="2000" dirty="0"/>
              <a:t>[</a:t>
            </a:r>
            <a:r>
              <a:rPr lang="en-US" sz="2000" dirty="0" err="1"/>
              <a:t>i</a:t>
            </a:r>
            <a:r>
              <a:rPr lang="en-US" sz="2000" dirty="0"/>
              <a:t>][j] represent in MCM?</a:t>
            </a:r>
          </a:p>
          <a:p>
            <a:pPr marL="0" indent="0">
              <a:lnSpc>
                <a:spcPct val="100000"/>
              </a:lnSpc>
              <a:spcBef>
                <a:spcPts val="0"/>
              </a:spcBef>
              <a:buNone/>
            </a:pPr>
            <a:r>
              <a:rPr lang="en-US" sz="2000" dirty="0"/>
              <a:t>	A. Minimum cost to multiply matrices from </a:t>
            </a:r>
            <a:r>
              <a:rPr lang="en-US" sz="2000" dirty="0" err="1"/>
              <a:t>i</a:t>
            </a:r>
            <a:r>
              <a:rPr lang="en-US" sz="2000" dirty="0"/>
              <a:t> to j</a:t>
            </a:r>
          </a:p>
          <a:p>
            <a:pPr marL="0" indent="0">
              <a:lnSpc>
                <a:spcPct val="100000"/>
              </a:lnSpc>
              <a:spcBef>
                <a:spcPts val="0"/>
              </a:spcBef>
              <a:buNone/>
            </a:pPr>
            <a:r>
              <a:rPr lang="en-US" sz="2000" dirty="0"/>
              <a:t>	B. Maximum cost to multiply matrices from </a:t>
            </a:r>
            <a:r>
              <a:rPr lang="en-US" sz="2000" dirty="0" err="1"/>
              <a:t>i</a:t>
            </a:r>
            <a:r>
              <a:rPr lang="en-US" sz="2000" dirty="0"/>
              <a:t> to j</a:t>
            </a:r>
          </a:p>
          <a:p>
            <a:pPr marL="0" indent="0">
              <a:lnSpc>
                <a:spcPct val="100000"/>
              </a:lnSpc>
              <a:spcBef>
                <a:spcPts val="0"/>
              </a:spcBef>
              <a:buNone/>
            </a:pPr>
            <a:r>
              <a:rPr lang="en-US" sz="2000" dirty="0"/>
              <a:t>	C. Number of matrices from </a:t>
            </a:r>
            <a:r>
              <a:rPr lang="en-US" sz="2000" dirty="0" err="1"/>
              <a:t>i</a:t>
            </a:r>
            <a:r>
              <a:rPr lang="en-US" sz="2000" dirty="0"/>
              <a:t> to j</a:t>
            </a:r>
          </a:p>
          <a:p>
            <a:pPr marL="0" indent="0">
              <a:lnSpc>
                <a:spcPct val="100000"/>
              </a:lnSpc>
              <a:spcBef>
                <a:spcPts val="0"/>
              </a:spcBef>
              <a:buNone/>
            </a:pPr>
            <a:r>
              <a:rPr lang="en-US" sz="2000" dirty="0"/>
              <a:t>	D. Dimensions of matrix I</a:t>
            </a:r>
          </a:p>
          <a:p>
            <a:pPr marL="457200" indent="-457200">
              <a:lnSpc>
                <a:spcPct val="100000"/>
              </a:lnSpc>
              <a:spcBef>
                <a:spcPts val="0"/>
              </a:spcBef>
              <a:buAutoNum type="arabicPeriod" startAt="5"/>
            </a:pPr>
            <a:r>
              <a:rPr lang="en-US" sz="2000" dirty="0"/>
              <a:t>For matrices A(10×20), B(20×30), C(30×40). Minimum multiplications for (AB)C is:</a:t>
            </a:r>
          </a:p>
          <a:p>
            <a:pPr marL="0" indent="0">
              <a:lnSpc>
                <a:spcPct val="100000"/>
              </a:lnSpc>
              <a:spcBef>
                <a:spcPts val="0"/>
              </a:spcBef>
              <a:buNone/>
            </a:pPr>
            <a:r>
              <a:rPr lang="en-US" sz="2000" dirty="0"/>
              <a:t>	A. 18000</a:t>
            </a:r>
          </a:p>
          <a:p>
            <a:pPr marL="0" indent="0">
              <a:lnSpc>
                <a:spcPct val="100000"/>
              </a:lnSpc>
              <a:spcBef>
                <a:spcPts val="0"/>
              </a:spcBef>
              <a:buNone/>
            </a:pPr>
            <a:r>
              <a:rPr lang="en-US" sz="2000" dirty="0"/>
              <a:t>	B. 24000</a:t>
            </a:r>
          </a:p>
          <a:p>
            <a:pPr marL="0" indent="0">
              <a:lnSpc>
                <a:spcPct val="100000"/>
              </a:lnSpc>
              <a:spcBef>
                <a:spcPts val="0"/>
              </a:spcBef>
              <a:buNone/>
            </a:pPr>
            <a:r>
              <a:rPr lang="en-US" sz="2000" dirty="0"/>
              <a:t>	C. 32000</a:t>
            </a:r>
          </a:p>
          <a:p>
            <a:pPr marL="0" indent="0">
              <a:lnSpc>
                <a:spcPct val="100000"/>
              </a:lnSpc>
              <a:spcBef>
                <a:spcPts val="0"/>
              </a:spcBef>
              <a:buNone/>
            </a:pPr>
            <a:r>
              <a:rPr lang="en-US" sz="2000" dirty="0"/>
              <a:t>	D. 6000</a:t>
            </a:r>
          </a:p>
          <a:p>
            <a:pPr marL="0" indent="0">
              <a:lnSpc>
                <a:spcPct val="100000"/>
              </a:lnSpc>
              <a:spcBef>
                <a:spcPts val="0"/>
              </a:spcBef>
              <a:buNone/>
            </a:pPr>
            <a:endParaRPr lang="pt-BR" sz="2000" dirty="0"/>
          </a:p>
        </p:txBody>
      </p:sp>
    </p:spTree>
    <p:extLst>
      <p:ext uri="{BB962C8B-B14F-4D97-AF65-F5344CB8AC3E}">
        <p14:creationId xmlns:p14="http://schemas.microsoft.com/office/powerpoint/2010/main" val="37496418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F9DAD-DE72-6570-18F6-838F6DCB850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03443B6-F5B0-E46E-6AC7-57E6075BC07E}"/>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E857AAB6-3E56-DCB8-5C6A-C1AE53FF91AC}"/>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D70AB0F-D4B3-6A3B-13EC-6C040FF86692}"/>
              </a:ext>
            </a:extLst>
          </p:cNvPr>
          <p:cNvSpPr>
            <a:spLocks noGrp="1"/>
          </p:cNvSpPr>
          <p:nvPr>
            <p:ph type="sldNum" sz="quarter" idx="12"/>
          </p:nvPr>
        </p:nvSpPr>
        <p:spPr/>
        <p:txBody>
          <a:bodyPr/>
          <a:lstStyle/>
          <a:p>
            <a:fld id="{B41E2F89-97C2-4B18-A593-8150592B5005}" type="slidenum">
              <a:rPr lang="en-US" smtClean="0"/>
              <a:t>61</a:t>
            </a:fld>
            <a:endParaRPr lang="en-US" dirty="0"/>
          </a:p>
        </p:txBody>
      </p:sp>
      <p:sp>
        <p:nvSpPr>
          <p:cNvPr id="7" name="Title 1">
            <a:extLst>
              <a:ext uri="{FF2B5EF4-FFF2-40B4-BE49-F238E27FC236}">
                <a16:creationId xmlns:a16="http://schemas.microsoft.com/office/drawing/2014/main" id="{3F899A42-6A1D-8A69-1C55-48B67DD920E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6BAA51B3-DD5E-02A0-E168-916782F0F2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C2562107-ADDF-2980-D6D5-1D782EE68971}"/>
              </a:ext>
            </a:extLst>
          </p:cNvPr>
          <p:cNvSpPr>
            <a:spLocks noGrp="1"/>
          </p:cNvSpPr>
          <p:nvPr>
            <p:ph idx="1"/>
          </p:nvPr>
        </p:nvSpPr>
        <p:spPr>
          <a:xfrm>
            <a:off x="838200" y="1130157"/>
            <a:ext cx="10515600" cy="5046806"/>
          </a:xfrm>
        </p:spPr>
        <p:txBody>
          <a:bodyPr>
            <a:normAutofit/>
          </a:bodyPr>
          <a:lstStyle/>
          <a:p>
            <a:pPr marL="0" indent="0" algn="ctr">
              <a:buNone/>
            </a:pPr>
            <a:r>
              <a:rPr lang="en-US" sz="3200" b="1" dirty="0"/>
              <a:t>(Assembly Line Scheduling)</a:t>
            </a:r>
          </a:p>
          <a:p>
            <a:pPr algn="just"/>
            <a:r>
              <a:rPr lang="en-US" dirty="0">
                <a:solidFill>
                  <a:srgbClr val="000000"/>
                </a:solidFill>
              </a:rPr>
              <a:t>In resource allocation problems, dynamic programming helps determine the optimal distribution of limited resources among competing entities. Whether it’s allocating bandwidth in a network, assigning tasks to processors, or optimizing production schedules, dynamic programming techniques enable efficient resource allocation.</a:t>
            </a:r>
          </a:p>
          <a:p>
            <a:pPr algn="just"/>
            <a:endParaRPr lang="en-US" dirty="0">
              <a:solidFill>
                <a:srgbClr val="000000"/>
              </a:solidFill>
            </a:endParaRPr>
          </a:p>
          <a:p>
            <a:pPr algn="just"/>
            <a:r>
              <a:rPr lang="en-US" dirty="0">
                <a:solidFill>
                  <a:srgbClr val="000000"/>
                </a:solidFill>
              </a:rPr>
              <a:t>Which station are chosen from line 1 or line 2 so that we can minimize the time for finished product through the factory. </a:t>
            </a:r>
          </a:p>
          <a:p>
            <a:pPr marL="0" indent="0">
              <a:buNone/>
            </a:pPr>
            <a:endParaRPr lang="en-US" dirty="0"/>
          </a:p>
        </p:txBody>
      </p:sp>
    </p:spTree>
    <p:extLst>
      <p:ext uri="{BB962C8B-B14F-4D97-AF65-F5344CB8AC3E}">
        <p14:creationId xmlns:p14="http://schemas.microsoft.com/office/powerpoint/2010/main" val="1273275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FF2EA-3C97-BBF9-2AA4-E4F3A1243EE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103F498-567B-A6BA-8466-F7C618D47935}"/>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7EEB57A4-D2F7-1B9A-E1D3-87B8E2C32F2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42EF06D4-EFA8-6565-E0B9-6EF87754386A}"/>
              </a:ext>
            </a:extLst>
          </p:cNvPr>
          <p:cNvSpPr>
            <a:spLocks noGrp="1"/>
          </p:cNvSpPr>
          <p:nvPr>
            <p:ph type="sldNum" sz="quarter" idx="12"/>
          </p:nvPr>
        </p:nvSpPr>
        <p:spPr/>
        <p:txBody>
          <a:bodyPr/>
          <a:lstStyle/>
          <a:p>
            <a:fld id="{B41E2F89-97C2-4B18-A593-8150592B5005}" type="slidenum">
              <a:rPr lang="en-US" smtClean="0"/>
              <a:t>62</a:t>
            </a:fld>
            <a:endParaRPr lang="en-US" dirty="0"/>
          </a:p>
        </p:txBody>
      </p:sp>
      <p:sp>
        <p:nvSpPr>
          <p:cNvPr id="7" name="Title 1">
            <a:extLst>
              <a:ext uri="{FF2B5EF4-FFF2-40B4-BE49-F238E27FC236}">
                <a16:creationId xmlns:a16="http://schemas.microsoft.com/office/drawing/2014/main" id="{ED789743-303D-0F10-2B19-5073B247A09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BAE57BEB-A191-3623-F336-64AF71A75C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2" name="Picture 2" descr="See the source image">
            <a:extLst>
              <a:ext uri="{FF2B5EF4-FFF2-40B4-BE49-F238E27FC236}">
                <a16:creationId xmlns:a16="http://schemas.microsoft.com/office/drawing/2014/main" id="{F215A36A-E1A9-9703-609A-906EC3AA43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573" y="1543040"/>
            <a:ext cx="10274854" cy="4344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2139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1CBE-D906-F540-E659-FD5E851B599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776E56D-E5B5-6653-3789-4524674FA497}"/>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17E487B7-B1FB-6290-DB6C-02ECCC1C7FA4}"/>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7B74FDD1-BDF4-B6CC-9EB5-FD012377675E}"/>
              </a:ext>
            </a:extLst>
          </p:cNvPr>
          <p:cNvSpPr>
            <a:spLocks noGrp="1"/>
          </p:cNvSpPr>
          <p:nvPr>
            <p:ph type="sldNum" sz="quarter" idx="12"/>
          </p:nvPr>
        </p:nvSpPr>
        <p:spPr/>
        <p:txBody>
          <a:bodyPr/>
          <a:lstStyle/>
          <a:p>
            <a:fld id="{B41E2F89-97C2-4B18-A593-8150592B5005}" type="slidenum">
              <a:rPr lang="en-US" smtClean="0"/>
              <a:t>63</a:t>
            </a:fld>
            <a:endParaRPr lang="en-US" dirty="0"/>
          </a:p>
        </p:txBody>
      </p:sp>
      <p:sp>
        <p:nvSpPr>
          <p:cNvPr id="7" name="Title 1">
            <a:extLst>
              <a:ext uri="{FF2B5EF4-FFF2-40B4-BE49-F238E27FC236}">
                <a16:creationId xmlns:a16="http://schemas.microsoft.com/office/drawing/2014/main" id="{6A625F72-0418-A69D-B5CB-F288673A32C6}"/>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682CE833-4CC6-F971-C162-A6CDC9A91F9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2" name="Picture 1" descr="A group of circles with numbers&#10;&#10;Description automatically generated">
            <a:extLst>
              <a:ext uri="{FF2B5EF4-FFF2-40B4-BE49-F238E27FC236}">
                <a16:creationId xmlns:a16="http://schemas.microsoft.com/office/drawing/2014/main" id="{ACF00DE4-312E-DF2E-C07E-9F3EC22895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429" y="872521"/>
            <a:ext cx="11613223" cy="3997867"/>
          </a:xfrm>
          <a:prstGeom prst="rect">
            <a:avLst/>
          </a:prstGeom>
        </p:spPr>
      </p:pic>
      <p:graphicFrame>
        <p:nvGraphicFramePr>
          <p:cNvPr id="9" name="Table 8">
            <a:extLst>
              <a:ext uri="{FF2B5EF4-FFF2-40B4-BE49-F238E27FC236}">
                <a16:creationId xmlns:a16="http://schemas.microsoft.com/office/drawing/2014/main" id="{5BCC243A-CFA2-52D7-B917-D6A0AF2F8E27}"/>
              </a:ext>
            </a:extLst>
          </p:cNvPr>
          <p:cNvGraphicFramePr>
            <a:graphicFrameLocks noGrp="1"/>
          </p:cNvGraphicFramePr>
          <p:nvPr>
            <p:extLst>
              <p:ext uri="{D42A27DB-BD31-4B8C-83A1-F6EECF244321}">
                <p14:modId xmlns:p14="http://schemas.microsoft.com/office/powerpoint/2010/main" val="1999850295"/>
              </p:ext>
            </p:extLst>
          </p:nvPr>
        </p:nvGraphicFramePr>
        <p:xfrm>
          <a:off x="253429" y="5057109"/>
          <a:ext cx="6257797" cy="1112520"/>
        </p:xfrm>
        <a:graphic>
          <a:graphicData uri="http://schemas.openxmlformats.org/drawingml/2006/table">
            <a:tbl>
              <a:tblPr firstRow="1" bandRow="1">
                <a:tableStyleId>{5C22544A-7EE6-4342-B048-85BDC9FD1C3A}</a:tableStyleId>
              </a:tblPr>
              <a:tblGrid>
                <a:gridCol w="893971">
                  <a:extLst>
                    <a:ext uri="{9D8B030D-6E8A-4147-A177-3AD203B41FA5}">
                      <a16:colId xmlns:a16="http://schemas.microsoft.com/office/drawing/2014/main" val="3649983185"/>
                    </a:ext>
                  </a:extLst>
                </a:gridCol>
                <a:gridCol w="893971">
                  <a:extLst>
                    <a:ext uri="{9D8B030D-6E8A-4147-A177-3AD203B41FA5}">
                      <a16:colId xmlns:a16="http://schemas.microsoft.com/office/drawing/2014/main" val="408457364"/>
                    </a:ext>
                  </a:extLst>
                </a:gridCol>
                <a:gridCol w="893971">
                  <a:extLst>
                    <a:ext uri="{9D8B030D-6E8A-4147-A177-3AD203B41FA5}">
                      <a16:colId xmlns:a16="http://schemas.microsoft.com/office/drawing/2014/main" val="42426009"/>
                    </a:ext>
                  </a:extLst>
                </a:gridCol>
                <a:gridCol w="893971">
                  <a:extLst>
                    <a:ext uri="{9D8B030D-6E8A-4147-A177-3AD203B41FA5}">
                      <a16:colId xmlns:a16="http://schemas.microsoft.com/office/drawing/2014/main" val="3011090532"/>
                    </a:ext>
                  </a:extLst>
                </a:gridCol>
                <a:gridCol w="893971">
                  <a:extLst>
                    <a:ext uri="{9D8B030D-6E8A-4147-A177-3AD203B41FA5}">
                      <a16:colId xmlns:a16="http://schemas.microsoft.com/office/drawing/2014/main" val="1922556764"/>
                    </a:ext>
                  </a:extLst>
                </a:gridCol>
                <a:gridCol w="893971">
                  <a:extLst>
                    <a:ext uri="{9D8B030D-6E8A-4147-A177-3AD203B41FA5}">
                      <a16:colId xmlns:a16="http://schemas.microsoft.com/office/drawing/2014/main" val="1090446740"/>
                    </a:ext>
                  </a:extLst>
                </a:gridCol>
                <a:gridCol w="893971">
                  <a:extLst>
                    <a:ext uri="{9D8B030D-6E8A-4147-A177-3AD203B41FA5}">
                      <a16:colId xmlns:a16="http://schemas.microsoft.com/office/drawing/2014/main" val="8253680"/>
                    </a:ext>
                  </a:extLst>
                </a:gridCol>
              </a:tblGrid>
              <a:tr h="370840">
                <a:tc>
                  <a:txBody>
                    <a:bodyPr/>
                    <a:lstStyle/>
                    <a:p>
                      <a:endParaRPr lang="en-US" dirty="0"/>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1389076999"/>
                  </a:ext>
                </a:extLst>
              </a:tr>
              <a:tr h="370840">
                <a:tc>
                  <a:txBody>
                    <a:bodyPr/>
                    <a:lstStyle/>
                    <a:p>
                      <a:r>
                        <a:rPr lang="en-US" dirty="0"/>
                        <a:t>1</a:t>
                      </a:r>
                    </a:p>
                  </a:txBody>
                  <a:tcPr/>
                </a:tc>
                <a:tc>
                  <a:txBody>
                    <a:bodyPr/>
                    <a:lstStyle/>
                    <a:p>
                      <a:r>
                        <a:rPr lang="en-US" dirty="0"/>
                        <a:t>9</a:t>
                      </a:r>
                    </a:p>
                  </a:txBody>
                  <a:tcPr/>
                </a:tc>
                <a:tc>
                  <a:txBody>
                    <a:bodyPr/>
                    <a:lstStyle/>
                    <a:p>
                      <a:r>
                        <a:rPr lang="en-US" dirty="0"/>
                        <a:t>18</a:t>
                      </a:r>
                    </a:p>
                  </a:txBody>
                  <a:tcPr/>
                </a:tc>
                <a:tc>
                  <a:txBody>
                    <a:bodyPr/>
                    <a:lstStyle/>
                    <a:p>
                      <a:r>
                        <a:rPr lang="en-US" dirty="0"/>
                        <a:t>20</a:t>
                      </a:r>
                    </a:p>
                  </a:txBody>
                  <a:tcPr/>
                </a:tc>
                <a:tc>
                  <a:txBody>
                    <a:bodyPr/>
                    <a:lstStyle/>
                    <a:p>
                      <a:r>
                        <a:rPr lang="en-US" dirty="0"/>
                        <a:t>24</a:t>
                      </a:r>
                    </a:p>
                  </a:txBody>
                  <a:tcPr/>
                </a:tc>
                <a:tc>
                  <a:txBody>
                    <a:bodyPr/>
                    <a:lstStyle/>
                    <a:p>
                      <a:r>
                        <a:rPr lang="en-US" dirty="0"/>
                        <a:t>32</a:t>
                      </a:r>
                    </a:p>
                  </a:txBody>
                  <a:tcPr/>
                </a:tc>
                <a:tc>
                  <a:txBody>
                    <a:bodyPr/>
                    <a:lstStyle/>
                    <a:p>
                      <a:r>
                        <a:rPr lang="en-US" dirty="0"/>
                        <a:t>35</a:t>
                      </a:r>
                    </a:p>
                  </a:txBody>
                  <a:tcPr/>
                </a:tc>
                <a:extLst>
                  <a:ext uri="{0D108BD9-81ED-4DB2-BD59-A6C34878D82A}">
                    <a16:rowId xmlns:a16="http://schemas.microsoft.com/office/drawing/2014/main" val="2834731515"/>
                  </a:ext>
                </a:extLst>
              </a:tr>
              <a:tr h="370840">
                <a:tc>
                  <a:txBody>
                    <a:bodyPr/>
                    <a:lstStyle/>
                    <a:p>
                      <a:r>
                        <a:rPr lang="en-US" dirty="0"/>
                        <a:t>2</a:t>
                      </a:r>
                    </a:p>
                  </a:txBody>
                  <a:tcPr/>
                </a:tc>
                <a:tc>
                  <a:txBody>
                    <a:bodyPr/>
                    <a:lstStyle/>
                    <a:p>
                      <a:r>
                        <a:rPr lang="en-US" dirty="0"/>
                        <a:t>12</a:t>
                      </a:r>
                    </a:p>
                  </a:txBody>
                  <a:tcPr/>
                </a:tc>
                <a:tc>
                  <a:txBody>
                    <a:bodyPr/>
                    <a:lstStyle/>
                    <a:p>
                      <a:r>
                        <a:rPr lang="en-US" dirty="0"/>
                        <a:t>16</a:t>
                      </a:r>
                    </a:p>
                  </a:txBody>
                  <a:tcPr/>
                </a:tc>
                <a:tc>
                  <a:txBody>
                    <a:bodyPr/>
                    <a:lstStyle/>
                    <a:p>
                      <a:r>
                        <a:rPr lang="en-US" dirty="0"/>
                        <a:t>22</a:t>
                      </a:r>
                    </a:p>
                  </a:txBody>
                  <a:tcPr/>
                </a:tc>
                <a:tc>
                  <a:txBody>
                    <a:bodyPr/>
                    <a:lstStyle/>
                    <a:p>
                      <a:r>
                        <a:rPr lang="en-US" dirty="0"/>
                        <a:t>25</a:t>
                      </a:r>
                    </a:p>
                  </a:txBody>
                  <a:tcPr/>
                </a:tc>
                <a:tc>
                  <a:txBody>
                    <a:bodyPr/>
                    <a:lstStyle/>
                    <a:p>
                      <a:r>
                        <a:rPr lang="en-US" dirty="0"/>
                        <a:t>30</a:t>
                      </a:r>
                    </a:p>
                  </a:txBody>
                  <a:tcPr/>
                </a:tc>
                <a:tc>
                  <a:txBody>
                    <a:bodyPr/>
                    <a:lstStyle/>
                    <a:p>
                      <a:r>
                        <a:rPr lang="en-US" dirty="0"/>
                        <a:t>37</a:t>
                      </a:r>
                    </a:p>
                  </a:txBody>
                  <a:tcPr/>
                </a:tc>
                <a:extLst>
                  <a:ext uri="{0D108BD9-81ED-4DB2-BD59-A6C34878D82A}">
                    <a16:rowId xmlns:a16="http://schemas.microsoft.com/office/drawing/2014/main" val="4078894667"/>
                  </a:ext>
                </a:extLst>
              </a:tr>
            </a:tbl>
          </a:graphicData>
        </a:graphic>
      </p:graphicFrame>
      <p:graphicFrame>
        <p:nvGraphicFramePr>
          <p:cNvPr id="10" name="Table 9">
            <a:extLst>
              <a:ext uri="{FF2B5EF4-FFF2-40B4-BE49-F238E27FC236}">
                <a16:creationId xmlns:a16="http://schemas.microsoft.com/office/drawing/2014/main" id="{D2956BED-1A7C-6704-F71C-C56F65939337}"/>
              </a:ext>
            </a:extLst>
          </p:cNvPr>
          <p:cNvGraphicFramePr>
            <a:graphicFrameLocks noGrp="1"/>
          </p:cNvGraphicFramePr>
          <p:nvPr>
            <p:extLst>
              <p:ext uri="{D42A27DB-BD31-4B8C-83A1-F6EECF244321}">
                <p14:modId xmlns:p14="http://schemas.microsoft.com/office/powerpoint/2010/main" val="194285798"/>
              </p:ext>
            </p:extLst>
          </p:nvPr>
        </p:nvGraphicFramePr>
        <p:xfrm>
          <a:off x="6669601" y="5057109"/>
          <a:ext cx="5268970" cy="1112520"/>
        </p:xfrm>
        <a:graphic>
          <a:graphicData uri="http://schemas.openxmlformats.org/drawingml/2006/table">
            <a:tbl>
              <a:tblPr firstRow="1" bandRow="1">
                <a:tableStyleId>{5C22544A-7EE6-4342-B048-85BDC9FD1C3A}</a:tableStyleId>
              </a:tblPr>
              <a:tblGrid>
                <a:gridCol w="752710">
                  <a:extLst>
                    <a:ext uri="{9D8B030D-6E8A-4147-A177-3AD203B41FA5}">
                      <a16:colId xmlns:a16="http://schemas.microsoft.com/office/drawing/2014/main" val="408457364"/>
                    </a:ext>
                  </a:extLst>
                </a:gridCol>
                <a:gridCol w="752710">
                  <a:extLst>
                    <a:ext uri="{9D8B030D-6E8A-4147-A177-3AD203B41FA5}">
                      <a16:colId xmlns:a16="http://schemas.microsoft.com/office/drawing/2014/main" val="42426009"/>
                    </a:ext>
                  </a:extLst>
                </a:gridCol>
                <a:gridCol w="752710">
                  <a:extLst>
                    <a:ext uri="{9D8B030D-6E8A-4147-A177-3AD203B41FA5}">
                      <a16:colId xmlns:a16="http://schemas.microsoft.com/office/drawing/2014/main" val="3011090532"/>
                    </a:ext>
                  </a:extLst>
                </a:gridCol>
                <a:gridCol w="752710">
                  <a:extLst>
                    <a:ext uri="{9D8B030D-6E8A-4147-A177-3AD203B41FA5}">
                      <a16:colId xmlns:a16="http://schemas.microsoft.com/office/drawing/2014/main" val="700640895"/>
                    </a:ext>
                  </a:extLst>
                </a:gridCol>
                <a:gridCol w="752710">
                  <a:extLst>
                    <a:ext uri="{9D8B030D-6E8A-4147-A177-3AD203B41FA5}">
                      <a16:colId xmlns:a16="http://schemas.microsoft.com/office/drawing/2014/main" val="1922556764"/>
                    </a:ext>
                  </a:extLst>
                </a:gridCol>
                <a:gridCol w="752710">
                  <a:extLst>
                    <a:ext uri="{9D8B030D-6E8A-4147-A177-3AD203B41FA5}">
                      <a16:colId xmlns:a16="http://schemas.microsoft.com/office/drawing/2014/main" val="1090446740"/>
                    </a:ext>
                  </a:extLst>
                </a:gridCol>
                <a:gridCol w="752710">
                  <a:extLst>
                    <a:ext uri="{9D8B030D-6E8A-4147-A177-3AD203B41FA5}">
                      <a16:colId xmlns:a16="http://schemas.microsoft.com/office/drawing/2014/main" val="8253680"/>
                    </a:ext>
                  </a:extLst>
                </a:gridCol>
              </a:tblGrid>
              <a:tr h="370840">
                <a:tc>
                  <a:txBody>
                    <a:bodyPr/>
                    <a:lstStyle/>
                    <a:p>
                      <a:endParaRPr lang="en-US" dirty="0"/>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extLst>
                  <a:ext uri="{0D108BD9-81ED-4DB2-BD59-A6C34878D82A}">
                    <a16:rowId xmlns:a16="http://schemas.microsoft.com/office/drawing/2014/main" val="1389076999"/>
                  </a:ext>
                </a:extLst>
              </a:tr>
              <a:tr h="370840">
                <a:tc>
                  <a:txBody>
                    <a:bodyPr/>
                    <a:lstStyle/>
                    <a:p>
                      <a:r>
                        <a:rPr lang="en-US" dirty="0"/>
                        <a:t>1</a:t>
                      </a:r>
                    </a:p>
                  </a:txBody>
                  <a:tcPr/>
                </a:tc>
                <a:tc>
                  <a:txBody>
                    <a:bodyPr/>
                    <a:lstStyle/>
                    <a:p>
                      <a:r>
                        <a:rPr lang="en-US" dirty="0"/>
                        <a:t>1</a:t>
                      </a:r>
                    </a:p>
                  </a:txBody>
                  <a:tcPr/>
                </a:tc>
                <a:tc>
                  <a:txBody>
                    <a:bodyPr/>
                    <a:lstStyle/>
                    <a:p>
                      <a:r>
                        <a:rPr lang="en-US" dirty="0"/>
                        <a:t>1</a:t>
                      </a:r>
                    </a:p>
                  </a:txBody>
                  <a:tcPr/>
                </a:tc>
                <a:tc>
                  <a:txBody>
                    <a:bodyPr/>
                    <a:lstStyle/>
                    <a:p>
                      <a:r>
                        <a:rPr lang="en-US" dirty="0"/>
                        <a:t>2</a:t>
                      </a:r>
                    </a:p>
                  </a:txBody>
                  <a:tcPr/>
                </a:tc>
                <a:tc>
                  <a:txBody>
                    <a:bodyPr/>
                    <a:lstStyle/>
                    <a:p>
                      <a:r>
                        <a:rPr lang="en-US" dirty="0"/>
                        <a:t>1</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2834731515"/>
                  </a:ext>
                </a:extLst>
              </a:tr>
              <a:tr h="370840">
                <a:tc>
                  <a:txBody>
                    <a:bodyPr/>
                    <a:lstStyle/>
                    <a:p>
                      <a:r>
                        <a:rPr lang="en-US" dirty="0"/>
                        <a:t>2</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tc>
                  <a:txBody>
                    <a:bodyPr/>
                    <a:lstStyle/>
                    <a:p>
                      <a:r>
                        <a:rPr lang="en-US" dirty="0"/>
                        <a:t>1</a:t>
                      </a:r>
                    </a:p>
                  </a:txBody>
                  <a:tcPr/>
                </a:tc>
                <a:tc>
                  <a:txBody>
                    <a:bodyPr/>
                    <a:lstStyle/>
                    <a:p>
                      <a:r>
                        <a:rPr lang="en-US" dirty="0"/>
                        <a:t>2</a:t>
                      </a:r>
                    </a:p>
                  </a:txBody>
                  <a:tcPr/>
                </a:tc>
                <a:tc>
                  <a:txBody>
                    <a:bodyPr/>
                    <a:lstStyle/>
                    <a:p>
                      <a:r>
                        <a:rPr lang="en-US" dirty="0"/>
                        <a:t>2</a:t>
                      </a:r>
                    </a:p>
                  </a:txBody>
                  <a:tcPr/>
                </a:tc>
                <a:extLst>
                  <a:ext uri="{0D108BD9-81ED-4DB2-BD59-A6C34878D82A}">
                    <a16:rowId xmlns:a16="http://schemas.microsoft.com/office/drawing/2014/main" val="4078894667"/>
                  </a:ext>
                </a:extLst>
              </a:tr>
            </a:tbl>
          </a:graphicData>
        </a:graphic>
      </p:graphicFrame>
    </p:spTree>
    <p:extLst>
      <p:ext uri="{BB962C8B-B14F-4D97-AF65-F5344CB8AC3E}">
        <p14:creationId xmlns:p14="http://schemas.microsoft.com/office/powerpoint/2010/main" val="9970278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0A610-5E20-6725-05E3-C05B14D37B2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92B4FBF-1216-B414-5A53-CF30A425FF05}"/>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0DFCA92A-62BA-99E6-50A1-B8397863FDB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FD509CB8-A388-27D9-3FDA-963E2EC27A5D}"/>
              </a:ext>
            </a:extLst>
          </p:cNvPr>
          <p:cNvSpPr>
            <a:spLocks noGrp="1"/>
          </p:cNvSpPr>
          <p:nvPr>
            <p:ph type="sldNum" sz="quarter" idx="12"/>
          </p:nvPr>
        </p:nvSpPr>
        <p:spPr/>
        <p:txBody>
          <a:bodyPr/>
          <a:lstStyle/>
          <a:p>
            <a:fld id="{B41E2F89-97C2-4B18-A593-8150592B5005}" type="slidenum">
              <a:rPr lang="en-US" smtClean="0"/>
              <a:t>64</a:t>
            </a:fld>
            <a:endParaRPr lang="en-US" dirty="0"/>
          </a:p>
        </p:txBody>
      </p:sp>
      <p:sp>
        <p:nvSpPr>
          <p:cNvPr id="7" name="Title 1">
            <a:extLst>
              <a:ext uri="{FF2B5EF4-FFF2-40B4-BE49-F238E27FC236}">
                <a16:creationId xmlns:a16="http://schemas.microsoft.com/office/drawing/2014/main" id="{D4A441D1-9832-F46C-F7D6-DE2E0A17F36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4C6C6497-E5D8-5631-B533-7ECF6CF30B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72F08B-496C-F0D8-2274-DF8FC7A5CFD7}"/>
                  </a:ext>
                </a:extLst>
              </p:cNvPr>
              <p:cNvSpPr>
                <a:spLocks noGrp="1"/>
              </p:cNvSpPr>
              <p:nvPr>
                <p:ph idx="1"/>
              </p:nvPr>
            </p:nvSpPr>
            <p:spPr>
              <a:xfrm>
                <a:off x="838200" y="996594"/>
                <a:ext cx="10515600" cy="5353828"/>
              </a:xfrm>
            </p:spPr>
            <p:txBody>
              <a:bodyPr>
                <a:normAutofit lnSpcReduction="10000"/>
              </a:bodyPr>
              <a:lstStyle/>
              <a:p>
                <a:pPr marL="0" indent="0" algn="just">
                  <a:buNone/>
                </a:pPr>
                <a:r>
                  <a:rPr lang="en-US" dirty="0">
                    <a:solidFill>
                      <a:srgbClr val="000000"/>
                    </a:solidFill>
                  </a:rPr>
                  <a:t>S </a:t>
                </a:r>
                <a:r>
                  <a:rPr lang="en-US" dirty="0" err="1">
                    <a:solidFill>
                      <a:srgbClr val="000000"/>
                    </a:solidFill>
                  </a:rPr>
                  <a:t>i,j</a:t>
                </a:r>
                <a:r>
                  <a:rPr lang="en-US" dirty="0">
                    <a:solidFill>
                      <a:srgbClr val="000000"/>
                    </a:solidFill>
                  </a:rPr>
                  <a:t> : Station j on assembly line I</a:t>
                </a:r>
              </a:p>
              <a:p>
                <a:pPr marL="0" indent="0" algn="just">
                  <a:buNone/>
                </a:pPr>
                <a:r>
                  <a:rPr lang="en-US" dirty="0">
                    <a:solidFill>
                      <a:srgbClr val="000000"/>
                    </a:solidFill>
                  </a:rPr>
                  <a:t>e1: Time to enter in assembly line 1</a:t>
                </a:r>
              </a:p>
              <a:p>
                <a:pPr marL="0" indent="0" algn="just">
                  <a:buNone/>
                </a:pPr>
                <a:r>
                  <a:rPr lang="en-US" dirty="0">
                    <a:solidFill>
                      <a:srgbClr val="000000"/>
                    </a:solidFill>
                  </a:rPr>
                  <a:t>e2: Time to enter in assembly line 2</a:t>
                </a:r>
              </a:p>
              <a:p>
                <a:pPr marL="0" indent="0" algn="just">
                  <a:buNone/>
                </a:pPr>
                <a:r>
                  <a:rPr lang="en-US" dirty="0">
                    <a:solidFill>
                      <a:srgbClr val="000000"/>
                    </a:solidFill>
                  </a:rPr>
                  <a:t>x1: Time to exit from assembly line 1</a:t>
                </a:r>
              </a:p>
              <a:p>
                <a:pPr marL="0" indent="0" algn="just">
                  <a:buNone/>
                </a:pPr>
                <a:r>
                  <a:rPr lang="en-US" dirty="0">
                    <a:solidFill>
                      <a:srgbClr val="000000"/>
                    </a:solidFill>
                  </a:rPr>
                  <a:t>x2: Time to exit from assembly line 2</a:t>
                </a:r>
              </a:p>
              <a:p>
                <a:pPr marL="0" indent="0" algn="just">
                  <a:buNone/>
                </a:pPr>
                <a:r>
                  <a:rPr lang="en-US" dirty="0" err="1">
                    <a:solidFill>
                      <a:srgbClr val="000000"/>
                    </a:solidFill>
                  </a:rPr>
                  <a:t>ti,j</a:t>
                </a:r>
                <a:r>
                  <a:rPr lang="en-US" dirty="0">
                    <a:solidFill>
                      <a:srgbClr val="000000"/>
                    </a:solidFill>
                  </a:rPr>
                  <a:t> : Transfer time from station j on assembly line one to another.</a:t>
                </a:r>
              </a:p>
              <a:p>
                <a:pPr marL="0" indent="0" algn="just">
                  <a:buNone/>
                </a:pPr>
                <a:endParaRPr lang="en-US" dirty="0">
                  <a:solidFill>
                    <a:srgbClr val="000000"/>
                  </a:solidFill>
                </a:endParaRPr>
              </a:p>
              <a:p>
                <a:pPr marL="0" indent="0" algn="just">
                  <a:buNone/>
                </a:pPr>
                <a:r>
                  <a:rPr lang="en-US" dirty="0">
                    <a:solidFill>
                      <a:srgbClr val="000000"/>
                    </a:solidFill>
                  </a:rPr>
                  <a:t>Fastest way through station S[2, j] can be calculated as</a:t>
                </a:r>
              </a:p>
              <a:p>
                <a:pPr marL="0" indent="0" algn="just">
                  <a:buNone/>
                </a:pPr>
                <a:endParaRPr lang="en-US" dirty="0">
                  <a:solidFill>
                    <a:srgbClr val="000000"/>
                  </a:solidFill>
                </a:endParaRPr>
              </a:p>
              <a:p>
                <a:pPr marL="0" indent="0" algn="just">
                  <a:buNone/>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e>
                      </m:d>
                      <m:r>
                        <a:rPr lang="en-US" i="1">
                          <a:solidFill>
                            <a:srgbClr val="000000"/>
                          </a:solidFill>
                          <a:latin typeface="Cambria Math" panose="02040503050406030204" pitchFamily="18" charset="0"/>
                        </a:rPr>
                        <m:t>=</m:t>
                      </m:r>
                      <m:d>
                        <m:dPr>
                          <m:begChr m:val="{"/>
                          <m:endChr m:val=""/>
                          <m:ctrlPr>
                            <a:rPr lang="en-US" i="1">
                              <a:solidFill>
                                <a:srgbClr val="000000"/>
                              </a:solidFill>
                              <a:latin typeface="Cambria Math" panose="02040503050406030204" pitchFamily="18" charset="0"/>
                            </a:rPr>
                          </m:ctrlPr>
                        </m:dPr>
                        <m:e>
                          <m:eqArr>
                            <m:eqArrPr>
                              <m:ctrlPr>
                                <a:rPr lang="en-US" i="1">
                                  <a:solidFill>
                                    <a:srgbClr val="000000"/>
                                  </a:solidFill>
                                  <a:latin typeface="Cambria Math" panose="02040503050406030204" pitchFamily="18" charset="0"/>
                                </a:rPr>
                              </m:ctrlPr>
                            </m:eqArrPr>
                            <m:e>
                              <m:r>
                                <a:rPr lang="en-US" i="1">
                                  <a:solidFill>
                                    <a:srgbClr val="000000"/>
                                  </a:solidFill>
                                  <a:latin typeface="Cambria Math" panose="02040503050406030204" pitchFamily="18" charset="0"/>
                                </a:rPr>
                                <m:t>𝑒</m:t>
                              </m:r>
                              <m:r>
                                <a:rPr lang="en-US" i="1">
                                  <a:solidFill>
                                    <a:srgbClr val="000000"/>
                                  </a:solidFill>
                                  <a:latin typeface="Cambria Math" panose="02040503050406030204" pitchFamily="18" charset="0"/>
                                </a:rPr>
                                <m:t>2+</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2,1</m:t>
                                  </m:r>
                                </m:sub>
                              </m:sSub>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𝑖𝑓</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e>
                              <m:func>
                                <m:funcPr>
                                  <m:ctrlPr>
                                    <a:rPr lang="en-US" i="1">
                                      <a:solidFill>
                                        <a:srgbClr val="000000"/>
                                      </a:solidFill>
                                      <a:latin typeface="Cambria Math" panose="02040503050406030204" pitchFamily="18" charset="0"/>
                                    </a:rPr>
                                  </m:ctrlPr>
                                </m:funcPr>
                                <m:fName>
                                  <m:r>
                                    <m:rPr>
                                      <m:sty m:val="p"/>
                                    </m:rPr>
                                    <a:rPr lang="en-US">
                                      <a:solidFill>
                                        <a:srgbClr val="000000"/>
                                      </a:solidFill>
                                      <a:latin typeface="Cambria Math" panose="02040503050406030204" pitchFamily="18" charset="0"/>
                                    </a:rPr>
                                    <m:t>min</m:t>
                                  </m:r>
                                </m:fName>
                                <m:e>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𝑗</m:t>
                                      </m:r>
                                    </m:sub>
                                  </m:sSub>
                                </m:e>
                              </m:func>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1</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sub>
                              </m:sSub>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𝑖𝑓</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≥2</m:t>
                              </m:r>
                            </m:e>
                          </m:eqArr>
                        </m:e>
                      </m:d>
                    </m:oMath>
                  </m:oMathPara>
                </a14:m>
                <a:endParaRPr lang="en-US" dirty="0"/>
              </a:p>
            </p:txBody>
          </p:sp>
        </mc:Choice>
        <mc:Fallback xmlns="">
          <p:sp>
            <p:nvSpPr>
              <p:cNvPr id="3" name="Content Placeholder 2">
                <a:extLst>
                  <a:ext uri="{FF2B5EF4-FFF2-40B4-BE49-F238E27FC236}">
                    <a16:creationId xmlns:a16="http://schemas.microsoft.com/office/drawing/2014/main" id="{2B72F08B-496C-F0D8-2274-DF8FC7A5CFD7}"/>
                  </a:ext>
                </a:extLst>
              </p:cNvPr>
              <p:cNvSpPr>
                <a:spLocks noGrp="1" noRot="1" noChangeAspect="1" noMove="1" noResize="1" noEditPoints="1" noAdjustHandles="1" noChangeArrowheads="1" noChangeShapeType="1" noTextEdit="1"/>
              </p:cNvSpPr>
              <p:nvPr>
                <p:ph idx="1"/>
              </p:nvPr>
            </p:nvSpPr>
            <p:spPr>
              <a:xfrm>
                <a:off x="838200" y="996594"/>
                <a:ext cx="10515600" cy="5353828"/>
              </a:xfrm>
              <a:blipFill>
                <a:blip r:embed="rId3"/>
                <a:stretch>
                  <a:fillRect l="-1217" t="-2503"/>
                </a:stretch>
              </a:blipFill>
            </p:spPr>
            <p:txBody>
              <a:bodyPr/>
              <a:lstStyle/>
              <a:p>
                <a:r>
                  <a:rPr lang="en-US">
                    <a:noFill/>
                  </a:rPr>
                  <a:t> </a:t>
                </a:r>
              </a:p>
            </p:txBody>
          </p:sp>
        </mc:Fallback>
      </mc:AlternateContent>
    </p:spTree>
    <p:extLst>
      <p:ext uri="{BB962C8B-B14F-4D97-AF65-F5344CB8AC3E}">
        <p14:creationId xmlns:p14="http://schemas.microsoft.com/office/powerpoint/2010/main" val="65296435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0F2C7-3A9B-6D57-3FDE-42DA57FB299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169C932-7C81-D5A2-E84E-D714AE54BDD0}"/>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0EA7B391-8303-C5DC-8E60-C40706BE395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5B372BC9-E4DB-FB69-9ADE-864DBA80735C}"/>
              </a:ext>
            </a:extLst>
          </p:cNvPr>
          <p:cNvSpPr>
            <a:spLocks noGrp="1"/>
          </p:cNvSpPr>
          <p:nvPr>
            <p:ph type="sldNum" sz="quarter" idx="12"/>
          </p:nvPr>
        </p:nvSpPr>
        <p:spPr/>
        <p:txBody>
          <a:bodyPr/>
          <a:lstStyle/>
          <a:p>
            <a:fld id="{B41E2F89-97C2-4B18-A593-8150592B5005}" type="slidenum">
              <a:rPr lang="en-US" smtClean="0"/>
              <a:t>65</a:t>
            </a:fld>
            <a:endParaRPr lang="en-US" dirty="0"/>
          </a:p>
        </p:txBody>
      </p:sp>
      <p:sp>
        <p:nvSpPr>
          <p:cNvPr id="7" name="Title 1">
            <a:extLst>
              <a:ext uri="{FF2B5EF4-FFF2-40B4-BE49-F238E27FC236}">
                <a16:creationId xmlns:a16="http://schemas.microsoft.com/office/drawing/2014/main" id="{011963DD-C92D-7086-2206-0553C6B96504}"/>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FC843079-594C-2B66-A6F5-FE7B474DDB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399866-BEA0-9713-3CD9-E310AA152BA3}"/>
                  </a:ext>
                </a:extLst>
              </p:cNvPr>
              <p:cNvSpPr>
                <a:spLocks noGrp="1"/>
              </p:cNvSpPr>
              <p:nvPr>
                <p:ph idx="1"/>
              </p:nvPr>
            </p:nvSpPr>
            <p:spPr>
              <a:xfrm>
                <a:off x="838200" y="893852"/>
                <a:ext cx="10515600" cy="5456569"/>
              </a:xfrm>
            </p:spPr>
            <p:txBody>
              <a:bodyPr>
                <a:normAutofit fontScale="77500" lnSpcReduction="20000"/>
              </a:bodyPr>
              <a:lstStyle/>
              <a:p>
                <a:pPr marL="0" indent="0">
                  <a:buNone/>
                </a:pPr>
                <a:r>
                  <a:rPr lang="en-US" b="1" dirty="0"/>
                  <a:t>Pseudocode:</a:t>
                </a:r>
              </a:p>
              <a:p>
                <a:pPr marL="0" indent="0">
                  <a:buNone/>
                </a:pPr>
                <a:endParaRPr lang="en-US" dirty="0"/>
              </a:p>
              <a:p>
                <a:pPr marL="0" indent="0">
                  <a:buNone/>
                </a:pPr>
                <a:r>
                  <a:rPr lang="en-US" sz="2400" dirty="0">
                    <a:solidFill>
                      <a:srgbClr val="000000"/>
                    </a:solidFill>
                  </a:rPr>
                  <a:t>Fastest_Time(</a:t>
                </a:r>
                <a:r>
                  <a:rPr lang="en-US" sz="2400" dirty="0" err="1">
                    <a:solidFill>
                      <a:srgbClr val="000000"/>
                    </a:solidFill>
                  </a:rPr>
                  <a:t>a,e,x,t,n</a:t>
                </a:r>
                <a:r>
                  <a:rPr lang="en-US" sz="2400" dirty="0">
                    <a:solidFill>
                      <a:srgbClr val="000000"/>
                    </a:solidFill>
                  </a:rPr>
                  <a:t>)</a:t>
                </a:r>
              </a:p>
              <a:p>
                <a:pPr marL="0" indent="0">
                  <a:buNone/>
                </a:pPr>
                <a:r>
                  <a:rPr lang="en-US" sz="2400" dirty="0">
                    <a:solidFill>
                      <a:srgbClr val="000000"/>
                    </a:solidFill>
                  </a:rPr>
                  <a:t>{</a:t>
                </a:r>
              </a:p>
              <a:p>
                <a:pPr marL="0" indent="0">
                  <a:buNone/>
                </a:pPr>
                <a:r>
                  <a:rPr lang="en-US" sz="2400" dirty="0">
                    <a:solidFill>
                      <a:srgbClr val="000000"/>
                    </a:solidFill>
                  </a:rPr>
                  <a:t>	f1[1] = e</a:t>
                </a:r>
                <a:r>
                  <a:rPr lang="en-US" sz="2400" baseline="-25000" dirty="0">
                    <a:solidFill>
                      <a:srgbClr val="000000"/>
                    </a:solidFill>
                  </a:rPr>
                  <a:t>1</a:t>
                </a:r>
                <a:r>
                  <a:rPr lang="en-US" sz="2400" dirty="0">
                    <a:solidFill>
                      <a:srgbClr val="000000"/>
                    </a:solidFill>
                  </a:rPr>
                  <a:t> + a</a:t>
                </a:r>
                <a:r>
                  <a:rPr lang="en-US" sz="2400" baseline="-25000" dirty="0">
                    <a:solidFill>
                      <a:srgbClr val="000000"/>
                    </a:solidFill>
                  </a:rPr>
                  <a:t>1,1</a:t>
                </a:r>
              </a:p>
              <a:p>
                <a:pPr marL="0" indent="0">
                  <a:buNone/>
                </a:pPr>
                <a:r>
                  <a:rPr lang="en-US" sz="2400" dirty="0">
                    <a:solidFill>
                      <a:srgbClr val="000000"/>
                    </a:solidFill>
                  </a:rPr>
                  <a:t>f2[1] =    e</a:t>
                </a:r>
                <a:r>
                  <a:rPr lang="en-US" sz="2400" baseline="-25000" dirty="0">
                    <a:solidFill>
                      <a:srgbClr val="000000"/>
                    </a:solidFill>
                  </a:rPr>
                  <a:t>2</a:t>
                </a:r>
                <a:r>
                  <a:rPr lang="en-US" sz="2400" dirty="0">
                    <a:solidFill>
                      <a:srgbClr val="000000"/>
                    </a:solidFill>
                  </a:rPr>
                  <a:t> + a</a:t>
                </a:r>
                <a:r>
                  <a:rPr lang="en-US" sz="2400" baseline="-25000" dirty="0">
                    <a:solidFill>
                      <a:srgbClr val="000000"/>
                    </a:solidFill>
                  </a:rPr>
                  <a:t>2,1</a:t>
                </a:r>
              </a:p>
              <a:p>
                <a:pPr marL="0" indent="0">
                  <a:buNone/>
                </a:pPr>
                <a:r>
                  <a:rPr lang="en-US" sz="2400" dirty="0">
                    <a:solidFill>
                      <a:srgbClr val="000000"/>
                    </a:solidFill>
                  </a:rPr>
                  <a:t>for j =2 to n</a:t>
                </a:r>
              </a:p>
              <a:p>
                <a:pPr marL="0" indent="0">
                  <a:buNone/>
                </a:pPr>
                <a:r>
                  <a:rPr lang="en-US" sz="2400" dirty="0">
                    <a:solidFill>
                      <a:srgbClr val="000000"/>
                    </a:solidFill>
                  </a:rPr>
                  <a:t>	{</a:t>
                </a:r>
              </a:p>
              <a:p>
                <a:pPr marL="0" indent="0">
                  <a:buNone/>
                </a:pPr>
                <a:r>
                  <a:rPr lang="en-US" sz="2400" dirty="0">
                    <a:solidFill>
                      <a:srgbClr val="000000"/>
                    </a:solidFill>
                  </a:rPr>
                  <a:t>		if </a:t>
                </a:r>
                <a14:m>
                  <m:oMath xmlns:m="http://schemas.openxmlformats.org/officeDocument/2006/math">
                    <m:func>
                      <m:funcPr>
                        <m:ctrlPr>
                          <a:rPr lang="en-US" i="1">
                            <a:solidFill>
                              <a:srgbClr val="000000"/>
                            </a:solidFill>
                            <a:latin typeface="Cambria Math" panose="02040503050406030204" pitchFamily="18" charset="0"/>
                          </a:rPr>
                        </m:ctrlPr>
                      </m:funcPr>
                      <m:fName>
                        <m:r>
                          <a:rPr lang="en-US" i="1">
                            <a:solidFill>
                              <a:srgbClr val="000000"/>
                            </a:solidFill>
                            <a:latin typeface="Cambria Math" panose="02040503050406030204" pitchFamily="18" charset="0"/>
                          </a:rPr>
                          <m:t> </m:t>
                        </m:r>
                      </m:fName>
                      <m:e>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1</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sub>
                        </m:sSub>
                      </m:e>
                    </m:func>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sub>
                    </m:sSub>
                  </m:oMath>
                </a14:m>
                <a:r>
                  <a:rPr lang="en-US" sz="2400" dirty="0">
                    <a:solidFill>
                      <a:srgbClr val="000000"/>
                    </a:solidFill>
                  </a:rPr>
                  <a:t>)</a:t>
                </a:r>
              </a:p>
              <a:p>
                <a:pPr marL="0" indent="0">
                  <a:buNone/>
                </a:pPr>
                <a:r>
                  <a:rPr lang="en-US" sz="2400" dirty="0">
                    <a:solidFill>
                      <a:srgbClr val="000000"/>
                    </a:solidFill>
                  </a:rPr>
                  <a:t>		{	f1[j] = </a:t>
                </a:r>
                <a14:m>
                  <m:oMath xmlns:m="http://schemas.openxmlformats.org/officeDocument/2006/math">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1</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sub>
                    </m:sSub>
                  </m:oMath>
                </a14:m>
                <a:endParaRPr lang="en-US" sz="2400" dirty="0">
                  <a:solidFill>
                    <a:srgbClr val="000000"/>
                  </a:solidFill>
                </a:endParaRPr>
              </a:p>
              <a:p>
                <a:pPr marL="0" indent="0">
                  <a:buNone/>
                </a:pPr>
                <a:r>
                  <a:rPr lang="en-US" sz="2400" dirty="0">
                    <a:solidFill>
                      <a:srgbClr val="000000"/>
                    </a:solidFill>
                  </a:rPr>
                  <a:t>			l1[j] = 1</a:t>
                </a:r>
              </a:p>
              <a:p>
                <a:pPr marL="0" indent="0">
                  <a:buNone/>
                </a:pPr>
                <a:r>
                  <a:rPr lang="en-US" sz="2400" dirty="0">
                    <a:solidFill>
                      <a:srgbClr val="000000"/>
                    </a:solidFill>
                  </a:rPr>
                  <a:t>		}</a:t>
                </a:r>
              </a:p>
              <a:p>
                <a:pPr marL="0" indent="0">
                  <a:buNone/>
                </a:pPr>
                <a:r>
                  <a:rPr lang="en-US" sz="2400" dirty="0">
                    <a:solidFill>
                      <a:srgbClr val="000000"/>
                    </a:solidFill>
                  </a:rPr>
                  <a:t>		else</a:t>
                </a:r>
              </a:p>
              <a:p>
                <a:pPr marL="0" indent="0">
                  <a:buNone/>
                </a:pPr>
                <a:r>
                  <a:rPr lang="en-US" sz="2400" dirty="0">
                    <a:solidFill>
                      <a:srgbClr val="000000"/>
                    </a:solidFill>
                  </a:rPr>
                  <a:t>		{	f1[j] =</a:t>
                </a:r>
                <a14:m>
                  <m:oMath xmlns:m="http://schemas.openxmlformats.org/officeDocument/2006/math">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sub>
                    </m:sSub>
                  </m:oMath>
                </a14:m>
                <a:endParaRPr lang="en-US" sz="2400" dirty="0">
                  <a:solidFill>
                    <a:srgbClr val="000000"/>
                  </a:solidFill>
                </a:endParaRPr>
              </a:p>
              <a:p>
                <a:pPr marL="0" indent="0">
                  <a:buNone/>
                </a:pPr>
                <a:r>
                  <a:rPr lang="en-US" sz="2400" dirty="0">
                    <a:solidFill>
                      <a:srgbClr val="000000"/>
                    </a:solidFill>
                  </a:rPr>
                  <a:t>			l1[j] = 2</a:t>
                </a:r>
              </a:p>
              <a:p>
                <a:pPr marL="0" indent="0">
                  <a:buNone/>
                </a:pPr>
                <a:r>
                  <a:rPr lang="en-US" sz="2400" dirty="0">
                    <a:solidFill>
                      <a:srgbClr val="000000"/>
                    </a:solidFill>
                  </a:rPr>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1F399866-BEA0-9713-3CD9-E310AA152BA3}"/>
                  </a:ext>
                </a:extLst>
              </p:cNvPr>
              <p:cNvSpPr>
                <a:spLocks noGrp="1" noRot="1" noChangeAspect="1" noMove="1" noResize="1" noEditPoints="1" noAdjustHandles="1" noChangeArrowheads="1" noChangeShapeType="1" noTextEdit="1"/>
              </p:cNvSpPr>
              <p:nvPr>
                <p:ph idx="1"/>
              </p:nvPr>
            </p:nvSpPr>
            <p:spPr>
              <a:xfrm>
                <a:off x="838200" y="893852"/>
                <a:ext cx="10515600" cy="5456569"/>
              </a:xfrm>
              <a:blipFill>
                <a:blip r:embed="rId3"/>
                <a:stretch>
                  <a:fillRect l="-754" t="-2346" b="-2235"/>
                </a:stretch>
              </a:blipFill>
            </p:spPr>
            <p:txBody>
              <a:bodyPr/>
              <a:lstStyle/>
              <a:p>
                <a:r>
                  <a:rPr lang="en-US">
                    <a:noFill/>
                  </a:rPr>
                  <a:t> </a:t>
                </a:r>
              </a:p>
            </p:txBody>
          </p:sp>
        </mc:Fallback>
      </mc:AlternateContent>
    </p:spTree>
    <p:extLst>
      <p:ext uri="{BB962C8B-B14F-4D97-AF65-F5344CB8AC3E}">
        <p14:creationId xmlns:p14="http://schemas.microsoft.com/office/powerpoint/2010/main" val="33675444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6C380-34E4-806C-C47A-A4E89463BCB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5F06C60-14B2-5238-BBB9-52AD181ED7F2}"/>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3E2A9761-226A-643E-17A3-04704ACB1B81}"/>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A9367937-5013-D3E7-A4C2-6C0B605E12D7}"/>
              </a:ext>
            </a:extLst>
          </p:cNvPr>
          <p:cNvSpPr>
            <a:spLocks noGrp="1"/>
          </p:cNvSpPr>
          <p:nvPr>
            <p:ph type="sldNum" sz="quarter" idx="12"/>
          </p:nvPr>
        </p:nvSpPr>
        <p:spPr/>
        <p:txBody>
          <a:bodyPr/>
          <a:lstStyle/>
          <a:p>
            <a:fld id="{B41E2F89-97C2-4B18-A593-8150592B5005}" type="slidenum">
              <a:rPr lang="en-US" smtClean="0"/>
              <a:t>66</a:t>
            </a:fld>
            <a:endParaRPr lang="en-US" dirty="0"/>
          </a:p>
        </p:txBody>
      </p:sp>
      <p:sp>
        <p:nvSpPr>
          <p:cNvPr id="7" name="Title 1">
            <a:extLst>
              <a:ext uri="{FF2B5EF4-FFF2-40B4-BE49-F238E27FC236}">
                <a16:creationId xmlns:a16="http://schemas.microsoft.com/office/drawing/2014/main" id="{14C052F9-7C85-9F33-5891-5594A84FF00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BCB44855-B264-C2F8-B27B-2CC4DCB3B7D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763BE7-0058-C4A1-F2CF-BB9DF2D85ADB}"/>
                  </a:ext>
                </a:extLst>
              </p:cNvPr>
              <p:cNvSpPr>
                <a:spLocks noGrp="1"/>
              </p:cNvSpPr>
              <p:nvPr>
                <p:ph idx="1"/>
              </p:nvPr>
            </p:nvSpPr>
            <p:spPr>
              <a:xfrm>
                <a:off x="838200" y="893852"/>
                <a:ext cx="10515600" cy="5456569"/>
              </a:xfrm>
            </p:spPr>
            <p:txBody>
              <a:bodyPr>
                <a:normAutofit fontScale="70000" lnSpcReduction="20000"/>
              </a:bodyPr>
              <a:lstStyle/>
              <a:p>
                <a:pPr marL="0" indent="0">
                  <a:buNone/>
                </a:pPr>
                <a:r>
                  <a:rPr lang="en-US" dirty="0">
                    <a:solidFill>
                      <a:srgbClr val="000000"/>
                    </a:solidFill>
                  </a:rPr>
                  <a:t>if </a:t>
                </a:r>
                <a14:m>
                  <m:oMath xmlns:m="http://schemas.openxmlformats.org/officeDocument/2006/math">
                    <m:func>
                      <m:funcPr>
                        <m:ctrlPr>
                          <a:rPr lang="en-US" i="1">
                            <a:solidFill>
                              <a:srgbClr val="000000"/>
                            </a:solidFill>
                            <a:latin typeface="Cambria Math" panose="02040503050406030204" pitchFamily="18" charset="0"/>
                          </a:rPr>
                        </m:ctrlPr>
                      </m:funcPr>
                      <m:fName>
                        <m:r>
                          <a:rPr lang="en-US" i="1">
                            <a:solidFill>
                              <a:srgbClr val="000000"/>
                            </a:solidFill>
                            <a:latin typeface="Cambria Math" panose="02040503050406030204" pitchFamily="18" charset="0"/>
                          </a:rPr>
                          <m:t> </m:t>
                        </m:r>
                      </m:fName>
                      <m:e>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sub>
                        </m:sSub>
                      </m:e>
                    </m:func>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1</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sub>
                    </m:sSub>
                  </m:oMath>
                </a14:m>
                <a:r>
                  <a:rPr lang="en-US" dirty="0">
                    <a:solidFill>
                      <a:srgbClr val="000000"/>
                    </a:solidFill>
                  </a:rPr>
                  <a:t>)</a:t>
                </a:r>
              </a:p>
              <a:p>
                <a:pPr marL="0" indent="0">
                  <a:buNone/>
                </a:pPr>
                <a:r>
                  <a:rPr lang="en-US" dirty="0">
                    <a:solidFill>
                      <a:srgbClr val="000000"/>
                    </a:solidFill>
                  </a:rPr>
                  <a:t>		{	f2[j] = </a:t>
                </a:r>
                <a14:m>
                  <m:oMath xmlns:m="http://schemas.openxmlformats.org/officeDocument/2006/math">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2</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sub>
                    </m:sSub>
                  </m:oMath>
                </a14:m>
                <a:endParaRPr lang="en-US" dirty="0">
                  <a:solidFill>
                    <a:srgbClr val="000000"/>
                  </a:solidFill>
                </a:endParaRPr>
              </a:p>
              <a:p>
                <a:pPr marL="0" indent="0">
                  <a:buNone/>
                </a:pPr>
                <a:r>
                  <a:rPr lang="en-US" dirty="0">
                    <a:solidFill>
                      <a:srgbClr val="000000"/>
                    </a:solidFill>
                  </a:rPr>
                  <a:t>			l2[j] = 2</a:t>
                </a:r>
              </a:p>
              <a:p>
                <a:pPr marL="0" indent="0">
                  <a:buNone/>
                </a:pPr>
                <a:r>
                  <a:rPr lang="en-US" dirty="0">
                    <a:solidFill>
                      <a:srgbClr val="000000"/>
                    </a:solidFill>
                  </a:rPr>
                  <a:t>		}</a:t>
                </a:r>
              </a:p>
              <a:p>
                <a:pPr marL="0" indent="0">
                  <a:buNone/>
                </a:pPr>
                <a:r>
                  <a:rPr lang="en-US" dirty="0">
                    <a:solidFill>
                      <a:srgbClr val="000000"/>
                    </a:solidFill>
                  </a:rPr>
                  <a:t>		else</a:t>
                </a:r>
              </a:p>
              <a:p>
                <a:pPr marL="0" indent="0">
                  <a:buNone/>
                </a:pPr>
                <a:r>
                  <a:rPr lang="en-US" dirty="0">
                    <a:solidFill>
                      <a:srgbClr val="000000"/>
                    </a:solidFill>
                  </a:rPr>
                  <a:t>		{	f2[j] =</a:t>
                </a:r>
                <a14:m>
                  <m:oMath xmlns:m="http://schemas.openxmlformats.org/officeDocument/2006/math">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1</m:t>
                    </m:r>
                    <m:d>
                      <m:dPr>
                        <m:begChr m:val="["/>
                        <m:endChr m:val="]"/>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e>
                    </m:d>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r>
                          <a:rPr lang="en-US" i="1">
                            <a:solidFill>
                              <a:srgbClr val="000000"/>
                            </a:solidFill>
                            <a:latin typeface="Cambria Math" panose="02040503050406030204" pitchFamily="18" charset="0"/>
                          </a:rPr>
                          <m:t>𝑗</m:t>
                        </m:r>
                      </m:sub>
                    </m:sSub>
                  </m:oMath>
                </a14:m>
                <a:endParaRPr lang="en-US" dirty="0">
                  <a:solidFill>
                    <a:srgbClr val="000000"/>
                  </a:solidFill>
                </a:endParaRPr>
              </a:p>
              <a:p>
                <a:pPr marL="0" indent="0">
                  <a:buNone/>
                </a:pPr>
                <a:r>
                  <a:rPr lang="en-US" dirty="0">
                    <a:solidFill>
                      <a:srgbClr val="000000"/>
                    </a:solidFill>
                  </a:rPr>
                  <a:t>			l2[j] = </a:t>
                </a:r>
              </a:p>
              <a:p>
                <a:pPr marL="0" indent="0">
                  <a:buNone/>
                </a:pPr>
                <a:r>
                  <a:rPr lang="en-US" dirty="0">
                    <a:solidFill>
                      <a:srgbClr val="000000"/>
                    </a:solidFill>
                  </a:rPr>
                  <a:t>		}</a:t>
                </a:r>
              </a:p>
              <a:p>
                <a:pPr marL="0" indent="0">
                  <a:buNone/>
                </a:pPr>
                <a:r>
                  <a:rPr lang="en-US" dirty="0">
                    <a:solidFill>
                      <a:srgbClr val="000000"/>
                    </a:solidFill>
                  </a:rPr>
                  <a:t>	}</a:t>
                </a:r>
              </a:p>
              <a:p>
                <a:pPr marL="0" indent="0">
                  <a:buNone/>
                </a:pPr>
                <a:r>
                  <a:rPr lang="en-US" dirty="0">
                    <a:solidFill>
                      <a:srgbClr val="000000"/>
                    </a:solidFill>
                  </a:rPr>
                  <a:t>	if f1[n]+x1 </a:t>
                </a:r>
                <a14:m>
                  <m:oMath xmlns:m="http://schemas.openxmlformats.org/officeDocument/2006/math">
                    <m:r>
                      <a:rPr lang="en-US" i="1">
                        <a:solidFill>
                          <a:srgbClr val="000000"/>
                        </a:solidFill>
                        <a:latin typeface="Cambria Math" panose="02040503050406030204" pitchFamily="18" charset="0"/>
                      </a:rPr>
                      <m:t>≤</m:t>
                    </m:r>
                  </m:oMath>
                </a14:m>
                <a:r>
                  <a:rPr lang="en-US" dirty="0">
                    <a:solidFill>
                      <a:srgbClr val="000000"/>
                    </a:solidFill>
                  </a:rPr>
                  <a:t> f2[n] + x2</a:t>
                </a:r>
              </a:p>
              <a:p>
                <a:pPr marL="0" indent="0">
                  <a:buNone/>
                </a:pPr>
                <a:r>
                  <a:rPr lang="en-US" dirty="0">
                    <a:solidFill>
                      <a:srgbClr val="000000"/>
                    </a:solidFill>
                  </a:rPr>
                  <a:t>		f’ = f1[n] + x1</a:t>
                </a:r>
              </a:p>
              <a:p>
                <a:pPr marL="0" indent="0">
                  <a:buNone/>
                </a:pPr>
                <a:r>
                  <a:rPr lang="en-US" dirty="0">
                    <a:solidFill>
                      <a:srgbClr val="000000"/>
                    </a:solidFill>
                  </a:rPr>
                  <a:t>		l’ = 1</a:t>
                </a:r>
              </a:p>
              <a:p>
                <a:pPr marL="0" indent="0">
                  <a:buNone/>
                </a:pPr>
                <a:r>
                  <a:rPr lang="en-US" dirty="0">
                    <a:solidFill>
                      <a:srgbClr val="000000"/>
                    </a:solidFill>
                  </a:rPr>
                  <a:t>	else</a:t>
                </a:r>
              </a:p>
              <a:p>
                <a:pPr marL="0" indent="0">
                  <a:buNone/>
                </a:pPr>
                <a:r>
                  <a:rPr lang="en-US" dirty="0">
                    <a:solidFill>
                      <a:srgbClr val="000000"/>
                    </a:solidFill>
                  </a:rPr>
                  <a:t>		f’ = f2[n] + x2</a:t>
                </a:r>
              </a:p>
              <a:p>
                <a:pPr marL="0" indent="0">
                  <a:buNone/>
                </a:pPr>
                <a:r>
                  <a:rPr lang="en-US" dirty="0">
                    <a:solidFill>
                      <a:srgbClr val="000000"/>
                    </a:solidFill>
                  </a:rPr>
                  <a:t>		l’ = 2</a:t>
                </a:r>
              </a:p>
              <a:p>
                <a:pPr marL="0" indent="0">
                  <a:buNone/>
                </a:pPr>
                <a:r>
                  <a:rPr lang="en-US" sz="2000" dirty="0">
                    <a:solidFill>
                      <a:srgbClr val="000000"/>
                    </a:solidFill>
                  </a:rPr>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1B763BE7-0058-C4A1-F2CF-BB9DF2D85ADB}"/>
                  </a:ext>
                </a:extLst>
              </p:cNvPr>
              <p:cNvSpPr>
                <a:spLocks noGrp="1" noRot="1" noChangeAspect="1" noMove="1" noResize="1" noEditPoints="1" noAdjustHandles="1" noChangeArrowheads="1" noChangeShapeType="1" noTextEdit="1"/>
              </p:cNvSpPr>
              <p:nvPr>
                <p:ph idx="1"/>
              </p:nvPr>
            </p:nvSpPr>
            <p:spPr>
              <a:xfrm>
                <a:off x="838200" y="893852"/>
                <a:ext cx="10515600" cy="5456569"/>
              </a:xfrm>
              <a:blipFill>
                <a:blip r:embed="rId3"/>
                <a:stretch>
                  <a:fillRect l="-638" t="-2011" b="-223"/>
                </a:stretch>
              </a:blipFill>
            </p:spPr>
            <p:txBody>
              <a:bodyPr/>
              <a:lstStyle/>
              <a:p>
                <a:r>
                  <a:rPr lang="en-US">
                    <a:noFill/>
                  </a:rPr>
                  <a:t> </a:t>
                </a:r>
              </a:p>
            </p:txBody>
          </p:sp>
        </mc:Fallback>
      </mc:AlternateContent>
    </p:spTree>
    <p:extLst>
      <p:ext uri="{BB962C8B-B14F-4D97-AF65-F5344CB8AC3E}">
        <p14:creationId xmlns:p14="http://schemas.microsoft.com/office/powerpoint/2010/main" val="17004553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A6931-ACEC-EF54-A146-50D4C468BE9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594E065-FDED-8109-F032-3688487BA375}"/>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862873E2-2516-2382-488E-A24CD4E44E9F}"/>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F0382A9A-6849-CEAF-5A74-AADB8BE6284E}"/>
              </a:ext>
            </a:extLst>
          </p:cNvPr>
          <p:cNvSpPr>
            <a:spLocks noGrp="1"/>
          </p:cNvSpPr>
          <p:nvPr>
            <p:ph type="sldNum" sz="quarter" idx="12"/>
          </p:nvPr>
        </p:nvSpPr>
        <p:spPr/>
        <p:txBody>
          <a:bodyPr/>
          <a:lstStyle/>
          <a:p>
            <a:fld id="{B41E2F89-97C2-4B18-A593-8150592B5005}" type="slidenum">
              <a:rPr lang="en-US" smtClean="0"/>
              <a:t>67</a:t>
            </a:fld>
            <a:endParaRPr lang="en-US" dirty="0"/>
          </a:p>
        </p:txBody>
      </p:sp>
      <p:sp>
        <p:nvSpPr>
          <p:cNvPr id="7" name="Title 1">
            <a:extLst>
              <a:ext uri="{FF2B5EF4-FFF2-40B4-BE49-F238E27FC236}">
                <a16:creationId xmlns:a16="http://schemas.microsoft.com/office/drawing/2014/main" id="{E92C4051-F652-A916-F18C-11978684CCEB}"/>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0ECDFEBE-EB50-1B8F-DCF8-FC17A67065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29640494-58E1-8CFE-7C46-6E52DC3E59C8}"/>
              </a:ext>
            </a:extLst>
          </p:cNvPr>
          <p:cNvSpPr>
            <a:spLocks noGrp="1"/>
          </p:cNvSpPr>
          <p:nvPr>
            <p:ph idx="1"/>
          </p:nvPr>
        </p:nvSpPr>
        <p:spPr>
          <a:xfrm>
            <a:off x="838200" y="893852"/>
            <a:ext cx="10515600" cy="5456569"/>
          </a:xfrm>
        </p:spPr>
        <p:txBody>
          <a:bodyPr>
            <a:normAutofit/>
          </a:bodyPr>
          <a:lstStyle/>
          <a:p>
            <a:pPr marL="0" indent="0">
              <a:buNone/>
            </a:pPr>
            <a:r>
              <a:rPr lang="en-US" dirty="0"/>
              <a:t>Topic Link:</a:t>
            </a:r>
          </a:p>
          <a:p>
            <a:r>
              <a:rPr lang="en-US" dirty="0">
                <a:hlinkClick r:id="rId3"/>
              </a:rPr>
              <a:t>DAA79: Resource Allocation Problem Multistage Graph Solution | Dynamic Programming</a:t>
            </a:r>
            <a:endParaRPr lang="en-US" dirty="0"/>
          </a:p>
          <a:p>
            <a:r>
              <a:rPr lang="fr-FR" dirty="0">
                <a:hlinkClick r:id="rId4"/>
              </a:rPr>
              <a:t>Resource Allocation </a:t>
            </a:r>
            <a:r>
              <a:rPr lang="fr-FR" dirty="0" err="1">
                <a:hlinkClick r:id="rId4"/>
              </a:rPr>
              <a:t>Problem</a:t>
            </a:r>
            <a:r>
              <a:rPr lang="fr-FR" dirty="0">
                <a:hlinkClick r:id="rId4"/>
              </a:rPr>
              <a:t> | AKTU DAA</a:t>
            </a:r>
            <a:endParaRPr lang="en-US" dirty="0"/>
          </a:p>
        </p:txBody>
      </p:sp>
    </p:spTree>
    <p:extLst>
      <p:ext uri="{BB962C8B-B14F-4D97-AF65-F5344CB8AC3E}">
        <p14:creationId xmlns:p14="http://schemas.microsoft.com/office/powerpoint/2010/main" val="34268635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CD64A-8533-2DC8-FE70-6AD526F2FC3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D0BD8573-1DBD-7509-F513-DF0785CAEBC2}"/>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834DEA22-30C5-7AD8-2CEB-B75ADAA50288}"/>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BC6CEBA6-D234-6417-1AD9-A22F93F3647B}"/>
              </a:ext>
            </a:extLst>
          </p:cNvPr>
          <p:cNvSpPr>
            <a:spLocks noGrp="1"/>
          </p:cNvSpPr>
          <p:nvPr>
            <p:ph type="sldNum" sz="quarter" idx="12"/>
          </p:nvPr>
        </p:nvSpPr>
        <p:spPr/>
        <p:txBody>
          <a:bodyPr/>
          <a:lstStyle/>
          <a:p>
            <a:fld id="{B41E2F89-97C2-4B18-A593-8150592B5005}" type="slidenum">
              <a:rPr lang="en-US" smtClean="0"/>
              <a:t>68</a:t>
            </a:fld>
            <a:endParaRPr lang="en-US" dirty="0"/>
          </a:p>
        </p:txBody>
      </p:sp>
      <p:sp>
        <p:nvSpPr>
          <p:cNvPr id="7" name="Title 1">
            <a:extLst>
              <a:ext uri="{FF2B5EF4-FFF2-40B4-BE49-F238E27FC236}">
                <a16:creationId xmlns:a16="http://schemas.microsoft.com/office/drawing/2014/main" id="{A4E08171-20B3-4490-ACC1-BF177862CD5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2CC459B2-B7A3-D3F0-266D-6773778552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DC8B75AF-5BF7-737C-F41D-02CFAD5C56B2}"/>
              </a:ext>
            </a:extLst>
          </p:cNvPr>
          <p:cNvSpPr>
            <a:spLocks noGrp="1"/>
          </p:cNvSpPr>
          <p:nvPr>
            <p:ph idx="1"/>
          </p:nvPr>
        </p:nvSpPr>
        <p:spPr>
          <a:xfrm>
            <a:off x="838200" y="893852"/>
            <a:ext cx="10515600" cy="5456569"/>
          </a:xfrm>
        </p:spPr>
        <p:txBody>
          <a:bodyPr>
            <a:normAutofit fontScale="70000" lnSpcReduction="20000"/>
          </a:bodyPr>
          <a:lstStyle/>
          <a:p>
            <a:pPr marL="0" indent="0">
              <a:buNone/>
            </a:pPr>
            <a:r>
              <a:rPr lang="en-US" dirty="0"/>
              <a:t>Daily Quiz:</a:t>
            </a:r>
          </a:p>
          <a:p>
            <a:pPr marL="514350" indent="-514350">
              <a:buFont typeface="+mj-lt"/>
              <a:buAutoNum type="arabicPeriod"/>
            </a:pPr>
            <a:r>
              <a:rPr lang="en-US" dirty="0"/>
              <a:t>Resource Allocation problem is solved using:</a:t>
            </a:r>
          </a:p>
          <a:p>
            <a:pPr marL="0" indent="0">
              <a:buNone/>
            </a:pPr>
            <a:r>
              <a:rPr lang="en-US" dirty="0"/>
              <a:t>	A. Greedy Algorithm</a:t>
            </a:r>
          </a:p>
          <a:p>
            <a:pPr marL="0" indent="0">
              <a:buNone/>
            </a:pPr>
            <a:r>
              <a:rPr lang="en-US" dirty="0"/>
              <a:t>	B. Divide and Conquer</a:t>
            </a:r>
          </a:p>
          <a:p>
            <a:pPr marL="0" indent="0">
              <a:buNone/>
            </a:pPr>
            <a:r>
              <a:rPr lang="en-US" dirty="0"/>
              <a:t>	C. Dynamic Programming</a:t>
            </a:r>
          </a:p>
          <a:p>
            <a:pPr marL="0" indent="0">
              <a:buNone/>
            </a:pPr>
            <a:r>
              <a:rPr lang="en-US" dirty="0"/>
              <a:t>	D. Backtracking</a:t>
            </a:r>
          </a:p>
          <a:p>
            <a:pPr marL="0" indent="0">
              <a:buNone/>
            </a:pPr>
            <a:r>
              <a:rPr lang="en-US" dirty="0"/>
              <a:t> 2.  In </a:t>
            </a:r>
            <a:r>
              <a:rPr lang="en-US" dirty="0" err="1"/>
              <a:t>dp</a:t>
            </a:r>
            <a:r>
              <a:rPr lang="en-US" dirty="0"/>
              <a:t>[</a:t>
            </a:r>
            <a:r>
              <a:rPr lang="en-US" dirty="0" err="1"/>
              <a:t>i</a:t>
            </a:r>
            <a:r>
              <a:rPr lang="en-US" dirty="0"/>
              <a:t>][j], what does j represent?</a:t>
            </a:r>
          </a:p>
          <a:p>
            <a:pPr marL="0" indent="0">
              <a:buNone/>
            </a:pPr>
            <a:r>
              <a:rPr lang="en-US" dirty="0"/>
              <a:t>	A. Number of projects</a:t>
            </a:r>
          </a:p>
          <a:p>
            <a:pPr marL="0" indent="0">
              <a:buNone/>
            </a:pPr>
            <a:r>
              <a:rPr lang="en-US" dirty="0"/>
              <a:t>	B. Total resources available</a:t>
            </a:r>
          </a:p>
          <a:p>
            <a:pPr marL="0" indent="0">
              <a:buNone/>
            </a:pPr>
            <a:r>
              <a:rPr lang="en-US" dirty="0"/>
              <a:t>	C. Profit</a:t>
            </a:r>
          </a:p>
          <a:p>
            <a:pPr marL="0" indent="0">
              <a:buNone/>
            </a:pPr>
            <a:r>
              <a:rPr lang="en-US" dirty="0"/>
              <a:t>	D. Index of resource</a:t>
            </a:r>
          </a:p>
          <a:p>
            <a:pPr marL="514350" indent="-514350">
              <a:buAutoNum type="arabicPeriod" startAt="3"/>
            </a:pPr>
            <a:r>
              <a:rPr lang="en-US" dirty="0"/>
              <a:t>What is the base case for Resource Allocation?</a:t>
            </a:r>
          </a:p>
          <a:p>
            <a:pPr marL="0" indent="0">
              <a:buNone/>
            </a:pPr>
            <a:r>
              <a:rPr lang="en-US" dirty="0"/>
              <a:t>	A. </a:t>
            </a:r>
            <a:r>
              <a:rPr lang="en-US" dirty="0" err="1"/>
              <a:t>dp</a:t>
            </a:r>
            <a:r>
              <a:rPr lang="en-US" dirty="0"/>
              <a:t>[0][j] = 0 for all j</a:t>
            </a:r>
          </a:p>
          <a:p>
            <a:pPr marL="0" indent="0">
              <a:buNone/>
            </a:pPr>
            <a:r>
              <a:rPr lang="en-US" dirty="0"/>
              <a:t>	B. </a:t>
            </a:r>
            <a:r>
              <a:rPr lang="en-US" dirty="0" err="1"/>
              <a:t>dp</a:t>
            </a:r>
            <a:r>
              <a:rPr lang="en-US" dirty="0"/>
              <a:t>[</a:t>
            </a:r>
            <a:r>
              <a:rPr lang="en-US" dirty="0" err="1"/>
              <a:t>i</a:t>
            </a:r>
            <a:r>
              <a:rPr lang="en-US" dirty="0"/>
              <a:t>][0] = 0 for all I</a:t>
            </a:r>
          </a:p>
          <a:p>
            <a:pPr marL="0" indent="0">
              <a:buNone/>
            </a:pPr>
            <a:r>
              <a:rPr lang="en-US" dirty="0"/>
              <a:t>	C. Both A and B</a:t>
            </a:r>
          </a:p>
          <a:p>
            <a:pPr marL="0" indent="0">
              <a:buNone/>
            </a:pPr>
            <a:r>
              <a:rPr lang="en-US" dirty="0"/>
              <a:t>	D. </a:t>
            </a:r>
            <a:r>
              <a:rPr lang="en-US" dirty="0" err="1"/>
              <a:t>dp</a:t>
            </a:r>
            <a:r>
              <a:rPr lang="en-US" dirty="0"/>
              <a:t>[0][0] = 1</a:t>
            </a:r>
          </a:p>
        </p:txBody>
      </p:sp>
    </p:spTree>
    <p:extLst>
      <p:ext uri="{BB962C8B-B14F-4D97-AF65-F5344CB8AC3E}">
        <p14:creationId xmlns:p14="http://schemas.microsoft.com/office/powerpoint/2010/main" val="12483491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12BB7-8156-B2C1-FAC9-3154851CDD5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B788918-91BA-5774-1D5F-DBF04730A4AE}"/>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12EE5046-F6CA-3E69-E3CC-30D48594054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E38059D-BB34-E148-CB5B-23665B719BDA}"/>
              </a:ext>
            </a:extLst>
          </p:cNvPr>
          <p:cNvSpPr>
            <a:spLocks noGrp="1"/>
          </p:cNvSpPr>
          <p:nvPr>
            <p:ph type="sldNum" sz="quarter" idx="12"/>
          </p:nvPr>
        </p:nvSpPr>
        <p:spPr/>
        <p:txBody>
          <a:bodyPr/>
          <a:lstStyle/>
          <a:p>
            <a:fld id="{B41E2F89-97C2-4B18-A593-8150592B5005}" type="slidenum">
              <a:rPr lang="en-US" smtClean="0"/>
              <a:t>69</a:t>
            </a:fld>
            <a:endParaRPr lang="en-US" dirty="0"/>
          </a:p>
        </p:txBody>
      </p:sp>
      <p:sp>
        <p:nvSpPr>
          <p:cNvPr id="7" name="Title 1">
            <a:extLst>
              <a:ext uri="{FF2B5EF4-FFF2-40B4-BE49-F238E27FC236}">
                <a16:creationId xmlns:a16="http://schemas.microsoft.com/office/drawing/2014/main" id="{3A746ECE-652B-8D48-832B-2E3DEE5F7A9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a:t>Resource Allocation Problem</a:t>
            </a:r>
            <a:endParaRPr lang="en-US" sz="2400" dirty="0"/>
          </a:p>
        </p:txBody>
      </p:sp>
      <p:pic>
        <p:nvPicPr>
          <p:cNvPr id="8" name="Picture 7" descr="A black and red logo&#10;&#10;Description automatically generated">
            <a:extLst>
              <a:ext uri="{FF2B5EF4-FFF2-40B4-BE49-F238E27FC236}">
                <a16:creationId xmlns:a16="http://schemas.microsoft.com/office/drawing/2014/main" id="{605391F7-85A6-4F5C-EB2F-585571543B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2D24F756-8C32-6C5A-A2FE-926CD6C63D9C}"/>
              </a:ext>
            </a:extLst>
          </p:cNvPr>
          <p:cNvSpPr>
            <a:spLocks noGrp="1"/>
          </p:cNvSpPr>
          <p:nvPr>
            <p:ph idx="1"/>
          </p:nvPr>
        </p:nvSpPr>
        <p:spPr>
          <a:xfrm>
            <a:off x="838200" y="893852"/>
            <a:ext cx="10515600" cy="5456569"/>
          </a:xfrm>
        </p:spPr>
        <p:txBody>
          <a:bodyPr>
            <a:normAutofit fontScale="92500"/>
          </a:bodyPr>
          <a:lstStyle/>
          <a:p>
            <a:pPr marL="0" indent="0">
              <a:buNone/>
            </a:pPr>
            <a:r>
              <a:rPr lang="en-US" dirty="0"/>
              <a:t>Daily Quiz:</a:t>
            </a:r>
          </a:p>
          <a:p>
            <a:pPr marL="514350" indent="-514350">
              <a:buAutoNum type="arabicPeriod" startAt="4"/>
            </a:pPr>
            <a:r>
              <a:rPr lang="pt-BR" dirty="0"/>
              <a:t>Time complexity of standard Resource Allocation DP:</a:t>
            </a:r>
          </a:p>
          <a:p>
            <a:pPr marL="0" indent="0">
              <a:buNone/>
            </a:pPr>
            <a:r>
              <a:rPr lang="pt-BR" dirty="0"/>
              <a:t>	A. O(M × N)</a:t>
            </a:r>
          </a:p>
          <a:p>
            <a:pPr marL="0" indent="0">
              <a:buNone/>
            </a:pPr>
            <a:r>
              <a:rPr lang="pt-BR" dirty="0"/>
              <a:t>	B. O(M × N²)</a:t>
            </a:r>
          </a:p>
          <a:p>
            <a:pPr marL="0" indent="0">
              <a:buNone/>
            </a:pPr>
            <a:r>
              <a:rPr lang="pt-BR" dirty="0"/>
              <a:t>	C. O(N³)</a:t>
            </a:r>
          </a:p>
          <a:p>
            <a:pPr marL="0" indent="0">
              <a:buNone/>
            </a:pPr>
            <a:r>
              <a:rPr lang="pt-BR" dirty="0"/>
              <a:t>	D. O(2^N)</a:t>
            </a:r>
          </a:p>
          <a:p>
            <a:pPr marL="514350" indent="-514350">
              <a:buAutoNum type="arabicPeriod" startAt="5"/>
            </a:pPr>
            <a:r>
              <a:rPr lang="en-US" dirty="0"/>
              <a:t>If profit[</a:t>
            </a:r>
            <a:r>
              <a:rPr lang="en-US" dirty="0" err="1"/>
              <a:t>i</a:t>
            </a:r>
            <a:r>
              <a:rPr lang="en-US" dirty="0"/>
              <a:t>][k] is not given, we cannot solve Resource Allocation because:</a:t>
            </a:r>
          </a:p>
          <a:p>
            <a:pPr marL="0" indent="0">
              <a:buNone/>
            </a:pPr>
            <a:r>
              <a:rPr lang="en-US" dirty="0"/>
              <a:t>	A. We don't know optimal substructure</a:t>
            </a:r>
          </a:p>
          <a:p>
            <a:pPr marL="0" indent="0">
              <a:buNone/>
            </a:pPr>
            <a:r>
              <a:rPr lang="en-US" dirty="0"/>
              <a:t>	B. We don't know profit for k resources to project I</a:t>
            </a:r>
          </a:p>
          <a:p>
            <a:pPr marL="0" indent="0">
              <a:buNone/>
            </a:pPr>
            <a:r>
              <a:rPr lang="en-US" dirty="0"/>
              <a:t>	C. DP table will be empty</a:t>
            </a:r>
          </a:p>
          <a:p>
            <a:pPr marL="0" indent="0">
              <a:buNone/>
            </a:pPr>
            <a:r>
              <a:rPr lang="en-US" dirty="0"/>
              <a:t>	D. Problem becomes NP-Complete</a:t>
            </a:r>
          </a:p>
        </p:txBody>
      </p:sp>
    </p:spTree>
    <p:extLst>
      <p:ext uri="{BB962C8B-B14F-4D97-AF65-F5344CB8AC3E}">
        <p14:creationId xmlns:p14="http://schemas.microsoft.com/office/powerpoint/2010/main" val="7141571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DA615-6D33-DB6C-9012-6498EFE71D8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FAE756B-9F54-3901-C9BE-AA82784E7ED8}"/>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05625F63-92AF-2FF1-2AEE-1910CA80B9E6}"/>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E918904A-411C-3628-1854-FF4B817B1CF3}"/>
              </a:ext>
            </a:extLst>
          </p:cNvPr>
          <p:cNvSpPr>
            <a:spLocks noGrp="1"/>
          </p:cNvSpPr>
          <p:nvPr>
            <p:ph type="sldNum" sz="quarter" idx="12"/>
          </p:nvPr>
        </p:nvSpPr>
        <p:spPr/>
        <p:txBody>
          <a:bodyPr/>
          <a:lstStyle/>
          <a:p>
            <a:fld id="{B41E2F89-97C2-4B18-A593-8150592B5005}" type="slidenum">
              <a:rPr lang="en-US" smtClean="0"/>
              <a:t>70</a:t>
            </a:fld>
            <a:endParaRPr lang="en-US" dirty="0"/>
          </a:p>
        </p:txBody>
      </p:sp>
      <p:sp>
        <p:nvSpPr>
          <p:cNvPr id="7" name="Title 1">
            <a:extLst>
              <a:ext uri="{FF2B5EF4-FFF2-40B4-BE49-F238E27FC236}">
                <a16:creationId xmlns:a16="http://schemas.microsoft.com/office/drawing/2014/main" id="{68C09AB6-9825-8F65-CFF8-08972F276CC4}"/>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lgn="ctr">
              <a:defRPr/>
            </a:pPr>
            <a:r>
              <a:rPr lang="en-US" sz="2400" b="1" dirty="0" err="1"/>
              <a:t>Refrences</a:t>
            </a:r>
            <a:endParaRPr lang="en-US" sz="2400" dirty="0"/>
          </a:p>
        </p:txBody>
      </p:sp>
      <p:pic>
        <p:nvPicPr>
          <p:cNvPr id="8" name="Picture 7" descr="A black and red logo&#10;&#10;Description automatically generated">
            <a:extLst>
              <a:ext uri="{FF2B5EF4-FFF2-40B4-BE49-F238E27FC236}">
                <a16:creationId xmlns:a16="http://schemas.microsoft.com/office/drawing/2014/main" id="{34D5B692-780F-59D3-731B-060E51080F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Content Placeholder 2">
            <a:extLst>
              <a:ext uri="{FF2B5EF4-FFF2-40B4-BE49-F238E27FC236}">
                <a16:creationId xmlns:a16="http://schemas.microsoft.com/office/drawing/2014/main" id="{FF2B562F-0F67-55BF-478C-6A4B716E5CB5}"/>
              </a:ext>
            </a:extLst>
          </p:cNvPr>
          <p:cNvSpPr>
            <a:spLocks noGrp="1"/>
          </p:cNvSpPr>
          <p:nvPr>
            <p:ph idx="1"/>
          </p:nvPr>
        </p:nvSpPr>
        <p:spPr>
          <a:xfrm>
            <a:off x="328773" y="893852"/>
            <a:ext cx="11527605" cy="5456569"/>
          </a:xfrm>
        </p:spPr>
        <p:txBody>
          <a:bodyPr>
            <a:normAutofit/>
          </a:bodyPr>
          <a:lstStyle/>
          <a:p>
            <a:pPr lvl="0">
              <a:lnSpc>
                <a:spcPct val="115000"/>
              </a:lnSpc>
            </a:pPr>
            <a:r>
              <a:rPr lang="en-US" dirty="0">
                <a:ea typeface="Calibri" panose="020F0502020204030204" pitchFamily="34" charset="0"/>
                <a:cs typeface="Times New Roman" panose="02020603050405020304" pitchFamily="18" charset="0"/>
              </a:rPr>
              <a:t>Thomas H. </a:t>
            </a:r>
            <a:r>
              <a:rPr lang="en-US" dirty="0" err="1">
                <a:ea typeface="Calibri" panose="020F0502020204030204" pitchFamily="34" charset="0"/>
                <a:cs typeface="Times New Roman" panose="02020603050405020304" pitchFamily="18" charset="0"/>
              </a:rPr>
              <a:t>Coreman</a:t>
            </a:r>
            <a:r>
              <a:rPr lang="en-US" dirty="0">
                <a:ea typeface="Calibri" panose="020F0502020204030204" pitchFamily="34" charset="0"/>
                <a:cs typeface="Times New Roman" panose="02020603050405020304" pitchFamily="18" charset="0"/>
              </a:rPr>
              <a:t>, Charles E. </a:t>
            </a:r>
            <a:r>
              <a:rPr lang="en-US" dirty="0" err="1">
                <a:ea typeface="Calibri" panose="020F0502020204030204" pitchFamily="34" charset="0"/>
                <a:cs typeface="Times New Roman" panose="02020603050405020304" pitchFamily="18" charset="0"/>
              </a:rPr>
              <a:t>Leiserson</a:t>
            </a:r>
            <a:r>
              <a:rPr lang="en-US" dirty="0">
                <a:ea typeface="Calibri" panose="020F0502020204030204" pitchFamily="34" charset="0"/>
                <a:cs typeface="Times New Roman" panose="02020603050405020304" pitchFamily="18" charset="0"/>
              </a:rPr>
              <a:t> and Ronald L. Rivest, “Introduction to Algorithms”, Printice Hall of India.</a:t>
            </a:r>
            <a:endParaRPr lang="en-IN" dirty="0">
              <a:ea typeface="Calibri" panose="020F0502020204030204" pitchFamily="34" charset="0"/>
              <a:cs typeface="Times New Roman" panose="02020603050405020304" pitchFamily="18" charset="0"/>
            </a:endParaRPr>
          </a:p>
          <a:p>
            <a:pPr lvl="0">
              <a:lnSpc>
                <a:spcPct val="115000"/>
              </a:lnSpc>
            </a:pPr>
            <a:r>
              <a:rPr lang="en-US" dirty="0">
                <a:ea typeface="Calibri" panose="020F0502020204030204" pitchFamily="34" charset="0"/>
                <a:cs typeface="Times New Roman" panose="02020603050405020304" pitchFamily="18" charset="0"/>
              </a:rPr>
              <a:t>E. Horowitz &amp; S Sahni, "Fundamentals of Computer Algorithms", </a:t>
            </a:r>
            <a:endParaRPr lang="en-IN" dirty="0">
              <a:ea typeface="Calibri" panose="020F0502020204030204" pitchFamily="34" charset="0"/>
              <a:cs typeface="Times New Roman" panose="02020603050405020304" pitchFamily="18" charset="0"/>
            </a:endParaRPr>
          </a:p>
          <a:p>
            <a:pPr lvl="0">
              <a:lnSpc>
                <a:spcPct val="115000"/>
              </a:lnSpc>
            </a:pPr>
            <a:r>
              <a:rPr lang="en-US" dirty="0">
                <a:ea typeface="Calibri" panose="020F0502020204030204" pitchFamily="34" charset="0"/>
                <a:cs typeface="Times New Roman" panose="02020603050405020304" pitchFamily="18" charset="0"/>
              </a:rPr>
              <a:t>Aho, Hopcraft, Ullman, “The Design and Analysis of Computer Algorithms” Pearson Education, 2008.</a:t>
            </a:r>
            <a:endParaRPr lang="en-IN" dirty="0">
              <a:ea typeface="Calibri" panose="020F0502020204030204" pitchFamily="34" charset="0"/>
              <a:cs typeface="Times New Roman" panose="02020603050405020304" pitchFamily="18" charset="0"/>
            </a:endParaRPr>
          </a:p>
          <a:p>
            <a:pPr lvl="0">
              <a:lnSpc>
                <a:spcPct val="115000"/>
              </a:lnSpc>
            </a:pPr>
            <a:r>
              <a:rPr lang="en-US" dirty="0">
                <a:ea typeface="Calibri" panose="020F0502020204030204" pitchFamily="34" charset="0"/>
                <a:cs typeface="Times New Roman" panose="02020603050405020304" pitchFamily="18" charset="0"/>
              </a:rPr>
              <a:t>LEE “Design &amp; Analysis of Algorithms(POD)”, McGraw Hill</a:t>
            </a:r>
            <a:endParaRPr lang="en-IN" dirty="0">
              <a:ea typeface="Calibri" panose="020F0502020204030204" pitchFamily="34" charset="0"/>
              <a:cs typeface="Times New Roman" panose="02020603050405020304" pitchFamily="18" charset="0"/>
            </a:endParaRPr>
          </a:p>
          <a:p>
            <a:pPr lvl="0">
              <a:lnSpc>
                <a:spcPct val="115000"/>
              </a:lnSpc>
            </a:pPr>
            <a:r>
              <a:rPr lang="en-US" dirty="0">
                <a:ea typeface="Calibri" panose="020F0502020204030204" pitchFamily="34" charset="0"/>
                <a:cs typeface="Times New Roman" panose="02020603050405020304" pitchFamily="18" charset="0"/>
              </a:rPr>
              <a:t>Richard </a:t>
            </a:r>
            <a:r>
              <a:rPr lang="en-US" dirty="0" err="1">
                <a:ea typeface="Calibri" panose="020F0502020204030204" pitchFamily="34" charset="0"/>
                <a:cs typeface="Times New Roman" panose="02020603050405020304" pitchFamily="18" charset="0"/>
              </a:rPr>
              <a:t>E.Neopolitan</a:t>
            </a:r>
            <a:r>
              <a:rPr lang="en-US" dirty="0">
                <a:ea typeface="Calibri" panose="020F0502020204030204" pitchFamily="34" charset="0"/>
                <a:cs typeface="Times New Roman" panose="02020603050405020304" pitchFamily="18" charset="0"/>
              </a:rPr>
              <a:t> ‘Foundations of Algorithms” Jones &amp; Bartlett Learning.</a:t>
            </a:r>
            <a:endParaRPr lang="en-IN" dirty="0">
              <a:ea typeface="Calibri" panose="020F0502020204030204" pitchFamily="34" charset="0"/>
              <a:cs typeface="Times New Roman" panose="02020603050405020304" pitchFamily="18" charset="0"/>
            </a:endParaRPr>
          </a:p>
          <a:p>
            <a:pPr lvl="0">
              <a:lnSpc>
                <a:spcPct val="115000"/>
              </a:lnSpc>
              <a:spcAft>
                <a:spcPts val="1000"/>
              </a:spcAft>
            </a:pPr>
            <a:r>
              <a:rPr lang="en-US" dirty="0">
                <a:ea typeface="Calibri" panose="020F0502020204030204" pitchFamily="34" charset="0"/>
                <a:cs typeface="Times New Roman" panose="02020603050405020304" pitchFamily="18" charset="0"/>
              </a:rPr>
              <a:t>Gilles Brassard and Paul Bratley, Algorithmics: Theory and Practice, Prentice Hall, 1995.</a:t>
            </a:r>
            <a:endParaRPr lang="en-IN"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171877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5C58F-11AF-5387-507F-B675DB7F0AC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CBDD585-B980-CADD-E0A3-D05E08F7756F}"/>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7C05A876-A238-C4CA-92F2-666688DDD748}"/>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64854F55-F759-3289-89A1-E2F713EF7A54}"/>
              </a:ext>
            </a:extLst>
          </p:cNvPr>
          <p:cNvSpPr>
            <a:spLocks noGrp="1"/>
          </p:cNvSpPr>
          <p:nvPr>
            <p:ph type="sldNum" sz="quarter" idx="12"/>
          </p:nvPr>
        </p:nvSpPr>
        <p:spPr/>
        <p:txBody>
          <a:bodyPr/>
          <a:lstStyle/>
          <a:p>
            <a:fld id="{B41E2F89-97C2-4B18-A593-8150592B5005}" type="slidenum">
              <a:rPr lang="en-US" smtClean="0"/>
              <a:t>71</a:t>
            </a:fld>
            <a:endParaRPr lang="en-US" dirty="0"/>
          </a:p>
        </p:txBody>
      </p:sp>
      <p:sp>
        <p:nvSpPr>
          <p:cNvPr id="7" name="Title 1">
            <a:extLst>
              <a:ext uri="{FF2B5EF4-FFF2-40B4-BE49-F238E27FC236}">
                <a16:creationId xmlns:a16="http://schemas.microsoft.com/office/drawing/2014/main" id="{3101D7D0-225B-157D-80CE-6C2EE29388B5}"/>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Previous year question paper</a:t>
            </a:r>
          </a:p>
        </p:txBody>
      </p:sp>
      <p:pic>
        <p:nvPicPr>
          <p:cNvPr id="8" name="Picture 7" descr="A black and red logo&#10;&#10;Description automatically generated">
            <a:extLst>
              <a:ext uri="{FF2B5EF4-FFF2-40B4-BE49-F238E27FC236}">
                <a16:creationId xmlns:a16="http://schemas.microsoft.com/office/drawing/2014/main" id="{7A71A750-7A4F-0378-A76D-069523DF2A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12" name="Picture 11">
            <a:extLst>
              <a:ext uri="{FF2B5EF4-FFF2-40B4-BE49-F238E27FC236}">
                <a16:creationId xmlns:a16="http://schemas.microsoft.com/office/drawing/2014/main" id="{839AD481-AA5D-05F3-3F9A-D662A75F5198}"/>
              </a:ext>
            </a:extLst>
          </p:cNvPr>
          <p:cNvPicPr>
            <a:picLocks noChangeAspect="1"/>
          </p:cNvPicPr>
          <p:nvPr/>
        </p:nvPicPr>
        <p:blipFill>
          <a:blip r:embed="rId3"/>
          <a:stretch>
            <a:fillRect/>
          </a:stretch>
        </p:blipFill>
        <p:spPr>
          <a:xfrm>
            <a:off x="1921266" y="842481"/>
            <a:ext cx="8496729" cy="5513869"/>
          </a:xfrm>
          <a:prstGeom prst="rect">
            <a:avLst/>
          </a:prstGeom>
        </p:spPr>
      </p:pic>
    </p:spTree>
    <p:extLst>
      <p:ext uri="{BB962C8B-B14F-4D97-AF65-F5344CB8AC3E}">
        <p14:creationId xmlns:p14="http://schemas.microsoft.com/office/powerpoint/2010/main" val="2506958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4831C-C2A2-9EDF-0CBA-2AF4097DBE3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46A5D0A-FE70-FAB6-508C-A45454979162}"/>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0727F1D5-5F7B-6DC7-AB23-8F0E13F18F9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BDA24118-7985-138E-B644-569804C60990}"/>
              </a:ext>
            </a:extLst>
          </p:cNvPr>
          <p:cNvSpPr>
            <a:spLocks noGrp="1"/>
          </p:cNvSpPr>
          <p:nvPr>
            <p:ph type="sldNum" sz="quarter" idx="12"/>
          </p:nvPr>
        </p:nvSpPr>
        <p:spPr/>
        <p:txBody>
          <a:bodyPr/>
          <a:lstStyle/>
          <a:p>
            <a:fld id="{B41E2F89-97C2-4B18-A593-8150592B5005}" type="slidenum">
              <a:rPr lang="en-US" smtClean="0"/>
              <a:t>72</a:t>
            </a:fld>
            <a:endParaRPr lang="en-US" dirty="0"/>
          </a:p>
        </p:txBody>
      </p:sp>
      <p:sp>
        <p:nvSpPr>
          <p:cNvPr id="7" name="Title 1">
            <a:extLst>
              <a:ext uri="{FF2B5EF4-FFF2-40B4-BE49-F238E27FC236}">
                <a16:creationId xmlns:a16="http://schemas.microsoft.com/office/drawing/2014/main" id="{6CADEC15-7FA6-5AFB-EB8E-F78C1F7D142E}"/>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Previous year question paper</a:t>
            </a:r>
          </a:p>
        </p:txBody>
      </p:sp>
      <p:pic>
        <p:nvPicPr>
          <p:cNvPr id="8" name="Picture 7" descr="A black and red logo&#10;&#10;Description automatically generated">
            <a:extLst>
              <a:ext uri="{FF2B5EF4-FFF2-40B4-BE49-F238E27FC236}">
                <a16:creationId xmlns:a16="http://schemas.microsoft.com/office/drawing/2014/main" id="{E58679EA-E6E3-AB16-96D4-C4FB8D79BB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3" name="Picture 2">
            <a:extLst>
              <a:ext uri="{FF2B5EF4-FFF2-40B4-BE49-F238E27FC236}">
                <a16:creationId xmlns:a16="http://schemas.microsoft.com/office/drawing/2014/main" id="{760E71EE-E64E-7D5E-B4DB-2E1A5FA1E8C3}"/>
              </a:ext>
            </a:extLst>
          </p:cNvPr>
          <p:cNvPicPr>
            <a:picLocks noChangeAspect="1"/>
          </p:cNvPicPr>
          <p:nvPr/>
        </p:nvPicPr>
        <p:blipFill>
          <a:blip r:embed="rId3"/>
          <a:stretch>
            <a:fillRect/>
          </a:stretch>
        </p:blipFill>
        <p:spPr>
          <a:xfrm>
            <a:off x="2630184" y="685801"/>
            <a:ext cx="7181636" cy="5670550"/>
          </a:xfrm>
          <a:prstGeom prst="rect">
            <a:avLst/>
          </a:prstGeom>
        </p:spPr>
      </p:pic>
    </p:spTree>
    <p:extLst>
      <p:ext uri="{BB962C8B-B14F-4D97-AF65-F5344CB8AC3E}">
        <p14:creationId xmlns:p14="http://schemas.microsoft.com/office/powerpoint/2010/main" val="24485011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40658-3652-718C-9D91-FA95CC6EB37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2600C9A7-07AF-64B0-13F4-411D1E103420}"/>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B47BADEB-3DB4-C5DB-6B99-31F6B6D1C08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EE69EC4-C8AB-BB35-7AFB-5E77088435BB}"/>
              </a:ext>
            </a:extLst>
          </p:cNvPr>
          <p:cNvSpPr>
            <a:spLocks noGrp="1"/>
          </p:cNvSpPr>
          <p:nvPr>
            <p:ph type="sldNum" sz="quarter" idx="12"/>
          </p:nvPr>
        </p:nvSpPr>
        <p:spPr/>
        <p:txBody>
          <a:bodyPr/>
          <a:lstStyle/>
          <a:p>
            <a:fld id="{B41E2F89-97C2-4B18-A593-8150592B5005}" type="slidenum">
              <a:rPr lang="en-US" smtClean="0"/>
              <a:t>73</a:t>
            </a:fld>
            <a:endParaRPr lang="en-US" dirty="0"/>
          </a:p>
        </p:txBody>
      </p:sp>
      <p:sp>
        <p:nvSpPr>
          <p:cNvPr id="7" name="Title 1">
            <a:extLst>
              <a:ext uri="{FF2B5EF4-FFF2-40B4-BE49-F238E27FC236}">
                <a16:creationId xmlns:a16="http://schemas.microsoft.com/office/drawing/2014/main" id="{0AE71C7B-4EDE-738F-EE4A-B08DE240DC4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Previous year question paper</a:t>
            </a:r>
          </a:p>
        </p:txBody>
      </p:sp>
      <p:pic>
        <p:nvPicPr>
          <p:cNvPr id="8" name="Picture 7" descr="A black and red logo&#10;&#10;Description automatically generated">
            <a:extLst>
              <a:ext uri="{FF2B5EF4-FFF2-40B4-BE49-F238E27FC236}">
                <a16:creationId xmlns:a16="http://schemas.microsoft.com/office/drawing/2014/main" id="{0665B16D-9634-BD3A-B62C-1654ED8784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9" name="Picture 8">
            <a:extLst>
              <a:ext uri="{FF2B5EF4-FFF2-40B4-BE49-F238E27FC236}">
                <a16:creationId xmlns:a16="http://schemas.microsoft.com/office/drawing/2014/main" id="{995002BD-7011-CD9D-1DBD-B5162DD32FA8}"/>
              </a:ext>
            </a:extLst>
          </p:cNvPr>
          <p:cNvPicPr>
            <a:picLocks noChangeAspect="1"/>
          </p:cNvPicPr>
          <p:nvPr/>
        </p:nvPicPr>
        <p:blipFill>
          <a:blip r:embed="rId3"/>
          <a:stretch>
            <a:fillRect/>
          </a:stretch>
        </p:blipFill>
        <p:spPr>
          <a:xfrm>
            <a:off x="2640459" y="685800"/>
            <a:ext cx="7623424" cy="5670550"/>
          </a:xfrm>
          <a:prstGeom prst="rect">
            <a:avLst/>
          </a:prstGeom>
        </p:spPr>
      </p:pic>
    </p:spTree>
    <p:extLst>
      <p:ext uri="{BB962C8B-B14F-4D97-AF65-F5344CB8AC3E}">
        <p14:creationId xmlns:p14="http://schemas.microsoft.com/office/powerpoint/2010/main" val="15244160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8E5B0-C73C-CB0B-F6A7-E67FACC2386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369F314-CBF7-8B6E-E1A8-280808E62D83}"/>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E8C7355A-D997-0063-D969-6C7CC06B0185}"/>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8D8802C9-F235-9A77-BFA2-95AFD08060CD}"/>
              </a:ext>
            </a:extLst>
          </p:cNvPr>
          <p:cNvSpPr>
            <a:spLocks noGrp="1"/>
          </p:cNvSpPr>
          <p:nvPr>
            <p:ph type="sldNum" sz="quarter" idx="12"/>
          </p:nvPr>
        </p:nvSpPr>
        <p:spPr/>
        <p:txBody>
          <a:bodyPr/>
          <a:lstStyle/>
          <a:p>
            <a:fld id="{B41E2F89-97C2-4B18-A593-8150592B5005}" type="slidenum">
              <a:rPr lang="en-US" smtClean="0"/>
              <a:t>74</a:t>
            </a:fld>
            <a:endParaRPr lang="en-US" dirty="0"/>
          </a:p>
        </p:txBody>
      </p:sp>
      <p:sp>
        <p:nvSpPr>
          <p:cNvPr id="7" name="Title 1">
            <a:extLst>
              <a:ext uri="{FF2B5EF4-FFF2-40B4-BE49-F238E27FC236}">
                <a16:creationId xmlns:a16="http://schemas.microsoft.com/office/drawing/2014/main" id="{A2FD133B-E710-2D86-C7CA-F41FFCC07EF9}"/>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Previous year question paper</a:t>
            </a:r>
          </a:p>
        </p:txBody>
      </p:sp>
      <p:pic>
        <p:nvPicPr>
          <p:cNvPr id="8" name="Picture 7" descr="A black and red logo&#10;&#10;Description automatically generated">
            <a:extLst>
              <a:ext uri="{FF2B5EF4-FFF2-40B4-BE49-F238E27FC236}">
                <a16:creationId xmlns:a16="http://schemas.microsoft.com/office/drawing/2014/main" id="{15197AC3-9C8D-D549-5A79-2F92C24DB1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pic>
        <p:nvPicPr>
          <p:cNvPr id="9" name="Picture 8">
            <a:extLst>
              <a:ext uri="{FF2B5EF4-FFF2-40B4-BE49-F238E27FC236}">
                <a16:creationId xmlns:a16="http://schemas.microsoft.com/office/drawing/2014/main" id="{CE1D0496-FDA7-BDFD-977F-C08F03992DE1}"/>
              </a:ext>
            </a:extLst>
          </p:cNvPr>
          <p:cNvPicPr>
            <a:picLocks noChangeAspect="1"/>
          </p:cNvPicPr>
          <p:nvPr/>
        </p:nvPicPr>
        <p:blipFill>
          <a:blip r:embed="rId3"/>
          <a:stretch>
            <a:fillRect/>
          </a:stretch>
        </p:blipFill>
        <p:spPr>
          <a:xfrm>
            <a:off x="2311685" y="770561"/>
            <a:ext cx="7407668" cy="5681609"/>
          </a:xfrm>
          <a:prstGeom prst="rect">
            <a:avLst/>
          </a:prstGeom>
        </p:spPr>
      </p:pic>
    </p:spTree>
    <p:extLst>
      <p:ext uri="{BB962C8B-B14F-4D97-AF65-F5344CB8AC3E}">
        <p14:creationId xmlns:p14="http://schemas.microsoft.com/office/powerpoint/2010/main" val="23110683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46F64-6658-FB81-DD83-5EFD413FCDA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BB25C3EF-8A44-12E8-057C-2E4C33BE1865}"/>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6FE35CF7-6B6E-3E6F-D762-3B9620F6173E}"/>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D70BC318-817D-A9B8-2F03-43515CAF7054}"/>
              </a:ext>
            </a:extLst>
          </p:cNvPr>
          <p:cNvSpPr>
            <a:spLocks noGrp="1"/>
          </p:cNvSpPr>
          <p:nvPr>
            <p:ph type="sldNum" sz="quarter" idx="12"/>
          </p:nvPr>
        </p:nvSpPr>
        <p:spPr/>
        <p:txBody>
          <a:bodyPr/>
          <a:lstStyle/>
          <a:p>
            <a:fld id="{B41E2F89-97C2-4B18-A593-8150592B5005}" type="slidenum">
              <a:rPr lang="en-US" smtClean="0"/>
              <a:t>75</a:t>
            </a:fld>
            <a:endParaRPr lang="en-US" dirty="0"/>
          </a:p>
        </p:txBody>
      </p:sp>
      <p:sp>
        <p:nvSpPr>
          <p:cNvPr id="7" name="Title 1">
            <a:extLst>
              <a:ext uri="{FF2B5EF4-FFF2-40B4-BE49-F238E27FC236}">
                <a16:creationId xmlns:a16="http://schemas.microsoft.com/office/drawing/2014/main" id="{EDD48521-6197-7676-29CB-231D22530C2C}"/>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Expected Questions for University Exam</a:t>
            </a:r>
          </a:p>
        </p:txBody>
      </p:sp>
      <p:pic>
        <p:nvPicPr>
          <p:cNvPr id="8" name="Picture 7" descr="A black and red logo&#10;&#10;Description automatically generated">
            <a:extLst>
              <a:ext uri="{FF2B5EF4-FFF2-40B4-BE49-F238E27FC236}">
                <a16:creationId xmlns:a16="http://schemas.microsoft.com/office/drawing/2014/main" id="{ED8F7FA7-61E0-65DA-8D9A-E151034014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11" name="TextBox 10">
            <a:extLst>
              <a:ext uri="{FF2B5EF4-FFF2-40B4-BE49-F238E27FC236}">
                <a16:creationId xmlns:a16="http://schemas.microsoft.com/office/drawing/2014/main" id="{BD75EB99-F646-701E-0F19-5F88D20364D0}"/>
              </a:ext>
            </a:extLst>
          </p:cNvPr>
          <p:cNvSpPr txBox="1"/>
          <p:nvPr/>
        </p:nvSpPr>
        <p:spPr>
          <a:xfrm>
            <a:off x="838200" y="1212351"/>
            <a:ext cx="10668856" cy="4832092"/>
          </a:xfrm>
          <a:prstGeom prst="rect">
            <a:avLst/>
          </a:prstGeom>
          <a:noFill/>
        </p:spPr>
        <p:txBody>
          <a:bodyPr wrap="square" rtlCol="0">
            <a:spAutoFit/>
          </a:bodyPr>
          <a:lstStyle/>
          <a:p>
            <a:pPr marL="342900" indent="-342900">
              <a:buFont typeface="+mj-lt"/>
              <a:buAutoNum type="arabicPeriod"/>
            </a:pPr>
            <a:r>
              <a:rPr lang="en-US" sz="2800" dirty="0"/>
              <a:t>Find LCS of "STONE" and "LONGEST". Show DP table and backtrack one LCS.</a:t>
            </a:r>
          </a:p>
          <a:p>
            <a:pPr marL="342900" indent="-342900">
              <a:buFont typeface="+mj-lt"/>
              <a:buAutoNum type="arabicPeriod"/>
            </a:pPr>
            <a:r>
              <a:rPr lang="en-US" sz="2800" dirty="0"/>
              <a:t>Find min multiplications for A(5×4), B(4×6), C(6×2), D(2×7). Show k values.</a:t>
            </a:r>
          </a:p>
          <a:p>
            <a:pPr marL="342900" indent="-342900">
              <a:buFont typeface="+mj-lt"/>
              <a:buAutoNum type="arabicPeriod"/>
            </a:pPr>
            <a:r>
              <a:rPr lang="en-US" sz="2800" dirty="0"/>
              <a:t>Modify LCS code to print all longest common subsequences for "AGGTAB" and "GXTXAYB".</a:t>
            </a:r>
          </a:p>
          <a:p>
            <a:pPr marL="342900" indent="-342900">
              <a:buFont typeface="+mj-lt"/>
              <a:buAutoNum type="arabicPeriod"/>
            </a:pPr>
            <a:r>
              <a:rPr lang="en-US" sz="2800" dirty="0"/>
              <a:t>If a problem can be solved by DP, it can always be solved by greedy." Justify.</a:t>
            </a:r>
          </a:p>
          <a:p>
            <a:pPr marL="342900" indent="-342900">
              <a:buFont typeface="+mj-lt"/>
              <a:buAutoNum type="arabicPeriod"/>
            </a:pPr>
            <a:r>
              <a:rPr lang="en-US" sz="2800" dirty="0"/>
              <a:t>3 projects, 5 resources. Profit table:   P = 0,2,4,6,7,8; P = 0,1,3,5,6,7; P = 0,3,5,6,7,9. Find max profit.</a:t>
            </a:r>
          </a:p>
          <a:p>
            <a:pPr marL="342900" indent="-342900">
              <a:buFont typeface="+mj-lt"/>
              <a:buAutoNum type="arabicPeriod"/>
            </a:pPr>
            <a:endParaRPr lang="en-US" sz="2800" dirty="0"/>
          </a:p>
        </p:txBody>
      </p:sp>
    </p:spTree>
    <p:extLst>
      <p:ext uri="{BB962C8B-B14F-4D97-AF65-F5344CB8AC3E}">
        <p14:creationId xmlns:p14="http://schemas.microsoft.com/office/powerpoint/2010/main" val="23341547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F0272-7DE0-F922-1AAD-A61C5BCAF86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8D7BEAD4-B4AE-AD0D-0DEE-2757F951353E}"/>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63EE011A-B34C-4295-0E62-671402EC6D23}"/>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CF9666AB-252C-D123-C2BC-9614CA844CEF}"/>
              </a:ext>
            </a:extLst>
          </p:cNvPr>
          <p:cNvSpPr>
            <a:spLocks noGrp="1"/>
          </p:cNvSpPr>
          <p:nvPr>
            <p:ph type="sldNum" sz="quarter" idx="12"/>
          </p:nvPr>
        </p:nvSpPr>
        <p:spPr/>
        <p:txBody>
          <a:bodyPr/>
          <a:lstStyle/>
          <a:p>
            <a:fld id="{B41E2F89-97C2-4B18-A593-8150592B5005}" type="slidenum">
              <a:rPr lang="en-US" smtClean="0"/>
              <a:t>76</a:t>
            </a:fld>
            <a:endParaRPr lang="en-US" dirty="0"/>
          </a:p>
        </p:txBody>
      </p:sp>
      <p:sp>
        <p:nvSpPr>
          <p:cNvPr id="7" name="Title 1">
            <a:extLst>
              <a:ext uri="{FF2B5EF4-FFF2-40B4-BE49-F238E27FC236}">
                <a16:creationId xmlns:a16="http://schemas.microsoft.com/office/drawing/2014/main" id="{647C1762-C7F2-7C89-472D-1661EFE043C2}"/>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Previous year question paper</a:t>
            </a:r>
          </a:p>
        </p:txBody>
      </p:sp>
      <p:pic>
        <p:nvPicPr>
          <p:cNvPr id="8" name="Picture 7" descr="A black and red logo&#10;&#10;Description automatically generated">
            <a:extLst>
              <a:ext uri="{FF2B5EF4-FFF2-40B4-BE49-F238E27FC236}">
                <a16:creationId xmlns:a16="http://schemas.microsoft.com/office/drawing/2014/main" id="{0C9F94DE-A776-ABA6-F0E8-99D20BDE4E1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TextBox 2">
            <a:extLst>
              <a:ext uri="{FF2B5EF4-FFF2-40B4-BE49-F238E27FC236}">
                <a16:creationId xmlns:a16="http://schemas.microsoft.com/office/drawing/2014/main" id="{DA88CF34-33E3-E6A2-F55E-FB209ED9F8C5}"/>
              </a:ext>
            </a:extLst>
          </p:cNvPr>
          <p:cNvSpPr txBox="1"/>
          <p:nvPr/>
        </p:nvSpPr>
        <p:spPr>
          <a:xfrm>
            <a:off x="838200" y="1104942"/>
            <a:ext cx="10820400" cy="1815882"/>
          </a:xfrm>
          <a:prstGeom prst="rect">
            <a:avLst/>
          </a:prstGeom>
          <a:noFill/>
        </p:spPr>
        <p:txBody>
          <a:bodyPr wrap="square">
            <a:spAutoFit/>
          </a:bodyPr>
          <a:lstStyle/>
          <a:p>
            <a:r>
              <a:rPr lang="en-US" sz="2800" dirty="0"/>
              <a:t>6. W = 8, Items: (</a:t>
            </a:r>
            <a:r>
              <a:rPr lang="en-US" sz="2800" dirty="0" err="1"/>
              <a:t>wt,val</a:t>
            </a:r>
            <a:r>
              <a:rPr lang="en-US" sz="2800" dirty="0"/>
              <a:t>) = (2,3), (3,4), (4,5), (5,6). Fill DP table and find max value.</a:t>
            </a:r>
          </a:p>
          <a:p>
            <a:r>
              <a:rPr lang="en-US" sz="2800" dirty="0"/>
              <a:t>7. Find min multiplications for A(5×4), B(4×6), C(6×2), D(2×7). Show k values.</a:t>
            </a:r>
          </a:p>
        </p:txBody>
      </p:sp>
    </p:spTree>
    <p:extLst>
      <p:ext uri="{BB962C8B-B14F-4D97-AF65-F5344CB8AC3E}">
        <p14:creationId xmlns:p14="http://schemas.microsoft.com/office/powerpoint/2010/main" val="1794692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73303-17D8-7B61-2854-71B85158E1F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D6BB41E-02C8-4109-33A6-0D9B73D7B8F5}"/>
              </a:ext>
            </a:extLst>
          </p:cNvPr>
          <p:cNvSpPr>
            <a:spLocks noGrp="1"/>
          </p:cNvSpPr>
          <p:nvPr>
            <p:ph type="dt" sz="half" idx="10"/>
          </p:nvPr>
        </p:nvSpPr>
        <p:spPr/>
        <p:txBody>
          <a:bodyPr/>
          <a:lstStyle/>
          <a:p>
            <a:fld id="{4704D232-BE3F-41B3-996A-CC023BB6317F}" type="datetime1">
              <a:rPr lang="en-US" smtClean="0"/>
              <a:t>7/8/2026</a:t>
            </a:fld>
            <a:endParaRPr lang="en-US"/>
          </a:p>
        </p:txBody>
      </p:sp>
      <p:sp>
        <p:nvSpPr>
          <p:cNvPr id="5" name="Footer Placeholder 4">
            <a:extLst>
              <a:ext uri="{FF2B5EF4-FFF2-40B4-BE49-F238E27FC236}">
                <a16:creationId xmlns:a16="http://schemas.microsoft.com/office/drawing/2014/main" id="{72054A16-F7C7-872A-0A50-4B2ECDA78852}"/>
              </a:ext>
            </a:extLst>
          </p:cNvPr>
          <p:cNvSpPr>
            <a:spLocks noGrp="1"/>
          </p:cNvSpPr>
          <p:nvPr>
            <p:ph type="ftr" sz="quarter" idx="11"/>
          </p:nvPr>
        </p:nvSpPr>
        <p:spPr/>
        <p:txBody>
          <a:bodyPr/>
          <a:lstStyle/>
          <a:p>
            <a:r>
              <a:rPr lang="en-US"/>
              <a:t>Dr. Amba Mishra    DSA-II Unit-3</a:t>
            </a:r>
          </a:p>
        </p:txBody>
      </p:sp>
      <p:sp>
        <p:nvSpPr>
          <p:cNvPr id="6" name="Slide Number Placeholder 5">
            <a:extLst>
              <a:ext uri="{FF2B5EF4-FFF2-40B4-BE49-F238E27FC236}">
                <a16:creationId xmlns:a16="http://schemas.microsoft.com/office/drawing/2014/main" id="{57E103E9-EFDE-4C66-EAC0-C4B140A83350}"/>
              </a:ext>
            </a:extLst>
          </p:cNvPr>
          <p:cNvSpPr>
            <a:spLocks noGrp="1"/>
          </p:cNvSpPr>
          <p:nvPr>
            <p:ph type="sldNum" sz="quarter" idx="12"/>
          </p:nvPr>
        </p:nvSpPr>
        <p:spPr/>
        <p:txBody>
          <a:bodyPr/>
          <a:lstStyle/>
          <a:p>
            <a:fld id="{B41E2F89-97C2-4B18-A593-8150592B5005}" type="slidenum">
              <a:rPr lang="en-US" smtClean="0"/>
              <a:t>77</a:t>
            </a:fld>
            <a:endParaRPr lang="en-US" dirty="0"/>
          </a:p>
        </p:txBody>
      </p:sp>
      <p:sp>
        <p:nvSpPr>
          <p:cNvPr id="7" name="Title 1">
            <a:extLst>
              <a:ext uri="{FF2B5EF4-FFF2-40B4-BE49-F238E27FC236}">
                <a16:creationId xmlns:a16="http://schemas.microsoft.com/office/drawing/2014/main" id="{94C42E06-B409-8A0A-FCB9-83A2DD6E0C11}"/>
              </a:ext>
            </a:extLst>
          </p:cNvPr>
          <p:cNvSpPr txBox="1">
            <a:spLocks/>
          </p:cNvSpPr>
          <p:nvPr/>
        </p:nvSpPr>
        <p:spPr>
          <a:xfrm>
            <a:off x="1371600" y="5929"/>
            <a:ext cx="10820400" cy="685799"/>
          </a:xfrm>
          <a:prstGeom prst="rect">
            <a:avLst/>
          </a:prstGeom>
          <a:solidFill>
            <a:srgbClr val="CD7371"/>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endParaRPr lang="en-US" sz="2400" dirty="0"/>
          </a:p>
        </p:txBody>
      </p:sp>
      <p:pic>
        <p:nvPicPr>
          <p:cNvPr id="8" name="Picture 7" descr="A black and red logo&#10;&#10;Description automatically generated">
            <a:extLst>
              <a:ext uri="{FF2B5EF4-FFF2-40B4-BE49-F238E27FC236}">
                <a16:creationId xmlns:a16="http://schemas.microsoft.com/office/drawing/2014/main" id="{CA7B03C4-F595-58A4-5179-F642ABA2F6B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6945"/>
            <a:ext cx="1295400" cy="722745"/>
          </a:xfrm>
          <a:prstGeom prst="rect">
            <a:avLst/>
          </a:prstGeom>
        </p:spPr>
      </p:pic>
      <p:sp>
        <p:nvSpPr>
          <p:cNvPr id="3" name="TextBox 2">
            <a:extLst>
              <a:ext uri="{FF2B5EF4-FFF2-40B4-BE49-F238E27FC236}">
                <a16:creationId xmlns:a16="http://schemas.microsoft.com/office/drawing/2014/main" id="{B6CE230A-B3FE-5E03-5765-B6F2A93121B9}"/>
              </a:ext>
            </a:extLst>
          </p:cNvPr>
          <p:cNvSpPr txBox="1"/>
          <p:nvPr/>
        </p:nvSpPr>
        <p:spPr>
          <a:xfrm>
            <a:off x="427233" y="2733281"/>
            <a:ext cx="10820400" cy="769441"/>
          </a:xfrm>
          <a:prstGeom prst="rect">
            <a:avLst/>
          </a:prstGeom>
          <a:noFill/>
        </p:spPr>
        <p:txBody>
          <a:bodyPr wrap="square">
            <a:spAutoFit/>
          </a:bodyPr>
          <a:lstStyle/>
          <a:p>
            <a:pPr algn="ctr"/>
            <a:r>
              <a:rPr lang="en-US" sz="4400" dirty="0">
                <a:solidFill>
                  <a:srgbClr val="FF0000"/>
                </a:solidFill>
                <a:latin typeface="Algerian" panose="04020705040A02060702" pitchFamily="82" charset="0"/>
              </a:rPr>
              <a:t>Thank You</a:t>
            </a:r>
          </a:p>
        </p:txBody>
      </p:sp>
    </p:spTree>
    <p:extLst>
      <p:ext uri="{BB962C8B-B14F-4D97-AF65-F5344CB8AC3E}">
        <p14:creationId xmlns:p14="http://schemas.microsoft.com/office/powerpoint/2010/main" val="2928528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780</TotalTime>
  <Words>6625</Words>
  <Application>Microsoft Office PowerPoint</Application>
  <PresentationFormat>Widescreen</PresentationFormat>
  <Paragraphs>1118</Paragraphs>
  <Slides>77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77</vt:i4>
      </vt:variant>
    </vt:vector>
  </HeadingPairs>
  <TitlesOfParts>
    <vt:vector size="87" baseType="lpstr">
      <vt:lpstr>Algerian</vt:lpstr>
      <vt:lpstr>Arial</vt:lpstr>
      <vt:lpstr>Calibri</vt:lpstr>
      <vt:lpstr>Calibri Light</vt:lpstr>
      <vt:lpstr>Cambria Math</vt:lpstr>
      <vt:lpstr>inherit</vt:lpstr>
      <vt:lpstr>Noto Serif</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Amba</dc:creator>
  <cp:lastModifiedBy>Amba</cp:lastModifiedBy>
  <cp:revision>70</cp:revision>
  <dcterms:created xsi:type="dcterms:W3CDTF">2026-07-02T06:55:04Z</dcterms:created>
  <dcterms:modified xsi:type="dcterms:W3CDTF">2026-07-08T08:57:35Z</dcterms:modified>
</cp:coreProperties>
</file>