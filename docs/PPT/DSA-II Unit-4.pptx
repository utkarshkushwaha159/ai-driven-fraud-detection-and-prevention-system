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handoutMasterIdLst>
    <p:handoutMasterId r:id="rId60"/>
  </p:handoutMasterIdLst>
  <p:sldIdLst>
    <p:sldId id="407" r:id="rId2"/>
    <p:sldId id="410" r:id="rId3"/>
    <p:sldId id="326" r:id="rId4"/>
    <p:sldId id="327" r:id="rId5"/>
    <p:sldId id="328" r:id="rId6"/>
    <p:sldId id="329" r:id="rId7"/>
    <p:sldId id="330" r:id="rId8"/>
    <p:sldId id="331" r:id="rId9"/>
    <p:sldId id="339" r:id="rId10"/>
    <p:sldId id="332" r:id="rId11"/>
    <p:sldId id="333" r:id="rId12"/>
    <p:sldId id="334" r:id="rId13"/>
    <p:sldId id="335" r:id="rId14"/>
    <p:sldId id="336" r:id="rId15"/>
    <p:sldId id="337" r:id="rId16"/>
    <p:sldId id="338" r:id="rId17"/>
    <p:sldId id="340" r:id="rId18"/>
    <p:sldId id="341" r:id="rId19"/>
    <p:sldId id="342" r:id="rId20"/>
    <p:sldId id="300" r:id="rId21"/>
    <p:sldId id="301" r:id="rId22"/>
    <p:sldId id="303" r:id="rId23"/>
    <p:sldId id="302" r:id="rId24"/>
    <p:sldId id="416" r:id="rId25"/>
    <p:sldId id="417" r:id="rId26"/>
    <p:sldId id="304" r:id="rId27"/>
    <p:sldId id="305" r:id="rId28"/>
    <p:sldId id="415" r:id="rId29"/>
    <p:sldId id="306" r:id="rId30"/>
    <p:sldId id="307" r:id="rId31"/>
    <p:sldId id="308" r:id="rId32"/>
    <p:sldId id="309" r:id="rId33"/>
    <p:sldId id="310" r:id="rId34"/>
    <p:sldId id="311" r:id="rId35"/>
    <p:sldId id="312" r:id="rId36"/>
    <p:sldId id="313" r:id="rId37"/>
    <p:sldId id="314" r:id="rId38"/>
    <p:sldId id="315" r:id="rId39"/>
    <p:sldId id="414" r:id="rId40"/>
    <p:sldId id="317" r:id="rId41"/>
    <p:sldId id="412" r:id="rId42"/>
    <p:sldId id="413" r:id="rId43"/>
    <p:sldId id="318" r:id="rId44"/>
    <p:sldId id="319" r:id="rId45"/>
    <p:sldId id="320" r:id="rId46"/>
    <p:sldId id="321" r:id="rId47"/>
    <p:sldId id="322" r:id="rId48"/>
    <p:sldId id="323" r:id="rId49"/>
    <p:sldId id="411" r:id="rId50"/>
    <p:sldId id="324" r:id="rId51"/>
    <p:sldId id="273" r:id="rId52"/>
    <p:sldId id="354" r:id="rId53"/>
    <p:sldId id="353" r:id="rId54"/>
    <p:sldId id="355" r:id="rId55"/>
    <p:sldId id="356" r:id="rId56"/>
    <p:sldId id="364" r:id="rId57"/>
    <p:sldId id="379"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726753-7185-4FD3-9F47-E116F54A565B}" v="1" dt="2026-06-08T09:06:04.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91" autoAdjust="0"/>
    <p:restoredTop sz="94660"/>
  </p:normalViewPr>
  <p:slideViewPr>
    <p:cSldViewPr showGuides="1">
      <p:cViewPr varScale="1">
        <p:scale>
          <a:sx n="78" d="100"/>
          <a:sy n="78" d="100"/>
        </p:scale>
        <p:origin x="1661" y="82"/>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NAN NASEEM" userId="c59aaf57e353c252" providerId="LiveId" clId="{7C660F2F-40FA-48DF-A604-25E4DF5183F2}"/>
    <pc:docChg chg="modSld">
      <pc:chgData name="ADNAN NASEEM" userId="c59aaf57e353c252" providerId="LiveId" clId="{7C660F2F-40FA-48DF-A604-25E4DF5183F2}" dt="2026-06-08T09:06:47.145" v="26" actId="255"/>
      <pc:docMkLst>
        <pc:docMk/>
      </pc:docMkLst>
      <pc:sldChg chg="addSp modSp mod">
        <pc:chgData name="ADNAN NASEEM" userId="c59aaf57e353c252" providerId="LiveId" clId="{7C660F2F-40FA-48DF-A604-25E4DF5183F2}" dt="2026-06-08T09:06:47.145" v="26" actId="255"/>
        <pc:sldMkLst>
          <pc:docMk/>
          <pc:sldMk cId="0" sldId="407"/>
        </pc:sldMkLst>
        <pc:spChg chg="add mod">
          <ac:chgData name="ADNAN NASEEM" userId="c59aaf57e353c252" providerId="LiveId" clId="{7C660F2F-40FA-48DF-A604-25E4DF5183F2}" dt="2026-06-08T09:06:47.145" v="26" actId="255"/>
          <ac:spMkLst>
            <pc:docMk/>
            <pc:sldMk cId="0" sldId="407"/>
            <ac:spMk id="4" creationId="{2907B012-4BE5-CB6A-B0DF-3CB502402D5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t>6/8/2026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t>6/8/2026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F0AAA1D-78EE-42B9-80F4-325FC7F4E9A0}" type="datetime1">
              <a:rPr lang="en-US" smtClean="0"/>
              <a:t>6/8/2026</a:t>
            </a:fld>
            <a:endParaRPr lang="en-US"/>
          </a:p>
        </p:txBody>
      </p:sp>
      <p:sp>
        <p:nvSpPr>
          <p:cNvPr id="5" name="Footer Placeholder 4"/>
          <p:cNvSpPr>
            <a:spLocks noGrp="1"/>
          </p:cNvSpPr>
          <p:nvPr>
            <p:ph type="ftr" sz="quarter" idx="11"/>
          </p:nvPr>
        </p:nvSpPr>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1FE6060-BFC5-465B-9493-83022DB92B89}" type="datetime1">
              <a:rPr lang="en-US" smtClean="0"/>
              <a:t>6/8/2026</a:t>
            </a:fld>
            <a:endParaRPr lang="en-US"/>
          </a:p>
        </p:txBody>
      </p:sp>
      <p:sp>
        <p:nvSpPr>
          <p:cNvPr id="5" name="Footer Placeholder 4"/>
          <p:cNvSpPr>
            <a:spLocks noGrp="1"/>
          </p:cNvSpPr>
          <p:nvPr>
            <p:ph type="ftr" sz="quarter" idx="11"/>
          </p:nvPr>
        </p:nvSpPr>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7541ED-B32E-47A8-98CB-5101CE1774B5}" type="datetime1">
              <a:rPr lang="en-US" smtClean="0"/>
              <a:t>6/8/2026</a:t>
            </a:fld>
            <a:endParaRPr lang="en-US"/>
          </a:p>
        </p:txBody>
      </p:sp>
      <p:sp>
        <p:nvSpPr>
          <p:cNvPr id="5" name="Footer Placeholder 4"/>
          <p:cNvSpPr>
            <a:spLocks noGrp="1"/>
          </p:cNvSpPr>
          <p:nvPr>
            <p:ph type="ftr" sz="quarter" idx="11"/>
          </p:nvPr>
        </p:nvSpPr>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C588E6-C10D-4861-8DE2-EA4DD0C35509}" type="datetime1">
              <a:rPr lang="en-US" smtClean="0"/>
              <a:t>6/8/2026</a:t>
            </a:fld>
            <a:endParaRPr lang="en-US"/>
          </a:p>
        </p:txBody>
      </p:sp>
      <p:sp>
        <p:nvSpPr>
          <p:cNvPr id="6" name="Footer Placeholder 5"/>
          <p:cNvSpPr>
            <a:spLocks noGrp="1"/>
          </p:cNvSpPr>
          <p:nvPr>
            <p:ph type="ftr" sz="quarter" idx="11"/>
          </p:nvPr>
        </p:nvSpPr>
        <p:spPr/>
        <p:txBody>
          <a:bodyPr/>
          <a:lstStyle/>
          <a:p>
            <a:r>
              <a:rPr lang="fi-FI"/>
              <a:t>Adnan Naseem DSA-II        Unit IV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BD8DD1A-B694-439B-9788-E6029CF206DB}" type="datetime1">
              <a:rPr lang="en-US" smtClean="0"/>
              <a:t>6/8/2026</a:t>
            </a:fld>
            <a:endParaRPr lang="en-US"/>
          </a:p>
        </p:txBody>
      </p:sp>
      <p:sp>
        <p:nvSpPr>
          <p:cNvPr id="8" name="Footer Placeholder 7"/>
          <p:cNvSpPr>
            <a:spLocks noGrp="1"/>
          </p:cNvSpPr>
          <p:nvPr>
            <p:ph type="ftr" sz="quarter" idx="11"/>
          </p:nvPr>
        </p:nvSpPr>
        <p:spPr/>
        <p:txBody>
          <a:bodyPr/>
          <a:lstStyle/>
          <a:p>
            <a:r>
              <a:rPr lang="fi-FI"/>
              <a:t>Adnan Naseem DSA-II        Unit IV</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140DF1E-6B32-46EB-A54C-63AAD5E6A72F}" type="datetime1">
              <a:rPr lang="en-US" smtClean="0"/>
              <a:t>6/8/2026</a:t>
            </a:fld>
            <a:endParaRPr lang="en-US"/>
          </a:p>
        </p:txBody>
      </p:sp>
      <p:sp>
        <p:nvSpPr>
          <p:cNvPr id="4" name="Footer Placeholder 3"/>
          <p:cNvSpPr>
            <a:spLocks noGrp="1"/>
          </p:cNvSpPr>
          <p:nvPr>
            <p:ph type="ftr" sz="quarter" idx="11"/>
          </p:nvPr>
        </p:nvSpPr>
        <p:spPr/>
        <p:txBody>
          <a:bodyPr/>
          <a:lstStyle/>
          <a:p>
            <a:r>
              <a:rPr lang="fi-FI"/>
              <a:t>Adnan Naseem DSA-II        Unit IV</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CFB7F5-C966-4A76-B6C0-41D2AD343DF5}" type="datetime1">
              <a:rPr lang="en-US" smtClean="0"/>
              <a:t>6/8/2026</a:t>
            </a:fld>
            <a:endParaRPr lang="en-US"/>
          </a:p>
        </p:txBody>
      </p:sp>
      <p:sp>
        <p:nvSpPr>
          <p:cNvPr id="3" name="Footer Placeholder 2"/>
          <p:cNvSpPr>
            <a:spLocks noGrp="1"/>
          </p:cNvSpPr>
          <p:nvPr>
            <p:ph type="ftr" sz="quarter" idx="11"/>
          </p:nvPr>
        </p:nvSpPr>
        <p:spPr/>
        <p:txBody>
          <a:bodyPr/>
          <a:lstStyle/>
          <a:p>
            <a:r>
              <a:rPr lang="fi-FI"/>
              <a:t>Adnan Naseem DSA-II        Unit IV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29F6A4-4B1A-4915-BC23-6F7188C4EBFA}" type="datetime1">
              <a:rPr lang="en-US" smtClean="0"/>
              <a:t>6/8/2026</a:t>
            </a:fld>
            <a:endParaRPr lang="en-US"/>
          </a:p>
        </p:txBody>
      </p:sp>
      <p:sp>
        <p:nvSpPr>
          <p:cNvPr id="6" name="Footer Placeholder 5"/>
          <p:cNvSpPr>
            <a:spLocks noGrp="1"/>
          </p:cNvSpPr>
          <p:nvPr>
            <p:ph type="ftr" sz="quarter" idx="11"/>
          </p:nvPr>
        </p:nvSpPr>
        <p:spPr/>
        <p:txBody>
          <a:bodyPr/>
          <a:lstStyle/>
          <a:p>
            <a:r>
              <a:rPr lang="fi-FI"/>
              <a:t>Adnan Naseem DSA-II        Unit IV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DF37A9-D231-40F0-B740-03A7DFE28443}" type="datetime1">
              <a:rPr lang="en-US" smtClean="0"/>
              <a:t>6/8/2026</a:t>
            </a:fld>
            <a:endParaRPr lang="en-US"/>
          </a:p>
        </p:txBody>
      </p:sp>
      <p:sp>
        <p:nvSpPr>
          <p:cNvPr id="6" name="Footer Placeholder 5"/>
          <p:cNvSpPr>
            <a:spLocks noGrp="1"/>
          </p:cNvSpPr>
          <p:nvPr>
            <p:ph type="ftr" sz="quarter" idx="11"/>
          </p:nvPr>
        </p:nvSpPr>
        <p:spPr/>
        <p:txBody>
          <a:bodyPr/>
          <a:lstStyle/>
          <a:p>
            <a:r>
              <a:rPr lang="fi-FI"/>
              <a:t>Adnan Naseem DSA-II        Unit IV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8C88CF-085C-4D16-826B-31888C3573F8}" type="datetime1">
              <a:rPr lang="en-US" smtClean="0"/>
              <a:t>6/8/2026</a:t>
            </a:fld>
            <a:endParaRPr lang="en-US"/>
          </a:p>
        </p:txBody>
      </p:sp>
      <p:sp>
        <p:nvSpPr>
          <p:cNvPr id="5" name="Footer Placeholder 4"/>
          <p:cNvSpPr>
            <a:spLocks noGrp="1"/>
          </p:cNvSpPr>
          <p:nvPr>
            <p:ph type="ftr" sz="quarter" idx="11"/>
          </p:nvPr>
        </p:nvSpPr>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E9DD38-C853-4692-A120-44E823A8E59F}" type="datetime1">
              <a:rPr lang="en-US" smtClean="0"/>
              <a:t>6/8/2026</a:t>
            </a:fld>
            <a:endParaRPr lang="en-US"/>
          </a:p>
        </p:txBody>
      </p:sp>
      <p:sp>
        <p:nvSpPr>
          <p:cNvPr id="5" name="Footer Placeholder 4"/>
          <p:cNvSpPr>
            <a:spLocks noGrp="1"/>
          </p:cNvSpPr>
          <p:nvPr>
            <p:ph type="ftr" sz="quarter" idx="11"/>
          </p:nvPr>
        </p:nvSpPr>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058AC2-69D1-48E5-8324-6BF011511111}" type="datetime1">
              <a:rPr lang="en-US" smtClean="0"/>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a:t>Adnan Naseem DSA-II        Unit IV</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25401"/>
            <a:ext cx="1303351" cy="50799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techiedelight.com/travelling-salesman-problem-using-branch-and-bound/" TargetMode="External"/><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en.wikipedia.org/wiki/Hamiltonian_path"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524000" y="879186"/>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b="1" dirty="0">
              <a:solidFill>
                <a:schemeClr val="tx1"/>
              </a:solidFill>
            </a:endParaRPr>
          </a:p>
          <a:p>
            <a:pPr>
              <a:defRPr/>
            </a:pPr>
            <a:r>
              <a:rPr lang="en-US" sz="2800" b="1" dirty="0">
                <a:solidFill>
                  <a:schemeClr val="tx1"/>
                </a:solidFill>
              </a:rPr>
              <a:t>Backtracking and Branch and Bound</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9" name="Date Placeholder 8"/>
          <p:cNvSpPr>
            <a:spLocks noGrp="1"/>
          </p:cNvSpPr>
          <p:nvPr>
            <p:ph type="dt" sz="half" idx="10"/>
          </p:nvPr>
        </p:nvSpPr>
        <p:spPr>
          <a:xfrm>
            <a:off x="381000" y="6492875"/>
            <a:ext cx="2133600" cy="365125"/>
          </a:xfrm>
        </p:spPr>
        <p:txBody>
          <a:bodyPr/>
          <a:lstStyle/>
          <a:p>
            <a:fld id="{641097E7-830F-4EE8-BEF7-5C14D1B62552}" type="datetime1">
              <a:rPr lang="en-US" smtClean="0"/>
              <a:t>6/8/2026</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t>1</a:t>
            </a:fld>
            <a:endParaRPr lang="en-US"/>
          </a:p>
        </p:txBody>
      </p:sp>
      <p:sp>
        <p:nvSpPr>
          <p:cNvPr id="12" name="Subtitle 2"/>
          <p:cNvSpPr txBox="1"/>
          <p:nvPr/>
        </p:nvSpPr>
        <p:spPr>
          <a:xfrm>
            <a:off x="151504"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noProof="0" dirty="0">
                <a:ln>
                  <a:noFill/>
                </a:ln>
                <a:solidFill>
                  <a:schemeClr val="tx1"/>
                </a:solidFill>
                <a:effectLst/>
                <a:uLnTx/>
                <a:uFillTx/>
                <a:latin typeface="+mn-lt"/>
                <a:ea typeface="+mn-ea"/>
                <a:cs typeface="+mn-cs"/>
              </a:rPr>
              <a:t> </a:t>
            </a:r>
            <a:r>
              <a:rPr lang="en-US" sz="2500" b="1" noProof="0" dirty="0">
                <a:solidFill>
                  <a:schemeClr val="tx1"/>
                </a:solidFill>
              </a:rPr>
              <a:t>4</a:t>
            </a:r>
            <a:endParaRPr kumimoji="0" lang="en-US" sz="2500" b="1"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fi-FI"/>
              <a:t>Adnan Naseem DSA-II        Unit IV</a:t>
            </a:r>
            <a:endParaRPr lang="en-US" dirty="0"/>
          </a:p>
        </p:txBody>
      </p:sp>
      <p:sp>
        <p:nvSpPr>
          <p:cNvPr id="14" name="Subtitle 2"/>
          <p:cNvSpPr txBox="1"/>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000" b="1" i="0" u="none" strike="noStrike" kern="1200" cap="none" spc="0" normalizeH="0" baseline="0" noProof="0" dirty="0">
                <a:ln>
                  <a:noFill/>
                </a:ln>
                <a:solidFill>
                  <a:schemeClr val="tx1"/>
                </a:solidFill>
                <a:effectLst/>
                <a:uLnTx/>
                <a:uFillTx/>
                <a:latin typeface="+mn-lt"/>
                <a:ea typeface="+mn-ea"/>
                <a:cs typeface="+mn-cs"/>
              </a:rPr>
              <a:t>Data Structure and Algorithm-II</a:t>
            </a:r>
          </a:p>
        </p:txBody>
      </p:sp>
      <p:sp>
        <p:nvSpPr>
          <p:cNvPr id="16" name="Subtitle 2"/>
          <p:cNvSpPr txBox="1"/>
          <p:nvPr/>
        </p:nvSpPr>
        <p:spPr>
          <a:xfrm>
            <a:off x="5638800" y="28956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sz="2400" dirty="0">
                <a:solidFill>
                  <a:schemeClr val="tx1"/>
                </a:solidFill>
              </a:rPr>
              <a:t>Adnan Naseem</a:t>
            </a: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400" b="0" i="0" u="none" strike="noStrike" kern="1200" cap="none" spc="0" normalizeH="0" noProof="0" dirty="0">
                <a:ln>
                  <a:noFill/>
                </a:ln>
                <a:solidFill>
                  <a:schemeClr val="tx1"/>
                </a:solidFill>
                <a:effectLst/>
                <a:uLnTx/>
                <a:uFillTx/>
                <a:latin typeface="+mn-lt"/>
                <a:ea typeface="+mn-ea"/>
                <a:cs typeface="+mn-cs"/>
              </a:rPr>
              <a:t>Assistant Professor   CSE (AIML)</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Subtitle 2">
            <a:extLst>
              <a:ext uri="{FF2B5EF4-FFF2-40B4-BE49-F238E27FC236}">
                <a16:creationId xmlns:a16="http://schemas.microsoft.com/office/drawing/2014/main" id="{2907B012-4BE5-CB6A-B0DF-3CB502402D55}"/>
              </a:ext>
            </a:extLst>
          </p:cNvPr>
          <p:cNvSpPr txBox="1">
            <a:spLocks/>
          </p:cNvSpPr>
          <p:nvPr/>
        </p:nvSpPr>
        <p:spPr>
          <a:xfrm>
            <a:off x="152400" y="4860925"/>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b="1" dirty="0">
                <a:solidFill>
                  <a:schemeClr val="tx1"/>
                </a:solidFill>
              </a:rPr>
              <a:t>B Tech 3</a:t>
            </a:r>
            <a:r>
              <a:rPr lang="en-US" sz="2400" b="1" baseline="30000" dirty="0">
                <a:solidFill>
                  <a:schemeClr val="tx1"/>
                </a:solidFill>
              </a:rPr>
              <a:t>th</a:t>
            </a:r>
            <a:r>
              <a:rPr lang="en-US" sz="2400" b="1" dirty="0">
                <a:solidFill>
                  <a:schemeClr val="tx1"/>
                </a:solidFill>
              </a:rPr>
              <a:t> Sem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FFB09F7-2883-4EFD-9FDA-17700EFE4D11}" type="datetime1">
              <a:rPr lang="en-US" smtClean="0"/>
              <a:t>6/8/2026</a:t>
            </a:fld>
            <a:endParaRPr lang="en-US"/>
          </a:p>
        </p:txBody>
      </p:sp>
      <p:sp>
        <p:nvSpPr>
          <p:cNvPr id="5" name="Footer Placeholder 4"/>
          <p:cNvSpPr>
            <a:spLocks noGrp="1"/>
          </p:cNvSpPr>
          <p:nvPr>
            <p:ph type="ftr" sz="quarter" idx="11"/>
          </p:nvPr>
        </p:nvSpPr>
        <p:spPr>
          <a:xfrm>
            <a:off x="2819400" y="6248400"/>
            <a:ext cx="47244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2</a:t>
            </a:fld>
            <a:endParaRPr lang="en-US"/>
          </a:p>
        </p:txBody>
      </p:sp>
      <p:sp>
        <p:nvSpPr>
          <p:cNvPr id="7" name="Title 1"/>
          <p:cNvSpPr txBox="1"/>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US" sz="3200" b="1" dirty="0"/>
              <a:t>Syllabus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50268"/>
            <a:ext cx="9144000" cy="25574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lgn="just">
              <a:buNone/>
            </a:pPr>
            <a:r>
              <a:rPr lang="en-US" sz="2400" b="1" dirty="0"/>
              <a:t>Travelling Salesman Problem</a:t>
            </a:r>
          </a:p>
          <a:p>
            <a:pPr marL="0" indent="0" algn="just">
              <a:buNone/>
            </a:pPr>
            <a:r>
              <a:rPr lang="en-IN" sz="2200" dirty="0"/>
              <a:t>Given a set of cities and distance between every pair of cities, the problem is to find the shortest possible tour that visits every city exactly once and returns to the starting point.</a:t>
            </a:r>
          </a:p>
          <a:p>
            <a:pPr marL="0" indent="0" algn="just">
              <a:buNone/>
            </a:pPr>
            <a:endParaRPr lang="en-IN" sz="2600" dirty="0"/>
          </a:p>
          <a:p>
            <a:pPr fontAlgn="base"/>
            <a:r>
              <a:rPr lang="en-IN" sz="2200" dirty="0"/>
              <a:t>In Branch and Bound method, for current node in tree, we compute a bound on best possible solution that we can get if we down this node. </a:t>
            </a:r>
          </a:p>
          <a:p>
            <a:pPr fontAlgn="base"/>
            <a:endParaRPr lang="en-IN" sz="2200" dirty="0"/>
          </a:p>
          <a:p>
            <a:pPr fontAlgn="base"/>
            <a:r>
              <a:rPr lang="en-IN" sz="2200" dirty="0"/>
              <a:t>If the bound on best possible solution itself is worse than current best (best computed so far), then we ignore the subtree rooted with the node.</a:t>
            </a:r>
          </a:p>
          <a:p>
            <a:pPr fontAlgn="base"/>
            <a:endParaRPr lang="en-IN" sz="2600" dirty="0"/>
          </a:p>
          <a:p>
            <a:pPr marL="0" indent="0" algn="just">
              <a:buNone/>
            </a:pPr>
            <a:endParaRPr lang="en-IN" sz="2200" b="1"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BE12E05-5C38-45FE-A8CF-4EB7F050DA55}"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3</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152400" y="1496086"/>
            <a:ext cx="8115300" cy="430887"/>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sp>
        <p:nvSpPr>
          <p:cNvPr id="12" name="Rectangle 2"/>
          <p:cNvSpPr>
            <a:spLocks noChangeArrowheads="1"/>
          </p:cNvSpPr>
          <p:nvPr/>
        </p:nvSpPr>
        <p:spPr bwMode="auto">
          <a:xfrm>
            <a:off x="304800" y="1838117"/>
            <a:ext cx="8534400" cy="302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lgn="just">
              <a:buNone/>
            </a:pPr>
            <a:r>
              <a:rPr lang="en-US" sz="2400" b="1" dirty="0"/>
              <a:t>Travelling Salesman Problem</a:t>
            </a:r>
          </a:p>
          <a:p>
            <a:pPr marL="0" indent="0" algn="just">
              <a:buNone/>
            </a:pPr>
            <a:endParaRPr lang="en-US" sz="2400" b="1" dirty="0"/>
          </a:p>
          <a:p>
            <a:pPr marL="0" indent="0" fontAlgn="base">
              <a:buNone/>
            </a:pPr>
            <a:r>
              <a:rPr lang="en-IN" sz="2200" dirty="0"/>
              <a:t>Note that the cost through a node includes two costs.</a:t>
            </a:r>
          </a:p>
          <a:p>
            <a:pPr marL="0" indent="0" fontAlgn="base">
              <a:buNone/>
            </a:pPr>
            <a:br>
              <a:rPr lang="en-IN" sz="2200" dirty="0"/>
            </a:br>
            <a:r>
              <a:rPr lang="en-IN" sz="2200" dirty="0"/>
              <a:t>1) Cost of reaching the node from the root (When we reach a node, we have this cost computed)</a:t>
            </a:r>
          </a:p>
          <a:p>
            <a:pPr marL="0" indent="0" fontAlgn="base">
              <a:buNone/>
            </a:pPr>
            <a:br>
              <a:rPr lang="en-IN" sz="2200" dirty="0"/>
            </a:br>
            <a:r>
              <a:rPr lang="en-IN" sz="2200" dirty="0"/>
              <a:t>2) Cost of reaching an answer from current node to a leaf (We compute a bound on this cost to decide whether to ignore subtree with this node or not).</a:t>
            </a:r>
          </a:p>
          <a:p>
            <a:pPr marL="0" indent="0" algn="just">
              <a:buNone/>
            </a:pPr>
            <a:endParaRPr lang="en-IN" sz="2200" b="1"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C9ABA58-CF51-48A5-AED2-B544FD5CD91C}"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4</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152400" y="1496086"/>
            <a:ext cx="8115300" cy="430887"/>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sp>
        <p:nvSpPr>
          <p:cNvPr id="12" name="Rectangle 2"/>
          <p:cNvSpPr>
            <a:spLocks noChangeArrowheads="1"/>
          </p:cNvSpPr>
          <p:nvPr/>
        </p:nvSpPr>
        <p:spPr bwMode="auto">
          <a:xfrm>
            <a:off x="304800" y="1838117"/>
            <a:ext cx="8534400" cy="302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lgn="just">
              <a:buNone/>
            </a:pPr>
            <a:r>
              <a:rPr lang="en-US" sz="2400" b="1" dirty="0"/>
              <a:t>Travelling Salesman Problem- Example</a:t>
            </a:r>
          </a:p>
          <a:p>
            <a:pPr marL="0" indent="0" algn="just">
              <a:buNone/>
            </a:pPr>
            <a:endParaRPr lang="en-US" sz="2400" b="1" dirty="0"/>
          </a:p>
          <a:p>
            <a:pPr marL="0" indent="0" algn="just">
              <a:buNone/>
            </a:pPr>
            <a:endParaRPr lang="en-US" sz="2400" b="1" dirty="0"/>
          </a:p>
          <a:p>
            <a:pPr marL="0" indent="0" algn="just">
              <a:buNone/>
            </a:pPr>
            <a:endParaRPr lang="en-US" sz="2400" b="1" dirty="0"/>
          </a:p>
          <a:p>
            <a:pPr marL="0" indent="0" algn="just">
              <a:buNone/>
            </a:pPr>
            <a:endParaRPr lang="en-IN" sz="2200" b="1"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2AFF802-6792-4F73-9B2D-178DD029B86B}"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5</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152400" y="1496086"/>
            <a:ext cx="8115300" cy="430887"/>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mc:AlternateContent xmlns:mc="http://schemas.openxmlformats.org/markup-compatibility/2006" xmlns:a14="http://schemas.microsoft.com/office/drawing/2010/main">
        <mc:Choice Requires="a14">
          <p:sp>
            <p:nvSpPr>
              <p:cNvPr id="12" name="Rectangle 2"/>
              <p:cNvSpPr>
                <a:spLocks noChangeArrowheads="1"/>
              </p:cNvSpPr>
              <p:nvPr/>
            </p:nvSpPr>
            <p:spPr bwMode="auto">
              <a:xfrm>
                <a:off x="315351" y="1080588"/>
                <a:ext cx="8534400" cy="482695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In this method we expand the node which is most promising means the node which promises that expanding or choosing it will give us the optimal solution.</a:t>
                </a: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So we prepare the tree starting from root then we expand it.</a:t>
                </a: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The cost matrix is defined by</a:t>
                </a:r>
              </a:p>
              <a:p>
                <a:pPr marL="0" marR="0" lvl="0" indent="0" algn="just" defTabSz="914400" rtl="0" eaLnBrk="1" fontAlgn="base"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       C(</a:t>
                </a:r>
                <a:r>
                  <a:rPr kumimoji="0" lang="en-IN" sz="2200" b="0" i="0" u="none" strike="noStrike" kern="1200" cap="none" spc="0" normalizeH="0" baseline="0" noProof="0" dirty="0" err="1">
                    <a:ln>
                      <a:noFill/>
                    </a:ln>
                    <a:solidFill>
                      <a:prstClr val="black"/>
                    </a:solidFill>
                    <a:effectLst/>
                    <a:uLnTx/>
                    <a:uFillTx/>
                    <a:latin typeface="Times New Roman" panose="02020603050405020304"/>
                    <a:ea typeface="+mn-ea"/>
                    <a:cs typeface="+mn-cs"/>
                  </a:rPr>
                  <a:t>i,j</a:t>
                </a: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 = W(</a:t>
                </a:r>
                <a:r>
                  <a:rPr kumimoji="0" lang="en-IN" sz="2200" b="0" i="0" u="none" strike="noStrike" kern="1200" cap="none" spc="0" normalizeH="0" baseline="0" noProof="0" dirty="0" err="1">
                    <a:ln>
                      <a:noFill/>
                    </a:ln>
                    <a:solidFill>
                      <a:prstClr val="black"/>
                    </a:solidFill>
                    <a:effectLst/>
                    <a:uLnTx/>
                    <a:uFillTx/>
                    <a:latin typeface="Times New Roman" panose="02020603050405020304"/>
                    <a:ea typeface="+mn-ea"/>
                    <a:cs typeface="+mn-cs"/>
                  </a:rPr>
                  <a:t>i,j</a:t>
                </a: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  , if there is a direct path from Ci to </a:t>
                </a:r>
                <a:r>
                  <a:rPr kumimoji="0" lang="en-IN" sz="2200" b="0" i="0" u="none" strike="noStrike" kern="1200" cap="none" spc="0" normalizeH="0" baseline="0" noProof="0" dirty="0" err="1">
                    <a:ln>
                      <a:noFill/>
                    </a:ln>
                    <a:solidFill>
                      <a:prstClr val="black"/>
                    </a:solidFill>
                    <a:effectLst/>
                    <a:uLnTx/>
                    <a:uFillTx/>
                    <a:latin typeface="Times New Roman" panose="02020603050405020304"/>
                    <a:ea typeface="+mn-ea"/>
                    <a:cs typeface="+mn-cs"/>
                  </a:rPr>
                  <a:t>Cj</a:t>
                </a: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a:t>
                </a:r>
              </a:p>
              <a:p>
                <a:pPr marL="0" marR="0" lvl="0" indent="0" algn="just" defTabSz="914400" rtl="0" eaLnBrk="1" fontAlgn="base"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                = </a:t>
                </a:r>
                <a14:m>
                  <m:oMath xmlns:m="http://schemas.openxmlformats.org/officeDocument/2006/math">
                    <m: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oMath>
                </a14:m>
                <a:r>
                  <a:rPr kumimoji="0" lang="en-IN" sz="2400" b="0" i="0" u="none" strike="noStrike" kern="1200" cap="none" spc="0" normalizeH="0" baseline="0" noProof="0" dirty="0">
                    <a:ln>
                      <a:noFill/>
                    </a:ln>
                    <a:solidFill>
                      <a:prstClr val="black"/>
                    </a:solidFill>
                    <a:effectLst/>
                    <a:uLnTx/>
                    <a:uFillTx/>
                    <a:latin typeface="Times New Roman" panose="02020603050405020304"/>
                    <a:ea typeface="+mn-ea"/>
                    <a:cs typeface="+mn-cs"/>
                  </a:rPr>
                  <a:t>,        </a:t>
                </a: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If there is no direct path from Ci to </a:t>
                </a:r>
                <a:r>
                  <a:rPr kumimoji="0" lang="en-IN" sz="2200" b="0" i="0" u="none" strike="noStrike" kern="1200" cap="none" spc="0" normalizeH="0" baseline="0" noProof="0" dirty="0" err="1">
                    <a:ln>
                      <a:noFill/>
                    </a:ln>
                    <a:solidFill>
                      <a:prstClr val="black"/>
                    </a:solidFill>
                    <a:effectLst/>
                    <a:uLnTx/>
                    <a:uFillTx/>
                    <a:latin typeface="Times New Roman" panose="02020603050405020304"/>
                    <a:ea typeface="+mn-ea"/>
                    <a:cs typeface="+mn-cs"/>
                  </a:rPr>
                  <a:t>Cj</a:t>
                </a: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a:t>
                </a: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mc:Choice>
        <mc:Fallback xmlns="">
          <p:sp>
            <p:nvSpPr>
              <p:cNvPr id="12" name="Rectangle 2"/>
              <p:cNvSpPr>
                <a:spLocks noRot="1" noChangeAspect="1" noMove="1" noResize="1" noEditPoints="1" noAdjustHandles="1" noChangeArrowheads="1" noChangeShapeType="1" noTextEdit="1"/>
              </p:cNvSpPr>
              <p:nvPr/>
            </p:nvSpPr>
            <p:spPr bwMode="auto">
              <a:xfrm>
                <a:off x="315351" y="1080588"/>
                <a:ext cx="8534400" cy="4826954"/>
              </a:xfrm>
              <a:prstGeom prst="rect">
                <a:avLst/>
              </a:prstGeom>
              <a:blipFill rotWithShape="1">
                <a:blip r:embed="rId2"/>
                <a:stretch>
                  <a:fillRect l="-5" t="-9" r="5" b="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lgn="just">
              <a:buNone/>
            </a:pPr>
            <a:r>
              <a:rPr lang="en-US" sz="2400" b="1" dirty="0"/>
              <a:t>Travelling Salesman Problem- Example</a:t>
            </a:r>
          </a:p>
          <a:p>
            <a:pPr marL="0" indent="0" algn="just">
              <a:buNone/>
            </a:pPr>
            <a:r>
              <a:rPr lang="en-US" sz="2200" dirty="0"/>
              <a:t>Consider the following cost matrix</a:t>
            </a:r>
          </a:p>
          <a:p>
            <a:pPr marL="0" indent="0" algn="just">
              <a:buNone/>
            </a:pPr>
            <a:endParaRPr lang="en-US" sz="2400" b="1" dirty="0"/>
          </a:p>
          <a:p>
            <a:pPr marL="0" indent="0" algn="just">
              <a:buNone/>
            </a:pPr>
            <a:endParaRPr lang="en-US" sz="2400" b="1" dirty="0"/>
          </a:p>
          <a:p>
            <a:pPr marL="0" indent="0" algn="just">
              <a:buNone/>
            </a:pPr>
            <a:endParaRPr lang="en-IN" sz="2200" b="1"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DDDC831-BDD7-43BC-8225-EFCF4E32BECE}"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152400" y="1496086"/>
            <a:ext cx="8115300" cy="430887"/>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sp>
        <p:nvSpPr>
          <p:cNvPr id="12" name="Rectangle 2"/>
          <p:cNvSpPr>
            <a:spLocks noChangeArrowheads="1"/>
          </p:cNvSpPr>
          <p:nvPr/>
        </p:nvSpPr>
        <p:spPr bwMode="auto">
          <a:xfrm>
            <a:off x="152400" y="1795876"/>
            <a:ext cx="8534400" cy="1749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pic>
        <p:nvPicPr>
          <p:cNvPr id="13" name="Picture 12" descr="2"/>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830815"/>
            <a:ext cx="3253154" cy="2309976"/>
          </a:xfrm>
          <a:prstGeom prst="rect">
            <a:avLst/>
          </a:prstGeom>
          <a:noFill/>
          <a:ln>
            <a:noFill/>
          </a:ln>
        </p:spPr>
      </p:pic>
      <mc:AlternateContent xmlns:mc="http://schemas.openxmlformats.org/markup-compatibility/2006" xmlns:a14="http://schemas.microsoft.com/office/drawing/2010/main">
        <mc:Choice Requires="a14">
          <p:sp>
            <p:nvSpPr>
              <p:cNvPr id="2" name="Rectangle 1"/>
              <p:cNvSpPr/>
              <p:nvPr/>
            </p:nvSpPr>
            <p:spPr>
              <a:xfrm>
                <a:off x="586154" y="4312241"/>
                <a:ext cx="7554351" cy="2000548"/>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Here C(0,2)=30,  C(4,0)=16,    C(1,1)= </a:t>
                </a:r>
                <a14:m>
                  <m:oMath xmlns:m="http://schemas.openxmlformats.org/officeDocument/2006/math">
                    <m:r>
                      <m:rPr>
                        <m:sty m:val="p"/>
                      </m:rPr>
                      <a:rPr kumimoji="0" lang="en-IN" sz="22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Infinity</m:t>
                    </m:r>
                    <m:d>
                      <m:dPr>
                        <m:ctrlPr>
                          <a:rPr kumimoji="0" lang="en-IN" sz="2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dPr>
                      <m:e>
                        <m:r>
                          <a:rPr kumimoji="0" lang="en-IN" sz="2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d>
                  </m:oMath>
                </a14:m>
                <a:r>
                  <a:rPr kumimoji="0" lang="en-IN" sz="2200" b="0" i="0" u="none" strike="noStrike" kern="1200" cap="none" spc="0" normalizeH="0" baseline="0" noProof="0" dirty="0">
                    <a:ln>
                      <a:noFill/>
                    </a:ln>
                    <a:solidFill>
                      <a:prstClr val="black"/>
                    </a:solidFill>
                    <a:effectLst/>
                    <a:uLnTx/>
                    <a:uFillTx/>
                    <a:latin typeface="Times New Roman" panose="02020603050405020304"/>
                    <a:ea typeface="Cambria Math" panose="02040503050406030204" pitchFamily="18" charset="0"/>
                    <a:cs typeface="+mn-cs"/>
                  </a:rPr>
                  <a:t> and so on.</a:t>
                </a:r>
                <a:r>
                  <a:rPr kumimoji="0" lang="en-US" sz="2200" b="0" i="0" u="none" strike="noStrike" kern="1200" cap="none" spc="0" normalizeH="0" baseline="0" noProof="0" dirty="0">
                    <a:ln>
                      <a:noFill/>
                    </a:ln>
                    <a:solidFill>
                      <a:prstClr val="black"/>
                    </a:solidFill>
                    <a:effectLst/>
                    <a:uLnTx/>
                    <a:uFillTx/>
                    <a:latin typeface="Times New Roman" panose="02020603050405020304"/>
                    <a:ea typeface="+mn-ea"/>
                    <a:cs typeface="+mn-cs"/>
                  </a:rPr>
                  <a:t> Below is the state space tree for the TSP , which shows optimal solution marked in green</a:t>
                </a:r>
              </a:p>
              <a:p>
                <a:pPr marL="0" marR="0" lvl="0" indent="0" algn="just"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black"/>
                    </a:solidFill>
                    <a:effectLst/>
                    <a:uLnTx/>
                    <a:uFillTx/>
                    <a:latin typeface="Times New Roman" panose="02020603050405020304"/>
                    <a:ea typeface="+mn-ea"/>
                    <a:cs typeface="+mn-cs"/>
                    <a:hlinkClick r:id="rId3"/>
                  </a:rPr>
                  <a:t>(https://www.techiedelight.com/travelling-salesman-problem-using-branch-and-bound/</a:t>
                </a:r>
                <a:r>
                  <a:rPr kumimoji="0" lang="en-IN" sz="1800" b="0" i="0" u="none" strike="noStrike" kern="1200" cap="none" spc="0" normalizeH="0" baseline="0" noProof="0" dirty="0">
                    <a:ln>
                      <a:noFill/>
                    </a:ln>
                    <a:solidFill>
                      <a:prstClr val="black"/>
                    </a:solidFill>
                    <a:effectLst/>
                    <a:uLnTx/>
                    <a:uFillTx/>
                    <a:latin typeface="Times New Roman" panose="02020603050405020304"/>
                    <a:ea typeface="+mn-ea"/>
                    <a:cs typeface="+mn-cs"/>
                  </a:rPr>
                  <a:t>)</a:t>
                </a:r>
                <a:endParaRPr kumimoji="0" lang="en-IN" sz="1800" b="0" i="0" u="none" strike="noStrike" kern="1200" cap="none" spc="0" normalizeH="0" baseline="0" noProof="0" dirty="0">
                  <a:ln>
                    <a:noFill/>
                  </a:ln>
                  <a:solidFill>
                    <a:prstClr val="black"/>
                  </a:solidFill>
                  <a:effectLst/>
                  <a:uLnTx/>
                  <a:uFillTx/>
                  <a:latin typeface="Times New Roman" panose="02020603050405020304"/>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mc:Choice>
        <mc:Fallback xmlns="">
          <p:sp>
            <p:nvSpPr>
              <p:cNvPr id="2" name="Rectangle 1"/>
              <p:cNvSpPr>
                <a:spLocks noRot="1" noChangeAspect="1" noMove="1" noResize="1" noEditPoints="1" noAdjustHandles="1" noChangeArrowheads="1" noChangeShapeType="1" noTextEdit="1"/>
              </p:cNvSpPr>
              <p:nvPr/>
            </p:nvSpPr>
            <p:spPr>
              <a:xfrm>
                <a:off x="586154" y="4312241"/>
                <a:ext cx="7554351" cy="2000548"/>
              </a:xfrm>
              <a:prstGeom prst="rect">
                <a:avLst/>
              </a:prstGeom>
              <a:blipFill rotWithShape="1">
                <a:blip r:embed="rId4"/>
                <a:stretch>
                  <a:fillRect l="-1" t="-30" r="6" b="13"/>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additive="base">
                                        <p:cTn id="11"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 calcmode="lin" valueType="num">
                                      <p:cBhvr additive="base">
                                        <p:cTn id="1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lgn="just">
              <a:buNone/>
            </a:pPr>
            <a:r>
              <a:rPr lang="en-US" sz="2200" dirty="0"/>
              <a:t>.</a:t>
            </a:r>
          </a:p>
          <a:p>
            <a:pPr marL="0" indent="0" algn="just">
              <a:buNone/>
            </a:pPr>
            <a:endParaRPr lang="en-US" sz="2200" dirty="0"/>
          </a:p>
          <a:p>
            <a:pPr marL="0" indent="0" algn="just">
              <a:buNone/>
            </a:pPr>
            <a:endParaRPr lang="en-US" sz="2400" b="1" dirty="0"/>
          </a:p>
          <a:p>
            <a:pPr marL="0" indent="0" algn="just">
              <a:buNone/>
            </a:pPr>
            <a:endParaRPr lang="en-IN" sz="2200" b="1"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BA62847-2315-4BF0-BCCE-8503DE723174}"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7</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152400" y="1496086"/>
            <a:ext cx="8115300" cy="430887"/>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sp>
        <p:nvSpPr>
          <p:cNvPr id="12" name="Rectangle 2"/>
          <p:cNvSpPr>
            <a:spLocks noChangeArrowheads="1"/>
          </p:cNvSpPr>
          <p:nvPr/>
        </p:nvSpPr>
        <p:spPr bwMode="auto">
          <a:xfrm>
            <a:off x="152400" y="1795876"/>
            <a:ext cx="8534400" cy="1749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pic>
        <p:nvPicPr>
          <p:cNvPr id="14" name="Picture 13" descr="3"/>
          <p:cNvPicPr/>
          <p:nvPr/>
        </p:nvPicPr>
        <p:blipFill>
          <a:blip r:embed="rId2">
            <a:extLst>
              <a:ext uri="{28A0092B-C50C-407E-A947-70E740481C1C}">
                <a14:useLocalDpi xmlns:a14="http://schemas.microsoft.com/office/drawing/2010/main" val="0"/>
              </a:ext>
            </a:extLst>
          </a:blip>
          <a:srcRect/>
          <a:stretch>
            <a:fillRect/>
          </a:stretch>
        </p:blipFill>
        <p:spPr bwMode="auto">
          <a:xfrm>
            <a:off x="980049" y="817164"/>
            <a:ext cx="7325751" cy="553918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lgn="just">
              <a:buNone/>
            </a:pPr>
            <a:r>
              <a:rPr lang="en-US" sz="2200" dirty="0"/>
              <a:t>.</a:t>
            </a:r>
          </a:p>
          <a:p>
            <a:pPr marL="0" indent="0" algn="just">
              <a:buNone/>
            </a:pPr>
            <a:endParaRPr lang="en-US" sz="2200" dirty="0"/>
          </a:p>
          <a:p>
            <a:pPr marL="0" indent="0" algn="just">
              <a:buNone/>
            </a:pPr>
            <a:endParaRPr lang="en-US" sz="2400" b="1" dirty="0"/>
          </a:p>
          <a:p>
            <a:pPr marL="0" indent="0" algn="just">
              <a:buNone/>
            </a:pPr>
            <a:endParaRPr lang="en-IN" sz="2200" b="1"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F5F3C13-001F-43E5-8641-CD4A472D498E}"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8</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152400" y="1496086"/>
            <a:ext cx="8115300" cy="430887"/>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sp>
        <p:nvSpPr>
          <p:cNvPr id="12" name="Rectangle 2"/>
          <p:cNvSpPr>
            <a:spLocks noChangeArrowheads="1"/>
          </p:cNvSpPr>
          <p:nvPr/>
        </p:nvSpPr>
        <p:spPr bwMode="auto">
          <a:xfrm>
            <a:off x="294249" y="956141"/>
            <a:ext cx="8534400" cy="621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0" marR="0" lvl="0" indent="0" algn="just" defTabSz="914400" rtl="0" eaLnBrk="1" fontAlgn="base" latinLnBrk="0" hangingPunct="1">
              <a:lnSpc>
                <a:spcPct val="100000"/>
              </a:lnSpc>
              <a:spcBef>
                <a:spcPts val="0"/>
              </a:spcBef>
              <a:spcAft>
                <a:spcPts val="0"/>
              </a:spcAft>
              <a:buClrTx/>
              <a:buSzTx/>
              <a:buFontTx/>
              <a:buNone/>
              <a:defRPr/>
            </a:pPr>
            <a:r>
              <a:rPr kumimoji="0" lang="en-IN" sz="2400" b="1" i="0" u="sng" strike="noStrike" kern="1200" cap="none" spc="0" normalizeH="0" baseline="0" noProof="0" dirty="0">
                <a:ln>
                  <a:noFill/>
                </a:ln>
                <a:solidFill>
                  <a:prstClr val="black"/>
                </a:solidFill>
                <a:effectLst/>
                <a:uLnTx/>
                <a:uFillTx/>
                <a:latin typeface="Times New Roman" panose="02020603050405020304"/>
                <a:ea typeface="+mn-ea"/>
                <a:cs typeface="+mn-cs"/>
              </a:rPr>
              <a:t>Travelling Salesman Problem- Steps</a:t>
            </a: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400" b="1" i="0" u="sng"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As we can see from above diagram , every node has a cost associated to it.</a:t>
            </a: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When we go from city I to city j, cost of a node j will be sum of cost of parent node I, cost of the edge (</a:t>
            </a:r>
            <a:r>
              <a:rPr kumimoji="0" lang="en-IN" sz="2200" b="0" i="0" u="none" strike="noStrike" kern="1200" cap="none" spc="0" normalizeH="0" baseline="0" noProof="0" dirty="0" err="1">
                <a:ln>
                  <a:noFill/>
                </a:ln>
                <a:solidFill>
                  <a:prstClr val="black"/>
                </a:solidFill>
                <a:effectLst/>
                <a:uLnTx/>
                <a:uFillTx/>
                <a:latin typeface="Times New Roman" panose="02020603050405020304"/>
                <a:ea typeface="+mn-ea"/>
                <a:cs typeface="+mn-cs"/>
              </a:rPr>
              <a:t>I,j</a:t>
            </a: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 and lower bound of the path starting at node j.</a:t>
            </a: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As root node is the first node to be expanded , it doesn’t have any parent. So cost will be only lower bound of the path starting at root.</a:t>
            </a: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To get the lower bound of the path starting from the node , we reduce each row and column in such a wat that there must be </a:t>
            </a:r>
            <a:r>
              <a:rPr kumimoji="0" lang="en-IN" sz="2200" b="0" i="0" u="none" strike="noStrike" kern="1200" cap="none" spc="0" normalizeH="0" baseline="0" noProof="0" dirty="0" err="1">
                <a:ln>
                  <a:noFill/>
                </a:ln>
                <a:solidFill>
                  <a:prstClr val="black"/>
                </a:solidFill>
                <a:effectLst/>
                <a:uLnTx/>
                <a:uFillTx/>
                <a:latin typeface="Times New Roman" panose="02020603050405020304"/>
                <a:ea typeface="+mn-ea"/>
                <a:cs typeface="+mn-cs"/>
              </a:rPr>
              <a:t>atleast</a:t>
            </a: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 one zero in each row and column. </a:t>
            </a: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lgn="just">
              <a:buNone/>
            </a:pPr>
            <a:r>
              <a:rPr lang="en-US" sz="2200" dirty="0"/>
              <a:t>.</a:t>
            </a:r>
          </a:p>
          <a:p>
            <a:pPr marL="0" indent="0" algn="just">
              <a:buNone/>
            </a:pPr>
            <a:endParaRPr lang="en-US" sz="2200" dirty="0"/>
          </a:p>
          <a:p>
            <a:pPr marL="0" indent="0" algn="just">
              <a:buNone/>
            </a:pPr>
            <a:endParaRPr lang="en-US" sz="2400" b="1" dirty="0"/>
          </a:p>
          <a:p>
            <a:pPr marL="0" indent="0" algn="just">
              <a:buNone/>
            </a:pPr>
            <a:endParaRPr lang="en-IN" sz="2200" b="1"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94AB064-CA32-43F1-BD45-6B9FE470AC0F}"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9</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152400" y="1496086"/>
            <a:ext cx="8115300" cy="430887"/>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sp>
        <p:nvSpPr>
          <p:cNvPr id="12" name="Rectangle 2"/>
          <p:cNvSpPr>
            <a:spLocks noChangeArrowheads="1"/>
          </p:cNvSpPr>
          <p:nvPr/>
        </p:nvSpPr>
        <p:spPr bwMode="auto">
          <a:xfrm>
            <a:off x="294249" y="1100400"/>
            <a:ext cx="8534400" cy="4457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For doing this, we need to reduce the minimum value from each element in each row and column.</a:t>
            </a: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r>
              <a:rPr kumimoji="0" lang="en-IN" sz="2200" b="1" i="0" u="none" strike="noStrike" kern="1200" cap="none" spc="0" normalizeH="0" baseline="0" noProof="0" dirty="0">
                <a:ln>
                  <a:noFill/>
                </a:ln>
                <a:solidFill>
                  <a:prstClr val="black"/>
                </a:solidFill>
                <a:effectLst/>
                <a:uLnTx/>
                <a:uFillTx/>
                <a:latin typeface="Times New Roman" panose="02020603050405020304"/>
                <a:ea typeface="+mn-ea"/>
                <a:cs typeface="+mn-cs"/>
              </a:rPr>
              <a:t>Let’s start from root node</a:t>
            </a: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We reduce the minimum value in each row from each element in that row. </a:t>
            </a: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Minimum in each row of cost matrix M is marked by blue</a:t>
            </a:r>
            <a:r>
              <a:rPr kumimoji="0" lang="en-IN" sz="2200" b="0" i="0" u="none" strike="noStrike" kern="1200" cap="none" spc="0" normalizeH="0" baseline="0" noProof="0" dirty="0">
                <a:ln>
                  <a:noFill/>
                </a:ln>
                <a:solidFill>
                  <a:srgbClr val="4BACC6"/>
                </a:solidFill>
                <a:effectLst/>
                <a:uLnTx/>
                <a:uFillTx/>
                <a:latin typeface="Times New Roman" panose="02020603050405020304"/>
                <a:ea typeface="+mn-ea"/>
                <a:cs typeface="+mn-cs"/>
              </a:rPr>
              <a:t>[10,2,2,3,4]</a:t>
            </a:r>
            <a:r>
              <a:rPr kumimoji="0" lang="en-IN" sz="2200" b="0" i="0" u="none" strike="noStrike" kern="1200" cap="none" spc="0" normalizeH="0" baseline="0" noProof="0" dirty="0">
                <a:ln>
                  <a:noFill/>
                </a:ln>
                <a:solidFill>
                  <a:srgbClr val="4F81BD"/>
                </a:solidFill>
                <a:effectLst/>
                <a:uLnTx/>
                <a:uFillTx/>
                <a:latin typeface="Times New Roman" panose="02020603050405020304"/>
                <a:ea typeface="+mn-ea"/>
                <a:cs typeface="+mn-cs"/>
              </a:rPr>
              <a:t> </a:t>
            </a: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below.</a:t>
            </a: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pic>
        <p:nvPicPr>
          <p:cNvPr id="13" name="Picture 12" descr="4"/>
          <p:cNvPicPr/>
          <p:nvPr/>
        </p:nvPicPr>
        <p:blipFill>
          <a:blip r:embed="rId2">
            <a:extLst>
              <a:ext uri="{28A0092B-C50C-407E-A947-70E740481C1C}">
                <a14:useLocalDpi xmlns:a14="http://schemas.microsoft.com/office/drawing/2010/main" val="0"/>
              </a:ext>
            </a:extLst>
          </a:blip>
          <a:srcRect/>
          <a:stretch>
            <a:fillRect/>
          </a:stretch>
        </p:blipFill>
        <p:spPr bwMode="auto">
          <a:xfrm>
            <a:off x="3189849" y="3871147"/>
            <a:ext cx="2743200" cy="182251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lgn="just">
              <a:buNone/>
            </a:pPr>
            <a:r>
              <a:rPr lang="en-US" sz="2200" dirty="0"/>
              <a:t>.</a:t>
            </a:r>
          </a:p>
          <a:p>
            <a:pPr marL="0" indent="0" algn="just">
              <a:buNone/>
            </a:pPr>
            <a:endParaRPr lang="en-US" sz="2200" dirty="0"/>
          </a:p>
          <a:p>
            <a:pPr marL="0" indent="0" algn="just">
              <a:buNone/>
            </a:pPr>
            <a:endParaRPr lang="en-US" sz="2400" b="1" dirty="0"/>
          </a:p>
          <a:p>
            <a:pPr marL="0" indent="0" algn="just">
              <a:buNone/>
            </a:pPr>
            <a:endParaRPr lang="en-IN" sz="2200" b="1"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FDE1166-A450-4418-9820-40F0103C96FD}"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10</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291905" y="1119714"/>
            <a:ext cx="8115300" cy="5170646"/>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rPr>
              <a:t>After reducing the row, we get the below matrix. We then reduce the minimum value in each column from each element in that column.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rPr>
              <a:t>Minimum in each column is marked by blue[1 0 3 0 0]. After reducing the column, we get below reduced matrix. This matrix will be further processed by child nodes of root node to calculate their lower bound.</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sp>
        <p:nvSpPr>
          <p:cNvPr id="12" name="Rectangle 2"/>
          <p:cNvSpPr>
            <a:spLocks noChangeArrowheads="1"/>
          </p:cNvSpPr>
          <p:nvPr/>
        </p:nvSpPr>
        <p:spPr bwMode="auto">
          <a:xfrm>
            <a:off x="152400" y="1795876"/>
            <a:ext cx="8534400" cy="1749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pic>
        <p:nvPicPr>
          <p:cNvPr id="13" name="Picture 12" descr="5"/>
          <p:cNvPicPr/>
          <p:nvPr/>
        </p:nvPicPr>
        <p:blipFill>
          <a:blip r:embed="rId2">
            <a:extLst>
              <a:ext uri="{28A0092B-C50C-407E-A947-70E740481C1C}">
                <a14:useLocalDpi xmlns:a14="http://schemas.microsoft.com/office/drawing/2010/main" val="0"/>
              </a:ext>
            </a:extLst>
          </a:blip>
          <a:srcRect/>
          <a:stretch>
            <a:fillRect/>
          </a:stretch>
        </p:blipFill>
        <p:spPr bwMode="auto">
          <a:xfrm>
            <a:off x="2901754" y="2077555"/>
            <a:ext cx="3041845" cy="223468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lgn="just">
              <a:buNone/>
            </a:pPr>
            <a:r>
              <a:rPr lang="en-US" sz="2200" dirty="0"/>
              <a:t>.</a:t>
            </a:r>
          </a:p>
          <a:p>
            <a:pPr marL="0" indent="0" algn="just">
              <a:buNone/>
            </a:pPr>
            <a:endParaRPr lang="en-US" sz="2200" dirty="0"/>
          </a:p>
          <a:p>
            <a:pPr marL="0" indent="0" algn="just">
              <a:buNone/>
            </a:pPr>
            <a:endParaRPr lang="en-US" sz="2400" b="1" dirty="0"/>
          </a:p>
          <a:p>
            <a:pPr marL="0" indent="0" algn="just">
              <a:buNone/>
            </a:pPr>
            <a:endParaRPr lang="en-IN" sz="2200" b="1"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FE9716E-C6E8-4EFF-91F1-731CEE98BBE3}"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11</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152400" y="1496086"/>
            <a:ext cx="8115300" cy="4154984"/>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rPr>
              <a:t>The total expected cost at the root node is sum of all reductions.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rPr>
              <a:t>Cost=[10 2 2 3 4] + [1 0 3 0 0]= 25</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rPr>
              <a:t>Since we have discovered the root node C0, the next node to be expanded can be any node from C1,C2, C3, C4. Whichever node has minimum cost, that node will be expanded further. So we have to find out the expanding cost of each node. </a:t>
            </a:r>
          </a:p>
        </p:txBody>
      </p:sp>
      <p:sp>
        <p:nvSpPr>
          <p:cNvPr id="12" name="Rectangle 2"/>
          <p:cNvSpPr>
            <a:spLocks noChangeArrowheads="1"/>
          </p:cNvSpPr>
          <p:nvPr/>
        </p:nvSpPr>
        <p:spPr bwMode="auto">
          <a:xfrm>
            <a:off x="152400" y="1795876"/>
            <a:ext cx="8534400" cy="1749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pic>
        <p:nvPicPr>
          <p:cNvPr id="1026" name="Picture 2" descr="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3391" y="1364722"/>
            <a:ext cx="2877217" cy="19875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xEl>
                                              <p:pRg st="8" end="8"/>
                                            </p:txEl>
                                          </p:spTgt>
                                        </p:tgtEl>
                                        <p:attrNameLst>
                                          <p:attrName>style.visibility</p:attrName>
                                        </p:attrNameLst>
                                      </p:cBhvr>
                                      <p:to>
                                        <p:strVal val="visible"/>
                                      </p:to>
                                    </p:set>
                                    <p:anim calcmode="lin" valueType="num">
                                      <p:cBhvr additive="base">
                                        <p:cTn id="19" dur="500" fill="hold"/>
                                        <p:tgtEl>
                                          <p:spTgt spid="11">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lgn="just">
              <a:buNone/>
            </a:pPr>
            <a:r>
              <a:rPr lang="en-US" sz="2200" dirty="0"/>
              <a:t>.</a:t>
            </a:r>
          </a:p>
          <a:p>
            <a:pPr marL="0" indent="0" algn="just">
              <a:buNone/>
            </a:pPr>
            <a:endParaRPr lang="en-US" sz="2200" dirty="0"/>
          </a:p>
          <a:p>
            <a:pPr marL="0" indent="0" algn="just">
              <a:buNone/>
            </a:pPr>
            <a:endParaRPr lang="en-US" sz="2400" b="1" dirty="0"/>
          </a:p>
          <a:p>
            <a:pPr marL="0" indent="0" algn="just">
              <a:buNone/>
            </a:pPr>
            <a:endParaRPr lang="en-IN" sz="2200" b="1"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BF6E6BDC-F677-4372-B6DC-9AAB025D3333}"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12</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0" y="1393342"/>
            <a:ext cx="8115300" cy="430887"/>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sp>
        <p:nvSpPr>
          <p:cNvPr id="12" name="Rectangle 2"/>
          <p:cNvSpPr>
            <a:spLocks noChangeArrowheads="1"/>
          </p:cNvSpPr>
          <p:nvPr/>
        </p:nvSpPr>
        <p:spPr bwMode="auto">
          <a:xfrm>
            <a:off x="315351" y="884076"/>
            <a:ext cx="8371449" cy="5103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The parent node (C0) has below reduced matrix-</a:t>
            </a: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IN" sz="2200" b="1" i="0" u="none" strike="noStrike" kern="1200" cap="none" spc="0" normalizeH="0" baseline="0" noProof="0" dirty="0">
                <a:ln>
                  <a:noFill/>
                </a:ln>
                <a:solidFill>
                  <a:prstClr val="black"/>
                </a:solidFill>
                <a:effectLst/>
                <a:uLnTx/>
                <a:uFillTx/>
                <a:latin typeface="Times New Roman" panose="02020603050405020304"/>
                <a:ea typeface="+mn-ea"/>
                <a:cs typeface="+mn-cs"/>
              </a:rPr>
              <a:t>Let us consider edge from 0</a:t>
            </a:r>
            <a:r>
              <a:rPr kumimoji="0" lang="en-IN" sz="2200" b="1" i="0" u="none" strike="noStrike" kern="1200" cap="none" spc="0" normalizeH="0" baseline="0" noProof="0" dirty="0">
                <a:ln>
                  <a:noFill/>
                </a:ln>
                <a:solidFill>
                  <a:prstClr val="black"/>
                </a:solidFill>
                <a:effectLst/>
                <a:uLnTx/>
                <a:uFillTx/>
                <a:latin typeface="Times New Roman" panose="02020603050405020304"/>
                <a:ea typeface="+mn-ea"/>
                <a:cs typeface="+mn-cs"/>
                <a:sym typeface="Wingdings" panose="05000000000000000000" pitchFamily="2" charset="2"/>
              </a:rPr>
              <a:t> 1</a:t>
            </a: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1" i="0" u="none" strike="noStrike" kern="1200" cap="none" spc="0" normalizeH="0" baseline="0" noProof="0" dirty="0">
              <a:ln>
                <a:noFill/>
              </a:ln>
              <a:solidFill>
                <a:prstClr val="black"/>
              </a:solidFill>
              <a:effectLst/>
              <a:uLnTx/>
              <a:uFillTx/>
              <a:latin typeface="Times New Roman" panose="02020603050405020304"/>
              <a:ea typeface="+mn-ea"/>
              <a:cs typeface="+mn-cs"/>
              <a:sym typeface="Wingdings" panose="05000000000000000000" pitchFamily="2" charset="2"/>
            </a:endParaRPr>
          </a:p>
          <a:p>
            <a:pPr marL="457200" marR="0" lvl="0" indent="-457200" algn="just" defTabSz="914400" rtl="0" eaLnBrk="1" fontAlgn="base" latinLnBrk="0" hangingPunct="1">
              <a:lnSpc>
                <a:spcPct val="100000"/>
              </a:lnSpc>
              <a:spcBef>
                <a:spcPts val="0"/>
              </a:spcBef>
              <a:spcAft>
                <a:spcPts val="0"/>
              </a:spcAft>
              <a:buClrTx/>
              <a:buSzTx/>
              <a:buFontTx/>
              <a:buAutoNum type="arabicPeriod"/>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sym typeface="Wingdings" panose="05000000000000000000" pitchFamily="2" charset="2"/>
              </a:rPr>
              <a:t>As we are adding edge (0,1) to our search space, we get outgoing edges for city 0 to infinity and all incoming edges to city 1 to infinity. We also set (1,0) to infinity.</a:t>
            </a: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sym typeface="Wingdings" panose="05000000000000000000" pitchFamily="2" charset="2"/>
            </a:endParaRPr>
          </a:p>
          <a:p>
            <a:pPr marL="457200" marR="0" lvl="0" indent="-457200" algn="just" defTabSz="914400" rtl="0" eaLnBrk="1" fontAlgn="base" latinLnBrk="0" hangingPunct="1">
              <a:lnSpc>
                <a:spcPct val="100000"/>
              </a:lnSpc>
              <a:spcBef>
                <a:spcPts val="0"/>
              </a:spcBef>
              <a:spcAft>
                <a:spcPts val="0"/>
              </a:spcAft>
              <a:buClrTx/>
              <a:buSzTx/>
              <a:buFontTx/>
              <a:buAutoNum type="arabicPeriod" startAt="2"/>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sym typeface="Wingdings" panose="05000000000000000000" pitchFamily="2" charset="2"/>
              </a:rPr>
              <a:t>So in reduced matrix of parent node we change all the elements in</a:t>
            </a:r>
          </a:p>
          <a:p>
            <a:pPr marL="0" marR="0" lvl="0" indent="0" algn="just" defTabSz="914400" rtl="0" eaLnBrk="1" fontAlgn="base"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sym typeface="Wingdings" panose="05000000000000000000" pitchFamily="2" charset="2"/>
              </a:rPr>
              <a:t>       row 0 and column 1 and at index (1,0) to infinity(marked in red). </a:t>
            </a: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pic>
        <p:nvPicPr>
          <p:cNvPr id="13" name="Picture 12" descr="8"/>
          <p:cNvPicPr/>
          <p:nvPr/>
        </p:nvPicPr>
        <p:blipFill>
          <a:blip r:embed="rId2">
            <a:extLst>
              <a:ext uri="{28A0092B-C50C-407E-A947-70E740481C1C}">
                <a14:useLocalDpi xmlns:a14="http://schemas.microsoft.com/office/drawing/2010/main" val="0"/>
              </a:ext>
            </a:extLst>
          </a:blip>
          <a:srcRect/>
          <a:stretch>
            <a:fillRect/>
          </a:stretch>
        </p:blipFill>
        <p:spPr bwMode="auto">
          <a:xfrm>
            <a:off x="2985245" y="1392164"/>
            <a:ext cx="2508812" cy="174492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lgn="just">
              <a:buNone/>
            </a:pPr>
            <a:r>
              <a:rPr lang="en-US" sz="2200" dirty="0"/>
              <a:t>.</a:t>
            </a:r>
          </a:p>
          <a:p>
            <a:pPr marL="0" indent="0" algn="just">
              <a:buNone/>
            </a:pPr>
            <a:endParaRPr lang="en-US" sz="2200" dirty="0"/>
          </a:p>
          <a:p>
            <a:pPr marL="0" indent="0" algn="just">
              <a:buNone/>
            </a:pPr>
            <a:endParaRPr lang="en-US" sz="2400" b="1" dirty="0"/>
          </a:p>
          <a:p>
            <a:pPr marL="0" indent="0" algn="just">
              <a:buNone/>
            </a:pPr>
            <a:endParaRPr lang="en-IN" sz="2200" b="1"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1F598BE-5C2B-4F63-8497-2C7BEF247754}"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13</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571500" y="3414557"/>
            <a:ext cx="8115300" cy="110799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rPr>
              <a:t>The resulting cost matrix is</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pic>
        <p:nvPicPr>
          <p:cNvPr id="13" name="Picture 12" descr="9"/>
          <p:cNvPicPr/>
          <p:nvPr/>
        </p:nvPicPr>
        <p:blipFill>
          <a:blip r:embed="rId2">
            <a:extLst>
              <a:ext uri="{28A0092B-C50C-407E-A947-70E740481C1C}">
                <a14:useLocalDpi xmlns:a14="http://schemas.microsoft.com/office/drawing/2010/main" val="0"/>
              </a:ext>
            </a:extLst>
          </a:blip>
          <a:srcRect/>
          <a:stretch>
            <a:fillRect/>
          </a:stretch>
        </p:blipFill>
        <p:spPr bwMode="auto">
          <a:xfrm>
            <a:off x="2870249" y="1215191"/>
            <a:ext cx="2768551" cy="1985209"/>
          </a:xfrm>
          <a:prstGeom prst="rect">
            <a:avLst/>
          </a:prstGeom>
          <a:noFill/>
          <a:ln>
            <a:noFill/>
          </a:ln>
        </p:spPr>
      </p:pic>
      <p:pic>
        <p:nvPicPr>
          <p:cNvPr id="15" name="Picture 14" descr="10"/>
          <p:cNvPicPr/>
          <p:nvPr/>
        </p:nvPicPr>
        <p:blipFill>
          <a:blip r:embed="rId3">
            <a:extLst>
              <a:ext uri="{28A0092B-C50C-407E-A947-70E740481C1C}">
                <a14:useLocalDpi xmlns:a14="http://schemas.microsoft.com/office/drawing/2010/main" val="0"/>
              </a:ext>
            </a:extLst>
          </a:blip>
          <a:srcRect/>
          <a:stretch>
            <a:fillRect/>
          </a:stretch>
        </p:blipFill>
        <p:spPr bwMode="auto">
          <a:xfrm>
            <a:off x="3124200" y="4158216"/>
            <a:ext cx="2686050" cy="16534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lgn="just">
              <a:buNone/>
            </a:pPr>
            <a:r>
              <a:rPr lang="en-US" sz="2200" dirty="0"/>
              <a:t>.</a:t>
            </a:r>
          </a:p>
          <a:p>
            <a:pPr marL="0" indent="0" algn="just">
              <a:buNone/>
            </a:pPr>
            <a:endParaRPr lang="en-US" sz="2200" dirty="0"/>
          </a:p>
          <a:p>
            <a:pPr marL="0" indent="0" algn="just">
              <a:buNone/>
            </a:pPr>
            <a:endParaRPr lang="en-US" sz="2400" b="1" dirty="0"/>
          </a:p>
          <a:p>
            <a:pPr marL="0" indent="0" algn="just">
              <a:buNone/>
            </a:pPr>
            <a:endParaRPr lang="en-IN" sz="2200" b="1"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C0048BB1-4EA6-4C67-80E9-106B58005B02}"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14</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152400" y="1496086"/>
            <a:ext cx="8115300" cy="483209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rPr>
              <a:t>3. We try to calculate lower bound of the path starting at node 1 using above resulting cost matrix. </a:t>
            </a:r>
          </a:p>
          <a:p>
            <a:pPr marL="0" marR="0" lvl="0" indent="0" algn="just" defTabSz="914400" rtl="0" eaLnBrk="1" fontAlgn="auto"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rPr>
              <a:t>4. The lower bound is 0 as matrix is already in reduced form. i.e. all rows and all columns have zero value.</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rPr>
              <a:t>Therefore for node 1, cost will be</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rPr>
              <a:t>Cost= cost of node 0 + cost of the edge (0,1) + lower bound of the  </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rPr>
              <a:t>           path starting at node 1</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rPr>
              <a:t>       = 25 + 10 +0= 35</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2200" b="1" i="0" u="none" strike="noStrike" kern="1200" cap="none" spc="0" normalizeH="0" baseline="0" noProof="0" dirty="0">
              <a:ln>
                <a:noFill/>
              </a:ln>
              <a:solidFill>
                <a:srgbClr val="000000"/>
              </a:solidFill>
              <a:effectLst/>
              <a:uLnTx/>
              <a:uFillTx/>
              <a:latin typeface="Times New Roman" panose="02020603050405020304"/>
              <a:ea typeface="+mn-ea"/>
              <a:cs typeface="+mn-cs"/>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2200" b="1"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sp>
        <p:nvSpPr>
          <p:cNvPr id="12" name="Rectangle 2"/>
          <p:cNvSpPr>
            <a:spLocks noChangeArrowheads="1"/>
          </p:cNvSpPr>
          <p:nvPr/>
        </p:nvSpPr>
        <p:spPr bwMode="auto">
          <a:xfrm>
            <a:off x="152400" y="1795876"/>
            <a:ext cx="8534400" cy="1749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04575"/>
            <a:ext cx="8229600" cy="5017983"/>
          </a:xfrm>
        </p:spPr>
        <p:txBody>
          <a:bodyPr>
            <a:normAutofit/>
          </a:bodyPr>
          <a:lstStyle/>
          <a:p>
            <a:pPr marL="0" indent="0" algn="just">
              <a:buNone/>
            </a:pPr>
            <a:r>
              <a:rPr lang="en-US" sz="2200" dirty="0"/>
              <a:t>.</a:t>
            </a:r>
          </a:p>
          <a:p>
            <a:pPr marL="457200" indent="-457200" algn="just">
              <a:buAutoNum type="arabicPeriod"/>
            </a:pPr>
            <a:endParaRPr lang="en-US" sz="2200" dirty="0"/>
          </a:p>
          <a:p>
            <a:pPr marL="457200" indent="-457200" algn="just">
              <a:buAutoNum type="arabicPeriod"/>
            </a:pPr>
            <a:r>
              <a:rPr lang="en-US" sz="2200" dirty="0"/>
              <a:t>Change all the elements in row 0 and column 2 and at index(2,0) to infinity(marked in red).</a:t>
            </a:r>
          </a:p>
          <a:p>
            <a:pPr marL="457200" indent="-457200" algn="just">
              <a:buAutoNum type="arabicPeriod"/>
            </a:pPr>
            <a:endParaRPr lang="en-US" sz="2200" dirty="0"/>
          </a:p>
          <a:p>
            <a:pPr marL="0" indent="0" algn="just">
              <a:buNone/>
            </a:pPr>
            <a:endParaRPr lang="en-US" sz="2200" dirty="0"/>
          </a:p>
          <a:p>
            <a:pPr marL="0" indent="0" algn="just">
              <a:buNone/>
            </a:pPr>
            <a:endParaRPr lang="en-US" sz="2200" dirty="0"/>
          </a:p>
          <a:p>
            <a:pPr marL="0" indent="0" algn="just">
              <a:buNone/>
            </a:pPr>
            <a:endParaRPr lang="en-US" sz="2200" dirty="0"/>
          </a:p>
          <a:p>
            <a:pPr marL="0" indent="0" algn="just">
              <a:buNone/>
            </a:pPr>
            <a:r>
              <a:rPr lang="en-US" sz="2200" dirty="0"/>
              <a:t>The resulting cost matrix is:</a:t>
            </a:r>
          </a:p>
          <a:p>
            <a:pPr marL="0" indent="0" algn="just">
              <a:buNone/>
            </a:pPr>
            <a:endParaRPr lang="en-US" sz="2200" dirty="0"/>
          </a:p>
          <a:p>
            <a:pPr marL="0" indent="0" algn="just">
              <a:buNone/>
            </a:pPr>
            <a:endParaRPr lang="en-US" sz="2400" b="1" dirty="0"/>
          </a:p>
          <a:p>
            <a:pPr marL="0" indent="0" algn="just">
              <a:buNone/>
            </a:pPr>
            <a:endParaRPr lang="en-IN" sz="2200" b="1"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8E23AAB-868F-47B5-A717-7FBC74E38CF4}"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15</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152400" y="1496086"/>
            <a:ext cx="8115300" cy="430887"/>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sp>
        <p:nvSpPr>
          <p:cNvPr id="12" name="Rectangle 2"/>
          <p:cNvSpPr>
            <a:spLocks noChangeArrowheads="1"/>
          </p:cNvSpPr>
          <p:nvPr/>
        </p:nvSpPr>
        <p:spPr bwMode="auto">
          <a:xfrm>
            <a:off x="152400" y="1004576"/>
            <a:ext cx="8534400" cy="245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2" name="Rectangle 1"/>
          <p:cNvSpPr/>
          <p:nvPr/>
        </p:nvSpPr>
        <p:spPr>
          <a:xfrm>
            <a:off x="457200" y="1109568"/>
            <a:ext cx="3666260" cy="43088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IN" sz="2200" b="1" i="0" u="none" strike="noStrike" kern="1200" cap="none" spc="0" normalizeH="0" baseline="0" noProof="0" dirty="0">
                <a:ln>
                  <a:noFill/>
                </a:ln>
                <a:solidFill>
                  <a:srgbClr val="000000"/>
                </a:solidFill>
                <a:effectLst/>
                <a:uLnTx/>
                <a:uFillTx/>
                <a:latin typeface="Times New Roman" panose="02020603050405020304"/>
                <a:ea typeface="+mn-ea"/>
                <a:cs typeface="+mn-cs"/>
              </a:rPr>
              <a:t>Lets consider edge from 0</a:t>
            </a:r>
            <a:r>
              <a:rPr kumimoji="0" lang="en-IN" sz="2200" b="1" i="0" u="none" strike="noStrike" kern="1200" cap="none" spc="0" normalizeH="0" baseline="0" noProof="0" dirty="0">
                <a:ln>
                  <a:noFill/>
                </a:ln>
                <a:solidFill>
                  <a:srgbClr val="000000"/>
                </a:solidFill>
                <a:effectLst/>
                <a:uLnTx/>
                <a:uFillTx/>
                <a:latin typeface="Times New Roman" panose="02020603050405020304"/>
                <a:ea typeface="+mn-ea"/>
                <a:cs typeface="+mn-cs"/>
                <a:sym typeface="Wingdings" panose="05000000000000000000" pitchFamily="2" charset="2"/>
              </a:rPr>
              <a:t> 2</a:t>
            </a:r>
          </a:p>
        </p:txBody>
      </p:sp>
      <p:pic>
        <p:nvPicPr>
          <p:cNvPr id="13" name="Picture 12" descr="11"/>
          <p:cNvPicPr/>
          <p:nvPr/>
        </p:nvPicPr>
        <p:blipFill>
          <a:blip r:embed="rId2">
            <a:extLst>
              <a:ext uri="{28A0092B-C50C-407E-A947-70E740481C1C}">
                <a14:useLocalDpi xmlns:a14="http://schemas.microsoft.com/office/drawing/2010/main" val="0"/>
              </a:ext>
            </a:extLst>
          </a:blip>
          <a:srcRect/>
          <a:stretch>
            <a:fillRect/>
          </a:stretch>
        </p:blipFill>
        <p:spPr bwMode="auto">
          <a:xfrm>
            <a:off x="2667001" y="2701660"/>
            <a:ext cx="2590800" cy="1287041"/>
          </a:xfrm>
          <a:prstGeom prst="rect">
            <a:avLst/>
          </a:prstGeom>
          <a:noFill/>
          <a:ln>
            <a:noFill/>
          </a:ln>
        </p:spPr>
      </p:pic>
      <p:pic>
        <p:nvPicPr>
          <p:cNvPr id="15" name="Picture 14" descr="12"/>
          <p:cNvPicPr/>
          <p:nvPr/>
        </p:nvPicPr>
        <p:blipFill>
          <a:blip r:embed="rId3">
            <a:extLst>
              <a:ext uri="{28A0092B-C50C-407E-A947-70E740481C1C}">
                <a14:useLocalDpi xmlns:a14="http://schemas.microsoft.com/office/drawing/2010/main" val="0"/>
              </a:ext>
            </a:extLst>
          </a:blip>
          <a:srcRect/>
          <a:stretch>
            <a:fillRect/>
          </a:stretch>
        </p:blipFill>
        <p:spPr bwMode="auto">
          <a:xfrm>
            <a:off x="2789213" y="4607092"/>
            <a:ext cx="2346375" cy="141546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fontScale="92500"/>
          </a:bodyPr>
          <a:lstStyle/>
          <a:p>
            <a:pPr algn="just"/>
            <a:r>
              <a:rPr lang="en-US" sz="2200" dirty="0"/>
              <a:t>Now calculate lower bound of the path starting at node 2 using the</a:t>
            </a:r>
          </a:p>
          <a:p>
            <a:pPr marL="0" indent="0" algn="just">
              <a:buNone/>
            </a:pPr>
            <a:r>
              <a:rPr lang="en-US" sz="2200" dirty="0"/>
              <a:t>      Approach discussed earlier. Resulting matrix will be-</a:t>
            </a:r>
          </a:p>
          <a:p>
            <a:pPr marL="0" indent="0" algn="just">
              <a:buNone/>
            </a:pPr>
            <a:endParaRPr lang="en-US" sz="2200" dirty="0"/>
          </a:p>
          <a:p>
            <a:pPr marL="0" indent="0" algn="just">
              <a:buNone/>
            </a:pPr>
            <a:endParaRPr lang="en-US" sz="2200" dirty="0"/>
          </a:p>
          <a:p>
            <a:pPr marL="0" indent="0" algn="just">
              <a:buNone/>
            </a:pPr>
            <a:endParaRPr lang="en-US" sz="2200" dirty="0"/>
          </a:p>
          <a:p>
            <a:pPr marL="0" indent="0" algn="just">
              <a:buNone/>
            </a:pPr>
            <a:endParaRPr lang="en-US" sz="2200" dirty="0"/>
          </a:p>
          <a:p>
            <a:pPr marL="0" indent="0" algn="just">
              <a:buNone/>
            </a:pPr>
            <a:endParaRPr lang="en-US" sz="2200" dirty="0"/>
          </a:p>
          <a:p>
            <a:pPr marL="0" indent="0" algn="just">
              <a:buNone/>
            </a:pPr>
            <a:endParaRPr lang="en-US" sz="2200" dirty="0"/>
          </a:p>
          <a:p>
            <a:pPr marL="0" indent="0" algn="just">
              <a:buNone/>
            </a:pPr>
            <a:r>
              <a:rPr lang="en-US" sz="2200" dirty="0"/>
              <a:t>Therefore the cost of node 2, cost will be</a:t>
            </a:r>
          </a:p>
          <a:p>
            <a:pPr marL="0" indent="0" algn="just">
              <a:buNone/>
            </a:pPr>
            <a:endParaRPr lang="en-US" sz="2200" dirty="0"/>
          </a:p>
          <a:p>
            <a:pPr marL="0" indent="0" algn="just">
              <a:buNone/>
            </a:pPr>
            <a:r>
              <a:rPr lang="en-US" sz="2200" dirty="0"/>
              <a:t>Cost = Cost of node 0 + cost of the edge (0,2) + Lower bound of the </a:t>
            </a:r>
          </a:p>
          <a:p>
            <a:pPr marL="0" indent="0" algn="just">
              <a:buNone/>
            </a:pPr>
            <a:r>
              <a:rPr lang="en-US" sz="2200" dirty="0"/>
              <a:t>            path starting at node 2</a:t>
            </a:r>
          </a:p>
          <a:p>
            <a:pPr marL="0" indent="0" algn="just">
              <a:buNone/>
            </a:pPr>
            <a:r>
              <a:rPr lang="en-US" sz="2200" dirty="0"/>
              <a:t>        = 25 + 17 + 11= 53</a:t>
            </a:r>
          </a:p>
          <a:p>
            <a:pPr marL="0" indent="0" algn="just">
              <a:buNone/>
            </a:pPr>
            <a:endParaRPr lang="en-IN" sz="2200" b="1"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4EED358-0F28-451D-BC99-FB223ADA1559}"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16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182001" y="1097537"/>
            <a:ext cx="8115300" cy="430887"/>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sp>
        <p:nvSpPr>
          <p:cNvPr id="12" name="Rectangle 2"/>
          <p:cNvSpPr>
            <a:spLocks noChangeArrowheads="1"/>
          </p:cNvSpPr>
          <p:nvPr/>
        </p:nvSpPr>
        <p:spPr bwMode="auto">
          <a:xfrm>
            <a:off x="5862" y="1342812"/>
            <a:ext cx="8534400" cy="702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 </a:t>
            </a:r>
          </a:p>
        </p:txBody>
      </p:sp>
      <p:pic>
        <p:nvPicPr>
          <p:cNvPr id="13" name="Picture 12" descr="13"/>
          <p:cNvPicPr/>
          <p:nvPr/>
        </p:nvPicPr>
        <p:blipFill>
          <a:blip r:embed="rId2">
            <a:extLst>
              <a:ext uri="{28A0092B-C50C-407E-A947-70E740481C1C}">
                <a14:useLocalDpi xmlns:a14="http://schemas.microsoft.com/office/drawing/2010/main" val="0"/>
              </a:ext>
            </a:extLst>
          </a:blip>
          <a:srcRect/>
          <a:stretch>
            <a:fillRect/>
          </a:stretch>
        </p:blipFill>
        <p:spPr bwMode="auto">
          <a:xfrm>
            <a:off x="3044336" y="1925709"/>
            <a:ext cx="2746863" cy="188429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lgn="just">
              <a:buNone/>
            </a:pPr>
            <a:r>
              <a:rPr lang="en-IN" sz="2200" b="1" dirty="0"/>
              <a:t>Let us consider edge from 0</a:t>
            </a:r>
            <a:r>
              <a:rPr lang="en-IN" sz="2200" b="1" dirty="0">
                <a:sym typeface="Wingdings" panose="05000000000000000000" pitchFamily="2" charset="2"/>
              </a:rPr>
              <a:t> 3</a:t>
            </a:r>
          </a:p>
          <a:p>
            <a:pPr marL="457200" indent="-457200" algn="just">
              <a:buAutoNum type="arabicPeriod"/>
            </a:pPr>
            <a:r>
              <a:rPr lang="en-IN" sz="2200" dirty="0">
                <a:sym typeface="Wingdings" panose="05000000000000000000" pitchFamily="2" charset="2"/>
              </a:rPr>
              <a:t>Change the elements in row 0 and column 3 and at index(3,0) to </a:t>
            </a:r>
          </a:p>
          <a:p>
            <a:pPr marL="0" indent="0" algn="just">
              <a:buNone/>
            </a:pPr>
            <a:r>
              <a:rPr lang="en-IN" sz="2200" dirty="0">
                <a:sym typeface="Wingdings" panose="05000000000000000000" pitchFamily="2" charset="2"/>
              </a:rPr>
              <a:t>       Infinity(marked in red).</a:t>
            </a:r>
          </a:p>
          <a:p>
            <a:pPr marL="0" indent="0" algn="just">
              <a:buNone/>
            </a:pPr>
            <a:endParaRPr lang="en-IN" sz="2200" dirty="0">
              <a:sym typeface="Wingdings" panose="05000000000000000000" pitchFamily="2" charset="2"/>
            </a:endParaRPr>
          </a:p>
          <a:p>
            <a:pPr marL="0" indent="0" algn="just">
              <a:buNone/>
            </a:pPr>
            <a:endParaRPr lang="en-IN" sz="2200" dirty="0">
              <a:sym typeface="Wingdings" panose="05000000000000000000" pitchFamily="2" charset="2"/>
            </a:endParaRPr>
          </a:p>
          <a:p>
            <a:pPr marL="0" indent="0" algn="just">
              <a:buNone/>
            </a:pPr>
            <a:endParaRPr lang="en-IN" sz="2200" dirty="0">
              <a:sym typeface="Wingdings" panose="05000000000000000000" pitchFamily="2" charset="2"/>
            </a:endParaRPr>
          </a:p>
          <a:p>
            <a:pPr marL="0" indent="0" algn="just">
              <a:buNone/>
            </a:pPr>
            <a:endParaRPr lang="en-IN" sz="2200" dirty="0">
              <a:sym typeface="Wingdings" panose="05000000000000000000" pitchFamily="2" charset="2"/>
            </a:endParaRPr>
          </a:p>
          <a:p>
            <a:pPr marL="0" indent="0" algn="just">
              <a:buNone/>
            </a:pPr>
            <a:endParaRPr lang="en-IN" sz="2200" dirty="0">
              <a:sym typeface="Wingdings" panose="05000000000000000000" pitchFamily="2" charset="2"/>
            </a:endParaRPr>
          </a:p>
          <a:p>
            <a:pPr marL="0" indent="0" algn="just">
              <a:buNone/>
            </a:pPr>
            <a:r>
              <a:rPr lang="en-IN" sz="2200" dirty="0">
                <a:sym typeface="Wingdings" panose="05000000000000000000" pitchFamily="2" charset="2"/>
              </a:rPr>
              <a:t>The Resulting cost matrix is :</a:t>
            </a:r>
          </a:p>
          <a:p>
            <a:pPr marL="0" indent="0" algn="just">
              <a:buNone/>
            </a:pPr>
            <a:endParaRPr lang="en-IN" sz="2200"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301E413-78F8-41B7-8FCA-8BC1F09E3F08}"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17</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182001" y="1097537"/>
            <a:ext cx="8115300" cy="430887"/>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sp>
        <p:nvSpPr>
          <p:cNvPr id="12" name="Rectangle 2"/>
          <p:cNvSpPr>
            <a:spLocks noChangeArrowheads="1"/>
          </p:cNvSpPr>
          <p:nvPr/>
        </p:nvSpPr>
        <p:spPr bwMode="auto">
          <a:xfrm>
            <a:off x="5862" y="1342812"/>
            <a:ext cx="8534400" cy="702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 </a:t>
            </a:r>
          </a:p>
        </p:txBody>
      </p:sp>
      <p:pic>
        <p:nvPicPr>
          <p:cNvPr id="14" name="Picture 13" descr="14"/>
          <p:cNvPicPr/>
          <p:nvPr/>
        </p:nvPicPr>
        <p:blipFill>
          <a:blip r:embed="rId2">
            <a:extLst>
              <a:ext uri="{28A0092B-C50C-407E-A947-70E740481C1C}">
                <a14:useLocalDpi xmlns:a14="http://schemas.microsoft.com/office/drawing/2010/main" val="0"/>
              </a:ext>
            </a:extLst>
          </a:blip>
          <a:srcRect/>
          <a:stretch>
            <a:fillRect/>
          </a:stretch>
        </p:blipFill>
        <p:spPr bwMode="auto">
          <a:xfrm>
            <a:off x="3474720" y="2312515"/>
            <a:ext cx="2667000" cy="1715834"/>
          </a:xfrm>
          <a:prstGeom prst="rect">
            <a:avLst/>
          </a:prstGeom>
          <a:noFill/>
          <a:ln>
            <a:noFill/>
          </a:ln>
        </p:spPr>
      </p:pic>
      <p:pic>
        <p:nvPicPr>
          <p:cNvPr id="15" name="Picture 14" descr="15"/>
          <p:cNvPicPr/>
          <p:nvPr/>
        </p:nvPicPr>
        <p:blipFill>
          <a:blip r:embed="rId3">
            <a:extLst>
              <a:ext uri="{28A0092B-C50C-407E-A947-70E740481C1C}">
                <a14:useLocalDpi xmlns:a14="http://schemas.microsoft.com/office/drawing/2010/main" val="0"/>
              </a:ext>
            </a:extLst>
          </a:blip>
          <a:srcRect/>
          <a:stretch>
            <a:fillRect/>
          </a:stretch>
        </p:blipFill>
        <p:spPr bwMode="auto">
          <a:xfrm>
            <a:off x="3474720" y="4545485"/>
            <a:ext cx="2667000" cy="16267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8246" y="1104828"/>
            <a:ext cx="8229600" cy="4800600"/>
          </a:xfrm>
        </p:spPr>
        <p:txBody>
          <a:bodyPr>
            <a:normAutofit/>
          </a:bodyPr>
          <a:lstStyle/>
          <a:p>
            <a:pPr algn="just"/>
            <a:r>
              <a:rPr lang="en-US" sz="2200" dirty="0"/>
              <a:t>Now calculate lower bound of the path starting at node 3 using the</a:t>
            </a:r>
          </a:p>
          <a:p>
            <a:pPr marL="0" indent="0" algn="just">
              <a:buNone/>
            </a:pPr>
            <a:r>
              <a:rPr lang="en-US" sz="2200" dirty="0"/>
              <a:t>      Approach discussed earlier. </a:t>
            </a:r>
          </a:p>
          <a:p>
            <a:pPr algn="just"/>
            <a:r>
              <a:rPr lang="en-US" sz="2200" dirty="0"/>
              <a:t> Lower bound of the path starting at node 3 is 0 as it is already in reduced form, i.e. all rows and all columns have zero value.</a:t>
            </a:r>
          </a:p>
          <a:p>
            <a:pPr marL="0" indent="0" algn="just">
              <a:buNone/>
            </a:pPr>
            <a:endParaRPr lang="en-US" sz="2200" dirty="0"/>
          </a:p>
          <a:p>
            <a:pPr marL="0" indent="0" algn="just">
              <a:buNone/>
            </a:pPr>
            <a:r>
              <a:rPr lang="en-US" sz="2200" dirty="0"/>
              <a:t>Therefore for node 3, cost will be</a:t>
            </a:r>
          </a:p>
          <a:p>
            <a:pPr marL="0" indent="0" algn="just">
              <a:buNone/>
            </a:pPr>
            <a:endParaRPr lang="en-US" sz="2200" dirty="0"/>
          </a:p>
          <a:p>
            <a:pPr marL="0" indent="0" algn="just">
              <a:buNone/>
            </a:pPr>
            <a:r>
              <a:rPr lang="en-US" sz="2200" dirty="0"/>
              <a:t>Cost = Cost of node 0 + cost of the edge (0,3) + Lower bound of the </a:t>
            </a:r>
          </a:p>
          <a:p>
            <a:pPr marL="0" indent="0" algn="just">
              <a:buNone/>
            </a:pPr>
            <a:r>
              <a:rPr lang="en-US" sz="2200" dirty="0"/>
              <a:t>            path starting at node 3</a:t>
            </a:r>
          </a:p>
          <a:p>
            <a:pPr marL="0" indent="0" algn="just">
              <a:buNone/>
            </a:pPr>
            <a:r>
              <a:rPr lang="en-US" sz="2200" dirty="0"/>
              <a:t>        = 25 + 0 + 0= 25</a:t>
            </a:r>
          </a:p>
          <a:p>
            <a:pPr marL="0" indent="0" algn="just">
              <a:buNone/>
            </a:pPr>
            <a:endParaRPr lang="en-US" sz="2200" dirty="0"/>
          </a:p>
          <a:p>
            <a:pPr marL="0" indent="0" algn="just">
              <a:buNone/>
            </a:pPr>
            <a:r>
              <a:rPr lang="en-IN" sz="2200" dirty="0"/>
              <a:t>Similarly we calculate for 0</a:t>
            </a:r>
            <a:r>
              <a:rPr lang="en-IN" sz="2200" dirty="0">
                <a:sym typeface="Wingdings" panose="05000000000000000000" pitchFamily="2" charset="2"/>
              </a:rPr>
              <a:t> 4. Its cost will be 31.</a:t>
            </a:r>
            <a:endParaRPr lang="en-IN" sz="2200"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CD030BF-9FC7-4FF1-A7C6-57A3A35E8CD0}"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18</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182001" y="1097537"/>
            <a:ext cx="8115300" cy="430887"/>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sp>
        <p:nvSpPr>
          <p:cNvPr id="12" name="Rectangle 2"/>
          <p:cNvSpPr>
            <a:spLocks noChangeArrowheads="1"/>
          </p:cNvSpPr>
          <p:nvPr/>
        </p:nvSpPr>
        <p:spPr bwMode="auto">
          <a:xfrm>
            <a:off x="5862" y="1342812"/>
            <a:ext cx="8534400" cy="702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 calcmode="lin" valueType="num">
                                      <p:cBhvr additive="base">
                                        <p:cTn id="1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algn="just"/>
            <a:r>
              <a:rPr lang="en-IN" sz="2200" dirty="0"/>
              <a:t>Now</a:t>
            </a:r>
            <a:r>
              <a:rPr lang="en-IN" sz="2200" b="1" dirty="0"/>
              <a:t> </a:t>
            </a:r>
            <a:r>
              <a:rPr lang="en-IN" sz="2200" dirty="0"/>
              <a:t>we find a live node with estimated cost. Live nodes 1,2,3 and 4 has costs 35, 53, 25 and 31 respectively. </a:t>
            </a:r>
          </a:p>
          <a:p>
            <a:pPr algn="just"/>
            <a:endParaRPr lang="en-IN" sz="2200" dirty="0"/>
          </a:p>
          <a:p>
            <a:pPr algn="just"/>
            <a:r>
              <a:rPr lang="en-IN" sz="2200" dirty="0"/>
              <a:t>The minimum among them is node 3 having cost 25. So node 3 will be expanded further as shown in state space tree diagram. </a:t>
            </a:r>
          </a:p>
          <a:p>
            <a:pPr algn="just"/>
            <a:endParaRPr lang="en-IN" sz="2200" dirty="0"/>
          </a:p>
          <a:p>
            <a:pPr algn="just"/>
            <a:r>
              <a:rPr lang="en-IN" sz="2200" dirty="0"/>
              <a:t>After adding its children to list of live nodes, we again find a live node with least cost and expand it. </a:t>
            </a:r>
          </a:p>
          <a:p>
            <a:pPr algn="just"/>
            <a:endParaRPr lang="en-IN" sz="2200" dirty="0"/>
          </a:p>
          <a:p>
            <a:pPr algn="just"/>
            <a:r>
              <a:rPr lang="en-IN" sz="2200" dirty="0"/>
              <a:t>We continue the search till a leaf is encountered in space search tree. If a leaf is encountered, then the tour is completed and we will return back to the root node.  </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39586F8-6EB3-4E24-87B5-5885536D9047}"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6/8/2026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i-FI"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mn-ea"/>
                <a:cs typeface="+mn-cs"/>
              </a:rPr>
              <a:t>19</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a:ea typeface="+mn-ea"/>
              <a:cs typeface="+mn-cs"/>
            </a:endParaRPr>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prstClr val="black"/>
                </a:solidFill>
                <a:effectLst/>
                <a:uLnTx/>
                <a:uFillTx/>
                <a:latin typeface="Times New Roman" panose="02020603050405020304"/>
                <a:ea typeface="+mn-ea"/>
                <a:cs typeface="+mn-cs"/>
              </a:rPr>
              <a:t>Branch and Bound</a:t>
            </a:r>
          </a:p>
        </p:txBody>
      </p:sp>
      <p:sp>
        <p:nvSpPr>
          <p:cNvPr id="9" name="Rectangle 8"/>
          <p:cNvSpPr/>
          <p:nvPr/>
        </p:nvSpPr>
        <p:spPr>
          <a:xfrm>
            <a:off x="315351" y="969036"/>
            <a:ext cx="7848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a:ea typeface="+mn-ea"/>
              <a:cs typeface="+mn-cs"/>
            </a:endParaRPr>
          </a:p>
        </p:txBody>
      </p:sp>
      <p:sp>
        <p:nvSpPr>
          <p:cNvPr id="11" name="Rectangle 10"/>
          <p:cNvSpPr/>
          <p:nvPr/>
        </p:nvSpPr>
        <p:spPr>
          <a:xfrm>
            <a:off x="182001" y="1097537"/>
            <a:ext cx="8115300" cy="430887"/>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srgbClr val="000000"/>
              </a:solidFill>
              <a:effectLst/>
              <a:uLnTx/>
              <a:uFillTx/>
              <a:latin typeface="Times New Roman" panose="02020603050405020304"/>
              <a:ea typeface="+mn-ea"/>
              <a:cs typeface="+mn-cs"/>
            </a:endParaRPr>
          </a:p>
        </p:txBody>
      </p:sp>
      <p:sp>
        <p:nvSpPr>
          <p:cNvPr id="12" name="Rectangle 2"/>
          <p:cNvSpPr>
            <a:spLocks noChangeArrowheads="1"/>
          </p:cNvSpPr>
          <p:nvPr/>
        </p:nvSpPr>
        <p:spPr bwMode="auto">
          <a:xfrm>
            <a:off x="5862" y="1342812"/>
            <a:ext cx="8534400" cy="702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342900" marR="0" lvl="0" indent="-342900" algn="just" defTabSz="914400" rtl="0" eaLnBrk="1" fontAlgn="base" latinLnBrk="0" hangingPunct="1">
              <a:lnSpc>
                <a:spcPct val="100000"/>
              </a:lnSpc>
              <a:spcBef>
                <a:spcPts val="0"/>
              </a:spcBef>
              <a:spcAft>
                <a:spcPts val="0"/>
              </a:spcAft>
              <a:buClrTx/>
              <a:buSzTx/>
              <a:buFont typeface="Arial" panose="020B0604020202020204" pitchFamily="34" charset="0"/>
              <a:buChar char="•"/>
              <a:defRPr/>
            </a:pPr>
            <a:endPar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endParaRPr>
          </a:p>
          <a:p>
            <a:pPr marL="0" marR="0" lvl="0" indent="0" algn="just" defTabSz="914400" rtl="0" eaLnBrk="1" fontAlgn="base" latinLnBrk="0" hangingPunct="1">
              <a:lnSpc>
                <a:spcPct val="100000"/>
              </a:lnSpc>
              <a:spcBef>
                <a:spcPts val="0"/>
              </a:spcBef>
              <a:spcAft>
                <a:spcPts val="0"/>
              </a:spcAft>
              <a:buClrTx/>
              <a:buSzTx/>
              <a:buFontTx/>
              <a:buNone/>
              <a:defRPr/>
            </a:pPr>
            <a:r>
              <a:rPr kumimoji="0" lang="en-IN" sz="2200" b="0" i="0" u="none" strike="noStrike" kern="1200" cap="none" spc="0" normalizeH="0" baseline="0" noProof="0" dirty="0">
                <a:ln>
                  <a:noFill/>
                </a:ln>
                <a:solidFill>
                  <a:prstClr val="black"/>
                </a:solidFill>
                <a:effectLst/>
                <a:uLnTx/>
                <a:uFillTx/>
                <a:latin typeface="Times New Roman" panose="02020603050405020304"/>
                <a:ea typeface="+mn-ea"/>
                <a:cs typeface="+mn-cs"/>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B1239A59-94D9-4C1C-ADE4-81028D600AE1}"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20</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 (CO4)</a:t>
            </a:r>
          </a:p>
        </p:txBody>
      </p:sp>
      <p:sp>
        <p:nvSpPr>
          <p:cNvPr id="2" name="Rectangle 1"/>
          <p:cNvSpPr/>
          <p:nvPr/>
        </p:nvSpPr>
        <p:spPr>
          <a:xfrm>
            <a:off x="457200" y="1344213"/>
            <a:ext cx="7924800" cy="4493538"/>
          </a:xfrm>
          <a:prstGeom prst="rect">
            <a:avLst/>
          </a:prstGeom>
        </p:spPr>
        <p:txBody>
          <a:bodyPr wrap="square">
            <a:spAutoFit/>
          </a:bodyPr>
          <a:lstStyle/>
          <a:p>
            <a:pPr marL="285750" indent="-285750" algn="just">
              <a:buFont typeface="Arial" panose="020B0604020202020204" pitchFamily="34" charset="0"/>
              <a:buChar char="•"/>
            </a:pPr>
            <a:r>
              <a:rPr lang="en-IN" sz="2200" dirty="0">
                <a:latin typeface="+mj-lt"/>
              </a:rPr>
              <a:t>Backtracking is an algorithmic-technique for solving problems recursively by trying to build a solution incrementally, one piece at a time, removing those solutions that fail to satisfy the constraints of the problem at any point of time.</a:t>
            </a:r>
          </a:p>
          <a:p>
            <a:pPr marL="285750" indent="-285750" algn="just">
              <a:buFont typeface="Arial" panose="020B0604020202020204" pitchFamily="34" charset="0"/>
              <a:buChar char="•"/>
            </a:pPr>
            <a:endParaRPr lang="en-IN" sz="2200" dirty="0">
              <a:latin typeface="+mj-lt"/>
            </a:endParaRPr>
          </a:p>
          <a:p>
            <a:pPr marL="285750" indent="-285750" algn="just">
              <a:buFont typeface="Arial" panose="020B0604020202020204" pitchFamily="34" charset="0"/>
              <a:buChar char="•"/>
            </a:pPr>
            <a:r>
              <a:rPr lang="en-IN" sz="2200" dirty="0"/>
              <a:t>It is a technique based on algorithm to solve problem. It uses recursive calling to find the solution by building a solution step by step increasing values with time. </a:t>
            </a:r>
          </a:p>
          <a:p>
            <a:pPr marL="285750" indent="-285750" algn="just">
              <a:buFont typeface="Arial" panose="020B0604020202020204" pitchFamily="34" charset="0"/>
              <a:buChar char="•"/>
            </a:pPr>
            <a:endParaRPr lang="en-IN" sz="2200" dirty="0"/>
          </a:p>
          <a:p>
            <a:pPr marL="285750" indent="-285750" algn="just">
              <a:buFont typeface="Arial" panose="020B0604020202020204" pitchFamily="34" charset="0"/>
              <a:buChar char="•"/>
            </a:pPr>
            <a:r>
              <a:rPr lang="en-IN" sz="2200" dirty="0"/>
              <a:t>It removes the solutions that doesn't give rise to the solution of the problem based on the constraints given to solve the problem.</a:t>
            </a:r>
          </a:p>
          <a:p>
            <a:pPr marL="285750" indent="-285750" algn="just">
              <a:buFont typeface="Arial" panose="020B0604020202020204" pitchFamily="34" charset="0"/>
              <a:buChar char="•"/>
            </a:pPr>
            <a:endParaRPr lang="en-IN" sz="2200" dirty="0">
              <a:latin typeface="+mj-lt"/>
            </a:endParaRPr>
          </a:p>
          <a:p>
            <a:pPr marL="285750" indent="-285750" algn="just">
              <a:buFont typeface="Arial" panose="020B0604020202020204" pitchFamily="34" charset="0"/>
              <a:buChar char="•"/>
            </a:pPr>
            <a:endParaRPr lang="en-IN" sz="22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007F0AB9-8275-493F-AC5F-1EF94A85D5FA}"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21</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2" name="Rectangle 1"/>
          <p:cNvSpPr/>
          <p:nvPr/>
        </p:nvSpPr>
        <p:spPr>
          <a:xfrm>
            <a:off x="609600" y="1160064"/>
            <a:ext cx="7924800" cy="4832092"/>
          </a:xfrm>
          <a:prstGeom prst="rect">
            <a:avLst/>
          </a:prstGeom>
        </p:spPr>
        <p:txBody>
          <a:bodyPr wrap="square">
            <a:spAutoFit/>
          </a:bodyPr>
          <a:lstStyle/>
          <a:p>
            <a:pPr marL="342900" indent="-342900" algn="just">
              <a:buFont typeface="Arial" panose="020B0604020202020204" pitchFamily="34" charset="0"/>
              <a:buChar char="•"/>
            </a:pPr>
            <a:r>
              <a:rPr lang="en-IN" sz="2200" dirty="0"/>
              <a:t>Backtracking algorithm is applied to some specific types of problems.</a:t>
            </a:r>
          </a:p>
          <a:p>
            <a:pPr marL="800100" lvl="1" indent="-342900" algn="just">
              <a:buFont typeface="Arial" panose="020B0604020202020204" pitchFamily="34" charset="0"/>
              <a:buChar char="•"/>
            </a:pPr>
            <a:r>
              <a:rPr lang="en-IN" sz="2200" dirty="0"/>
              <a:t>Decision problem used to find a feasible solution of the problem.</a:t>
            </a:r>
          </a:p>
          <a:p>
            <a:pPr marL="800100" lvl="1" indent="-342900" algn="just">
              <a:buFont typeface="Arial" panose="020B0604020202020204" pitchFamily="34" charset="0"/>
              <a:buChar char="•"/>
            </a:pPr>
            <a:r>
              <a:rPr lang="en-IN" sz="2200" dirty="0"/>
              <a:t>Optimisation problem used to find the best solution that can be applied.</a:t>
            </a:r>
          </a:p>
          <a:p>
            <a:pPr marL="800100" lvl="1" indent="-342900" algn="just">
              <a:buFont typeface="Arial" panose="020B0604020202020204" pitchFamily="34" charset="0"/>
              <a:buChar char="•"/>
            </a:pPr>
            <a:r>
              <a:rPr lang="en-IN" sz="2200" dirty="0"/>
              <a:t>Enumeration problem used to find the set of all feasible solutions of the problem</a:t>
            </a:r>
          </a:p>
          <a:p>
            <a:pPr marL="800100" lvl="1" indent="-342900" algn="just">
              <a:buFont typeface="Arial" panose="020B0604020202020204" pitchFamily="34" charset="0"/>
              <a:buChar char="•"/>
            </a:pPr>
            <a:endParaRPr lang="en-IN" sz="2200" dirty="0"/>
          </a:p>
          <a:p>
            <a:pPr marL="342900" indent="-342900" algn="just">
              <a:buFont typeface="Arial" panose="020B0604020202020204" pitchFamily="34" charset="0"/>
              <a:buChar char="•"/>
            </a:pPr>
            <a:r>
              <a:rPr lang="en-IN" sz="2200" dirty="0"/>
              <a:t>In backtracking problem, the algorithm tries to find a sequence path to the solution which has some small checkpoints from where the problem can backtrack if no feasible solution is found for the problem.</a:t>
            </a:r>
          </a:p>
          <a:p>
            <a:pPr algn="just"/>
            <a:endParaRPr lang="en-IN" sz="2200" dirty="0">
              <a:latin typeface="+mj-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C854912E-0891-44B3-830A-A4ECD0DCC9A1}"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22</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2" name="Rectangle 1"/>
          <p:cNvSpPr/>
          <p:nvPr/>
        </p:nvSpPr>
        <p:spPr>
          <a:xfrm>
            <a:off x="609600" y="1160065"/>
            <a:ext cx="8229600" cy="6186309"/>
          </a:xfrm>
          <a:prstGeom prst="rect">
            <a:avLst/>
          </a:prstGeom>
        </p:spPr>
        <p:txBody>
          <a:bodyPr wrap="square">
            <a:spAutoFit/>
          </a:bodyPr>
          <a:lstStyle/>
          <a:p>
            <a:pPr algn="just"/>
            <a:r>
              <a:rPr lang="en-IN" sz="2200" dirty="0"/>
              <a:t>For Example,</a:t>
            </a:r>
          </a:p>
          <a:p>
            <a:pPr algn="just"/>
            <a:endParaRPr lang="en-IN" sz="2200" dirty="0"/>
          </a:p>
          <a:p>
            <a:pPr algn="just"/>
            <a:endParaRPr lang="en-IN" sz="2200" dirty="0"/>
          </a:p>
          <a:p>
            <a:pPr algn="just"/>
            <a:endParaRPr lang="en-IN" sz="2200" dirty="0"/>
          </a:p>
          <a:p>
            <a:pPr algn="just"/>
            <a:endParaRPr lang="en-IN" sz="2200" dirty="0"/>
          </a:p>
          <a:p>
            <a:pPr algn="just"/>
            <a:endParaRPr lang="en-IN" sz="2200" dirty="0"/>
          </a:p>
          <a:p>
            <a:pPr algn="just"/>
            <a:endParaRPr lang="en-IN" sz="2200" dirty="0"/>
          </a:p>
          <a:p>
            <a:pPr marL="342900" indent="-342900" algn="just">
              <a:buFont typeface="Arial" panose="020B0604020202020204" pitchFamily="34" charset="0"/>
              <a:buChar char="•"/>
            </a:pPr>
            <a:r>
              <a:rPr lang="en-IN" sz="2200" dirty="0"/>
              <a:t>Here, Green is the start point, blue is the intermediate point, red are points with no feasible solution, dark green is end solution.</a:t>
            </a:r>
          </a:p>
          <a:p>
            <a:pPr marL="342900" indent="-342900" algn="just">
              <a:buFont typeface="Arial" panose="020B0604020202020204" pitchFamily="34" charset="0"/>
              <a:buChar char="•"/>
            </a:pPr>
            <a:endParaRPr lang="en-IN" sz="2200" dirty="0"/>
          </a:p>
          <a:p>
            <a:pPr marL="342900" indent="-342900" algn="just">
              <a:buFont typeface="Arial" panose="020B0604020202020204" pitchFamily="34" charset="0"/>
              <a:buChar char="•"/>
            </a:pPr>
            <a:r>
              <a:rPr lang="en-IN" sz="2200" dirty="0"/>
              <a:t>when the algorithm propagates to an end to check if it is a solution or not, if it is then returns the solution otherwise backtracks to the point one step behind it to find track to the next point to find solution.</a:t>
            </a:r>
          </a:p>
          <a:p>
            <a:pPr algn="just"/>
            <a:endParaRPr lang="en-IN" sz="2200" dirty="0"/>
          </a:p>
          <a:p>
            <a:pPr algn="just"/>
            <a:endParaRPr lang="en-IN" sz="2200" dirty="0"/>
          </a:p>
          <a:p>
            <a:pPr algn="just"/>
            <a:endParaRPr lang="en-IN" sz="2200" dirty="0"/>
          </a:p>
          <a:p>
            <a:pPr algn="just"/>
            <a:endParaRPr lang="en-IN" sz="2200" dirty="0">
              <a:latin typeface="+mj-lt"/>
            </a:endParaRPr>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1295" y="1232778"/>
            <a:ext cx="2628900" cy="20288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6B76A855-63EB-4EA7-80B2-FA183FC979AA}"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23</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990600" y="1368831"/>
            <a:ext cx="6781800" cy="3477875"/>
          </a:xfrm>
          <a:prstGeom prst="rect">
            <a:avLst/>
          </a:prstGeom>
        </p:spPr>
        <p:txBody>
          <a:bodyPr wrap="square">
            <a:spAutoFit/>
          </a:bodyPr>
          <a:lstStyle/>
          <a:p>
            <a:r>
              <a:rPr lang="en-IN" sz="2600" b="1" dirty="0"/>
              <a:t>ALGORITHM</a:t>
            </a:r>
          </a:p>
          <a:p>
            <a:endParaRPr lang="en-IN" b="1" dirty="0">
              <a:latin typeface="Arial" panose="020B0604020202020204" pitchFamily="34" charset="0"/>
            </a:endParaRPr>
          </a:p>
          <a:p>
            <a:pPr algn="just"/>
            <a:r>
              <a:rPr lang="en-IN" sz="2200" b="1" dirty="0">
                <a:solidFill>
                  <a:srgbClr val="000000"/>
                </a:solidFill>
                <a:latin typeface="+mj-lt"/>
              </a:rPr>
              <a:t>Step 1</a:t>
            </a:r>
            <a:r>
              <a:rPr lang="en-IN" sz="2200" dirty="0">
                <a:solidFill>
                  <a:srgbClr val="000000"/>
                </a:solidFill>
                <a:latin typeface="+mj-lt"/>
              </a:rPr>
              <a:t> − if </a:t>
            </a:r>
            <a:r>
              <a:rPr lang="en-IN" sz="2200" dirty="0" err="1">
                <a:solidFill>
                  <a:srgbClr val="000000"/>
                </a:solidFill>
                <a:latin typeface="+mj-lt"/>
              </a:rPr>
              <a:t>current_position</a:t>
            </a:r>
            <a:r>
              <a:rPr lang="en-IN" sz="2200" dirty="0">
                <a:solidFill>
                  <a:srgbClr val="000000"/>
                </a:solidFill>
                <a:latin typeface="+mj-lt"/>
              </a:rPr>
              <a:t> is goal, return success</a:t>
            </a:r>
          </a:p>
          <a:p>
            <a:pPr algn="just"/>
            <a:endParaRPr lang="en-IN" sz="2200" dirty="0">
              <a:solidFill>
                <a:srgbClr val="000000"/>
              </a:solidFill>
              <a:latin typeface="+mj-lt"/>
            </a:endParaRPr>
          </a:p>
          <a:p>
            <a:pPr algn="just"/>
            <a:r>
              <a:rPr lang="en-IN" sz="2200" b="1" dirty="0">
                <a:solidFill>
                  <a:srgbClr val="000000"/>
                </a:solidFill>
                <a:latin typeface="+mj-lt"/>
              </a:rPr>
              <a:t>Step 2</a:t>
            </a:r>
            <a:r>
              <a:rPr lang="en-IN" sz="2200" dirty="0">
                <a:solidFill>
                  <a:srgbClr val="000000"/>
                </a:solidFill>
                <a:latin typeface="+mj-lt"/>
              </a:rPr>
              <a:t> − else,</a:t>
            </a:r>
          </a:p>
          <a:p>
            <a:pPr algn="just"/>
            <a:endParaRPr lang="en-IN" sz="2200" dirty="0">
              <a:solidFill>
                <a:srgbClr val="000000"/>
              </a:solidFill>
              <a:latin typeface="+mj-lt"/>
            </a:endParaRPr>
          </a:p>
          <a:p>
            <a:pPr algn="just"/>
            <a:r>
              <a:rPr lang="en-IN" sz="2200" b="1" dirty="0">
                <a:solidFill>
                  <a:srgbClr val="000000"/>
                </a:solidFill>
                <a:latin typeface="+mj-lt"/>
              </a:rPr>
              <a:t>Step 3</a:t>
            </a:r>
            <a:r>
              <a:rPr lang="en-IN" sz="2200" dirty="0">
                <a:solidFill>
                  <a:srgbClr val="000000"/>
                </a:solidFill>
                <a:latin typeface="+mj-lt"/>
              </a:rPr>
              <a:t>− if </a:t>
            </a:r>
            <a:r>
              <a:rPr lang="en-IN" sz="2200" dirty="0" err="1">
                <a:solidFill>
                  <a:srgbClr val="000000"/>
                </a:solidFill>
                <a:latin typeface="+mj-lt"/>
              </a:rPr>
              <a:t>current_position</a:t>
            </a:r>
            <a:r>
              <a:rPr lang="en-IN" sz="2200" dirty="0">
                <a:solidFill>
                  <a:srgbClr val="000000"/>
                </a:solidFill>
                <a:latin typeface="+mj-lt"/>
              </a:rPr>
              <a:t> is an end point, return failed.</a:t>
            </a:r>
          </a:p>
          <a:p>
            <a:pPr algn="just"/>
            <a:endParaRPr lang="en-IN" sz="2200" dirty="0">
              <a:solidFill>
                <a:srgbClr val="000000"/>
              </a:solidFill>
              <a:latin typeface="+mj-lt"/>
            </a:endParaRPr>
          </a:p>
          <a:p>
            <a:pPr algn="just"/>
            <a:r>
              <a:rPr lang="en-IN" sz="2200" b="1" dirty="0">
                <a:solidFill>
                  <a:srgbClr val="000000"/>
                </a:solidFill>
                <a:latin typeface="+mj-lt"/>
              </a:rPr>
              <a:t>Step 4</a:t>
            </a:r>
            <a:r>
              <a:rPr lang="en-IN" sz="2200" dirty="0">
                <a:solidFill>
                  <a:srgbClr val="000000"/>
                </a:solidFill>
                <a:latin typeface="+mj-lt"/>
              </a:rPr>
              <a:t>− else, if </a:t>
            </a:r>
            <a:r>
              <a:rPr lang="en-IN" sz="2200" dirty="0" err="1">
                <a:solidFill>
                  <a:srgbClr val="000000"/>
                </a:solidFill>
                <a:latin typeface="+mj-lt"/>
              </a:rPr>
              <a:t>current_position</a:t>
            </a:r>
            <a:r>
              <a:rPr lang="en-IN" sz="2200" dirty="0">
                <a:solidFill>
                  <a:srgbClr val="000000"/>
                </a:solidFill>
                <a:latin typeface="+mj-lt"/>
              </a:rPr>
              <a:t> is not end point, explore and repeat above steps.</a:t>
            </a:r>
            <a:endParaRPr lang="en-IN" sz="2200" b="0" i="0" dirty="0">
              <a:solidFill>
                <a:srgbClr val="000000"/>
              </a:solidFill>
              <a:effectLst/>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E94DD-C3A0-D6D8-4902-75EF685D44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0C4A3B-77C6-05EB-F010-CF9EA899D7FE}"/>
              </a:ext>
            </a:extLst>
          </p:cNvPr>
          <p:cNvSpPr>
            <a:spLocks noGrp="1"/>
          </p:cNvSpPr>
          <p:nvPr>
            <p:ph idx="1"/>
          </p:nvPr>
        </p:nvSpPr>
        <p:spPr>
          <a:xfrm>
            <a:off x="457200" y="1028700"/>
            <a:ext cx="8229600" cy="5219700"/>
          </a:xfrm>
        </p:spPr>
        <p:txBody>
          <a:bodyPr>
            <a:normAutofit fontScale="92500" lnSpcReduction="10000"/>
          </a:bodyPr>
          <a:lstStyle/>
          <a:p>
            <a:pPr marL="0" indent="0">
              <a:buNone/>
            </a:pPr>
            <a:r>
              <a:rPr lang="en-US" sz="2200" dirty="0"/>
              <a:t> </a:t>
            </a:r>
            <a:r>
              <a:rPr lang="en-US" sz="2400" b="1" dirty="0"/>
              <a:t>State Space Tree</a:t>
            </a:r>
          </a:p>
          <a:p>
            <a:pPr marL="0" indent="0">
              <a:buNone/>
            </a:pPr>
            <a:r>
              <a:rPr lang="en-US" sz="2400" dirty="0"/>
              <a:t>A </a:t>
            </a:r>
            <a:r>
              <a:rPr lang="en-US" sz="2400" b="1" dirty="0"/>
              <a:t>State Space Tree</a:t>
            </a:r>
            <a:r>
              <a:rPr lang="en-US" sz="2400" dirty="0"/>
              <a:t> is a tree representation of all possible states (solutions) of a problem. It is commonly used in </a:t>
            </a:r>
            <a:r>
              <a:rPr lang="en-US" sz="2400" b="1" dirty="0"/>
              <a:t>Backtracking</a:t>
            </a:r>
            <a:r>
              <a:rPr lang="en-US" sz="2400" dirty="0"/>
              <a:t> and </a:t>
            </a:r>
            <a:r>
              <a:rPr lang="en-US" sz="2400" b="1" dirty="0"/>
              <a:t>Branch and Bound</a:t>
            </a:r>
            <a:r>
              <a:rPr lang="en-US" sz="2400" dirty="0"/>
              <a:t> algorithms.</a:t>
            </a:r>
          </a:p>
          <a:p>
            <a:pPr marL="0" indent="0">
              <a:buNone/>
            </a:pPr>
            <a:r>
              <a:rPr lang="en-US" sz="2400" b="1" dirty="0"/>
              <a:t>Definition</a:t>
            </a:r>
          </a:p>
          <a:p>
            <a:pPr marL="0" indent="0">
              <a:buNone/>
            </a:pPr>
            <a:r>
              <a:rPr lang="en-US" sz="2400" dirty="0"/>
              <a:t>A state space tree represents the search process where:</a:t>
            </a:r>
          </a:p>
          <a:p>
            <a:pPr marL="514350" indent="-514350">
              <a:buFont typeface="+mj-lt"/>
              <a:buAutoNum type="alphaLcPeriod"/>
            </a:pPr>
            <a:r>
              <a:rPr lang="en-US" sz="2400" dirty="0"/>
              <a:t>Each </a:t>
            </a:r>
            <a:r>
              <a:rPr lang="en-US" sz="2400" b="1" dirty="0"/>
              <a:t>node</a:t>
            </a:r>
            <a:r>
              <a:rPr lang="en-US" sz="2400" dirty="0"/>
              <a:t> represents a state or partial solution. </a:t>
            </a:r>
          </a:p>
          <a:p>
            <a:pPr marL="514350" indent="-514350">
              <a:buFont typeface="+mj-lt"/>
              <a:buAutoNum type="alphaLcPeriod"/>
            </a:pPr>
            <a:r>
              <a:rPr lang="en-US" sz="2400" dirty="0"/>
              <a:t>Each </a:t>
            </a:r>
            <a:r>
              <a:rPr lang="en-US" sz="2400" b="1" dirty="0"/>
              <a:t>edge</a:t>
            </a:r>
            <a:r>
              <a:rPr lang="en-US" sz="2400" dirty="0"/>
              <a:t> represents a decision or choice. </a:t>
            </a:r>
          </a:p>
          <a:p>
            <a:pPr marL="514350" indent="-514350">
              <a:buFont typeface="+mj-lt"/>
              <a:buAutoNum type="alphaLcPeriod"/>
            </a:pPr>
            <a:r>
              <a:rPr lang="en-US" sz="2400" dirty="0"/>
              <a:t>The </a:t>
            </a:r>
            <a:r>
              <a:rPr lang="en-US" sz="2400" b="1" dirty="0"/>
              <a:t>root node</a:t>
            </a:r>
            <a:r>
              <a:rPr lang="en-US" sz="2400" dirty="0"/>
              <a:t> represents the initial state. </a:t>
            </a:r>
          </a:p>
          <a:p>
            <a:pPr marL="514350" indent="-514350">
              <a:buFont typeface="+mj-lt"/>
              <a:buAutoNum type="alphaLcPeriod"/>
            </a:pPr>
            <a:r>
              <a:rPr lang="en-US" sz="2400" b="1" dirty="0"/>
              <a:t>Leaf nodes</a:t>
            </a:r>
            <a:r>
              <a:rPr lang="en-US" sz="2400" dirty="0"/>
              <a:t> represent complete solutions or dead ends. </a:t>
            </a:r>
          </a:p>
          <a:p>
            <a:pPr marL="0" indent="0">
              <a:buNone/>
            </a:pPr>
            <a:r>
              <a:rPr lang="en-US" sz="2400" b="1" dirty="0"/>
              <a:t>Types of Nodes</a:t>
            </a:r>
          </a:p>
          <a:p>
            <a:pPr>
              <a:buFont typeface="Wingdings" panose="05000000000000000000" pitchFamily="2" charset="2"/>
              <a:buChar char="Ø"/>
            </a:pPr>
            <a:r>
              <a:rPr lang="en-US" sz="2400" b="1" dirty="0"/>
              <a:t>Live Node</a:t>
            </a:r>
            <a:r>
              <a:rPr lang="en-US" sz="2400" dirty="0"/>
              <a:t> – A node that has been generated but not yet expanded. </a:t>
            </a:r>
          </a:p>
          <a:p>
            <a:pPr>
              <a:buFont typeface="Wingdings" panose="05000000000000000000" pitchFamily="2" charset="2"/>
              <a:buChar char="Ø"/>
            </a:pPr>
            <a:r>
              <a:rPr lang="en-US" sz="2400" b="1" dirty="0"/>
              <a:t>E-node (Expansion Node)</a:t>
            </a:r>
            <a:r>
              <a:rPr lang="en-US" sz="2400" dirty="0"/>
              <a:t> – The node currently being expanded. </a:t>
            </a:r>
          </a:p>
          <a:p>
            <a:pPr>
              <a:buFont typeface="Wingdings" panose="05000000000000000000" pitchFamily="2" charset="2"/>
              <a:buChar char="Ø"/>
            </a:pPr>
            <a:r>
              <a:rPr lang="en-US" sz="2400" b="1" dirty="0"/>
              <a:t>Dead Node</a:t>
            </a:r>
            <a:r>
              <a:rPr lang="en-US" sz="2400" dirty="0"/>
              <a:t> – A node that will not be expanded further.</a:t>
            </a:r>
          </a:p>
          <a:p>
            <a:pPr marL="0" indent="0">
              <a:buNone/>
            </a:pPr>
            <a:endParaRPr lang="en-US" sz="2200" dirty="0"/>
          </a:p>
        </p:txBody>
      </p:sp>
      <p:sp>
        <p:nvSpPr>
          <p:cNvPr id="4" name="Date Placeholder 3">
            <a:extLst>
              <a:ext uri="{FF2B5EF4-FFF2-40B4-BE49-F238E27FC236}">
                <a16:creationId xmlns:a16="http://schemas.microsoft.com/office/drawing/2014/main" id="{89704A02-A6DB-5A10-B132-BBF8138716F7}"/>
              </a:ext>
            </a:extLst>
          </p:cNvPr>
          <p:cNvSpPr>
            <a:spLocks noGrp="1"/>
          </p:cNvSpPr>
          <p:nvPr>
            <p:ph type="dt" sz="half" idx="10"/>
          </p:nvPr>
        </p:nvSpPr>
        <p:spPr/>
        <p:txBody>
          <a:bodyPr/>
          <a:lstStyle/>
          <a:p>
            <a:fld id="{6B76A855-63EB-4EA7-80B2-FA183FC979AA}" type="datetime1">
              <a:rPr lang="en-US" smtClean="0"/>
              <a:t>6/8/2026</a:t>
            </a:fld>
            <a:endParaRPr lang="en-US"/>
          </a:p>
        </p:txBody>
      </p:sp>
      <p:sp>
        <p:nvSpPr>
          <p:cNvPr id="5" name="Footer Placeholder 4">
            <a:extLst>
              <a:ext uri="{FF2B5EF4-FFF2-40B4-BE49-F238E27FC236}">
                <a16:creationId xmlns:a16="http://schemas.microsoft.com/office/drawing/2014/main" id="{CD31C606-C3F4-2D3D-602D-B7807E598F53}"/>
              </a:ext>
            </a:extLst>
          </p:cNvPr>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a:extLst>
              <a:ext uri="{FF2B5EF4-FFF2-40B4-BE49-F238E27FC236}">
                <a16:creationId xmlns:a16="http://schemas.microsoft.com/office/drawing/2014/main" id="{A5A8B712-800B-727E-B2DC-534052937245}"/>
              </a:ext>
            </a:extLst>
          </p:cNvPr>
          <p:cNvSpPr>
            <a:spLocks noGrp="1"/>
          </p:cNvSpPr>
          <p:nvPr>
            <p:ph type="sldNum" sz="quarter" idx="12"/>
          </p:nvPr>
        </p:nvSpPr>
        <p:spPr/>
        <p:txBody>
          <a:bodyPr/>
          <a:lstStyle/>
          <a:p>
            <a:fld id="{B6F15528-21DE-4FAA-801E-634DDDAF4B2B}" type="slidenum">
              <a:rPr lang="en-US" smtClean="0"/>
              <a:t>24</a:t>
            </a:fld>
            <a:endParaRPr lang="en-US"/>
          </a:p>
        </p:txBody>
      </p:sp>
      <p:sp>
        <p:nvSpPr>
          <p:cNvPr id="7" name="Title 1">
            <a:extLst>
              <a:ext uri="{FF2B5EF4-FFF2-40B4-BE49-F238E27FC236}">
                <a16:creationId xmlns:a16="http://schemas.microsoft.com/office/drawing/2014/main" id="{35F92FD8-8BFA-52C3-5E61-BC168FC8BAA5}"/>
              </a:ext>
            </a:extLst>
          </p:cNvPr>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Tree>
    <p:extLst>
      <p:ext uri="{BB962C8B-B14F-4D97-AF65-F5344CB8AC3E}">
        <p14:creationId xmlns:p14="http://schemas.microsoft.com/office/powerpoint/2010/main" val="391948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674D6-D191-2625-1C3F-FDF5E7BC25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0B897E-270D-9FCA-018A-9645AB3A6A35}"/>
              </a:ext>
            </a:extLst>
          </p:cNvPr>
          <p:cNvSpPr>
            <a:spLocks noGrp="1"/>
          </p:cNvSpPr>
          <p:nvPr>
            <p:ph idx="1"/>
          </p:nvPr>
        </p:nvSpPr>
        <p:spPr>
          <a:xfrm>
            <a:off x="457200" y="1028700"/>
            <a:ext cx="8229600" cy="5219700"/>
          </a:xfrm>
        </p:spPr>
        <p:txBody>
          <a:bodyPr>
            <a:normAutofit lnSpcReduction="10000"/>
          </a:bodyPr>
          <a:lstStyle/>
          <a:p>
            <a:pPr marL="0" indent="0">
              <a:buNone/>
            </a:pPr>
            <a:r>
              <a:rPr lang="en-US" sz="2400" b="1" dirty="0"/>
              <a:t>State Space Tree in Backtracking</a:t>
            </a:r>
          </a:p>
          <a:p>
            <a:pPr>
              <a:buFont typeface="Wingdings" panose="05000000000000000000" pitchFamily="2" charset="2"/>
              <a:buChar char="v"/>
            </a:pPr>
            <a:r>
              <a:rPr lang="en-US" sz="2400" dirty="0"/>
              <a:t>Explores nodes depth-first. </a:t>
            </a:r>
          </a:p>
          <a:p>
            <a:pPr>
              <a:buFont typeface="Wingdings" panose="05000000000000000000" pitchFamily="2" charset="2"/>
              <a:buChar char="v"/>
            </a:pPr>
            <a:r>
              <a:rPr lang="en-US" sz="2400" dirty="0"/>
              <a:t>Prunes non-promising nodes. </a:t>
            </a:r>
          </a:p>
          <a:p>
            <a:pPr>
              <a:buFont typeface="Wingdings" panose="05000000000000000000" pitchFamily="2" charset="2"/>
              <a:buChar char="v"/>
            </a:pPr>
            <a:r>
              <a:rPr lang="en-US" sz="2400" dirty="0"/>
              <a:t>Example: N-Queen, Graph Coloring, Hamiltonian Cycle. </a:t>
            </a:r>
          </a:p>
          <a:p>
            <a:pPr marL="0" indent="0">
              <a:buNone/>
            </a:pPr>
            <a:r>
              <a:rPr lang="en-US" sz="2400" b="1" dirty="0"/>
              <a:t>State Space Tree in Branch and Bound</a:t>
            </a:r>
          </a:p>
          <a:p>
            <a:pPr>
              <a:buFont typeface="Wingdings" panose="05000000000000000000" pitchFamily="2" charset="2"/>
              <a:buChar char="v"/>
            </a:pPr>
            <a:r>
              <a:rPr lang="en-US" sz="2400" dirty="0"/>
              <a:t>Explores nodes based on cost/bound. </a:t>
            </a:r>
          </a:p>
          <a:p>
            <a:pPr>
              <a:buFont typeface="Wingdings" panose="05000000000000000000" pitchFamily="2" charset="2"/>
              <a:buChar char="v"/>
            </a:pPr>
            <a:r>
              <a:rPr lang="en-US" sz="2400" dirty="0"/>
              <a:t>Prunes nodes whose bound is worse than the current best solution. </a:t>
            </a:r>
          </a:p>
          <a:p>
            <a:pPr>
              <a:buFont typeface="Wingdings" panose="05000000000000000000" pitchFamily="2" charset="2"/>
              <a:buChar char="v"/>
            </a:pPr>
            <a:r>
              <a:rPr lang="en-US" sz="2400" dirty="0"/>
              <a:t>Example: Travelling Salesman Problem (TSP). </a:t>
            </a:r>
          </a:p>
          <a:p>
            <a:pPr marL="0" indent="0">
              <a:buNone/>
            </a:pPr>
            <a:r>
              <a:rPr lang="en-US" sz="2400" b="1" dirty="0"/>
              <a:t>Advantages</a:t>
            </a:r>
          </a:p>
          <a:p>
            <a:pPr>
              <a:buFont typeface="Wingdings" panose="05000000000000000000" pitchFamily="2" charset="2"/>
              <a:buChar char="v"/>
            </a:pPr>
            <a:r>
              <a:rPr lang="en-US" sz="2400" dirty="0"/>
              <a:t>Systematic search of all possibilities. </a:t>
            </a:r>
          </a:p>
          <a:p>
            <a:pPr>
              <a:buFont typeface="Wingdings" panose="05000000000000000000" pitchFamily="2" charset="2"/>
              <a:buChar char="v"/>
            </a:pPr>
            <a:r>
              <a:rPr lang="en-US" sz="2400" dirty="0"/>
              <a:t>Helps visualize the solution process. </a:t>
            </a:r>
          </a:p>
          <a:p>
            <a:pPr>
              <a:buFont typeface="Wingdings" panose="05000000000000000000" pitchFamily="2" charset="2"/>
              <a:buChar char="v"/>
            </a:pPr>
            <a:r>
              <a:rPr lang="en-US" sz="2400" dirty="0"/>
              <a:t>Supports pruning to reduce computation.</a:t>
            </a:r>
          </a:p>
          <a:p>
            <a:pPr marL="0" indent="0">
              <a:buNone/>
            </a:pPr>
            <a:endParaRPr lang="en-US" sz="2200" dirty="0"/>
          </a:p>
        </p:txBody>
      </p:sp>
      <p:sp>
        <p:nvSpPr>
          <p:cNvPr id="4" name="Date Placeholder 3">
            <a:extLst>
              <a:ext uri="{FF2B5EF4-FFF2-40B4-BE49-F238E27FC236}">
                <a16:creationId xmlns:a16="http://schemas.microsoft.com/office/drawing/2014/main" id="{12EA238A-AA1E-C15C-C59E-85BD164414C3}"/>
              </a:ext>
            </a:extLst>
          </p:cNvPr>
          <p:cNvSpPr>
            <a:spLocks noGrp="1"/>
          </p:cNvSpPr>
          <p:nvPr>
            <p:ph type="dt" sz="half" idx="10"/>
          </p:nvPr>
        </p:nvSpPr>
        <p:spPr/>
        <p:txBody>
          <a:bodyPr/>
          <a:lstStyle/>
          <a:p>
            <a:fld id="{6B76A855-63EB-4EA7-80B2-FA183FC979AA}" type="datetime1">
              <a:rPr lang="en-US" smtClean="0"/>
              <a:t>6/8/2026</a:t>
            </a:fld>
            <a:endParaRPr lang="en-US"/>
          </a:p>
        </p:txBody>
      </p:sp>
      <p:sp>
        <p:nvSpPr>
          <p:cNvPr id="5" name="Footer Placeholder 4">
            <a:extLst>
              <a:ext uri="{FF2B5EF4-FFF2-40B4-BE49-F238E27FC236}">
                <a16:creationId xmlns:a16="http://schemas.microsoft.com/office/drawing/2014/main" id="{B0B1AD9C-E285-4D22-45CA-0E712646C7D5}"/>
              </a:ext>
            </a:extLst>
          </p:cNvPr>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a:extLst>
              <a:ext uri="{FF2B5EF4-FFF2-40B4-BE49-F238E27FC236}">
                <a16:creationId xmlns:a16="http://schemas.microsoft.com/office/drawing/2014/main" id="{60405DED-D6E6-86F4-E9BC-FC0CA0B571B1}"/>
              </a:ext>
            </a:extLst>
          </p:cNvPr>
          <p:cNvSpPr>
            <a:spLocks noGrp="1"/>
          </p:cNvSpPr>
          <p:nvPr>
            <p:ph type="sldNum" sz="quarter" idx="12"/>
          </p:nvPr>
        </p:nvSpPr>
        <p:spPr/>
        <p:txBody>
          <a:bodyPr/>
          <a:lstStyle/>
          <a:p>
            <a:fld id="{B6F15528-21DE-4FAA-801E-634DDDAF4B2B}" type="slidenum">
              <a:rPr lang="en-US" smtClean="0"/>
              <a:t>25</a:t>
            </a:fld>
            <a:endParaRPr lang="en-US"/>
          </a:p>
        </p:txBody>
      </p:sp>
      <p:sp>
        <p:nvSpPr>
          <p:cNvPr id="7" name="Title 1">
            <a:extLst>
              <a:ext uri="{FF2B5EF4-FFF2-40B4-BE49-F238E27FC236}">
                <a16:creationId xmlns:a16="http://schemas.microsoft.com/office/drawing/2014/main" id="{C4B8E15C-B463-AEEB-26DD-40331897F9D2}"/>
              </a:ext>
            </a:extLst>
          </p:cNvPr>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Tree>
    <p:extLst>
      <p:ext uri="{BB962C8B-B14F-4D97-AF65-F5344CB8AC3E}">
        <p14:creationId xmlns:p14="http://schemas.microsoft.com/office/powerpoint/2010/main" val="31761973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6B310653-D04C-4E0C-AEA9-7FE541D1C03B}"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26</a:t>
            </a:fld>
            <a:endParaRPr lang="en-US"/>
          </a:p>
        </p:txBody>
      </p:sp>
      <p:sp>
        <p:nvSpPr>
          <p:cNvPr id="7" name="Title 1"/>
          <p:cNvSpPr txBox="1"/>
          <p:nvPr/>
        </p:nvSpPr>
        <p:spPr>
          <a:xfrm>
            <a:off x="1371600" y="586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647700" y="1028700"/>
            <a:ext cx="7848600" cy="4278094"/>
          </a:xfrm>
          <a:prstGeom prst="rect">
            <a:avLst/>
          </a:prstGeom>
        </p:spPr>
        <p:txBody>
          <a:bodyPr wrap="square">
            <a:spAutoFit/>
          </a:bodyPr>
          <a:lstStyle/>
          <a:p>
            <a:r>
              <a:rPr lang="en-IN" sz="2800" b="1" dirty="0"/>
              <a:t>Graph Colouring Problem</a:t>
            </a:r>
          </a:p>
          <a:p>
            <a:pPr marL="342900" indent="-342900" algn="just">
              <a:buFont typeface="Arial" panose="020B0604020202020204" pitchFamily="34" charset="0"/>
              <a:buChar char="•"/>
            </a:pPr>
            <a:r>
              <a:rPr lang="en-IN" sz="2200" dirty="0"/>
              <a:t>Given an undirected graph and a number m, determine if the graph can be coloured with at most m colours such that no two adjacent vertices of the graph are </a:t>
            </a:r>
            <a:r>
              <a:rPr lang="en-IN" sz="2200" dirty="0" err="1"/>
              <a:t>colored</a:t>
            </a:r>
            <a:r>
              <a:rPr lang="en-IN" sz="2200" dirty="0"/>
              <a:t> with the same </a:t>
            </a:r>
            <a:r>
              <a:rPr lang="en-IN" sz="2200" dirty="0" err="1"/>
              <a:t>color</a:t>
            </a:r>
            <a:r>
              <a:rPr lang="en-IN" sz="2200" dirty="0"/>
              <a:t>.</a:t>
            </a:r>
          </a:p>
          <a:p>
            <a:pPr marL="342900" indent="-342900" algn="just">
              <a:buFont typeface="Arial" panose="020B0604020202020204" pitchFamily="34" charset="0"/>
              <a:buChar char="•"/>
            </a:pPr>
            <a:endParaRPr lang="en-IN" sz="2200" dirty="0"/>
          </a:p>
          <a:p>
            <a:pPr marL="342900" indent="-342900" algn="just">
              <a:buFont typeface="Arial" panose="020B0604020202020204" pitchFamily="34" charset="0"/>
              <a:buChar char="•"/>
            </a:pPr>
            <a:r>
              <a:rPr lang="en-IN" sz="2200" dirty="0"/>
              <a:t> Here </a:t>
            </a:r>
            <a:r>
              <a:rPr lang="en-IN" sz="2200" dirty="0" err="1"/>
              <a:t>coloring</a:t>
            </a:r>
            <a:r>
              <a:rPr lang="en-IN" sz="2200" dirty="0"/>
              <a:t> of a graph means the assignment of </a:t>
            </a:r>
            <a:r>
              <a:rPr lang="en-IN" sz="2200" dirty="0" err="1"/>
              <a:t>colors</a:t>
            </a:r>
            <a:r>
              <a:rPr lang="en-IN" sz="2200" dirty="0"/>
              <a:t> to all vertices</a:t>
            </a:r>
            <a:r>
              <a:rPr lang="en-IN" dirty="0"/>
              <a:t>.</a:t>
            </a:r>
          </a:p>
          <a:p>
            <a:pPr marL="342900" indent="-342900" algn="just">
              <a:buFont typeface="Arial" panose="020B0604020202020204" pitchFamily="34" charset="0"/>
              <a:buChar char="•"/>
            </a:pPr>
            <a:endParaRPr lang="en-IN" dirty="0"/>
          </a:p>
          <a:p>
            <a:pPr marL="342900" indent="-342900" algn="just">
              <a:buFont typeface="Arial" panose="020B0604020202020204" pitchFamily="34" charset="0"/>
              <a:buChar char="•"/>
            </a:pPr>
            <a:endParaRPr lang="en-IN" dirty="0"/>
          </a:p>
          <a:p>
            <a:pPr marL="342900" indent="-342900" algn="just">
              <a:buFont typeface="Arial" panose="020B0604020202020204" pitchFamily="34" charset="0"/>
              <a:buChar char="•"/>
            </a:pPr>
            <a:endParaRPr lang="en-IN" dirty="0"/>
          </a:p>
          <a:p>
            <a:pPr marL="342900" indent="-342900" algn="just">
              <a:buFont typeface="Arial" panose="020B0604020202020204" pitchFamily="34" charset="0"/>
              <a:buChar char="•"/>
            </a:pPr>
            <a:endParaRPr lang="en-IN" dirty="0"/>
          </a:p>
          <a:p>
            <a:pPr marL="342900" indent="-342900" algn="just">
              <a:buFont typeface="Arial" panose="020B0604020202020204" pitchFamily="34" charset="0"/>
              <a:buChar char="•"/>
            </a:pPr>
            <a:endParaRPr lang="en-IN" dirty="0"/>
          </a:p>
          <a:p>
            <a:pPr algn="just"/>
            <a:endParaRPr lang="en-IN" sz="2200" b="0" i="0" dirty="0">
              <a:solidFill>
                <a:srgbClr val="000000"/>
              </a:solidFill>
              <a:effectLst/>
              <a:latin typeface="+mj-lt"/>
            </a:endParaRPr>
          </a:p>
        </p:txBody>
      </p:sp>
      <p:pic>
        <p:nvPicPr>
          <p:cNvPr id="10" name="Picture 9"/>
          <p:cNvPicPr/>
          <p:nvPr/>
        </p:nvPicPr>
        <p:blipFill>
          <a:blip r:embed="rId2">
            <a:extLst>
              <a:ext uri="{28A0092B-C50C-407E-A947-70E740481C1C}">
                <a14:useLocalDpi xmlns:a14="http://schemas.microsoft.com/office/drawing/2010/main" val="0"/>
              </a:ext>
            </a:extLst>
          </a:blip>
          <a:srcRect/>
          <a:stretch>
            <a:fillRect/>
          </a:stretch>
        </p:blipFill>
        <p:spPr bwMode="auto">
          <a:xfrm>
            <a:off x="3009705" y="3572503"/>
            <a:ext cx="2219960" cy="2009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IN" sz="2400" b="1" dirty="0"/>
              <a:t>     Graph Colouring Problem</a:t>
            </a:r>
          </a:p>
        </p:txBody>
      </p:sp>
      <p:sp>
        <p:nvSpPr>
          <p:cNvPr id="4" name="Date Placeholder 3"/>
          <p:cNvSpPr>
            <a:spLocks noGrp="1"/>
          </p:cNvSpPr>
          <p:nvPr>
            <p:ph type="dt" sz="half" idx="10"/>
          </p:nvPr>
        </p:nvSpPr>
        <p:spPr/>
        <p:txBody>
          <a:bodyPr/>
          <a:lstStyle/>
          <a:p>
            <a:fld id="{D3C51980-0529-4B83-9BAB-9F5FEBE36587}"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27</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990600" y="1368831"/>
            <a:ext cx="7162800" cy="4154984"/>
          </a:xfrm>
          <a:prstGeom prst="rect">
            <a:avLst/>
          </a:prstGeom>
        </p:spPr>
        <p:txBody>
          <a:bodyPr wrap="square">
            <a:spAutoFit/>
          </a:bodyPr>
          <a:lstStyle/>
          <a:p>
            <a:pPr fontAlgn="base"/>
            <a:r>
              <a:rPr lang="en-IN" sz="2400" b="1" i="1" dirty="0"/>
              <a:t>Input:</a:t>
            </a:r>
            <a:endParaRPr lang="en-IN" sz="2400" dirty="0"/>
          </a:p>
          <a:p>
            <a:pPr marL="285750" indent="-285750" fontAlgn="base">
              <a:buFont typeface="Arial" panose="020B0604020202020204" pitchFamily="34" charset="0"/>
              <a:buChar char="•"/>
            </a:pPr>
            <a:r>
              <a:rPr lang="en-IN" sz="2200" dirty="0"/>
              <a:t>A 2D array graph[V][V] where V is the number of vertices in graph and graph[V][V] is adjacency matrix representation of the graph. </a:t>
            </a:r>
          </a:p>
          <a:p>
            <a:pPr marL="285750" indent="-285750" fontAlgn="base">
              <a:buFont typeface="Arial" panose="020B0604020202020204" pitchFamily="34" charset="0"/>
              <a:buChar char="•"/>
            </a:pPr>
            <a:r>
              <a:rPr lang="en-IN" sz="2200" dirty="0"/>
              <a:t>A value graph[</a:t>
            </a:r>
            <a:r>
              <a:rPr lang="en-IN" sz="2200" dirty="0" err="1"/>
              <a:t>i</a:t>
            </a:r>
            <a:r>
              <a:rPr lang="en-IN" sz="2200" dirty="0"/>
              <a:t>][j] is 1 if there is a direct edge from </a:t>
            </a:r>
            <a:r>
              <a:rPr lang="en-IN" sz="2200" dirty="0" err="1"/>
              <a:t>i</a:t>
            </a:r>
            <a:r>
              <a:rPr lang="en-IN" sz="2200" dirty="0"/>
              <a:t> to j, otherwise graph[</a:t>
            </a:r>
            <a:r>
              <a:rPr lang="en-IN" sz="2200" dirty="0" err="1"/>
              <a:t>i</a:t>
            </a:r>
            <a:r>
              <a:rPr lang="en-IN" sz="2200" dirty="0"/>
              <a:t>][j] is 0.</a:t>
            </a:r>
          </a:p>
          <a:p>
            <a:pPr marL="285750" indent="-285750" fontAlgn="base">
              <a:buFont typeface="Arial" panose="020B0604020202020204" pitchFamily="34" charset="0"/>
              <a:buChar char="•"/>
            </a:pPr>
            <a:r>
              <a:rPr lang="en-IN" sz="2200" dirty="0"/>
              <a:t>An integer m which is the maximum number of </a:t>
            </a:r>
            <a:r>
              <a:rPr lang="en-IN" sz="2200" dirty="0" err="1"/>
              <a:t>colors</a:t>
            </a:r>
            <a:r>
              <a:rPr lang="en-IN" sz="2200" dirty="0"/>
              <a:t> that can be used</a:t>
            </a:r>
          </a:p>
          <a:p>
            <a:pPr marL="285750" indent="-285750" fontAlgn="base">
              <a:buFont typeface="Arial" panose="020B0604020202020204" pitchFamily="34" charset="0"/>
              <a:buChar char="•"/>
            </a:pPr>
            <a:endParaRPr lang="en-IN" dirty="0"/>
          </a:p>
          <a:p>
            <a:pPr fontAlgn="base"/>
            <a:r>
              <a:rPr lang="en-IN" sz="2400" b="1" i="1" dirty="0"/>
              <a:t>Output:</a:t>
            </a:r>
            <a:br>
              <a:rPr lang="en-IN" dirty="0"/>
            </a:br>
            <a:r>
              <a:rPr lang="en-IN" sz="2200" dirty="0"/>
              <a:t>An array </a:t>
            </a:r>
            <a:r>
              <a:rPr lang="en-IN" sz="2200" dirty="0" err="1"/>
              <a:t>color</a:t>
            </a:r>
            <a:r>
              <a:rPr lang="en-IN" sz="2200" dirty="0"/>
              <a:t>[V] that should have numbers from 1 to m. </a:t>
            </a:r>
            <a:r>
              <a:rPr lang="en-IN" sz="2200" dirty="0" err="1"/>
              <a:t>color</a:t>
            </a:r>
            <a:r>
              <a:rPr lang="en-IN" sz="2200" dirty="0"/>
              <a:t>[</a:t>
            </a:r>
            <a:r>
              <a:rPr lang="en-IN" sz="2200" dirty="0" err="1"/>
              <a:t>i</a:t>
            </a:r>
            <a:r>
              <a:rPr lang="en-IN" sz="2200" dirty="0"/>
              <a:t>] should represent the </a:t>
            </a:r>
            <a:r>
              <a:rPr lang="en-IN" sz="2200" dirty="0" err="1"/>
              <a:t>color</a:t>
            </a:r>
            <a:r>
              <a:rPr lang="en-IN" sz="2200" dirty="0"/>
              <a:t> assigned to the </a:t>
            </a:r>
            <a:r>
              <a:rPr lang="en-IN" sz="2200" dirty="0" err="1"/>
              <a:t>ith</a:t>
            </a:r>
            <a:r>
              <a:rPr lang="en-IN" sz="2200" dirty="0"/>
              <a:t> vertex.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44456-E3CF-F732-2720-AFFF0C3DEE2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DA2478-B6DC-D155-1542-C54A270FD678}"/>
                  </a:ext>
                </a:extLst>
              </p:cNvPr>
              <p:cNvSpPr>
                <a:spLocks noGrp="1"/>
              </p:cNvSpPr>
              <p:nvPr>
                <p:ph idx="1"/>
              </p:nvPr>
            </p:nvSpPr>
            <p:spPr>
              <a:xfrm>
                <a:off x="457200" y="1028700"/>
                <a:ext cx="8229600" cy="5327650"/>
              </a:xfrm>
            </p:spPr>
            <p:txBody>
              <a:bodyPr>
                <a:normAutofit fontScale="70000" lnSpcReduction="20000"/>
              </a:bodyPr>
              <a:lstStyle/>
              <a:p>
                <a:pPr marL="0" indent="0">
                  <a:buNone/>
                </a:pPr>
                <a:r>
                  <a:rPr lang="en-IN" sz="2400" b="1" dirty="0"/>
                  <a:t>     </a:t>
                </a:r>
                <a:r>
                  <a:rPr lang="en-IN" sz="2600" b="1" dirty="0"/>
                  <a:t>Graph Colouring Problem</a:t>
                </a:r>
              </a:p>
              <a:p>
                <a:pPr marL="0" indent="0">
                  <a:buNone/>
                </a:pPr>
                <a:r>
                  <a:rPr lang="en-US" sz="2400" b="1" dirty="0"/>
                  <a:t>Graph Coloring</a:t>
                </a:r>
                <a:r>
                  <a:rPr lang="en-US" sz="2400" dirty="0"/>
                  <a:t> is the problem of assigning colors to vertices of a graph such that no two adjacent vertices have the same color.</a:t>
                </a:r>
              </a:p>
              <a:p>
                <a:pPr marL="0" indent="0">
                  <a:buNone/>
                </a:pPr>
                <a:r>
                  <a:rPr lang="en-US" sz="2400" b="1" dirty="0"/>
                  <a:t>Time Complexity</a:t>
                </a:r>
              </a:p>
              <a:p>
                <a:pPr marL="0" indent="0">
                  <a:buNone/>
                </a:pPr>
                <a:r>
                  <a:rPr lang="en-US" sz="2400" b="1" dirty="0"/>
                  <a:t>O(mⁿ)</a:t>
                </a:r>
                <a:endParaRPr lang="en-US" sz="2400" dirty="0"/>
              </a:p>
              <a:p>
                <a:pPr marL="0" indent="0">
                  <a:buNone/>
                </a:pPr>
                <a:r>
                  <a:rPr lang="en-US" sz="2400" dirty="0"/>
                  <a:t>Where:</a:t>
                </a:r>
              </a:p>
              <a:p>
                <a:pPr marL="0" indent="0">
                  <a:buNone/>
                </a:pPr>
                <a:r>
                  <a:rPr lang="en-US" sz="2400" b="1" dirty="0"/>
                  <a:t>n</a:t>
                </a:r>
                <a:r>
                  <a:rPr lang="en-US" sz="2400" dirty="0"/>
                  <a:t> = Number of vertices </a:t>
                </a:r>
              </a:p>
              <a:p>
                <a:pPr marL="0" indent="0">
                  <a:buNone/>
                </a:pPr>
                <a:r>
                  <a:rPr lang="en-US" sz="2400" b="1" dirty="0"/>
                  <a:t>m</a:t>
                </a:r>
                <a:r>
                  <a:rPr lang="en-US" sz="2400" dirty="0"/>
                  <a:t> = Number of available colors </a:t>
                </a:r>
              </a:p>
              <a:p>
                <a:pPr marL="0" indent="0">
                  <a:buNone/>
                </a:pPr>
                <a:r>
                  <a:rPr lang="en-US" sz="2400" b="1" dirty="0"/>
                  <a:t>Justification</a:t>
                </a:r>
              </a:p>
              <a:p>
                <a:r>
                  <a:rPr lang="en-US" sz="2400" dirty="0"/>
                  <a:t>Each vertex can be colored using </a:t>
                </a:r>
                <a:r>
                  <a:rPr lang="en-US" sz="2400" b="1" dirty="0"/>
                  <a:t>m</a:t>
                </a:r>
                <a:r>
                  <a:rPr lang="en-US" sz="2400" dirty="0"/>
                  <a:t> possible colors. </a:t>
                </a:r>
              </a:p>
              <a:p>
                <a:r>
                  <a:rPr lang="en-US" sz="2400" dirty="0"/>
                  <a:t>For </a:t>
                </a:r>
                <a:r>
                  <a:rPr lang="en-US" sz="2400" b="1" dirty="0"/>
                  <a:t>n</a:t>
                </a:r>
                <a:r>
                  <a:rPr lang="en-US" sz="2400" dirty="0"/>
                  <a:t> vertices, the total possible color assignments are: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𝑚</m:t>
                      </m:r>
                      <m:r>
                        <a:rPr lang="en-US">
                          <a:latin typeface="Cambria Math" panose="02040503050406030204" pitchFamily="18" charset="0"/>
                        </a:rPr>
                        <m:t>×</m:t>
                      </m:r>
                      <m:r>
                        <a:rPr lang="en-US" i="1">
                          <a:latin typeface="Cambria Math" panose="02040503050406030204" pitchFamily="18" charset="0"/>
                        </a:rPr>
                        <m:t>𝑚</m:t>
                      </m:r>
                      <m:r>
                        <a:rPr lang="en-US">
                          <a:latin typeface="Cambria Math" panose="02040503050406030204" pitchFamily="18" charset="0"/>
                        </a:rPr>
                        <m:t>×⋯×</m:t>
                      </m:r>
                      <m:r>
                        <a:rPr lang="en-US" i="1">
                          <a:latin typeface="Cambria Math" panose="02040503050406030204" pitchFamily="18" charset="0"/>
                        </a:rPr>
                        <m:t>𝑚</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𝑛</m:t>
                          </m:r>
                        </m:sup>
                      </m:sSup>
                    </m:oMath>
                  </m:oMathPara>
                </a14:m>
                <a:endParaRPr lang="en-US" sz="2400" dirty="0"/>
              </a:p>
              <a:p>
                <a:pPr marL="0" indent="0">
                  <a:buNone/>
                </a:pPr>
                <a:r>
                  <a:rPr lang="en-US" sz="2400" dirty="0"/>
                  <a:t>Backtracking checks whether a color assignment is valid and prunes invalid branches, but in the </a:t>
                </a:r>
                <a:r>
                  <a:rPr lang="en-US" sz="2400" b="1" dirty="0"/>
                  <a:t>worst case</a:t>
                </a:r>
                <a:r>
                  <a:rPr lang="en-US" sz="2400" dirty="0"/>
                  <a:t> it may explore all possibilities. </a:t>
                </a:r>
              </a:p>
              <a:p>
                <a:pPr marL="0" indent="0">
                  <a:buNone/>
                </a:pPr>
                <a:r>
                  <a:rPr lang="en-US" sz="2400" b="1" dirty="0"/>
                  <a:t>Space Complexity</a:t>
                </a:r>
              </a:p>
              <a:p>
                <a:pPr marL="0" indent="0">
                  <a:buNone/>
                </a:pPr>
                <a:r>
                  <a:rPr lang="en-US" sz="2400" b="1" dirty="0"/>
                  <a:t>          O(n)</a:t>
                </a:r>
                <a:endParaRPr lang="en-US" sz="2400" dirty="0"/>
              </a:p>
              <a:p>
                <a:pPr marL="0" indent="0">
                  <a:buNone/>
                </a:pPr>
                <a:r>
                  <a:rPr lang="en-US" sz="2400" b="1" dirty="0"/>
                  <a:t>Justification:</a:t>
                </a:r>
                <a:endParaRPr lang="en-US" sz="2400" dirty="0"/>
              </a:p>
              <a:p>
                <a:pPr marL="0" indent="0">
                  <a:buNone/>
                </a:pPr>
                <a:r>
                  <a:rPr lang="en-US" sz="2400" dirty="0"/>
                  <a:t>One color is stored for each vertex. </a:t>
                </a:r>
              </a:p>
              <a:p>
                <a:pPr marL="0" indent="0">
                  <a:buNone/>
                </a:pPr>
                <a:r>
                  <a:rPr lang="en-US" sz="2400" dirty="0"/>
                  <a:t>Recursion depth is at most </a:t>
                </a:r>
                <a:r>
                  <a:rPr lang="en-US" sz="2400" b="1" dirty="0"/>
                  <a:t>n</a:t>
                </a:r>
                <a:r>
                  <a:rPr lang="en-US" sz="2400" dirty="0"/>
                  <a:t>.</a:t>
                </a:r>
              </a:p>
              <a:p>
                <a:pPr marL="0" indent="0">
                  <a:buNone/>
                </a:pPr>
                <a:endParaRPr lang="en-IN" sz="2400" b="1" dirty="0"/>
              </a:p>
            </p:txBody>
          </p:sp>
        </mc:Choice>
        <mc:Fallback xmlns="">
          <p:sp>
            <p:nvSpPr>
              <p:cNvPr id="3" name="Content Placeholder 2">
                <a:extLst>
                  <a:ext uri="{FF2B5EF4-FFF2-40B4-BE49-F238E27FC236}">
                    <a16:creationId xmlns:a16="http://schemas.microsoft.com/office/drawing/2014/main" id="{23DA2478-B6DC-D155-1542-C54A270FD678}"/>
                  </a:ext>
                </a:extLst>
              </p:cNvPr>
              <p:cNvSpPr>
                <a:spLocks noGrp="1" noRot="1" noChangeAspect="1" noMove="1" noResize="1" noEditPoints="1" noAdjustHandles="1" noChangeArrowheads="1" noChangeShapeType="1" noTextEdit="1"/>
              </p:cNvSpPr>
              <p:nvPr>
                <p:ph idx="1"/>
              </p:nvPr>
            </p:nvSpPr>
            <p:spPr>
              <a:xfrm>
                <a:off x="457200" y="1028700"/>
                <a:ext cx="8229600" cy="5327650"/>
              </a:xfrm>
              <a:blipFill>
                <a:blip r:embed="rId2"/>
                <a:stretch>
                  <a:fillRect l="-444" t="-1716" r="-14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73CADF1-10D0-DE17-CCDA-B99CDC9A3C15}"/>
              </a:ext>
            </a:extLst>
          </p:cNvPr>
          <p:cNvSpPr>
            <a:spLocks noGrp="1"/>
          </p:cNvSpPr>
          <p:nvPr>
            <p:ph type="dt" sz="half" idx="10"/>
          </p:nvPr>
        </p:nvSpPr>
        <p:spPr/>
        <p:txBody>
          <a:bodyPr/>
          <a:lstStyle/>
          <a:p>
            <a:fld id="{D3C51980-0529-4B83-9BAB-9F5FEBE36587}" type="datetime1">
              <a:rPr lang="en-US" smtClean="0"/>
              <a:t>6/8/2026</a:t>
            </a:fld>
            <a:endParaRPr lang="en-US"/>
          </a:p>
        </p:txBody>
      </p:sp>
      <p:sp>
        <p:nvSpPr>
          <p:cNvPr id="5" name="Footer Placeholder 4">
            <a:extLst>
              <a:ext uri="{FF2B5EF4-FFF2-40B4-BE49-F238E27FC236}">
                <a16:creationId xmlns:a16="http://schemas.microsoft.com/office/drawing/2014/main" id="{3443A6FF-046E-1CA8-85CA-EE402DF155D1}"/>
              </a:ext>
            </a:extLst>
          </p:cNvPr>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a:extLst>
              <a:ext uri="{FF2B5EF4-FFF2-40B4-BE49-F238E27FC236}">
                <a16:creationId xmlns:a16="http://schemas.microsoft.com/office/drawing/2014/main" id="{6F351861-EE11-5270-64F8-D1CB727A64FD}"/>
              </a:ext>
            </a:extLst>
          </p:cNvPr>
          <p:cNvSpPr>
            <a:spLocks noGrp="1"/>
          </p:cNvSpPr>
          <p:nvPr>
            <p:ph type="sldNum" sz="quarter" idx="12"/>
          </p:nvPr>
        </p:nvSpPr>
        <p:spPr/>
        <p:txBody>
          <a:bodyPr/>
          <a:lstStyle/>
          <a:p>
            <a:fld id="{B6F15528-21DE-4FAA-801E-634DDDAF4B2B}" type="slidenum">
              <a:rPr lang="en-US" smtClean="0"/>
              <a:t>28</a:t>
            </a:fld>
            <a:endParaRPr lang="en-US"/>
          </a:p>
        </p:txBody>
      </p:sp>
      <p:sp>
        <p:nvSpPr>
          <p:cNvPr id="7" name="Title 1">
            <a:extLst>
              <a:ext uri="{FF2B5EF4-FFF2-40B4-BE49-F238E27FC236}">
                <a16:creationId xmlns:a16="http://schemas.microsoft.com/office/drawing/2014/main" id="{DDD7A4DB-BA06-9D2D-DA10-8B72C871D716}"/>
              </a:ext>
            </a:extLst>
          </p:cNvPr>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Tree>
    <p:extLst>
      <p:ext uri="{BB962C8B-B14F-4D97-AF65-F5344CB8AC3E}">
        <p14:creationId xmlns:p14="http://schemas.microsoft.com/office/powerpoint/2010/main" val="2444204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4ABCE05D-C8BA-4A8F-AD23-12F2E28F56CA}"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29</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723900" y="988255"/>
            <a:ext cx="7848600" cy="6186309"/>
          </a:xfrm>
          <a:prstGeom prst="rect">
            <a:avLst/>
          </a:prstGeom>
        </p:spPr>
        <p:txBody>
          <a:bodyPr wrap="square">
            <a:spAutoFit/>
          </a:bodyPr>
          <a:lstStyle/>
          <a:p>
            <a:pPr fontAlgn="base"/>
            <a:r>
              <a:rPr lang="en-IN" sz="2400" b="1" dirty="0"/>
              <a:t>N- Queens Problem</a:t>
            </a:r>
          </a:p>
          <a:p>
            <a:pPr fontAlgn="base"/>
            <a:endParaRPr lang="en-IN" sz="2400" b="1" dirty="0"/>
          </a:p>
          <a:p>
            <a:pPr marL="285750" indent="-285750">
              <a:buFont typeface="Arial" panose="020B0604020202020204" pitchFamily="34" charset="0"/>
              <a:buChar char="•"/>
            </a:pPr>
            <a:r>
              <a:rPr lang="en-IN" sz="2200" dirty="0"/>
              <a:t>N - Queens problem is to place n - queens in such a manner on an n x n chessboard that no queens attack each other by being in the same row, column or diagonal.</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IN" sz="2200" dirty="0"/>
              <a:t>It can be seen that for n =1, the problem has a trivial solution, and no solution exists for n =2 and n =3. </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IN" sz="2200" dirty="0"/>
              <a:t>So first we will consider the 4 queens problem and then generate it to n - queens problem.</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IN" sz="2200" dirty="0"/>
              <a:t>Given a 4 x 4 chessboard and number the rows and column of the chessboard 1 through 4.</a:t>
            </a:r>
          </a:p>
          <a:p>
            <a:pPr fontAlgn="base"/>
            <a:endParaRPr lang="en-IN" sz="2200" dirty="0"/>
          </a:p>
          <a:p>
            <a:pPr fontAlgn="base"/>
            <a:endParaRPr lang="en-IN" sz="2200" b="1" dirty="0"/>
          </a:p>
          <a:p>
            <a:pPr marL="285750" indent="-285750" fontAlgn="base">
              <a:buFont typeface="Arial" panose="020B0604020202020204" pitchFamily="34" charset="0"/>
              <a:buChar char="•"/>
            </a:pPr>
            <a:endParaRPr lang="en-IN" dirty="0"/>
          </a:p>
          <a:p>
            <a:pPr fontAlgn="base"/>
            <a:r>
              <a:rPr lang="en-IN" sz="2200" dirty="0"/>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715B80D0-F4C5-4F60-ACF9-DCBDB60037F9}"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30</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723900" y="988255"/>
            <a:ext cx="7848600" cy="2123658"/>
          </a:xfrm>
          <a:prstGeom prst="rect">
            <a:avLst/>
          </a:prstGeom>
        </p:spPr>
        <p:txBody>
          <a:bodyPr wrap="square">
            <a:spAutoFit/>
          </a:bodyPr>
          <a:lstStyle/>
          <a:p>
            <a:pPr fontAlgn="base"/>
            <a:r>
              <a:rPr lang="en-IN" sz="2400" b="1" dirty="0"/>
              <a:t>N- Queens Problem</a:t>
            </a:r>
          </a:p>
          <a:p>
            <a:pPr fontAlgn="base"/>
            <a:endParaRPr lang="en-IN" sz="2400" b="1" dirty="0"/>
          </a:p>
          <a:p>
            <a:pPr fontAlgn="base"/>
            <a:endParaRPr lang="en-IN" sz="2200" dirty="0"/>
          </a:p>
          <a:p>
            <a:pPr fontAlgn="base"/>
            <a:endParaRPr lang="en-IN" sz="2200" b="1" dirty="0"/>
          </a:p>
          <a:p>
            <a:pPr marL="285750" indent="-285750" fontAlgn="base">
              <a:buFont typeface="Arial" panose="020B0604020202020204" pitchFamily="34" charset="0"/>
              <a:buChar char="•"/>
            </a:pPr>
            <a:endParaRPr lang="en-IN" dirty="0"/>
          </a:p>
          <a:p>
            <a:pPr fontAlgn="base"/>
            <a:r>
              <a:rPr lang="en-IN" sz="2200" dirty="0"/>
              <a:t> </a:t>
            </a:r>
          </a:p>
        </p:txBody>
      </p:sp>
      <p:pic>
        <p:nvPicPr>
          <p:cNvPr id="10" name="Picture 9" descr="N-Queens Problem"/>
          <p:cNvPicPr/>
          <p:nvPr/>
        </p:nvPicPr>
        <p:blipFill>
          <a:blip r:embed="rId2">
            <a:extLst>
              <a:ext uri="{28A0092B-C50C-407E-A947-70E740481C1C}">
                <a14:useLocalDpi xmlns:a14="http://schemas.microsoft.com/office/drawing/2010/main" val="0"/>
              </a:ext>
            </a:extLst>
          </a:blip>
          <a:srcRect/>
          <a:stretch>
            <a:fillRect/>
          </a:stretch>
        </p:blipFill>
        <p:spPr bwMode="auto">
          <a:xfrm>
            <a:off x="2381250" y="1447800"/>
            <a:ext cx="2647950" cy="2447925"/>
          </a:xfrm>
          <a:prstGeom prst="rect">
            <a:avLst/>
          </a:prstGeom>
          <a:noFill/>
          <a:ln>
            <a:noFill/>
          </a:ln>
        </p:spPr>
      </p:pic>
      <p:sp>
        <p:nvSpPr>
          <p:cNvPr id="2" name="Rectangle 1"/>
          <p:cNvSpPr/>
          <p:nvPr/>
        </p:nvSpPr>
        <p:spPr>
          <a:xfrm>
            <a:off x="723900" y="4362821"/>
            <a:ext cx="7505700" cy="1446550"/>
          </a:xfrm>
          <a:prstGeom prst="rect">
            <a:avLst/>
          </a:prstGeom>
        </p:spPr>
        <p:txBody>
          <a:bodyPr wrap="square">
            <a:spAutoFit/>
          </a:bodyPr>
          <a:lstStyle/>
          <a:p>
            <a:pPr algn="just"/>
            <a:r>
              <a:rPr lang="en-IN" sz="2200" dirty="0"/>
              <a:t>Since, we have to place 4 queens such as q</a:t>
            </a:r>
            <a:r>
              <a:rPr lang="en-IN" sz="2200" baseline="-25000" dirty="0"/>
              <a:t>1</a:t>
            </a:r>
            <a:r>
              <a:rPr lang="en-IN" sz="2200" dirty="0"/>
              <a:t> q</a:t>
            </a:r>
            <a:r>
              <a:rPr lang="en-IN" sz="2200" baseline="-25000" dirty="0"/>
              <a:t>2</a:t>
            </a:r>
            <a:r>
              <a:rPr lang="en-IN" sz="2200" dirty="0"/>
              <a:t> q</a:t>
            </a:r>
            <a:r>
              <a:rPr lang="en-IN" sz="2200" baseline="-25000" dirty="0"/>
              <a:t>3</a:t>
            </a:r>
            <a:r>
              <a:rPr lang="en-IN" sz="2200" dirty="0"/>
              <a:t> and q</a:t>
            </a:r>
            <a:r>
              <a:rPr lang="en-IN" sz="2200" baseline="-25000" dirty="0"/>
              <a:t>4</a:t>
            </a:r>
            <a:r>
              <a:rPr lang="en-IN" sz="2200" dirty="0"/>
              <a:t> on the chessboard, such that no two queens attack each other. In such a conditional each queen must be placed on a different row, i.e., we put queen "</a:t>
            </a:r>
            <a:r>
              <a:rPr lang="en-IN" sz="2200" dirty="0" err="1"/>
              <a:t>i</a:t>
            </a:r>
            <a:r>
              <a:rPr lang="en-IN" sz="2200" dirty="0"/>
              <a:t>" on row "</a:t>
            </a:r>
            <a:r>
              <a:rPr lang="en-IN" sz="2200" dirty="0" err="1"/>
              <a:t>i</a:t>
            </a:r>
            <a:r>
              <a:rPr lang="en-IN" sz="22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036D0472-123E-4725-9F07-34163CF03C9E}"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31</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723900" y="988255"/>
            <a:ext cx="7962900" cy="5509200"/>
          </a:xfrm>
          <a:prstGeom prst="rect">
            <a:avLst/>
          </a:prstGeom>
        </p:spPr>
        <p:txBody>
          <a:bodyPr wrap="square">
            <a:spAutoFit/>
          </a:bodyPr>
          <a:lstStyle/>
          <a:p>
            <a:pPr fontAlgn="base"/>
            <a:r>
              <a:rPr lang="en-IN" sz="2400" b="1" dirty="0"/>
              <a:t>N- Queens Problem</a:t>
            </a:r>
          </a:p>
          <a:p>
            <a:pPr fontAlgn="base"/>
            <a:endParaRPr lang="en-IN" sz="2400" b="1" dirty="0"/>
          </a:p>
          <a:p>
            <a:pPr marL="285750" indent="-285750" algn="just">
              <a:buFont typeface="Arial" panose="020B0604020202020204" pitchFamily="34" charset="0"/>
              <a:buChar char="•"/>
            </a:pPr>
            <a:r>
              <a:rPr lang="en-IN" sz="2200" dirty="0"/>
              <a:t>Now, we place queen q</a:t>
            </a:r>
            <a:r>
              <a:rPr lang="en-IN" sz="2200" baseline="-25000" dirty="0"/>
              <a:t>1</a:t>
            </a:r>
            <a:r>
              <a:rPr lang="en-IN" sz="2200" dirty="0"/>
              <a:t> in the very first acceptable position (1, 1). </a:t>
            </a:r>
          </a:p>
          <a:p>
            <a:pPr marL="285750" indent="-285750" algn="just">
              <a:buFont typeface="Arial" panose="020B0604020202020204" pitchFamily="34" charset="0"/>
              <a:buChar char="•"/>
            </a:pPr>
            <a:endParaRPr lang="en-IN" sz="2200" dirty="0"/>
          </a:p>
          <a:p>
            <a:pPr marL="285750" indent="-285750" algn="just">
              <a:buFont typeface="Arial" panose="020B0604020202020204" pitchFamily="34" charset="0"/>
              <a:buChar char="•"/>
            </a:pPr>
            <a:r>
              <a:rPr lang="en-IN" sz="2200" dirty="0"/>
              <a:t>Next, we put queen q</a:t>
            </a:r>
            <a:r>
              <a:rPr lang="en-IN" sz="2200" baseline="-25000" dirty="0"/>
              <a:t>2</a:t>
            </a:r>
            <a:r>
              <a:rPr lang="en-IN" sz="2200" dirty="0"/>
              <a:t> so that both these queens do not attack each other. </a:t>
            </a:r>
          </a:p>
          <a:p>
            <a:pPr marL="285750" indent="-285750" algn="just">
              <a:buFont typeface="Arial" panose="020B0604020202020204" pitchFamily="34" charset="0"/>
              <a:buChar char="•"/>
            </a:pPr>
            <a:endParaRPr lang="en-IN" sz="2200" dirty="0"/>
          </a:p>
          <a:p>
            <a:pPr marL="285750" indent="-285750" algn="just">
              <a:buFont typeface="Arial" panose="020B0604020202020204" pitchFamily="34" charset="0"/>
              <a:buChar char="•"/>
            </a:pPr>
            <a:r>
              <a:rPr lang="en-IN" sz="2200" dirty="0"/>
              <a:t>We find that if we place q</a:t>
            </a:r>
            <a:r>
              <a:rPr lang="en-IN" sz="2200" baseline="-25000" dirty="0"/>
              <a:t>2</a:t>
            </a:r>
            <a:r>
              <a:rPr lang="en-IN" sz="2200" dirty="0"/>
              <a:t> in column 1 and 2, then the dead end is encountered. </a:t>
            </a:r>
          </a:p>
          <a:p>
            <a:pPr marL="285750" indent="-285750" algn="just">
              <a:buFont typeface="Arial" panose="020B0604020202020204" pitchFamily="34" charset="0"/>
              <a:buChar char="•"/>
            </a:pPr>
            <a:endParaRPr lang="en-IN" sz="2200" dirty="0"/>
          </a:p>
          <a:p>
            <a:pPr marL="285750" indent="-285750" algn="just">
              <a:buFont typeface="Arial" panose="020B0604020202020204" pitchFamily="34" charset="0"/>
              <a:buChar char="•"/>
            </a:pPr>
            <a:r>
              <a:rPr lang="en-IN" sz="2200" dirty="0"/>
              <a:t>Thus the first acceptable position for q</a:t>
            </a:r>
            <a:r>
              <a:rPr lang="en-IN" sz="2200" baseline="-25000" dirty="0"/>
              <a:t>2</a:t>
            </a:r>
            <a:r>
              <a:rPr lang="en-IN" sz="2200" dirty="0"/>
              <a:t> in column 3, i.e. (2, 3) but then no position is left for placing queen 'q</a:t>
            </a:r>
            <a:r>
              <a:rPr lang="en-IN" sz="2200" baseline="-25000" dirty="0"/>
              <a:t>3</a:t>
            </a:r>
            <a:r>
              <a:rPr lang="en-IN" sz="2200" dirty="0"/>
              <a:t>' safely. </a:t>
            </a:r>
          </a:p>
          <a:p>
            <a:pPr marL="285750" indent="-285750" algn="just">
              <a:buFont typeface="Arial" panose="020B0604020202020204" pitchFamily="34" charset="0"/>
              <a:buChar char="•"/>
            </a:pPr>
            <a:endParaRPr lang="en-IN" sz="2200" dirty="0"/>
          </a:p>
          <a:p>
            <a:pPr marL="285750" indent="-285750">
              <a:buFont typeface="Arial" panose="020B0604020202020204" pitchFamily="34" charset="0"/>
              <a:buChar char="•"/>
            </a:pPr>
            <a:endParaRPr lang="en-IN" sz="2200" b="1" dirty="0"/>
          </a:p>
          <a:p>
            <a:pPr marL="285750" indent="-285750" fontAlgn="base">
              <a:buFont typeface="Arial" panose="020B0604020202020204" pitchFamily="34" charset="0"/>
              <a:buChar char="•"/>
            </a:pPr>
            <a:endParaRPr lang="en-IN" dirty="0"/>
          </a:p>
          <a:p>
            <a:pPr fontAlgn="base"/>
            <a:r>
              <a:rPr lang="en-IN" sz="2200" dirty="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1C9BEF47-6AA3-4AAE-866E-F21358D6024C}"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32</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723900" y="988255"/>
            <a:ext cx="7848600" cy="5170646"/>
          </a:xfrm>
          <a:prstGeom prst="rect">
            <a:avLst/>
          </a:prstGeom>
        </p:spPr>
        <p:txBody>
          <a:bodyPr wrap="square">
            <a:spAutoFit/>
          </a:bodyPr>
          <a:lstStyle/>
          <a:p>
            <a:pPr fontAlgn="base"/>
            <a:r>
              <a:rPr lang="en-IN" sz="2400" b="1" dirty="0"/>
              <a:t>N- Queens Problem</a:t>
            </a:r>
          </a:p>
          <a:p>
            <a:pPr fontAlgn="base"/>
            <a:endParaRPr lang="en-IN" sz="2400" b="1" dirty="0"/>
          </a:p>
          <a:p>
            <a:pPr marL="285750" indent="-285750">
              <a:buFont typeface="Arial" panose="020B0604020202020204" pitchFamily="34" charset="0"/>
              <a:buChar char="•"/>
            </a:pPr>
            <a:r>
              <a:rPr lang="en-IN" sz="2200" dirty="0"/>
              <a:t>So we backtrack one step and place the queen 'q</a:t>
            </a:r>
            <a:r>
              <a:rPr lang="en-IN" sz="2200" baseline="-25000" dirty="0"/>
              <a:t>2</a:t>
            </a:r>
            <a:r>
              <a:rPr lang="en-IN" sz="2200" dirty="0"/>
              <a:t>' in (2, 4), the next best possible solution. Then we obtain the position for placing 'q</a:t>
            </a:r>
            <a:r>
              <a:rPr lang="en-IN" sz="2200" baseline="-25000" dirty="0"/>
              <a:t>3</a:t>
            </a:r>
            <a:r>
              <a:rPr lang="en-IN" sz="2200" dirty="0"/>
              <a:t>' which is (3, 2).</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IN" sz="2200" dirty="0"/>
              <a:t> But later this position also leads to a dead end, and no place is found where 'q</a:t>
            </a:r>
            <a:r>
              <a:rPr lang="en-IN" sz="2200" baseline="-25000" dirty="0"/>
              <a:t>4</a:t>
            </a:r>
            <a:r>
              <a:rPr lang="en-IN" sz="2200" dirty="0"/>
              <a:t>' can be placed safely. </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IN" sz="2200" dirty="0"/>
              <a:t>Then we have to backtrack till 'q</a:t>
            </a:r>
            <a:r>
              <a:rPr lang="en-IN" sz="2200" baseline="-25000" dirty="0"/>
              <a:t>1</a:t>
            </a:r>
            <a:r>
              <a:rPr lang="en-IN" sz="2200" dirty="0"/>
              <a:t>' and place it to (1, 2) and then all other queens are placed safely by moving q</a:t>
            </a:r>
            <a:r>
              <a:rPr lang="en-IN" sz="2200" baseline="-25000" dirty="0"/>
              <a:t>2</a:t>
            </a:r>
            <a:r>
              <a:rPr lang="en-IN" sz="2200" dirty="0"/>
              <a:t> to (2, 4), q</a:t>
            </a:r>
            <a:r>
              <a:rPr lang="en-IN" sz="2200" baseline="-25000" dirty="0"/>
              <a:t>3</a:t>
            </a:r>
            <a:r>
              <a:rPr lang="en-IN" sz="2200" dirty="0"/>
              <a:t> to (3, 1) and q</a:t>
            </a:r>
            <a:r>
              <a:rPr lang="en-IN" sz="2200" baseline="-25000" dirty="0"/>
              <a:t>4</a:t>
            </a:r>
            <a:r>
              <a:rPr lang="en-IN" sz="2200" dirty="0"/>
              <a:t> to (4, 3).</a:t>
            </a:r>
          </a:p>
          <a:p>
            <a:endParaRPr lang="en-IN" sz="2200" b="1" dirty="0"/>
          </a:p>
          <a:p>
            <a:pPr marL="285750" indent="-285750" fontAlgn="base">
              <a:buFont typeface="Arial" panose="020B0604020202020204" pitchFamily="34" charset="0"/>
              <a:buChar char="•"/>
            </a:pPr>
            <a:endParaRPr lang="en-IN" dirty="0"/>
          </a:p>
          <a:p>
            <a:pPr fontAlgn="base"/>
            <a:r>
              <a:rPr lang="en-IN" sz="2200" dirty="0"/>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9D1432F5-167B-430E-B3E8-5CD12EDBABAA}"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33</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723900" y="988255"/>
            <a:ext cx="7848600" cy="4832092"/>
          </a:xfrm>
          <a:prstGeom prst="rect">
            <a:avLst/>
          </a:prstGeom>
        </p:spPr>
        <p:txBody>
          <a:bodyPr wrap="square">
            <a:spAutoFit/>
          </a:bodyPr>
          <a:lstStyle/>
          <a:p>
            <a:pPr fontAlgn="base"/>
            <a:r>
              <a:rPr lang="en-IN" sz="2400" b="1" dirty="0"/>
              <a:t>N- Queens Problem</a:t>
            </a:r>
          </a:p>
          <a:p>
            <a:pPr fontAlgn="base"/>
            <a:endParaRPr lang="en-IN" sz="2400" b="1" dirty="0"/>
          </a:p>
          <a:p>
            <a:pPr marL="285750" indent="-285750">
              <a:buFont typeface="Arial" panose="020B0604020202020204" pitchFamily="34" charset="0"/>
              <a:buChar char="•"/>
            </a:pPr>
            <a:r>
              <a:rPr lang="en-IN" sz="2200" dirty="0"/>
              <a:t>That is, we get the solution (2, 4, 1, 3). </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IN" sz="2200" dirty="0"/>
              <a:t>This is one possible solution for the 4-queens problem. </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IN" sz="2200" dirty="0"/>
              <a:t>For another possible solution, the whole method is repeated for all partial solutions. The other solutions for 4 - queens problems is (3, 1, 4, 2) i.e.</a:t>
            </a:r>
          </a:p>
          <a:p>
            <a:endParaRPr lang="en-IN" sz="2200" dirty="0"/>
          </a:p>
          <a:p>
            <a:endParaRPr lang="en-IN" sz="2200" dirty="0"/>
          </a:p>
          <a:p>
            <a:pPr fontAlgn="base"/>
            <a:endParaRPr lang="en-IN" sz="2200" b="1" dirty="0"/>
          </a:p>
          <a:p>
            <a:pPr marL="285750" indent="-285750" fontAlgn="base">
              <a:buFont typeface="Arial" panose="020B0604020202020204" pitchFamily="34" charset="0"/>
              <a:buChar char="•"/>
            </a:pPr>
            <a:endParaRPr lang="en-IN" dirty="0"/>
          </a:p>
          <a:p>
            <a:pPr fontAlgn="base"/>
            <a:r>
              <a:rPr lang="en-IN" sz="2200" dirty="0"/>
              <a:t> </a:t>
            </a:r>
          </a:p>
        </p:txBody>
      </p:sp>
      <p:pic>
        <p:nvPicPr>
          <p:cNvPr id="10" name="Picture 9" descr="N-Queens Problem"/>
          <p:cNvPicPr/>
          <p:nvPr/>
        </p:nvPicPr>
        <p:blipFill>
          <a:blip r:embed="rId2">
            <a:extLst>
              <a:ext uri="{28A0092B-C50C-407E-A947-70E740481C1C}">
                <a14:useLocalDpi xmlns:a14="http://schemas.microsoft.com/office/drawing/2010/main" val="0"/>
              </a:ext>
            </a:extLst>
          </a:blip>
          <a:srcRect/>
          <a:stretch>
            <a:fillRect/>
          </a:stretch>
        </p:blipFill>
        <p:spPr bwMode="auto">
          <a:xfrm>
            <a:off x="3324225" y="4125484"/>
            <a:ext cx="1933575" cy="200787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B18F1EDA-293A-4DAC-98EF-CC9CA80C5EFF}"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34</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723900" y="988255"/>
            <a:ext cx="7772400" cy="5509200"/>
          </a:xfrm>
          <a:prstGeom prst="rect">
            <a:avLst/>
          </a:prstGeom>
        </p:spPr>
        <p:txBody>
          <a:bodyPr wrap="square">
            <a:spAutoFit/>
          </a:bodyPr>
          <a:lstStyle/>
          <a:p>
            <a:pPr fontAlgn="base"/>
            <a:r>
              <a:rPr lang="en-IN" sz="2400" b="1" dirty="0"/>
              <a:t>N- Queens Problem</a:t>
            </a:r>
          </a:p>
          <a:p>
            <a:pPr fontAlgn="base"/>
            <a:endParaRPr lang="en-IN" sz="2400" b="1" dirty="0"/>
          </a:p>
          <a:p>
            <a:pPr marL="342900" indent="-342900" algn="just">
              <a:buFont typeface="Arial" panose="020B0604020202020204" pitchFamily="34" charset="0"/>
              <a:buChar char="•"/>
            </a:pPr>
            <a:r>
              <a:rPr lang="en-IN" sz="2200" dirty="0"/>
              <a:t>Fig shows the complete state space for 4 - queens problem. But we can use backtracking method to generate the necessary node and stop if the next node violates the rule, i.e., if two queens are attacking.</a:t>
            </a:r>
          </a:p>
          <a:p>
            <a:pPr marL="342900" indent="-342900" algn="just">
              <a:buFont typeface="Arial" panose="020B0604020202020204" pitchFamily="34" charset="0"/>
              <a:buChar char="•"/>
            </a:pPr>
            <a:endParaRPr lang="en-IN" sz="2200" dirty="0"/>
          </a:p>
          <a:p>
            <a:pPr marL="342900" indent="-342900" algn="just">
              <a:buFont typeface="Arial" panose="020B0604020202020204" pitchFamily="34" charset="0"/>
              <a:buChar char="•"/>
            </a:pPr>
            <a:r>
              <a:rPr lang="en-IN" sz="2200" dirty="0"/>
              <a:t>It can be seen that all the solutions to the 4 queens problem can be represented as 4 - tuples (x</a:t>
            </a:r>
            <a:r>
              <a:rPr lang="en-IN" sz="2200" baseline="-25000" dirty="0"/>
              <a:t>1</a:t>
            </a:r>
            <a:r>
              <a:rPr lang="en-IN" sz="2200" dirty="0"/>
              <a:t>, x</a:t>
            </a:r>
            <a:r>
              <a:rPr lang="en-IN" sz="2200" baseline="-25000" dirty="0"/>
              <a:t>2</a:t>
            </a:r>
            <a:r>
              <a:rPr lang="en-IN" sz="2200" dirty="0"/>
              <a:t>, x</a:t>
            </a:r>
            <a:r>
              <a:rPr lang="en-IN" sz="2200" baseline="-25000" dirty="0"/>
              <a:t>3</a:t>
            </a:r>
            <a:r>
              <a:rPr lang="en-IN" sz="2200" dirty="0"/>
              <a:t>, x</a:t>
            </a:r>
            <a:r>
              <a:rPr lang="en-IN" sz="2200" baseline="-25000" dirty="0"/>
              <a:t>4</a:t>
            </a:r>
            <a:r>
              <a:rPr lang="en-IN" sz="2200" dirty="0"/>
              <a:t>) where x</a:t>
            </a:r>
            <a:r>
              <a:rPr lang="en-IN" sz="2200" baseline="-25000" dirty="0"/>
              <a:t>i</a:t>
            </a:r>
            <a:r>
              <a:rPr lang="en-IN" sz="2200" dirty="0"/>
              <a:t> represents the column on which queen "q</a:t>
            </a:r>
            <a:r>
              <a:rPr lang="en-IN" sz="2200" baseline="-25000" dirty="0"/>
              <a:t>i</a:t>
            </a:r>
            <a:r>
              <a:rPr lang="en-IN" sz="2200" dirty="0"/>
              <a:t>" is placed.</a:t>
            </a:r>
          </a:p>
          <a:p>
            <a:pPr algn="just"/>
            <a:endParaRPr lang="en-IN" sz="2200" dirty="0"/>
          </a:p>
          <a:p>
            <a:pPr algn="just"/>
            <a:endParaRPr lang="en-IN" sz="2200" dirty="0"/>
          </a:p>
          <a:p>
            <a:endParaRPr lang="en-IN" sz="2200" dirty="0"/>
          </a:p>
          <a:p>
            <a:pPr fontAlgn="base"/>
            <a:endParaRPr lang="en-IN" sz="2200" b="1" dirty="0"/>
          </a:p>
          <a:p>
            <a:pPr marL="285750" indent="-285750" fontAlgn="base">
              <a:buFont typeface="Arial" panose="020B0604020202020204" pitchFamily="34" charset="0"/>
              <a:buChar char="•"/>
            </a:pPr>
            <a:endParaRPr lang="en-IN" dirty="0"/>
          </a:p>
          <a:p>
            <a:pPr fontAlgn="base"/>
            <a:r>
              <a:rPr lang="en-IN" sz="2200" dirty="0"/>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11726A40-D7F3-481B-A1F3-DCBE3B4B2A1D}"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35</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723900" y="988255"/>
            <a:ext cx="7848600" cy="1446550"/>
          </a:xfrm>
          <a:prstGeom prst="rect">
            <a:avLst/>
          </a:prstGeom>
        </p:spPr>
        <p:txBody>
          <a:bodyPr wrap="square">
            <a:spAutoFit/>
          </a:bodyPr>
          <a:lstStyle/>
          <a:p>
            <a:pPr fontAlgn="base"/>
            <a:r>
              <a:rPr lang="en-IN" sz="2400" b="1" dirty="0"/>
              <a:t>4- Queens Problem</a:t>
            </a:r>
          </a:p>
          <a:p>
            <a:pPr fontAlgn="base"/>
            <a:endParaRPr lang="en-IN" sz="2400" b="1" dirty="0"/>
          </a:p>
          <a:p>
            <a:pPr marL="285750" indent="-285750" fontAlgn="base">
              <a:buFont typeface="Arial" panose="020B0604020202020204" pitchFamily="34" charset="0"/>
              <a:buChar char="•"/>
            </a:pPr>
            <a:endParaRPr lang="en-IN" dirty="0"/>
          </a:p>
          <a:p>
            <a:pPr fontAlgn="base"/>
            <a:r>
              <a:rPr lang="en-IN" sz="2200" dirty="0"/>
              <a:t> </a:t>
            </a:r>
          </a:p>
        </p:txBody>
      </p:sp>
      <p:pic>
        <p:nvPicPr>
          <p:cNvPr id="11" name="Picture 10" descr="N-Queens Problem"/>
          <p:cNvPicPr/>
          <p:nvPr/>
        </p:nvPicPr>
        <p:blipFill>
          <a:blip r:embed="rId2">
            <a:extLst>
              <a:ext uri="{28A0092B-C50C-407E-A947-70E740481C1C}">
                <a14:useLocalDpi xmlns:a14="http://schemas.microsoft.com/office/drawing/2010/main" val="0"/>
              </a:ext>
            </a:extLst>
          </a:blip>
          <a:srcRect/>
          <a:stretch>
            <a:fillRect/>
          </a:stretch>
        </p:blipFill>
        <p:spPr bwMode="auto">
          <a:xfrm>
            <a:off x="723900" y="1523999"/>
            <a:ext cx="7696200" cy="434574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A4DDDDFB-72C9-480E-AFFD-C7E2C9267707}"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36</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723900" y="988255"/>
            <a:ext cx="7772400" cy="6740307"/>
          </a:xfrm>
          <a:prstGeom prst="rect">
            <a:avLst/>
          </a:prstGeom>
        </p:spPr>
        <p:txBody>
          <a:bodyPr wrap="square">
            <a:spAutoFit/>
          </a:bodyPr>
          <a:lstStyle/>
          <a:p>
            <a:pPr fontAlgn="base"/>
            <a:r>
              <a:rPr lang="en-IN" sz="2400" b="1" dirty="0"/>
              <a:t>N- Queens Problem</a:t>
            </a:r>
          </a:p>
          <a:p>
            <a:endParaRPr lang="en-IN" dirty="0"/>
          </a:p>
          <a:p>
            <a:r>
              <a:rPr lang="en-IN" sz="2400" dirty="0"/>
              <a:t>Place (k, </a:t>
            </a:r>
            <a:r>
              <a:rPr lang="en-IN" sz="2400" dirty="0" err="1"/>
              <a:t>i</a:t>
            </a:r>
            <a:r>
              <a:rPr lang="en-IN" sz="2400" dirty="0"/>
              <a:t>)  </a:t>
            </a:r>
          </a:p>
          <a:p>
            <a:r>
              <a:rPr lang="en-IN" sz="2400" dirty="0"/>
              <a:t>   {  </a:t>
            </a:r>
          </a:p>
          <a:p>
            <a:r>
              <a:rPr lang="en-IN" sz="2400" dirty="0"/>
              <a:t>     For j  ←  1 to k - 1  </a:t>
            </a:r>
          </a:p>
          <a:p>
            <a:r>
              <a:rPr lang="en-IN" sz="2400" dirty="0"/>
              <a:t>      </a:t>
            </a:r>
            <a:r>
              <a:rPr lang="en-IN" sz="2400" b="1" dirty="0"/>
              <a:t>do</a:t>
            </a:r>
            <a:r>
              <a:rPr lang="en-IN" sz="2400" dirty="0"/>
              <a:t> </a:t>
            </a:r>
            <a:r>
              <a:rPr lang="en-IN" sz="2400" b="1" dirty="0"/>
              <a:t>if</a:t>
            </a:r>
            <a:r>
              <a:rPr lang="en-IN" sz="2400" dirty="0"/>
              <a:t> (x [j] = </a:t>
            </a:r>
            <a:r>
              <a:rPr lang="en-IN" sz="2400" dirty="0" err="1"/>
              <a:t>i</a:t>
            </a:r>
            <a:r>
              <a:rPr lang="en-IN" sz="2400" dirty="0"/>
              <a:t>)  </a:t>
            </a:r>
          </a:p>
          <a:p>
            <a:r>
              <a:rPr lang="en-IN" sz="2400" dirty="0"/>
              <a:t>       or (Abs x [j]) - </a:t>
            </a:r>
            <a:r>
              <a:rPr lang="en-IN" sz="2400" dirty="0" err="1"/>
              <a:t>i</a:t>
            </a:r>
            <a:r>
              <a:rPr lang="en-IN" sz="2400" dirty="0"/>
              <a:t>) = (Abs (j - k))  </a:t>
            </a:r>
          </a:p>
          <a:p>
            <a:r>
              <a:rPr lang="en-IN" sz="2400" dirty="0"/>
              <a:t>    then </a:t>
            </a:r>
            <a:r>
              <a:rPr lang="en-IN" sz="2400" b="1" dirty="0"/>
              <a:t>return</a:t>
            </a:r>
            <a:r>
              <a:rPr lang="en-IN" sz="2400" dirty="0"/>
              <a:t> </a:t>
            </a:r>
            <a:r>
              <a:rPr lang="en-IN" sz="2400" b="1" dirty="0"/>
              <a:t>false</a:t>
            </a:r>
            <a:r>
              <a:rPr lang="en-IN" sz="2400" dirty="0"/>
              <a:t>;  </a:t>
            </a:r>
          </a:p>
          <a:p>
            <a:r>
              <a:rPr lang="en-IN" sz="2400" dirty="0"/>
              <a:t>     </a:t>
            </a:r>
            <a:r>
              <a:rPr lang="en-IN" sz="2400" b="1" dirty="0"/>
              <a:t>return</a:t>
            </a:r>
            <a:r>
              <a:rPr lang="en-IN" sz="2400" dirty="0"/>
              <a:t> </a:t>
            </a:r>
            <a:r>
              <a:rPr lang="en-IN" sz="2400" b="1" dirty="0"/>
              <a:t>true</a:t>
            </a:r>
            <a:r>
              <a:rPr lang="en-IN" sz="2400" dirty="0"/>
              <a:t>;  </a:t>
            </a:r>
          </a:p>
          <a:p>
            <a:r>
              <a:rPr lang="en-IN" sz="2400" dirty="0"/>
              <a:t>}  </a:t>
            </a:r>
          </a:p>
          <a:p>
            <a:pPr marL="342900" indent="-342900" fontAlgn="base">
              <a:buFont typeface="Arial" panose="020B0604020202020204" pitchFamily="34" charset="0"/>
              <a:buChar char="•"/>
            </a:pPr>
            <a:r>
              <a:rPr lang="en-IN" sz="2200" dirty="0">
                <a:solidFill>
                  <a:srgbClr val="000000"/>
                </a:solidFill>
                <a:latin typeface="+mj-lt"/>
              </a:rPr>
              <a:t>Place (k, </a:t>
            </a:r>
            <a:r>
              <a:rPr lang="en-IN" sz="2200" dirty="0" err="1">
                <a:solidFill>
                  <a:srgbClr val="000000"/>
                </a:solidFill>
                <a:latin typeface="+mj-lt"/>
              </a:rPr>
              <a:t>i</a:t>
            </a:r>
            <a:r>
              <a:rPr lang="en-IN" sz="2200" dirty="0">
                <a:solidFill>
                  <a:srgbClr val="000000"/>
                </a:solidFill>
                <a:latin typeface="+mj-lt"/>
              </a:rPr>
              <a:t>) return true if a queen can be placed in the kth row and </a:t>
            </a:r>
            <a:r>
              <a:rPr lang="en-IN" sz="2200" dirty="0" err="1">
                <a:solidFill>
                  <a:srgbClr val="000000"/>
                </a:solidFill>
                <a:latin typeface="+mj-lt"/>
              </a:rPr>
              <a:t>ith</a:t>
            </a:r>
            <a:r>
              <a:rPr lang="en-IN" sz="2200" dirty="0">
                <a:solidFill>
                  <a:srgbClr val="000000"/>
                </a:solidFill>
                <a:latin typeface="+mj-lt"/>
              </a:rPr>
              <a:t> column otherwise return is false.</a:t>
            </a:r>
          </a:p>
          <a:p>
            <a:pPr marL="342900" indent="-342900" fontAlgn="base">
              <a:buFont typeface="Arial" panose="020B0604020202020204" pitchFamily="34" charset="0"/>
              <a:buChar char="•"/>
            </a:pPr>
            <a:r>
              <a:rPr lang="en-IN" sz="2200" dirty="0">
                <a:solidFill>
                  <a:srgbClr val="000000"/>
                </a:solidFill>
                <a:latin typeface="+mj-lt"/>
              </a:rPr>
              <a:t>x [] is a global array whose final k - 1 values have been set. Abs (r) returns the absolute value of r.</a:t>
            </a:r>
          </a:p>
          <a:p>
            <a:pPr marL="342900" indent="-342900" fontAlgn="base">
              <a:buFont typeface="Arial" panose="020B0604020202020204" pitchFamily="34" charset="0"/>
              <a:buChar char="•"/>
            </a:pPr>
            <a:endParaRPr lang="en-IN" sz="2200" dirty="0">
              <a:solidFill>
                <a:srgbClr val="000000"/>
              </a:solidFill>
              <a:latin typeface="+mj-lt"/>
            </a:endParaRPr>
          </a:p>
          <a:p>
            <a:pPr marL="342900" indent="-342900" fontAlgn="base">
              <a:buFont typeface="Arial" panose="020B0604020202020204" pitchFamily="34" charset="0"/>
              <a:buChar char="•"/>
            </a:pPr>
            <a:endParaRPr lang="en-IN" sz="2400" b="1" dirty="0"/>
          </a:p>
          <a:p>
            <a:pPr fontAlgn="base"/>
            <a:endParaRPr lang="en-IN" sz="2400" b="1" dirty="0"/>
          </a:p>
          <a:p>
            <a:pPr marL="285750" indent="-285750" fontAlgn="base">
              <a:buFont typeface="Arial" panose="020B0604020202020204" pitchFamily="34" charset="0"/>
              <a:buChar char="•"/>
            </a:pPr>
            <a:endParaRPr lang="en-IN" dirty="0"/>
          </a:p>
          <a:p>
            <a:pPr fontAlgn="base"/>
            <a:r>
              <a:rPr lang="en-IN" sz="22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500"/>
                                        <p:tgtEl>
                                          <p:spTgt spid="9">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3" end="3"/>
                                            </p:txEl>
                                          </p:spTgt>
                                        </p:tgtEl>
                                        <p:attrNameLst>
                                          <p:attrName>style.visibility</p:attrName>
                                        </p:attrNameLst>
                                      </p:cBhvr>
                                      <p:to>
                                        <p:strVal val="visible"/>
                                      </p:to>
                                    </p:set>
                                    <p:animEffect transition="in" filter="fade">
                                      <p:cBhvr>
                                        <p:cTn id="10" dur="500"/>
                                        <p:tgtEl>
                                          <p:spTgt spid="9">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
                                            <p:txEl>
                                              <p:pRg st="4" end="4"/>
                                            </p:txEl>
                                          </p:spTgt>
                                        </p:tgtEl>
                                        <p:attrNameLst>
                                          <p:attrName>style.visibility</p:attrName>
                                        </p:attrNameLst>
                                      </p:cBhvr>
                                      <p:to>
                                        <p:strVal val="visible"/>
                                      </p:to>
                                    </p:set>
                                    <p:animEffect transition="in" filter="fade">
                                      <p:cBhvr>
                                        <p:cTn id="13" dur="500"/>
                                        <p:tgtEl>
                                          <p:spTgt spid="9">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
                                            <p:txEl>
                                              <p:pRg st="5" end="5"/>
                                            </p:txEl>
                                          </p:spTgt>
                                        </p:tgtEl>
                                        <p:attrNameLst>
                                          <p:attrName>style.visibility</p:attrName>
                                        </p:attrNameLst>
                                      </p:cBhvr>
                                      <p:to>
                                        <p:strVal val="visible"/>
                                      </p:to>
                                    </p:set>
                                    <p:animEffect transition="in" filter="fade">
                                      <p:cBhvr>
                                        <p:cTn id="16" dur="500"/>
                                        <p:tgtEl>
                                          <p:spTgt spid="9">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animEffect transition="in" filter="fade">
                                      <p:cBhvr>
                                        <p:cTn id="19" dur="500"/>
                                        <p:tgtEl>
                                          <p:spTgt spid="9">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9">
                                            <p:txEl>
                                              <p:pRg st="7" end="7"/>
                                            </p:txEl>
                                          </p:spTgt>
                                        </p:tgtEl>
                                        <p:attrNameLst>
                                          <p:attrName>style.visibility</p:attrName>
                                        </p:attrNameLst>
                                      </p:cBhvr>
                                      <p:to>
                                        <p:strVal val="visible"/>
                                      </p:to>
                                    </p:set>
                                    <p:animEffect transition="in" filter="fade">
                                      <p:cBhvr>
                                        <p:cTn id="22" dur="500"/>
                                        <p:tgtEl>
                                          <p:spTgt spid="9">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9">
                                            <p:txEl>
                                              <p:pRg st="8" end="8"/>
                                            </p:txEl>
                                          </p:spTgt>
                                        </p:tgtEl>
                                        <p:attrNameLst>
                                          <p:attrName>style.visibility</p:attrName>
                                        </p:attrNameLst>
                                      </p:cBhvr>
                                      <p:to>
                                        <p:strVal val="visible"/>
                                      </p:to>
                                    </p:set>
                                    <p:animEffect transition="in" filter="fade">
                                      <p:cBhvr>
                                        <p:cTn id="25" dur="500"/>
                                        <p:tgtEl>
                                          <p:spTgt spid="9">
                                            <p:txEl>
                                              <p:pRg st="8" end="8"/>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9">
                                            <p:txEl>
                                              <p:pRg st="9" end="9"/>
                                            </p:txEl>
                                          </p:spTgt>
                                        </p:tgtEl>
                                        <p:attrNameLst>
                                          <p:attrName>style.visibility</p:attrName>
                                        </p:attrNameLst>
                                      </p:cBhvr>
                                      <p:to>
                                        <p:strVal val="visible"/>
                                      </p:to>
                                    </p:set>
                                    <p:animEffect transition="in" filter="fade">
                                      <p:cBhvr>
                                        <p:cTn id="28" dur="500"/>
                                        <p:tgtEl>
                                          <p:spTgt spid="9">
                                            <p:txEl>
                                              <p:pRg st="9" end="9"/>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86E76E6A-24A8-4DE2-B97C-352288C1EE77}"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37</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723900" y="988255"/>
            <a:ext cx="7848600" cy="1446550"/>
          </a:xfrm>
          <a:prstGeom prst="rect">
            <a:avLst/>
          </a:prstGeom>
        </p:spPr>
        <p:txBody>
          <a:bodyPr wrap="square">
            <a:spAutoFit/>
          </a:bodyPr>
          <a:lstStyle/>
          <a:p>
            <a:pPr fontAlgn="base"/>
            <a:r>
              <a:rPr lang="en-IN" sz="2400" b="1" dirty="0"/>
              <a:t>N- Queens Problem</a:t>
            </a:r>
          </a:p>
          <a:p>
            <a:pPr fontAlgn="base"/>
            <a:endParaRPr lang="en-IN" sz="2400" b="1" dirty="0"/>
          </a:p>
          <a:p>
            <a:pPr marL="285750" indent="-285750" fontAlgn="base">
              <a:buFont typeface="Arial" panose="020B0604020202020204" pitchFamily="34" charset="0"/>
              <a:buChar char="•"/>
            </a:pPr>
            <a:endParaRPr lang="en-IN" dirty="0"/>
          </a:p>
          <a:p>
            <a:pPr fontAlgn="base"/>
            <a:r>
              <a:rPr lang="en-IN" sz="2200" dirty="0"/>
              <a:t> </a:t>
            </a:r>
          </a:p>
        </p:txBody>
      </p:sp>
      <p:sp>
        <p:nvSpPr>
          <p:cNvPr id="2" name="Rectangle 1"/>
          <p:cNvSpPr/>
          <p:nvPr/>
        </p:nvSpPr>
        <p:spPr>
          <a:xfrm>
            <a:off x="723900" y="1454397"/>
            <a:ext cx="7524457" cy="5262979"/>
          </a:xfrm>
          <a:prstGeom prst="rect">
            <a:avLst/>
          </a:prstGeom>
        </p:spPr>
        <p:txBody>
          <a:bodyPr wrap="square">
            <a:spAutoFit/>
          </a:bodyPr>
          <a:lstStyle/>
          <a:p>
            <a:pPr marL="285750" indent="-285750">
              <a:buFont typeface="Arial" panose="020B0604020202020204" pitchFamily="34" charset="0"/>
              <a:buChar char="•"/>
            </a:pPr>
            <a:r>
              <a:rPr lang="en-IN" dirty="0">
                <a:solidFill>
                  <a:srgbClr val="000000"/>
                </a:solidFill>
                <a:latin typeface="Verdana" panose="020B0604030504040204" pitchFamily="34" charset="0"/>
              </a:rPr>
              <a:t>x [] is a global array whose final k - 1 values have been set. Abs (r) returns the absolute value of r.</a:t>
            </a:r>
          </a:p>
          <a:p>
            <a:pPr marL="285750" indent="-285750">
              <a:buFont typeface="Arial" panose="020B0604020202020204" pitchFamily="34" charset="0"/>
              <a:buChar char="•"/>
            </a:pPr>
            <a:endParaRPr lang="en-IN" b="0" i="0" dirty="0">
              <a:solidFill>
                <a:srgbClr val="000000"/>
              </a:solidFill>
              <a:effectLst/>
              <a:latin typeface="Verdana" panose="020B0604030504040204" pitchFamily="34" charset="0"/>
            </a:endParaRPr>
          </a:p>
          <a:p>
            <a:r>
              <a:rPr lang="en-IN" sz="2200" dirty="0"/>
              <a:t>N - Queens (k, n)  </a:t>
            </a:r>
          </a:p>
          <a:p>
            <a:r>
              <a:rPr lang="en-IN" sz="2200" dirty="0"/>
              <a:t>{  </a:t>
            </a:r>
          </a:p>
          <a:p>
            <a:r>
              <a:rPr lang="en-IN" sz="2200" dirty="0"/>
              <a:t>   For </a:t>
            </a:r>
            <a:r>
              <a:rPr lang="en-IN" sz="2200" dirty="0" err="1"/>
              <a:t>i</a:t>
            </a:r>
            <a:r>
              <a:rPr lang="en-IN" sz="2200" dirty="0"/>
              <a:t>  ←  1 to n  </a:t>
            </a:r>
          </a:p>
          <a:p>
            <a:r>
              <a:rPr lang="en-IN" sz="2200" dirty="0"/>
              <a:t>        </a:t>
            </a:r>
            <a:r>
              <a:rPr lang="en-IN" sz="2200" b="1" dirty="0"/>
              <a:t>do</a:t>
            </a:r>
            <a:r>
              <a:rPr lang="en-IN" sz="2200" dirty="0"/>
              <a:t> </a:t>
            </a:r>
            <a:r>
              <a:rPr lang="en-IN" sz="2200" b="1" dirty="0"/>
              <a:t>if</a:t>
            </a:r>
            <a:r>
              <a:rPr lang="en-IN" sz="2200" dirty="0"/>
              <a:t> Place (k, </a:t>
            </a:r>
            <a:r>
              <a:rPr lang="en-IN" sz="2200" dirty="0" err="1"/>
              <a:t>i</a:t>
            </a:r>
            <a:r>
              <a:rPr lang="en-IN" sz="2200" dirty="0"/>
              <a:t>) then  </a:t>
            </a:r>
          </a:p>
          <a:p>
            <a:r>
              <a:rPr lang="en-IN" sz="2200" dirty="0"/>
              <a:t>   {  </a:t>
            </a:r>
          </a:p>
          <a:p>
            <a:r>
              <a:rPr lang="en-IN" sz="2200" dirty="0"/>
              <a:t>      x [k]  ←  </a:t>
            </a:r>
            <a:r>
              <a:rPr lang="en-IN" sz="2200" dirty="0" err="1"/>
              <a:t>i</a:t>
            </a:r>
            <a:r>
              <a:rPr lang="en-IN" sz="2200" dirty="0"/>
              <a:t>;  </a:t>
            </a:r>
          </a:p>
          <a:p>
            <a:r>
              <a:rPr lang="en-IN" sz="2200" dirty="0"/>
              <a:t>      </a:t>
            </a:r>
            <a:r>
              <a:rPr lang="en-IN" sz="2200" b="1" dirty="0"/>
              <a:t>if</a:t>
            </a:r>
            <a:r>
              <a:rPr lang="en-IN" sz="2200" dirty="0"/>
              <a:t> (k ==n) then  </a:t>
            </a:r>
          </a:p>
          <a:p>
            <a:r>
              <a:rPr lang="en-IN" sz="2200" dirty="0"/>
              <a:t>        write (x [1....n));  </a:t>
            </a:r>
          </a:p>
          <a:p>
            <a:r>
              <a:rPr lang="en-IN" sz="2200" dirty="0"/>
              <a:t>      </a:t>
            </a:r>
            <a:r>
              <a:rPr lang="en-IN" sz="2200" b="1" dirty="0"/>
              <a:t>else</a:t>
            </a:r>
            <a:r>
              <a:rPr lang="en-IN" sz="2200" dirty="0"/>
              <a:t>  </a:t>
            </a:r>
          </a:p>
          <a:p>
            <a:r>
              <a:rPr lang="en-IN" sz="2200" dirty="0"/>
              <a:t>      N - Queens (k + 1, n);  </a:t>
            </a:r>
          </a:p>
          <a:p>
            <a:r>
              <a:rPr lang="en-IN" sz="2200" dirty="0"/>
              <a:t>   }  </a:t>
            </a:r>
          </a:p>
          <a:p>
            <a:r>
              <a:rPr lang="en-IN" sz="2200" dirty="0"/>
              <a:t>}  </a:t>
            </a:r>
          </a:p>
          <a:p>
            <a:pPr marL="285750" indent="-285750">
              <a:buFont typeface="Arial" panose="020B0604020202020204" pitchFamily="34" charset="0"/>
              <a:buChar char="•"/>
            </a:pPr>
            <a:endParaRPr lang="en-IN" b="0" i="0" dirty="0">
              <a:solidFill>
                <a:srgbClr val="000000"/>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anim calcmode="lin" valueType="num">
                                      <p:cBhvr additive="base">
                                        <p:cTn id="1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 calcmode="lin" valueType="num">
                                      <p:cBhvr additive="base">
                                        <p:cTn id="1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 calcmode="lin" valueType="num">
                                      <p:cBhvr additive="base">
                                        <p:cTn id="19"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 calcmode="lin" valueType="num">
                                      <p:cBhvr additive="base">
                                        <p:cTn id="2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 calcmode="lin" valueType="num">
                                      <p:cBhvr additive="base">
                                        <p:cTn id="2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 calcmode="lin" valueType="num">
                                      <p:cBhvr additive="base">
                                        <p:cTn id="31"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anim calcmode="lin" valueType="num">
                                      <p:cBhvr additive="base">
                                        <p:cTn id="35"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anim calcmode="lin" valueType="num">
                                      <p:cBhvr additive="base">
                                        <p:cTn id="39"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anim calcmode="lin" valueType="num">
                                      <p:cBhvr additive="base">
                                        <p:cTn id="43"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11" end="11"/>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
                                            <p:txEl>
                                              <p:pRg st="12" end="12"/>
                                            </p:txEl>
                                          </p:spTgt>
                                        </p:tgtEl>
                                        <p:attrNameLst>
                                          <p:attrName>style.visibility</p:attrName>
                                        </p:attrNameLst>
                                      </p:cBhvr>
                                      <p:to>
                                        <p:strVal val="visible"/>
                                      </p:to>
                                    </p:set>
                                    <p:anim calcmode="lin" valueType="num">
                                      <p:cBhvr additive="base">
                                        <p:cTn id="47" dur="500" fill="hold"/>
                                        <p:tgtEl>
                                          <p:spTgt spid="2">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
                                            <p:txEl>
                                              <p:pRg st="12" end="12"/>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
                                            <p:txEl>
                                              <p:pRg st="13" end="13"/>
                                            </p:txEl>
                                          </p:spTgt>
                                        </p:tgtEl>
                                        <p:attrNameLst>
                                          <p:attrName>style.visibility</p:attrName>
                                        </p:attrNameLst>
                                      </p:cBhvr>
                                      <p:to>
                                        <p:strVal val="visible"/>
                                      </p:to>
                                    </p:set>
                                    <p:anim calcmode="lin" valueType="num">
                                      <p:cBhvr additive="base">
                                        <p:cTn id="51" dur="500" fill="hold"/>
                                        <p:tgtEl>
                                          <p:spTgt spid="2">
                                            <p:txEl>
                                              <p:pRg st="13" end="1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64C9AACA-57B3-43FA-9CE4-E51716628C49}"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38</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723900" y="988255"/>
            <a:ext cx="7848600" cy="1446550"/>
          </a:xfrm>
          <a:prstGeom prst="rect">
            <a:avLst/>
          </a:prstGeom>
        </p:spPr>
        <p:txBody>
          <a:bodyPr wrap="square">
            <a:spAutoFit/>
          </a:bodyPr>
          <a:lstStyle/>
          <a:p>
            <a:pPr fontAlgn="base"/>
            <a:r>
              <a:rPr lang="en-IN" sz="2400" b="1" dirty="0"/>
              <a:t>8- Queens Problem</a:t>
            </a:r>
          </a:p>
          <a:p>
            <a:pPr fontAlgn="base"/>
            <a:endParaRPr lang="en-IN" sz="2400" b="1" dirty="0"/>
          </a:p>
          <a:p>
            <a:pPr marL="285750" indent="-285750" fontAlgn="base">
              <a:buFont typeface="Arial" panose="020B0604020202020204" pitchFamily="34" charset="0"/>
              <a:buChar char="•"/>
            </a:pPr>
            <a:endParaRPr lang="en-IN" dirty="0"/>
          </a:p>
          <a:p>
            <a:pPr fontAlgn="base"/>
            <a:r>
              <a:rPr lang="en-IN" sz="2200" dirty="0"/>
              <a:t> </a:t>
            </a:r>
          </a:p>
        </p:txBody>
      </p:sp>
      <p:pic>
        <p:nvPicPr>
          <p:cNvPr id="10" name="Picture 9" descr="N-Queens Problem"/>
          <p:cNvPicPr/>
          <p:nvPr/>
        </p:nvPicPr>
        <p:blipFill>
          <a:blip r:embed="rId2">
            <a:extLst>
              <a:ext uri="{28A0092B-C50C-407E-A947-70E740481C1C}">
                <a14:useLocalDpi xmlns:a14="http://schemas.microsoft.com/office/drawing/2010/main" val="0"/>
              </a:ext>
            </a:extLst>
          </a:blip>
          <a:srcRect/>
          <a:stretch>
            <a:fillRect/>
          </a:stretch>
        </p:blipFill>
        <p:spPr bwMode="auto">
          <a:xfrm>
            <a:off x="3486150" y="1085806"/>
            <a:ext cx="3429000" cy="2594480"/>
          </a:xfrm>
          <a:prstGeom prst="rect">
            <a:avLst/>
          </a:prstGeom>
          <a:noFill/>
          <a:ln>
            <a:noFill/>
          </a:ln>
        </p:spPr>
      </p:pic>
      <p:sp>
        <p:nvSpPr>
          <p:cNvPr id="11" name="Rectangle 10"/>
          <p:cNvSpPr/>
          <p:nvPr/>
        </p:nvSpPr>
        <p:spPr>
          <a:xfrm>
            <a:off x="757897" y="3737392"/>
            <a:ext cx="6963508" cy="2585323"/>
          </a:xfrm>
          <a:prstGeom prst="rect">
            <a:avLst/>
          </a:prstGeom>
        </p:spPr>
        <p:txBody>
          <a:bodyPr wrap="square">
            <a:spAutoFit/>
          </a:bodyPr>
          <a:lstStyle/>
          <a:p>
            <a:pPr>
              <a:buFont typeface="+mj-lt"/>
              <a:buAutoNum type="arabicPeriod"/>
            </a:pPr>
            <a:r>
              <a:rPr lang="en-IN" dirty="0">
                <a:solidFill>
                  <a:srgbClr val="000000"/>
                </a:solidFill>
                <a:latin typeface="Verdana" panose="020B0604030504040204" pitchFamily="34" charset="0"/>
              </a:rPr>
              <a:t>Thus, the solution </a:t>
            </a:r>
            <a:r>
              <a:rPr lang="en-IN" b="1" dirty="0">
                <a:solidFill>
                  <a:srgbClr val="006699"/>
                </a:solidFill>
                <a:latin typeface="Verdana" panose="020B0604030504040204" pitchFamily="34" charset="0"/>
              </a:rPr>
              <a:t>for</a:t>
            </a:r>
            <a:r>
              <a:rPr lang="en-IN" dirty="0">
                <a:solidFill>
                  <a:srgbClr val="000000"/>
                </a:solidFill>
                <a:latin typeface="Verdana" panose="020B0604030504040204" pitchFamily="34" charset="0"/>
              </a:rPr>
              <a:t> </a:t>
            </a:r>
            <a:r>
              <a:rPr lang="en-IN" dirty="0">
                <a:solidFill>
                  <a:srgbClr val="C00000"/>
                </a:solidFill>
                <a:latin typeface="Verdana" panose="020B0604030504040204" pitchFamily="34" charset="0"/>
              </a:rPr>
              <a:t>8</a:t>
            </a:r>
            <a:r>
              <a:rPr lang="en-IN" dirty="0">
                <a:solidFill>
                  <a:srgbClr val="000000"/>
                </a:solidFill>
                <a:latin typeface="Verdana" panose="020B0604030504040204" pitchFamily="34" charset="0"/>
              </a:rPr>
              <a:t> -queen problem </a:t>
            </a:r>
            <a:r>
              <a:rPr lang="en-IN" b="1" dirty="0">
                <a:solidFill>
                  <a:srgbClr val="006699"/>
                </a:solidFill>
                <a:latin typeface="Verdana" panose="020B0604030504040204" pitchFamily="34" charset="0"/>
              </a:rPr>
              <a:t>for</a:t>
            </a:r>
            <a:r>
              <a:rPr lang="en-IN" dirty="0">
                <a:solidFill>
                  <a:srgbClr val="000000"/>
                </a:solidFill>
                <a:latin typeface="Verdana" panose="020B0604030504040204" pitchFamily="34" charset="0"/>
              </a:rPr>
              <a:t> (</a:t>
            </a:r>
            <a:r>
              <a:rPr lang="en-IN" dirty="0">
                <a:solidFill>
                  <a:srgbClr val="C00000"/>
                </a:solidFill>
                <a:latin typeface="Verdana" panose="020B0604030504040204" pitchFamily="34" charset="0"/>
              </a:rPr>
              <a:t>4</a:t>
            </a:r>
            <a:r>
              <a:rPr lang="en-IN" dirty="0">
                <a:solidFill>
                  <a:srgbClr val="000000"/>
                </a:solidFill>
                <a:latin typeface="Verdana" panose="020B0604030504040204" pitchFamily="34" charset="0"/>
              </a:rPr>
              <a:t>, </a:t>
            </a:r>
            <a:r>
              <a:rPr lang="en-IN" dirty="0">
                <a:solidFill>
                  <a:srgbClr val="C00000"/>
                </a:solidFill>
                <a:latin typeface="Verdana" panose="020B0604030504040204" pitchFamily="34" charset="0"/>
              </a:rPr>
              <a:t>6</a:t>
            </a:r>
            <a:r>
              <a:rPr lang="en-IN" dirty="0">
                <a:solidFill>
                  <a:srgbClr val="000000"/>
                </a:solidFill>
                <a:latin typeface="Verdana" panose="020B0604030504040204" pitchFamily="34" charset="0"/>
              </a:rPr>
              <a:t>, </a:t>
            </a:r>
            <a:r>
              <a:rPr lang="en-IN" dirty="0">
                <a:solidFill>
                  <a:srgbClr val="C00000"/>
                </a:solidFill>
                <a:latin typeface="Verdana" panose="020B0604030504040204" pitchFamily="34" charset="0"/>
              </a:rPr>
              <a:t>8</a:t>
            </a:r>
            <a:r>
              <a:rPr lang="en-IN" dirty="0">
                <a:solidFill>
                  <a:srgbClr val="000000"/>
                </a:solidFill>
                <a:latin typeface="Verdana" panose="020B0604030504040204" pitchFamily="34" charset="0"/>
              </a:rPr>
              <a:t>, </a:t>
            </a:r>
            <a:r>
              <a:rPr lang="en-IN" dirty="0">
                <a:solidFill>
                  <a:srgbClr val="C00000"/>
                </a:solidFill>
                <a:latin typeface="Verdana" panose="020B0604030504040204" pitchFamily="34" charset="0"/>
              </a:rPr>
              <a:t>2</a:t>
            </a:r>
            <a:r>
              <a:rPr lang="en-IN" dirty="0">
                <a:solidFill>
                  <a:srgbClr val="000000"/>
                </a:solidFill>
                <a:latin typeface="Verdana" panose="020B0604030504040204" pitchFamily="34" charset="0"/>
              </a:rPr>
              <a:t>, </a:t>
            </a:r>
            <a:r>
              <a:rPr lang="en-IN" dirty="0">
                <a:solidFill>
                  <a:srgbClr val="C00000"/>
                </a:solidFill>
                <a:latin typeface="Verdana" panose="020B0604030504040204" pitchFamily="34" charset="0"/>
              </a:rPr>
              <a:t>7</a:t>
            </a:r>
            <a:r>
              <a:rPr lang="en-IN" dirty="0">
                <a:solidFill>
                  <a:srgbClr val="000000"/>
                </a:solidFill>
                <a:latin typeface="Verdana" panose="020B0604030504040204" pitchFamily="34" charset="0"/>
              </a:rPr>
              <a:t>, </a:t>
            </a:r>
            <a:r>
              <a:rPr lang="en-IN" dirty="0">
                <a:solidFill>
                  <a:srgbClr val="C00000"/>
                </a:solidFill>
                <a:latin typeface="Verdana" panose="020B0604030504040204" pitchFamily="34" charset="0"/>
              </a:rPr>
              <a:t>1</a:t>
            </a:r>
            <a:r>
              <a:rPr lang="en-IN" dirty="0">
                <a:solidFill>
                  <a:srgbClr val="000000"/>
                </a:solidFill>
                <a:latin typeface="Verdana" panose="020B0604030504040204" pitchFamily="34" charset="0"/>
              </a:rPr>
              <a:t>, </a:t>
            </a:r>
            <a:r>
              <a:rPr lang="en-IN" dirty="0">
                <a:solidFill>
                  <a:srgbClr val="C00000"/>
                </a:solidFill>
                <a:latin typeface="Verdana" panose="020B0604030504040204" pitchFamily="34" charset="0"/>
              </a:rPr>
              <a:t>3</a:t>
            </a:r>
            <a:r>
              <a:rPr lang="en-IN" dirty="0">
                <a:solidFill>
                  <a:srgbClr val="000000"/>
                </a:solidFill>
                <a:latin typeface="Verdana" panose="020B0604030504040204" pitchFamily="34" charset="0"/>
              </a:rPr>
              <a:t>, </a:t>
            </a:r>
            <a:r>
              <a:rPr lang="en-IN" dirty="0">
                <a:solidFill>
                  <a:srgbClr val="C00000"/>
                </a:solidFill>
                <a:latin typeface="Verdana" panose="020B0604030504040204" pitchFamily="34" charset="0"/>
              </a:rPr>
              <a:t>5</a:t>
            </a:r>
            <a:r>
              <a:rPr lang="en-IN" dirty="0">
                <a:solidFill>
                  <a:srgbClr val="000000"/>
                </a:solidFill>
                <a:latin typeface="Verdana" panose="020B0604030504040204" pitchFamily="34" charset="0"/>
              </a:rPr>
              <a:t>).  </a:t>
            </a:r>
          </a:p>
          <a:p>
            <a:pPr>
              <a:buFont typeface="+mj-lt"/>
              <a:buAutoNum type="arabicPeriod"/>
            </a:pPr>
            <a:r>
              <a:rPr lang="en-IN" dirty="0">
                <a:solidFill>
                  <a:srgbClr val="000000"/>
                </a:solidFill>
                <a:latin typeface="Verdana" panose="020B0604030504040204" pitchFamily="34" charset="0"/>
              </a:rPr>
              <a:t>If two queens are placed at position (</a:t>
            </a:r>
            <a:r>
              <a:rPr lang="en-IN" dirty="0" err="1">
                <a:solidFill>
                  <a:srgbClr val="000000"/>
                </a:solidFill>
                <a:latin typeface="Verdana" panose="020B0604030504040204" pitchFamily="34" charset="0"/>
              </a:rPr>
              <a:t>i</a:t>
            </a:r>
            <a:r>
              <a:rPr lang="en-IN" dirty="0">
                <a:solidFill>
                  <a:srgbClr val="000000"/>
                </a:solidFill>
                <a:latin typeface="Verdana" panose="020B0604030504040204" pitchFamily="34" charset="0"/>
              </a:rPr>
              <a:t>, j) and (k, l).  </a:t>
            </a:r>
          </a:p>
          <a:p>
            <a:pPr>
              <a:buFont typeface="+mj-lt"/>
              <a:buAutoNum type="arabicPeriod"/>
            </a:pPr>
            <a:r>
              <a:rPr lang="en-IN" dirty="0">
                <a:solidFill>
                  <a:srgbClr val="000000"/>
                </a:solidFill>
                <a:latin typeface="Verdana" panose="020B0604030504040204" pitchFamily="34" charset="0"/>
              </a:rPr>
              <a:t>Then they are on same diagonal only </a:t>
            </a:r>
            <a:r>
              <a:rPr lang="en-IN" b="1" dirty="0">
                <a:solidFill>
                  <a:srgbClr val="006699"/>
                </a:solidFill>
                <a:latin typeface="Verdana" panose="020B0604030504040204" pitchFamily="34" charset="0"/>
              </a:rPr>
              <a:t>if</a:t>
            </a:r>
            <a:r>
              <a:rPr lang="en-IN" dirty="0">
                <a:solidFill>
                  <a:srgbClr val="000000"/>
                </a:solidFill>
                <a:latin typeface="Verdana" panose="020B0604030504040204" pitchFamily="34" charset="0"/>
              </a:rPr>
              <a:t> (</a:t>
            </a:r>
            <a:r>
              <a:rPr lang="en-IN" dirty="0" err="1">
                <a:solidFill>
                  <a:srgbClr val="000000"/>
                </a:solidFill>
                <a:latin typeface="Verdana" panose="020B0604030504040204" pitchFamily="34" charset="0"/>
              </a:rPr>
              <a:t>i</a:t>
            </a:r>
            <a:r>
              <a:rPr lang="en-IN" dirty="0">
                <a:solidFill>
                  <a:srgbClr val="000000"/>
                </a:solidFill>
                <a:latin typeface="Verdana" panose="020B0604030504040204" pitchFamily="34" charset="0"/>
              </a:rPr>
              <a:t> - j) = k - l or </a:t>
            </a:r>
            <a:r>
              <a:rPr lang="en-IN" dirty="0" err="1">
                <a:solidFill>
                  <a:srgbClr val="000000"/>
                </a:solidFill>
                <a:latin typeface="Verdana" panose="020B0604030504040204" pitchFamily="34" charset="0"/>
              </a:rPr>
              <a:t>i</a:t>
            </a:r>
            <a:r>
              <a:rPr lang="en-IN" dirty="0">
                <a:solidFill>
                  <a:srgbClr val="000000"/>
                </a:solidFill>
                <a:latin typeface="Verdana" panose="020B0604030504040204" pitchFamily="34" charset="0"/>
              </a:rPr>
              <a:t> + j = k + l.  </a:t>
            </a:r>
          </a:p>
          <a:p>
            <a:pPr>
              <a:buFont typeface="+mj-lt"/>
              <a:buAutoNum type="arabicPeriod"/>
            </a:pPr>
            <a:r>
              <a:rPr lang="en-IN" dirty="0">
                <a:solidFill>
                  <a:srgbClr val="000000"/>
                </a:solidFill>
                <a:latin typeface="Verdana" panose="020B0604030504040204" pitchFamily="34" charset="0"/>
              </a:rPr>
              <a:t>The first equation implies that j - l = </a:t>
            </a:r>
            <a:r>
              <a:rPr lang="en-IN" dirty="0" err="1">
                <a:solidFill>
                  <a:srgbClr val="000000"/>
                </a:solidFill>
                <a:latin typeface="Verdana" panose="020B0604030504040204" pitchFamily="34" charset="0"/>
              </a:rPr>
              <a:t>i</a:t>
            </a:r>
            <a:r>
              <a:rPr lang="en-IN" dirty="0">
                <a:solidFill>
                  <a:srgbClr val="000000"/>
                </a:solidFill>
                <a:latin typeface="Verdana" panose="020B0604030504040204" pitchFamily="34" charset="0"/>
              </a:rPr>
              <a:t> - k.  </a:t>
            </a:r>
          </a:p>
          <a:p>
            <a:pPr>
              <a:buFont typeface="+mj-lt"/>
              <a:buAutoNum type="arabicPeriod"/>
            </a:pPr>
            <a:r>
              <a:rPr lang="en-IN" dirty="0">
                <a:solidFill>
                  <a:srgbClr val="000000"/>
                </a:solidFill>
                <a:latin typeface="Verdana" panose="020B0604030504040204" pitchFamily="34" charset="0"/>
              </a:rPr>
              <a:t>The second equation implies that j - l = k - </a:t>
            </a:r>
            <a:r>
              <a:rPr lang="en-IN" dirty="0" err="1">
                <a:solidFill>
                  <a:srgbClr val="000000"/>
                </a:solidFill>
                <a:latin typeface="Verdana" panose="020B0604030504040204" pitchFamily="34" charset="0"/>
              </a:rPr>
              <a:t>i</a:t>
            </a:r>
            <a:r>
              <a:rPr lang="en-IN" dirty="0">
                <a:solidFill>
                  <a:srgbClr val="000000"/>
                </a:solidFill>
                <a:latin typeface="Verdana" panose="020B0604030504040204" pitchFamily="34" charset="0"/>
              </a:rPr>
              <a:t>.  </a:t>
            </a:r>
          </a:p>
          <a:p>
            <a:pPr>
              <a:buFont typeface="+mj-lt"/>
              <a:buAutoNum type="arabicPeriod"/>
            </a:pPr>
            <a:r>
              <a:rPr lang="en-IN" dirty="0">
                <a:solidFill>
                  <a:srgbClr val="000000"/>
                </a:solidFill>
                <a:latin typeface="Verdana" panose="020B0604030504040204" pitchFamily="34" charset="0"/>
              </a:rPr>
              <a:t>Therefore, two queens lie on the duplicate diagonal </a:t>
            </a:r>
            <a:r>
              <a:rPr lang="en-IN" b="1" dirty="0">
                <a:solidFill>
                  <a:srgbClr val="006699"/>
                </a:solidFill>
                <a:latin typeface="Verdana" panose="020B0604030504040204" pitchFamily="34" charset="0"/>
              </a:rPr>
              <a:t>if</a:t>
            </a:r>
            <a:r>
              <a:rPr lang="en-IN" dirty="0">
                <a:solidFill>
                  <a:srgbClr val="000000"/>
                </a:solidFill>
                <a:latin typeface="Verdana" panose="020B0604030504040204" pitchFamily="34" charset="0"/>
              </a:rPr>
              <a:t> and only </a:t>
            </a:r>
            <a:r>
              <a:rPr lang="en-IN" b="1" dirty="0">
                <a:solidFill>
                  <a:srgbClr val="006699"/>
                </a:solidFill>
                <a:latin typeface="Verdana" panose="020B0604030504040204" pitchFamily="34" charset="0"/>
              </a:rPr>
              <a:t>if</a:t>
            </a:r>
            <a:r>
              <a:rPr lang="en-IN" dirty="0">
                <a:solidFill>
                  <a:srgbClr val="000000"/>
                </a:solidFill>
                <a:latin typeface="Verdana" panose="020B0604030504040204" pitchFamily="34" charset="0"/>
              </a:rPr>
              <a:t> |j-l|=|</a:t>
            </a:r>
            <a:r>
              <a:rPr lang="en-IN" dirty="0" err="1">
                <a:solidFill>
                  <a:srgbClr val="000000"/>
                </a:solidFill>
                <a:latin typeface="Verdana" panose="020B0604030504040204" pitchFamily="34" charset="0"/>
              </a:rPr>
              <a:t>i</a:t>
            </a:r>
            <a:r>
              <a:rPr lang="en-IN" dirty="0">
                <a:solidFill>
                  <a:srgbClr val="000000"/>
                </a:solidFill>
                <a:latin typeface="Verdana" panose="020B0604030504040204" pitchFamily="34" charset="0"/>
              </a:rPr>
              <a:t>-k|  </a:t>
            </a:r>
            <a:endParaRPr lang="en-IN" b="0" i="0" dirty="0">
              <a:solidFill>
                <a:srgbClr val="000000"/>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anim calcmode="lin" valueType="num">
                                      <p:cBhvr additive="base">
                                        <p:cTn id="11"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anim calcmode="lin" valueType="num">
                                      <p:cBhvr additive="base">
                                        <p:cTn id="15"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anim calcmode="lin" valueType="num">
                                      <p:cBhvr additive="base">
                                        <p:cTn id="19"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anim calcmode="lin" valueType="num">
                                      <p:cBhvr additive="base">
                                        <p:cTn id="23"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 calcmode="lin" valueType="num">
                                      <p:cBhvr additive="base">
                                        <p:cTn id="27"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1">
                                            <p:txEl>
                                              <p:pRg st="5" end="5"/>
                                            </p:txEl>
                                          </p:spTgt>
                                        </p:tgtEl>
                                        <p:attrNameLst>
                                          <p:attrName>style.visibility</p:attrName>
                                        </p:attrNameLst>
                                      </p:cBhvr>
                                      <p:to>
                                        <p:strVal val="visible"/>
                                      </p:to>
                                    </p:set>
                                    <p:anim calcmode="lin" valueType="num">
                                      <p:cBhvr additive="base">
                                        <p:cTn id="31" dur="500" fill="hold"/>
                                        <p:tgtEl>
                                          <p:spTgt spid="1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69668-D8A1-8785-BB1B-7BFE5027FB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171FA2-2E2E-D2F8-D27B-A0EB720D546F}"/>
              </a:ext>
            </a:extLst>
          </p:cNvPr>
          <p:cNvSpPr>
            <a:spLocks noGrp="1"/>
          </p:cNvSpPr>
          <p:nvPr>
            <p:ph idx="1"/>
          </p:nvPr>
        </p:nvSpPr>
        <p:spPr>
          <a:xfrm>
            <a:off x="457200" y="750987"/>
            <a:ext cx="8229600" cy="5078313"/>
          </a:xfrm>
        </p:spPr>
        <p:txBody>
          <a:bodyPr>
            <a:normAutofit/>
          </a:bodyPr>
          <a:lstStyle/>
          <a:p>
            <a:pPr marL="0" indent="0">
              <a:buNone/>
            </a:pPr>
            <a:r>
              <a:rPr lang="en-US" sz="2200" dirty="0"/>
              <a:t> </a:t>
            </a:r>
          </a:p>
        </p:txBody>
      </p:sp>
      <p:sp>
        <p:nvSpPr>
          <p:cNvPr id="4" name="Date Placeholder 3">
            <a:extLst>
              <a:ext uri="{FF2B5EF4-FFF2-40B4-BE49-F238E27FC236}">
                <a16:creationId xmlns:a16="http://schemas.microsoft.com/office/drawing/2014/main" id="{2BE75859-9D08-3AF4-70AF-960369122318}"/>
              </a:ext>
            </a:extLst>
          </p:cNvPr>
          <p:cNvSpPr>
            <a:spLocks noGrp="1"/>
          </p:cNvSpPr>
          <p:nvPr>
            <p:ph type="dt" sz="half" idx="10"/>
          </p:nvPr>
        </p:nvSpPr>
        <p:spPr/>
        <p:txBody>
          <a:bodyPr/>
          <a:lstStyle/>
          <a:p>
            <a:fld id="{64C9AACA-57B3-43FA-9CE4-E51716628C49}" type="datetime1">
              <a:rPr lang="en-US" smtClean="0"/>
              <a:t>6/8/2026</a:t>
            </a:fld>
            <a:endParaRPr lang="en-US"/>
          </a:p>
        </p:txBody>
      </p:sp>
      <p:sp>
        <p:nvSpPr>
          <p:cNvPr id="5" name="Footer Placeholder 4">
            <a:extLst>
              <a:ext uri="{FF2B5EF4-FFF2-40B4-BE49-F238E27FC236}">
                <a16:creationId xmlns:a16="http://schemas.microsoft.com/office/drawing/2014/main" id="{3BAEC925-FB6A-EF72-75AD-5AA70A00C2F8}"/>
              </a:ext>
            </a:extLst>
          </p:cNvPr>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a:extLst>
              <a:ext uri="{FF2B5EF4-FFF2-40B4-BE49-F238E27FC236}">
                <a16:creationId xmlns:a16="http://schemas.microsoft.com/office/drawing/2014/main" id="{6BD77545-CA5B-2692-814F-552B18985D85}"/>
              </a:ext>
            </a:extLst>
          </p:cNvPr>
          <p:cNvSpPr>
            <a:spLocks noGrp="1"/>
          </p:cNvSpPr>
          <p:nvPr>
            <p:ph type="sldNum" sz="quarter" idx="12"/>
          </p:nvPr>
        </p:nvSpPr>
        <p:spPr/>
        <p:txBody>
          <a:bodyPr/>
          <a:lstStyle/>
          <a:p>
            <a:fld id="{B6F15528-21DE-4FAA-801E-634DDDAF4B2B}" type="slidenum">
              <a:rPr lang="en-US" smtClean="0"/>
              <a:t>39</a:t>
            </a:fld>
            <a:endParaRPr lang="en-US"/>
          </a:p>
        </p:txBody>
      </p:sp>
      <p:sp>
        <p:nvSpPr>
          <p:cNvPr id="7" name="Title 1">
            <a:extLst>
              <a:ext uri="{FF2B5EF4-FFF2-40B4-BE49-F238E27FC236}">
                <a16:creationId xmlns:a16="http://schemas.microsoft.com/office/drawing/2014/main" id="{66F2D406-2EC9-BD8E-EC92-44E3288C1A56}"/>
              </a:ext>
            </a:extLst>
          </p:cNvPr>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49E7E9E-5420-198A-7C03-5ED77BA3A651}"/>
                  </a:ext>
                </a:extLst>
              </p:cNvPr>
              <p:cNvSpPr txBox="1"/>
              <p:nvPr/>
            </p:nvSpPr>
            <p:spPr>
              <a:xfrm>
                <a:off x="302702" y="816175"/>
                <a:ext cx="8765097" cy="4524315"/>
              </a:xfrm>
              <a:prstGeom prst="rect">
                <a:avLst/>
              </a:prstGeom>
              <a:noFill/>
            </p:spPr>
            <p:txBody>
              <a:bodyPr wrap="square">
                <a:spAutoFit/>
              </a:bodyPr>
              <a:lstStyle/>
              <a:p>
                <a:pPr>
                  <a:buNone/>
                </a:pPr>
                <a:r>
                  <a:rPr lang="en-US" b="1" dirty="0"/>
                  <a:t>N-Queens Problem (Backtracking)</a:t>
                </a:r>
              </a:p>
              <a:p>
                <a:pPr>
                  <a:buNone/>
                </a:pPr>
                <a:r>
                  <a:rPr lang="en-US" b="1" dirty="0"/>
                  <a:t>Time Complexity:</a:t>
                </a:r>
                <a:r>
                  <a:rPr lang="en-US" dirty="0"/>
                  <a:t> </a:t>
                </a:r>
                <a:r>
                  <a:rPr lang="en-US" b="1" dirty="0"/>
                  <a:t>O(N!)</a:t>
                </a:r>
                <a:endParaRPr lang="en-US" dirty="0"/>
              </a:p>
              <a:p>
                <a:pPr>
                  <a:buNone/>
                </a:pPr>
                <a:r>
                  <a:rPr lang="en-US" b="1" dirty="0"/>
                  <a:t>Justification:</a:t>
                </a:r>
                <a:endParaRPr lang="en-US" dirty="0"/>
              </a:p>
              <a:p>
                <a:pPr>
                  <a:buFont typeface="Arial" panose="020B0604020202020204" pitchFamily="34" charset="0"/>
                  <a:buChar char="•"/>
                </a:pPr>
                <a:r>
                  <a:rPr lang="en-US" dirty="0"/>
                  <a:t>Place one queen in each row. </a:t>
                </a:r>
              </a:p>
              <a:p>
                <a:pPr>
                  <a:buFont typeface="Arial" panose="020B0604020202020204" pitchFamily="34" charset="0"/>
                  <a:buChar char="•"/>
                </a:pPr>
                <a:r>
                  <a:rPr lang="en-US" dirty="0"/>
                  <a:t>For the first row, there are </a:t>
                </a:r>
                <a:r>
                  <a:rPr lang="en-US" b="1" dirty="0"/>
                  <a:t>N</a:t>
                </a:r>
                <a:r>
                  <a:rPr lang="en-US" dirty="0"/>
                  <a:t> choices. </a:t>
                </a:r>
              </a:p>
              <a:p>
                <a:pPr>
                  <a:buFont typeface="Arial" panose="020B0604020202020204" pitchFamily="34" charset="0"/>
                  <a:buChar char="•"/>
                </a:pPr>
                <a:r>
                  <a:rPr lang="en-US" dirty="0"/>
                  <a:t>For the second row, at most </a:t>
                </a:r>
                <a:r>
                  <a:rPr lang="en-US" b="1" dirty="0"/>
                  <a:t>N−1</a:t>
                </a:r>
                <a:r>
                  <a:rPr lang="en-US" dirty="0"/>
                  <a:t> choices. </a:t>
                </a:r>
              </a:p>
              <a:p>
                <a:pPr>
                  <a:buFont typeface="Arial" panose="020B0604020202020204" pitchFamily="34" charset="0"/>
                  <a:buChar char="•"/>
                </a:pPr>
                <a:r>
                  <a:rPr lang="en-US" dirty="0"/>
                  <a:t>For the third row, at most </a:t>
                </a:r>
                <a:r>
                  <a:rPr lang="en-US" b="1" dirty="0"/>
                  <a:t>N−2</a:t>
                </a:r>
                <a:r>
                  <a:rPr lang="en-US" dirty="0"/>
                  <a:t> choices, and so on. </a:t>
                </a:r>
              </a:p>
              <a:p>
                <a:pPr>
                  <a:buNone/>
                </a:pPr>
                <a:r>
                  <a:rPr lang="en-US" dirty="0"/>
                  <a:t>Therefore, the total number of possibilities is:</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𝑁</m:t>
                      </m:r>
                      <m:r>
                        <a:rPr lang="en-US" i="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𝑁</m:t>
                          </m:r>
                          <m:r>
                            <a:rPr lang="en-US" i="0">
                              <a:latin typeface="Cambria Math" panose="02040503050406030204" pitchFamily="18" charset="0"/>
                            </a:rPr>
                            <m:t>−1</m:t>
                          </m:r>
                        </m:e>
                      </m:d>
                      <m:r>
                        <a:rPr lang="en-US" i="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𝑁</m:t>
                          </m:r>
                          <m:r>
                            <a:rPr lang="en-US" i="0">
                              <a:latin typeface="Cambria Math" panose="02040503050406030204" pitchFamily="18" charset="0"/>
                            </a:rPr>
                            <m:t>−2</m:t>
                          </m:r>
                        </m:e>
                      </m:d>
                      <m:r>
                        <a:rPr lang="en-US" i="0">
                          <a:latin typeface="Cambria Math" panose="02040503050406030204" pitchFamily="18" charset="0"/>
                        </a:rPr>
                        <m:t>×⋯×1=</m:t>
                      </m:r>
                      <m:r>
                        <a:rPr lang="en-US" i="1">
                          <a:latin typeface="Cambria Math" panose="02040503050406030204" pitchFamily="18" charset="0"/>
                        </a:rPr>
                        <m:t>𝑁</m:t>
                      </m:r>
                      <m:r>
                        <a:rPr lang="en-US" i="0">
                          <a:latin typeface="Cambria Math" panose="02040503050406030204" pitchFamily="18" charset="0"/>
                        </a:rPr>
                        <m:t>!</m:t>
                      </m:r>
                    </m:oMath>
                  </m:oMathPara>
                </a14:m>
                <a:endParaRPr lang="en-US" dirty="0"/>
              </a:p>
              <a:p>
                <a:pPr>
                  <a:buNone/>
                </a:pPr>
                <a:r>
                  <a:rPr lang="en-US" dirty="0"/>
                  <a:t>Backtracking prunes invalid positions, but in the </a:t>
                </a:r>
                <a:r>
                  <a:rPr lang="en-US" b="1" dirty="0"/>
                  <a:t>worst case</a:t>
                </a:r>
                <a:r>
                  <a:rPr lang="en-US" dirty="0"/>
                  <a:t> it may still explore a factorial number of configurations.</a:t>
                </a:r>
              </a:p>
              <a:p>
                <a:pPr>
                  <a:buNone/>
                </a:pPr>
                <a:r>
                  <a:rPr lang="en-US" b="1" dirty="0"/>
                  <a:t>Space Complexity</a:t>
                </a:r>
              </a:p>
              <a:p>
                <a:pPr>
                  <a:buNone/>
                </a:pPr>
                <a:r>
                  <a:rPr lang="en-US" b="1" dirty="0"/>
                  <a:t>O(N)</a:t>
                </a:r>
                <a:endParaRPr lang="en-US" dirty="0"/>
              </a:p>
              <a:p>
                <a:pPr>
                  <a:buNone/>
                </a:pPr>
                <a:r>
                  <a:rPr lang="en-US" b="1" dirty="0"/>
                  <a:t>Justification:</a:t>
                </a:r>
                <a:endParaRPr lang="en-US" dirty="0"/>
              </a:p>
              <a:p>
                <a:r>
                  <a:rPr lang="en-US" dirty="0"/>
                  <a:t>Recursion depth = N </a:t>
                </a:r>
              </a:p>
              <a:p>
                <a:r>
                  <a:rPr lang="en-US" dirty="0"/>
                  <a:t>One queen stored per row</a:t>
                </a:r>
              </a:p>
            </p:txBody>
          </p:sp>
        </mc:Choice>
        <mc:Fallback xmlns="">
          <p:sp>
            <p:nvSpPr>
              <p:cNvPr id="8" name="TextBox 7">
                <a:extLst>
                  <a:ext uri="{FF2B5EF4-FFF2-40B4-BE49-F238E27FC236}">
                    <a16:creationId xmlns:a16="http://schemas.microsoft.com/office/drawing/2014/main" id="{449E7E9E-5420-198A-7C03-5ED77BA3A651}"/>
                  </a:ext>
                </a:extLst>
              </p:cNvPr>
              <p:cNvSpPr txBox="1">
                <a:spLocks noRot="1" noChangeAspect="1" noMove="1" noResize="1" noEditPoints="1" noAdjustHandles="1" noChangeArrowheads="1" noChangeShapeType="1" noTextEdit="1"/>
              </p:cNvSpPr>
              <p:nvPr/>
            </p:nvSpPr>
            <p:spPr>
              <a:xfrm>
                <a:off x="302702" y="816175"/>
                <a:ext cx="8765097" cy="4524315"/>
              </a:xfrm>
              <a:prstGeom prst="rect">
                <a:avLst/>
              </a:prstGeom>
              <a:blipFill>
                <a:blip r:embed="rId2"/>
                <a:stretch>
                  <a:fillRect l="-626" t="-809" b="-1213"/>
                </a:stretch>
              </a:blipFill>
            </p:spPr>
            <p:txBody>
              <a:bodyPr/>
              <a:lstStyle/>
              <a:p>
                <a:r>
                  <a:rPr lang="en-US">
                    <a:noFill/>
                  </a:rPr>
                  <a:t> </a:t>
                </a:r>
              </a:p>
            </p:txBody>
          </p:sp>
        </mc:Fallback>
      </mc:AlternateContent>
    </p:spTree>
    <p:extLst>
      <p:ext uri="{BB962C8B-B14F-4D97-AF65-F5344CB8AC3E}">
        <p14:creationId xmlns:p14="http://schemas.microsoft.com/office/powerpoint/2010/main" val="7594721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8FBCB189-A1C3-4C03-8DFF-90D039729AF2}"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40</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723900" y="988255"/>
            <a:ext cx="7848600" cy="2831544"/>
          </a:xfrm>
          <a:prstGeom prst="rect">
            <a:avLst/>
          </a:prstGeom>
        </p:spPr>
        <p:txBody>
          <a:bodyPr wrap="square">
            <a:spAutoFit/>
          </a:bodyPr>
          <a:lstStyle/>
          <a:p>
            <a:pPr fontAlgn="base"/>
            <a:r>
              <a:rPr lang="en-IN" sz="2400" b="1" dirty="0"/>
              <a:t>Hamiltonian Cycles</a:t>
            </a:r>
          </a:p>
          <a:p>
            <a:pPr marL="342900" indent="-342900" fontAlgn="base">
              <a:buFont typeface="Arial" panose="020B0604020202020204" pitchFamily="34" charset="0"/>
              <a:buChar char="•"/>
            </a:pPr>
            <a:r>
              <a:rPr lang="en-IN" sz="2200" dirty="0">
                <a:hlinkClick r:id="rId2"/>
              </a:rPr>
              <a:t>Hamiltonian Path</a:t>
            </a:r>
            <a:r>
              <a:rPr lang="en-IN" sz="2200" dirty="0"/>
              <a:t> in an undirected graph is a path that visits each vertex exactly once return to initial vertex.  </a:t>
            </a:r>
          </a:p>
          <a:p>
            <a:pPr marL="342900" indent="-342900" fontAlgn="base">
              <a:buFont typeface="Arial" panose="020B0604020202020204" pitchFamily="34" charset="0"/>
              <a:buChar char="•"/>
            </a:pPr>
            <a:r>
              <a:rPr lang="en-IN" sz="2200" dirty="0"/>
              <a:t>A Hamiltonian cycle (or Hamiltonian circuit) is a Hamiltonian Path such that there is an edge (in the graph) from the last vertex to the first vertex of the Hamiltonian Path. </a:t>
            </a:r>
          </a:p>
          <a:p>
            <a:pPr marL="342900" indent="-342900" fontAlgn="base">
              <a:buFont typeface="Arial" panose="020B0604020202020204" pitchFamily="34" charset="0"/>
              <a:buChar char="•"/>
            </a:pPr>
            <a:endParaRPr lang="en-IN" sz="2200" dirty="0"/>
          </a:p>
          <a:p>
            <a:pPr fontAlgn="base"/>
            <a:r>
              <a:rPr lang="en-IN" sz="2200" dirty="0"/>
              <a:t> </a:t>
            </a:r>
          </a:p>
        </p:txBody>
      </p:sp>
      <p:sp>
        <p:nvSpPr>
          <p:cNvPr id="11" name="Rectangle 10"/>
          <p:cNvSpPr/>
          <p:nvPr/>
        </p:nvSpPr>
        <p:spPr>
          <a:xfrm>
            <a:off x="152400" y="1496086"/>
            <a:ext cx="8115300" cy="430887"/>
          </a:xfrm>
          <a:prstGeom prst="rect">
            <a:avLst/>
          </a:prstGeom>
        </p:spPr>
        <p:txBody>
          <a:bodyPr wrap="square">
            <a:spAutoFit/>
          </a:bodyPr>
          <a:lstStyle/>
          <a:p>
            <a:pPr marL="342900" indent="-342900">
              <a:buFont typeface="Arial" panose="020B0604020202020204" pitchFamily="34" charset="0"/>
              <a:buChar char="•"/>
            </a:pPr>
            <a:endParaRPr lang="en-IN" sz="2200" b="0" i="0" dirty="0">
              <a:solidFill>
                <a:srgbClr val="000000"/>
              </a:solidFill>
              <a:effectLst/>
              <a:latin typeface="+mj-lt"/>
            </a:endParaRPr>
          </a:p>
        </p:txBody>
      </p:sp>
      <p:pic>
        <p:nvPicPr>
          <p:cNvPr id="12" name="Picture 11" descr="Hamiltonian Cycle in D.S."/>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276599"/>
            <a:ext cx="5486400" cy="27642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1C39D-2A53-1994-35D4-F85C3A09D6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07571E-DD0B-2604-653B-B6C47EFE78AD}"/>
              </a:ext>
            </a:extLst>
          </p:cNvPr>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a:extLst>
              <a:ext uri="{FF2B5EF4-FFF2-40B4-BE49-F238E27FC236}">
                <a16:creationId xmlns:a16="http://schemas.microsoft.com/office/drawing/2014/main" id="{F05EB134-AC49-0B42-B226-1519173A1BB5}"/>
              </a:ext>
            </a:extLst>
          </p:cNvPr>
          <p:cNvSpPr>
            <a:spLocks noGrp="1"/>
          </p:cNvSpPr>
          <p:nvPr>
            <p:ph type="dt" sz="half" idx="10"/>
          </p:nvPr>
        </p:nvSpPr>
        <p:spPr/>
        <p:txBody>
          <a:bodyPr/>
          <a:lstStyle/>
          <a:p>
            <a:fld id="{8FBCB189-A1C3-4C03-8DFF-90D039729AF2}" type="datetime1">
              <a:rPr lang="en-US" smtClean="0"/>
              <a:t>6/8/2026</a:t>
            </a:fld>
            <a:endParaRPr lang="en-US"/>
          </a:p>
        </p:txBody>
      </p:sp>
      <p:sp>
        <p:nvSpPr>
          <p:cNvPr id="5" name="Footer Placeholder 4">
            <a:extLst>
              <a:ext uri="{FF2B5EF4-FFF2-40B4-BE49-F238E27FC236}">
                <a16:creationId xmlns:a16="http://schemas.microsoft.com/office/drawing/2014/main" id="{FBC8F12F-FB18-3ED4-CBD0-B74E643F7597}"/>
              </a:ext>
            </a:extLst>
          </p:cNvPr>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a:extLst>
              <a:ext uri="{FF2B5EF4-FFF2-40B4-BE49-F238E27FC236}">
                <a16:creationId xmlns:a16="http://schemas.microsoft.com/office/drawing/2014/main" id="{EE616C32-0990-03ED-EFD9-CB03A63D46B8}"/>
              </a:ext>
            </a:extLst>
          </p:cNvPr>
          <p:cNvSpPr>
            <a:spLocks noGrp="1"/>
          </p:cNvSpPr>
          <p:nvPr>
            <p:ph type="sldNum" sz="quarter" idx="12"/>
          </p:nvPr>
        </p:nvSpPr>
        <p:spPr/>
        <p:txBody>
          <a:bodyPr/>
          <a:lstStyle/>
          <a:p>
            <a:fld id="{B6F15528-21DE-4FAA-801E-634DDDAF4B2B}" type="slidenum">
              <a:rPr lang="en-US" smtClean="0"/>
              <a:t>41</a:t>
            </a:fld>
            <a:endParaRPr lang="en-US"/>
          </a:p>
        </p:txBody>
      </p:sp>
      <p:sp>
        <p:nvSpPr>
          <p:cNvPr id="7" name="Title 1">
            <a:extLst>
              <a:ext uri="{FF2B5EF4-FFF2-40B4-BE49-F238E27FC236}">
                <a16:creationId xmlns:a16="http://schemas.microsoft.com/office/drawing/2014/main" id="{46F9337E-0E8D-284B-88AF-5E9FC7DD4CF0}"/>
              </a:ext>
            </a:extLst>
          </p:cNvPr>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11" name="Rectangle 10">
            <a:extLst>
              <a:ext uri="{FF2B5EF4-FFF2-40B4-BE49-F238E27FC236}">
                <a16:creationId xmlns:a16="http://schemas.microsoft.com/office/drawing/2014/main" id="{40F36E8B-BB1A-C008-E919-F4FD5C73A470}"/>
              </a:ext>
            </a:extLst>
          </p:cNvPr>
          <p:cNvSpPr/>
          <p:nvPr/>
        </p:nvSpPr>
        <p:spPr>
          <a:xfrm>
            <a:off x="152400" y="1496086"/>
            <a:ext cx="8115300" cy="430887"/>
          </a:xfrm>
          <a:prstGeom prst="rect">
            <a:avLst/>
          </a:prstGeom>
        </p:spPr>
        <p:txBody>
          <a:bodyPr wrap="square">
            <a:spAutoFit/>
          </a:bodyPr>
          <a:lstStyle/>
          <a:p>
            <a:pPr marL="342900" indent="-342900">
              <a:buFont typeface="Arial" panose="020B0604020202020204" pitchFamily="34" charset="0"/>
              <a:buChar char="•"/>
            </a:pPr>
            <a:endParaRPr lang="en-IN" sz="2200" b="0" i="0" dirty="0">
              <a:solidFill>
                <a:srgbClr val="000000"/>
              </a:solidFill>
              <a:effectLst/>
              <a:latin typeface="+mj-lt"/>
            </a:endParaRPr>
          </a:p>
        </p:txBody>
      </p:sp>
      <p:sp>
        <p:nvSpPr>
          <p:cNvPr id="8" name="TextBox 7">
            <a:extLst>
              <a:ext uri="{FF2B5EF4-FFF2-40B4-BE49-F238E27FC236}">
                <a16:creationId xmlns:a16="http://schemas.microsoft.com/office/drawing/2014/main" id="{E941716D-9A58-1EE3-EF48-F7D9A14BEB14}"/>
              </a:ext>
            </a:extLst>
          </p:cNvPr>
          <p:cNvSpPr txBox="1"/>
          <p:nvPr/>
        </p:nvSpPr>
        <p:spPr>
          <a:xfrm>
            <a:off x="20972" y="685799"/>
            <a:ext cx="9123028" cy="3139321"/>
          </a:xfrm>
          <a:prstGeom prst="rect">
            <a:avLst/>
          </a:prstGeom>
          <a:noFill/>
        </p:spPr>
        <p:txBody>
          <a:bodyPr wrap="square">
            <a:spAutoFit/>
          </a:bodyPr>
          <a:lstStyle/>
          <a:p>
            <a:pPr>
              <a:buNone/>
            </a:pPr>
            <a:r>
              <a:rPr lang="en-US" sz="2200" b="1" dirty="0"/>
              <a:t>Algorithm: Backtracking</a:t>
            </a:r>
          </a:p>
          <a:p>
            <a:pPr>
              <a:buNone/>
            </a:pPr>
            <a:r>
              <a:rPr lang="en-US" sz="2200" b="1" dirty="0"/>
              <a:t>Steps:</a:t>
            </a:r>
            <a:endParaRPr lang="en-US" sz="2200" dirty="0"/>
          </a:p>
          <a:p>
            <a:pPr>
              <a:buFont typeface="+mj-lt"/>
              <a:buAutoNum type="arabicPeriod"/>
            </a:pPr>
            <a:r>
              <a:rPr lang="en-US" sz="2200" dirty="0"/>
              <a:t>Start from any vertex. </a:t>
            </a:r>
          </a:p>
          <a:p>
            <a:pPr>
              <a:buFont typeface="+mj-lt"/>
              <a:buAutoNum type="arabicPeriod"/>
            </a:pPr>
            <a:r>
              <a:rPr lang="en-US" sz="2200" dirty="0"/>
              <a:t>Add a vertex to the path if: </a:t>
            </a:r>
          </a:p>
          <a:p>
            <a:pPr marL="742950" lvl="1" indent="-285750">
              <a:buFont typeface="+mj-lt"/>
              <a:buAutoNum type="arabicPeriod"/>
            </a:pPr>
            <a:r>
              <a:rPr lang="en-US" sz="2200" dirty="0"/>
              <a:t>It is adjacent to the previous vertex. </a:t>
            </a:r>
          </a:p>
          <a:p>
            <a:pPr marL="742950" lvl="1" indent="-285750">
              <a:buFont typeface="+mj-lt"/>
              <a:buAutoNum type="arabicPeriod"/>
            </a:pPr>
            <a:r>
              <a:rPr lang="en-US" sz="2200" dirty="0"/>
              <a:t>It has not already been included in the path. </a:t>
            </a:r>
          </a:p>
          <a:p>
            <a:pPr>
              <a:buFont typeface="+mj-lt"/>
              <a:buAutoNum type="arabicPeriod"/>
            </a:pPr>
            <a:r>
              <a:rPr lang="en-US" sz="2200" dirty="0"/>
              <a:t>Repeat until all vertices are included. </a:t>
            </a:r>
          </a:p>
          <a:p>
            <a:pPr>
              <a:buFont typeface="+mj-lt"/>
              <a:buAutoNum type="arabicPeriod"/>
            </a:pPr>
            <a:r>
              <a:rPr lang="en-US" sz="2200" dirty="0"/>
              <a:t>Check if the last vertex is connected to the first vertex. </a:t>
            </a:r>
          </a:p>
          <a:p>
            <a:pPr>
              <a:buFont typeface="+mj-lt"/>
              <a:buAutoNum type="arabicPeriod"/>
            </a:pPr>
            <a:r>
              <a:rPr lang="en-US" sz="2200" dirty="0"/>
              <a:t>If not, backtrack and try another vertex</a:t>
            </a:r>
            <a:r>
              <a:rPr lang="en-US" sz="1400" dirty="0"/>
              <a:t>. </a:t>
            </a:r>
          </a:p>
        </p:txBody>
      </p:sp>
    </p:spTree>
    <p:extLst>
      <p:ext uri="{BB962C8B-B14F-4D97-AF65-F5344CB8AC3E}">
        <p14:creationId xmlns:p14="http://schemas.microsoft.com/office/powerpoint/2010/main" val="17437316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C671B-4F06-FEA6-C8E7-F2574976CE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8EB7DB-274D-DD63-83AC-57534B05EE94}"/>
              </a:ext>
            </a:extLst>
          </p:cNvPr>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a:extLst>
              <a:ext uri="{FF2B5EF4-FFF2-40B4-BE49-F238E27FC236}">
                <a16:creationId xmlns:a16="http://schemas.microsoft.com/office/drawing/2014/main" id="{8ED427CA-0C28-0DF3-53BB-219303E7DB85}"/>
              </a:ext>
            </a:extLst>
          </p:cNvPr>
          <p:cNvSpPr>
            <a:spLocks noGrp="1"/>
          </p:cNvSpPr>
          <p:nvPr>
            <p:ph type="dt" sz="half" idx="10"/>
          </p:nvPr>
        </p:nvSpPr>
        <p:spPr/>
        <p:txBody>
          <a:bodyPr/>
          <a:lstStyle/>
          <a:p>
            <a:fld id="{8FBCB189-A1C3-4C03-8DFF-90D039729AF2}" type="datetime1">
              <a:rPr lang="en-US" smtClean="0"/>
              <a:t>6/8/2026</a:t>
            </a:fld>
            <a:endParaRPr lang="en-US"/>
          </a:p>
        </p:txBody>
      </p:sp>
      <p:sp>
        <p:nvSpPr>
          <p:cNvPr id="5" name="Footer Placeholder 4">
            <a:extLst>
              <a:ext uri="{FF2B5EF4-FFF2-40B4-BE49-F238E27FC236}">
                <a16:creationId xmlns:a16="http://schemas.microsoft.com/office/drawing/2014/main" id="{CA2BB1B2-C016-F6D2-B915-2E395CB24E2E}"/>
              </a:ext>
            </a:extLst>
          </p:cNvPr>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a:extLst>
              <a:ext uri="{FF2B5EF4-FFF2-40B4-BE49-F238E27FC236}">
                <a16:creationId xmlns:a16="http://schemas.microsoft.com/office/drawing/2014/main" id="{9ED6E74B-C88D-B2F6-AB35-23A7A2B0E7A1}"/>
              </a:ext>
            </a:extLst>
          </p:cNvPr>
          <p:cNvSpPr>
            <a:spLocks noGrp="1"/>
          </p:cNvSpPr>
          <p:nvPr>
            <p:ph type="sldNum" sz="quarter" idx="12"/>
          </p:nvPr>
        </p:nvSpPr>
        <p:spPr/>
        <p:txBody>
          <a:bodyPr/>
          <a:lstStyle/>
          <a:p>
            <a:fld id="{B6F15528-21DE-4FAA-801E-634DDDAF4B2B}" type="slidenum">
              <a:rPr lang="en-US" smtClean="0"/>
              <a:t>42</a:t>
            </a:fld>
            <a:endParaRPr lang="en-US"/>
          </a:p>
        </p:txBody>
      </p:sp>
      <p:sp>
        <p:nvSpPr>
          <p:cNvPr id="7" name="Title 1">
            <a:extLst>
              <a:ext uri="{FF2B5EF4-FFF2-40B4-BE49-F238E27FC236}">
                <a16:creationId xmlns:a16="http://schemas.microsoft.com/office/drawing/2014/main" id="{467DC6EC-C621-C8F0-A31E-BA2B5C921FEE}"/>
              </a:ext>
            </a:extLst>
          </p:cNvPr>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11" name="Rectangle 10">
            <a:extLst>
              <a:ext uri="{FF2B5EF4-FFF2-40B4-BE49-F238E27FC236}">
                <a16:creationId xmlns:a16="http://schemas.microsoft.com/office/drawing/2014/main" id="{5688982A-FE08-CCCF-C057-7C071E18BA6D}"/>
              </a:ext>
            </a:extLst>
          </p:cNvPr>
          <p:cNvSpPr/>
          <p:nvPr/>
        </p:nvSpPr>
        <p:spPr>
          <a:xfrm>
            <a:off x="152400" y="1496086"/>
            <a:ext cx="8115300" cy="430887"/>
          </a:xfrm>
          <a:prstGeom prst="rect">
            <a:avLst/>
          </a:prstGeom>
        </p:spPr>
        <p:txBody>
          <a:bodyPr wrap="square">
            <a:spAutoFit/>
          </a:bodyPr>
          <a:lstStyle/>
          <a:p>
            <a:pPr marL="342900" indent="-342900">
              <a:buFont typeface="Arial" panose="020B0604020202020204" pitchFamily="34" charset="0"/>
              <a:buChar char="•"/>
            </a:pPr>
            <a:endParaRPr lang="en-IN" sz="2200" b="0" i="0" dirty="0">
              <a:solidFill>
                <a:srgbClr val="000000"/>
              </a:solidFill>
              <a:effectLst/>
              <a:latin typeface="+mj-lt"/>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D84CA17-FA8F-E0A7-6A34-C17C8327D05E}"/>
                  </a:ext>
                </a:extLst>
              </p:cNvPr>
              <p:cNvSpPr txBox="1"/>
              <p:nvPr/>
            </p:nvSpPr>
            <p:spPr>
              <a:xfrm>
                <a:off x="20972" y="685799"/>
                <a:ext cx="9123028" cy="4154984"/>
              </a:xfrm>
              <a:prstGeom prst="rect">
                <a:avLst/>
              </a:prstGeom>
              <a:noFill/>
            </p:spPr>
            <p:txBody>
              <a:bodyPr wrap="square">
                <a:spAutoFit/>
              </a:bodyPr>
              <a:lstStyle/>
              <a:p>
                <a:r>
                  <a:rPr lang="en-US" sz="2200" b="1" dirty="0"/>
                  <a:t>Time Complexity</a:t>
                </a:r>
              </a:p>
              <a:p>
                <a:r>
                  <a:rPr lang="en-US" sz="2200" b="1" dirty="0"/>
                  <a:t>O(N!)</a:t>
                </a:r>
                <a:endParaRPr lang="en-US" sz="2200" dirty="0"/>
              </a:p>
              <a:p>
                <a:r>
                  <a:rPr lang="en-US" sz="2200" b="1" dirty="0"/>
                  <a:t>Justification:</a:t>
                </a:r>
                <a:endParaRPr lang="en-US" sz="2200" dirty="0"/>
              </a:p>
              <a:p>
                <a:r>
                  <a:rPr lang="en-US" sz="2200" dirty="0"/>
                  <a:t>First vertex is fixed. </a:t>
                </a:r>
              </a:p>
              <a:p>
                <a:r>
                  <a:rPr lang="en-US" sz="2200" dirty="0"/>
                  <a:t>For the remaining </a:t>
                </a:r>
                <a14:m>
                  <m:oMath xmlns:m="http://schemas.openxmlformats.org/officeDocument/2006/math">
                    <m:r>
                      <a:rPr lang="en-US" sz="2200" i="1">
                        <a:latin typeface="Cambria Math" panose="02040503050406030204" pitchFamily="18" charset="0"/>
                      </a:rPr>
                      <m:t>𝑁</m:t>
                    </m:r>
                    <m:r>
                      <a:rPr lang="en-US" sz="2200">
                        <a:latin typeface="Cambria Math" panose="02040503050406030204" pitchFamily="18" charset="0"/>
                      </a:rPr>
                      <m:t>−1</m:t>
                    </m:r>
                  </m:oMath>
                </a14:m>
                <a:r>
                  <a:rPr lang="en-US" sz="2200" dirty="0"/>
                  <a:t>vertices, all possible permutations may need to be checked. </a:t>
                </a:r>
              </a:p>
              <a:p>
                <a:pPr/>
                <a14:m>
                  <m:oMathPara xmlns:m="http://schemas.openxmlformats.org/officeDocument/2006/math">
                    <m:oMathParaPr>
                      <m:jc m:val="centerGroup"/>
                    </m:oMathParaPr>
                    <m:oMath xmlns:m="http://schemas.openxmlformats.org/officeDocument/2006/math">
                      <m:d>
                        <m:dPr>
                          <m:ctrlPr>
                            <a:rPr lang="en-US" sz="2200" i="1">
                              <a:latin typeface="Cambria Math" panose="02040503050406030204" pitchFamily="18" charset="0"/>
                            </a:rPr>
                          </m:ctrlPr>
                        </m:dPr>
                        <m:e>
                          <m:r>
                            <a:rPr lang="en-US" sz="2200" i="1">
                              <a:latin typeface="Cambria Math" panose="02040503050406030204" pitchFamily="18" charset="0"/>
                            </a:rPr>
                            <m:t>𝑁</m:t>
                          </m:r>
                          <m:r>
                            <a:rPr lang="en-US" sz="2200">
                              <a:latin typeface="Cambria Math" panose="02040503050406030204" pitchFamily="18" charset="0"/>
                            </a:rPr>
                            <m:t>−1</m:t>
                          </m:r>
                        </m:e>
                      </m:d>
                      <m:r>
                        <a:rPr lang="en-US" sz="2200">
                          <a:latin typeface="Cambria Math" panose="02040503050406030204" pitchFamily="18" charset="0"/>
                        </a:rPr>
                        <m:t>!≈</m:t>
                      </m:r>
                      <m:r>
                        <a:rPr lang="en-US" sz="2200" i="1">
                          <a:latin typeface="Cambria Math" panose="02040503050406030204" pitchFamily="18" charset="0"/>
                        </a:rPr>
                        <m:t>𝑂</m:t>
                      </m:r>
                      <m:d>
                        <m:dPr>
                          <m:ctrlPr>
                            <a:rPr lang="en-US" sz="2200" i="1">
                              <a:latin typeface="Cambria Math" panose="02040503050406030204" pitchFamily="18" charset="0"/>
                            </a:rPr>
                          </m:ctrlPr>
                        </m:dPr>
                        <m:e>
                          <m:r>
                            <a:rPr lang="en-US" sz="2200" i="1">
                              <a:latin typeface="Cambria Math" panose="02040503050406030204" pitchFamily="18" charset="0"/>
                            </a:rPr>
                            <m:t>𝑁</m:t>
                          </m:r>
                          <m:r>
                            <a:rPr lang="en-US" sz="2200">
                              <a:latin typeface="Cambria Math" panose="02040503050406030204" pitchFamily="18" charset="0"/>
                            </a:rPr>
                            <m:t>!</m:t>
                          </m:r>
                        </m:e>
                      </m:d>
                    </m:oMath>
                  </m:oMathPara>
                </a14:m>
                <a:endParaRPr lang="en-US" sz="2200" dirty="0"/>
              </a:p>
              <a:p>
                <a:r>
                  <a:rPr lang="en-US" sz="2200" b="1" dirty="0"/>
                  <a:t>Space Complexity</a:t>
                </a:r>
              </a:p>
              <a:p>
                <a:r>
                  <a:rPr lang="en-US" sz="2200" b="1" dirty="0"/>
                  <a:t>O(N)</a:t>
                </a:r>
                <a:endParaRPr lang="en-US" sz="2200" dirty="0"/>
              </a:p>
              <a:p>
                <a:r>
                  <a:rPr lang="en-US" sz="2200" b="1" dirty="0"/>
                  <a:t>Justification:</a:t>
                </a:r>
                <a:endParaRPr lang="en-US" sz="2200" dirty="0"/>
              </a:p>
              <a:p>
                <a:r>
                  <a:rPr lang="en-US" sz="2200" dirty="0"/>
                  <a:t>Path array stores N vertices. </a:t>
                </a:r>
              </a:p>
              <a:p>
                <a:r>
                  <a:rPr lang="en-US" sz="2200" dirty="0"/>
                  <a:t>Recursion depth is at most N.</a:t>
                </a:r>
              </a:p>
            </p:txBody>
          </p:sp>
        </mc:Choice>
        <mc:Fallback xmlns="">
          <p:sp>
            <p:nvSpPr>
              <p:cNvPr id="8" name="TextBox 7">
                <a:extLst>
                  <a:ext uri="{FF2B5EF4-FFF2-40B4-BE49-F238E27FC236}">
                    <a16:creationId xmlns:a16="http://schemas.microsoft.com/office/drawing/2014/main" id="{2D84CA17-FA8F-E0A7-6A34-C17C8327D05E}"/>
                  </a:ext>
                </a:extLst>
              </p:cNvPr>
              <p:cNvSpPr txBox="1">
                <a:spLocks noRot="1" noChangeAspect="1" noMove="1" noResize="1" noEditPoints="1" noAdjustHandles="1" noChangeArrowheads="1" noChangeShapeType="1" noTextEdit="1"/>
              </p:cNvSpPr>
              <p:nvPr/>
            </p:nvSpPr>
            <p:spPr>
              <a:xfrm>
                <a:off x="20972" y="685799"/>
                <a:ext cx="9123028" cy="4154984"/>
              </a:xfrm>
              <a:prstGeom prst="rect">
                <a:avLst/>
              </a:prstGeom>
              <a:blipFill>
                <a:blip r:embed="rId2"/>
                <a:stretch>
                  <a:fillRect l="-868" t="-880" b="-2053"/>
                </a:stretch>
              </a:blipFill>
            </p:spPr>
            <p:txBody>
              <a:bodyPr/>
              <a:lstStyle/>
              <a:p>
                <a:r>
                  <a:rPr lang="en-US">
                    <a:noFill/>
                  </a:rPr>
                  <a:t> </a:t>
                </a:r>
              </a:p>
            </p:txBody>
          </p:sp>
        </mc:Fallback>
      </mc:AlternateContent>
    </p:spTree>
    <p:extLst>
      <p:ext uri="{BB962C8B-B14F-4D97-AF65-F5344CB8AC3E}">
        <p14:creationId xmlns:p14="http://schemas.microsoft.com/office/powerpoint/2010/main" val="12159207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D8CDCEBC-7BAF-463C-8563-5EA5FDDD339A}"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43</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723900" y="988255"/>
            <a:ext cx="7848600" cy="461665"/>
          </a:xfrm>
          <a:prstGeom prst="rect">
            <a:avLst/>
          </a:prstGeom>
        </p:spPr>
        <p:txBody>
          <a:bodyPr wrap="square">
            <a:spAutoFit/>
          </a:bodyPr>
          <a:lstStyle/>
          <a:p>
            <a:pPr fontAlgn="base"/>
            <a:r>
              <a:rPr lang="en-IN" sz="2400" b="1" dirty="0"/>
              <a:t>Sum of Subsets Problem</a:t>
            </a:r>
          </a:p>
        </p:txBody>
      </p:sp>
      <p:sp>
        <p:nvSpPr>
          <p:cNvPr id="11" name="Rectangle 10"/>
          <p:cNvSpPr/>
          <p:nvPr/>
        </p:nvSpPr>
        <p:spPr>
          <a:xfrm>
            <a:off x="152400" y="1496086"/>
            <a:ext cx="8115300" cy="430887"/>
          </a:xfrm>
          <a:prstGeom prst="rect">
            <a:avLst/>
          </a:prstGeom>
        </p:spPr>
        <p:txBody>
          <a:bodyPr wrap="square">
            <a:spAutoFit/>
          </a:bodyPr>
          <a:lstStyle/>
          <a:p>
            <a:pPr marL="342900" indent="-342900">
              <a:buFont typeface="Arial" panose="020B0604020202020204" pitchFamily="34" charset="0"/>
              <a:buChar char="•"/>
            </a:pPr>
            <a:endParaRPr lang="en-IN" sz="2200" b="0" i="0" dirty="0">
              <a:solidFill>
                <a:srgbClr val="000000"/>
              </a:solidFill>
              <a:effectLst/>
              <a:latin typeface="+mj-lt"/>
            </a:endParaRPr>
          </a:p>
        </p:txBody>
      </p:sp>
      <p:sp>
        <p:nvSpPr>
          <p:cNvPr id="2" name="Rectangle 1"/>
          <p:cNvSpPr/>
          <p:nvPr/>
        </p:nvSpPr>
        <p:spPr>
          <a:xfrm>
            <a:off x="876300" y="1621012"/>
            <a:ext cx="7505700" cy="3816429"/>
          </a:xfrm>
          <a:prstGeom prst="rect">
            <a:avLst/>
          </a:prstGeom>
        </p:spPr>
        <p:txBody>
          <a:bodyPr wrap="square">
            <a:spAutoFit/>
          </a:bodyPr>
          <a:lstStyle/>
          <a:p>
            <a:pPr marL="342900" indent="-342900" algn="just">
              <a:buFont typeface="Arial" panose="020B0604020202020204" pitchFamily="34" charset="0"/>
              <a:buChar char="•"/>
            </a:pPr>
            <a:r>
              <a:rPr lang="en-IN" sz="2200" dirty="0">
                <a:latin typeface="+mj-lt"/>
              </a:rPr>
              <a:t>Subset sum problem is to find subset of elements that are selected from a given set whose sum adds up to a given number K. </a:t>
            </a:r>
          </a:p>
          <a:p>
            <a:pPr marL="342900" indent="-342900" algn="just">
              <a:buFont typeface="Arial" panose="020B0604020202020204" pitchFamily="34" charset="0"/>
              <a:buChar char="•"/>
            </a:pPr>
            <a:endParaRPr lang="en-IN" sz="2200" dirty="0">
              <a:latin typeface="+mj-lt"/>
            </a:endParaRPr>
          </a:p>
          <a:p>
            <a:pPr marL="342900" indent="-342900" algn="just">
              <a:buFont typeface="Arial" panose="020B0604020202020204" pitchFamily="34" charset="0"/>
              <a:buChar char="•"/>
            </a:pPr>
            <a:r>
              <a:rPr lang="en-IN" sz="2200" dirty="0">
                <a:latin typeface="+mj-lt"/>
              </a:rPr>
              <a:t>We are considering the set contains non-negative values. It is assumed that the input set is unique (no duplicates are presented).</a:t>
            </a:r>
          </a:p>
          <a:p>
            <a:pPr algn="just"/>
            <a:endParaRPr lang="en-IN" sz="2200" dirty="0">
              <a:latin typeface="+mj-lt"/>
            </a:endParaRPr>
          </a:p>
          <a:p>
            <a:pPr marL="342900" indent="-342900" algn="just">
              <a:buFont typeface="Arial" panose="020B0604020202020204" pitchFamily="34" charset="0"/>
              <a:buChar char="•"/>
            </a:pPr>
            <a:r>
              <a:rPr lang="en-IN" sz="2200" dirty="0"/>
              <a:t>Here backtracking approach is used for trying to select a valid subset when an item is not valid, we will backtrack to get the previous subset and add another element to get the solution.</a:t>
            </a:r>
            <a:endParaRPr lang="en-IN" sz="2200" dirty="0">
              <a:latin typeface="+mj-l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850B6CCA-1D48-4D1E-87CE-46B0760BF701}"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44</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723900" y="988255"/>
            <a:ext cx="7848600" cy="461665"/>
          </a:xfrm>
          <a:prstGeom prst="rect">
            <a:avLst/>
          </a:prstGeom>
        </p:spPr>
        <p:txBody>
          <a:bodyPr wrap="square">
            <a:spAutoFit/>
          </a:bodyPr>
          <a:lstStyle/>
          <a:p>
            <a:pPr fontAlgn="base"/>
            <a:r>
              <a:rPr lang="en-IN" sz="2400" b="1" dirty="0"/>
              <a:t>Sum of Subsets Problem</a:t>
            </a:r>
          </a:p>
        </p:txBody>
      </p:sp>
      <p:sp>
        <p:nvSpPr>
          <p:cNvPr id="11" name="Rectangle 10"/>
          <p:cNvSpPr/>
          <p:nvPr/>
        </p:nvSpPr>
        <p:spPr>
          <a:xfrm>
            <a:off x="152400" y="1496086"/>
            <a:ext cx="8115300" cy="430887"/>
          </a:xfrm>
          <a:prstGeom prst="rect">
            <a:avLst/>
          </a:prstGeom>
        </p:spPr>
        <p:txBody>
          <a:bodyPr wrap="square">
            <a:spAutoFit/>
          </a:bodyPr>
          <a:lstStyle/>
          <a:p>
            <a:pPr marL="342900" indent="-342900">
              <a:buFont typeface="Arial" panose="020B0604020202020204" pitchFamily="34" charset="0"/>
              <a:buChar char="•"/>
            </a:pPr>
            <a:endParaRPr lang="en-IN" sz="2200" b="0" i="0" dirty="0">
              <a:solidFill>
                <a:srgbClr val="000000"/>
              </a:solidFill>
              <a:effectLst/>
              <a:latin typeface="+mj-lt"/>
            </a:endParaRPr>
          </a:p>
        </p:txBody>
      </p:sp>
      <p:sp>
        <p:nvSpPr>
          <p:cNvPr id="2" name="Rectangle 1"/>
          <p:cNvSpPr/>
          <p:nvPr/>
        </p:nvSpPr>
        <p:spPr>
          <a:xfrm>
            <a:off x="876300" y="1621012"/>
            <a:ext cx="7505700" cy="3816429"/>
          </a:xfrm>
          <a:prstGeom prst="rect">
            <a:avLst/>
          </a:prstGeom>
        </p:spPr>
        <p:txBody>
          <a:bodyPr wrap="square">
            <a:spAutoFit/>
          </a:bodyPr>
          <a:lstStyle/>
          <a:p>
            <a:pPr marL="342900" indent="-342900" algn="just">
              <a:buFont typeface="Arial" panose="020B0604020202020204" pitchFamily="34" charset="0"/>
              <a:buChar char="•"/>
            </a:pPr>
            <a:r>
              <a:rPr lang="en-IN" sz="2200" dirty="0">
                <a:latin typeface="+mj-lt"/>
              </a:rPr>
              <a:t>Subset sum problem is to find subset of elements that are selected from a given set whose sum adds up to a given number K. </a:t>
            </a:r>
          </a:p>
          <a:p>
            <a:pPr marL="342900" indent="-342900" algn="just">
              <a:buFont typeface="Arial" panose="020B0604020202020204" pitchFamily="34" charset="0"/>
              <a:buChar char="•"/>
            </a:pPr>
            <a:endParaRPr lang="en-IN" sz="2200" dirty="0">
              <a:latin typeface="+mj-lt"/>
            </a:endParaRPr>
          </a:p>
          <a:p>
            <a:pPr marL="342900" indent="-342900" algn="just">
              <a:buFont typeface="Arial" panose="020B0604020202020204" pitchFamily="34" charset="0"/>
              <a:buChar char="•"/>
            </a:pPr>
            <a:r>
              <a:rPr lang="en-IN" sz="2200" dirty="0">
                <a:latin typeface="+mj-lt"/>
              </a:rPr>
              <a:t>We are considering the set contains non-negative values. It is assumed that the input set is unique (no duplicates are presented).</a:t>
            </a:r>
          </a:p>
          <a:p>
            <a:pPr algn="just"/>
            <a:endParaRPr lang="en-IN" sz="2200" dirty="0">
              <a:latin typeface="+mj-lt"/>
            </a:endParaRPr>
          </a:p>
          <a:p>
            <a:pPr marL="342900" indent="-342900" algn="just">
              <a:buFont typeface="Arial" panose="020B0604020202020204" pitchFamily="34" charset="0"/>
              <a:buChar char="•"/>
            </a:pPr>
            <a:r>
              <a:rPr lang="en-IN" sz="2200" dirty="0"/>
              <a:t>Here backtracking approach is used for trying to select a valid subset when an item is not valid, we will backtrack to get the previous subset and add another element to get the solution.</a:t>
            </a:r>
            <a:endParaRPr lang="en-IN" sz="2200" dirty="0">
              <a:latin typeface="+mj-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03DFC6D6-EFB4-4574-AA38-CE82C93B5379}"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45</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514350" y="988255"/>
            <a:ext cx="8058150" cy="523220"/>
          </a:xfrm>
          <a:prstGeom prst="rect">
            <a:avLst/>
          </a:prstGeom>
        </p:spPr>
        <p:txBody>
          <a:bodyPr wrap="square">
            <a:spAutoFit/>
          </a:bodyPr>
          <a:lstStyle/>
          <a:p>
            <a:pPr fontAlgn="base"/>
            <a:r>
              <a:rPr lang="en-IN" sz="2800" b="1" dirty="0"/>
              <a:t>Sum of Subsets Problem</a:t>
            </a:r>
          </a:p>
        </p:txBody>
      </p:sp>
      <p:sp>
        <p:nvSpPr>
          <p:cNvPr id="11" name="Rectangle 10"/>
          <p:cNvSpPr/>
          <p:nvPr/>
        </p:nvSpPr>
        <p:spPr>
          <a:xfrm>
            <a:off x="514350" y="1511475"/>
            <a:ext cx="8115300" cy="4154984"/>
          </a:xfrm>
          <a:prstGeom prst="rect">
            <a:avLst/>
          </a:prstGeom>
        </p:spPr>
        <p:txBody>
          <a:bodyPr wrap="square">
            <a:spAutoFit/>
          </a:bodyPr>
          <a:lstStyle/>
          <a:p>
            <a:pPr algn="just" fontAlgn="base"/>
            <a:r>
              <a:rPr lang="en-IN" sz="2200" b="1" dirty="0"/>
              <a:t>Backtracking Algorithm for Subset Sum</a:t>
            </a:r>
            <a:endParaRPr lang="en-IN" sz="2200" dirty="0"/>
          </a:p>
          <a:p>
            <a:pPr algn="just" fontAlgn="base"/>
            <a:r>
              <a:rPr lang="en-IN" sz="2200" dirty="0"/>
              <a:t>Using exhaustive search we consider all subsets irrespective of whether they satisfy given constraints or not. Backtracking can be used to make a systematic consideration of the elements to be selected.</a:t>
            </a:r>
          </a:p>
          <a:p>
            <a:pPr algn="just" fontAlgn="base"/>
            <a:endParaRPr lang="en-IN" sz="2200" dirty="0"/>
          </a:p>
          <a:p>
            <a:pPr lvl="0" algn="just" eaLnBrk="0" fontAlgn="base" hangingPunct="0">
              <a:spcBef>
                <a:spcPct val="0"/>
              </a:spcBef>
              <a:spcAft>
                <a:spcPct val="0"/>
              </a:spcAft>
            </a:pPr>
            <a:r>
              <a:rPr lang="en-US" altLang="en-US" sz="2200" i="1" dirty="0">
                <a:solidFill>
                  <a:srgbClr val="2F5496"/>
                </a:solidFill>
                <a:latin typeface="Arial" panose="020B0604020202020204" pitchFamily="34" charset="0"/>
                <a:ea typeface="Times New Roman" panose="02020603050405020304" pitchFamily="18" charset="0"/>
                <a:cs typeface="Arial" panose="020B0604020202020204" pitchFamily="34" charset="0"/>
              </a:rPr>
              <a:t>Algorithm</a:t>
            </a:r>
            <a:endParaRPr lang="en-US" altLang="en-US" sz="2200" i="1"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sz="2200" dirty="0" err="1">
                <a:latin typeface="+mj-lt"/>
                <a:ea typeface="Times New Roman" panose="02020603050405020304" pitchFamily="18" charset="0"/>
                <a:cs typeface="Courier New" panose="02070309020205020404" pitchFamily="49" charset="0"/>
              </a:rPr>
              <a:t>subsetSum</a:t>
            </a:r>
            <a:r>
              <a:rPr lang="en-US" altLang="en-US" sz="2200" dirty="0">
                <a:latin typeface="+mj-lt"/>
                <a:ea typeface="Times New Roman" panose="02020603050405020304" pitchFamily="18" charset="0"/>
                <a:cs typeface="Courier New" panose="02070309020205020404" pitchFamily="49" charset="0"/>
              </a:rPr>
              <a:t>(set, subset, n, </a:t>
            </a:r>
            <a:r>
              <a:rPr lang="en-US" altLang="en-US" sz="2200" dirty="0" err="1">
                <a:latin typeface="+mj-lt"/>
                <a:ea typeface="Times New Roman" panose="02020603050405020304" pitchFamily="18" charset="0"/>
                <a:cs typeface="Courier New" panose="02070309020205020404" pitchFamily="49" charset="0"/>
              </a:rPr>
              <a:t>subSize</a:t>
            </a:r>
            <a:r>
              <a:rPr lang="en-US" altLang="en-US" sz="2200" dirty="0">
                <a:latin typeface="+mj-lt"/>
                <a:ea typeface="Times New Roman" panose="02020603050405020304" pitchFamily="18" charset="0"/>
                <a:cs typeface="Courier New" panose="02070309020205020404" pitchFamily="49" charset="0"/>
              </a:rPr>
              <a:t>, total, node, sum)</a:t>
            </a:r>
            <a:r>
              <a:rPr lang="en-US" altLang="en-US" sz="2200" dirty="0">
                <a:latin typeface="+mj-lt"/>
              </a:rPr>
              <a:t> </a:t>
            </a:r>
            <a:endParaRPr lang="en-US" altLang="en-US" sz="2200" dirty="0">
              <a:latin typeface="+mj-lt"/>
              <a:ea typeface="Times New Roman" panose="02020603050405020304" pitchFamily="18" charset="0"/>
            </a:endParaRPr>
          </a:p>
          <a:p>
            <a:pPr lvl="0" algn="just" eaLnBrk="0" fontAlgn="base" hangingPunct="0">
              <a:spcBef>
                <a:spcPct val="0"/>
              </a:spcBef>
              <a:spcAft>
                <a:spcPct val="0"/>
              </a:spcAft>
            </a:pPr>
            <a:r>
              <a:rPr lang="en-US" altLang="en-US" sz="2200" b="1" dirty="0">
                <a:solidFill>
                  <a:srgbClr val="000000"/>
                </a:solidFill>
                <a:latin typeface="+mj-lt"/>
                <a:ea typeface="Times New Roman" panose="02020603050405020304" pitchFamily="18" charset="0"/>
                <a:cs typeface="Arial" panose="020B0604020202020204" pitchFamily="34" charset="0"/>
              </a:rPr>
              <a:t>Input:</a:t>
            </a:r>
            <a:r>
              <a:rPr lang="en-US" altLang="en-US" sz="2200" dirty="0">
                <a:solidFill>
                  <a:srgbClr val="000000"/>
                </a:solidFill>
                <a:latin typeface="+mj-lt"/>
                <a:ea typeface="Times New Roman" panose="02020603050405020304" pitchFamily="18" charset="0"/>
                <a:cs typeface="Arial" panose="020B0604020202020204" pitchFamily="34" charset="0"/>
              </a:rPr>
              <a:t> The given set and subset, size of set and subset, a total of the subset, number of elements in the subset and the given sum.</a:t>
            </a:r>
            <a:endParaRPr lang="en-US" altLang="en-US" sz="2200" dirty="0">
              <a:latin typeface="+mj-lt"/>
            </a:endParaRPr>
          </a:p>
          <a:p>
            <a:pPr lvl="0" algn="just" eaLnBrk="0" fontAlgn="base" hangingPunct="0">
              <a:spcBef>
                <a:spcPct val="0"/>
              </a:spcBef>
              <a:spcAft>
                <a:spcPct val="0"/>
              </a:spcAft>
            </a:pPr>
            <a:r>
              <a:rPr lang="en-US" altLang="en-US" sz="2200" b="1" dirty="0">
                <a:solidFill>
                  <a:srgbClr val="000000"/>
                </a:solidFill>
                <a:latin typeface="+mj-lt"/>
                <a:ea typeface="Times New Roman" panose="02020603050405020304" pitchFamily="18" charset="0"/>
                <a:cs typeface="Arial" panose="020B0604020202020204" pitchFamily="34" charset="0"/>
              </a:rPr>
              <a:t>Output:</a:t>
            </a:r>
            <a:r>
              <a:rPr lang="en-US" altLang="en-US" sz="2200" dirty="0">
                <a:solidFill>
                  <a:srgbClr val="000000"/>
                </a:solidFill>
                <a:latin typeface="+mj-lt"/>
                <a:ea typeface="Times New Roman" panose="02020603050405020304" pitchFamily="18" charset="0"/>
                <a:cs typeface="Arial" panose="020B0604020202020204" pitchFamily="34" charset="0"/>
              </a:rPr>
              <a:t> All possible subsets whose sum is the same as the given sum.</a:t>
            </a:r>
            <a:endParaRPr lang="en-US" altLang="en-US" sz="2200" dirty="0">
              <a:latin typeface="+mj-lt"/>
            </a:endParaRPr>
          </a:p>
          <a:p>
            <a:pPr algn="just" fontAlgn="base"/>
            <a:endParaRPr lang="en-IN" sz="2200" dirty="0"/>
          </a:p>
        </p:txBody>
      </p:sp>
      <p:sp>
        <p:nvSpPr>
          <p:cNvPr id="2" name="Rectangle 1"/>
          <p:cNvSpPr/>
          <p:nvPr/>
        </p:nvSpPr>
        <p:spPr>
          <a:xfrm>
            <a:off x="876300" y="1621012"/>
            <a:ext cx="7505700" cy="430887"/>
          </a:xfrm>
          <a:prstGeom prst="rect">
            <a:avLst/>
          </a:prstGeom>
        </p:spPr>
        <p:txBody>
          <a:bodyPr wrap="square">
            <a:spAutoFit/>
          </a:bodyPr>
          <a:lstStyle/>
          <a:p>
            <a:pPr algn="just"/>
            <a:r>
              <a:rPr lang="en-IN" sz="2200" dirty="0"/>
              <a:t>.</a:t>
            </a:r>
            <a:endParaRPr lang="en-IN" sz="2200" dirty="0">
              <a:latin typeface="+mj-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1F933516-CA59-4B47-A3D7-F2BA4078A394}"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46</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315351" y="969036"/>
            <a:ext cx="7848600" cy="461665"/>
          </a:xfrm>
          <a:prstGeom prst="rect">
            <a:avLst/>
          </a:prstGeom>
        </p:spPr>
        <p:txBody>
          <a:bodyPr wrap="square">
            <a:spAutoFit/>
          </a:bodyPr>
          <a:lstStyle/>
          <a:p>
            <a:pPr fontAlgn="base"/>
            <a:r>
              <a:rPr lang="en-IN" sz="2400" b="1" dirty="0"/>
              <a:t>Sum of Subsets Algorithm</a:t>
            </a:r>
          </a:p>
        </p:txBody>
      </p:sp>
      <p:sp>
        <p:nvSpPr>
          <p:cNvPr id="11" name="Rectangle 10"/>
          <p:cNvSpPr/>
          <p:nvPr/>
        </p:nvSpPr>
        <p:spPr>
          <a:xfrm>
            <a:off x="152400" y="1496086"/>
            <a:ext cx="8115300" cy="430887"/>
          </a:xfrm>
          <a:prstGeom prst="rect">
            <a:avLst/>
          </a:prstGeom>
        </p:spPr>
        <p:txBody>
          <a:bodyPr wrap="square">
            <a:spAutoFit/>
          </a:bodyPr>
          <a:lstStyle/>
          <a:p>
            <a:pPr marL="342900" indent="-342900">
              <a:buFont typeface="Arial" panose="020B0604020202020204" pitchFamily="34" charset="0"/>
              <a:buChar char="•"/>
            </a:pPr>
            <a:endParaRPr lang="en-IN" sz="2200" b="0" i="0" dirty="0">
              <a:solidFill>
                <a:srgbClr val="000000"/>
              </a:solidFill>
              <a:effectLst/>
              <a:latin typeface="+mj-lt"/>
            </a:endParaRPr>
          </a:p>
        </p:txBody>
      </p:sp>
      <p:sp>
        <p:nvSpPr>
          <p:cNvPr id="12" name="Rectangle 2"/>
          <p:cNvSpPr>
            <a:spLocks noChangeArrowheads="1"/>
          </p:cNvSpPr>
          <p:nvPr/>
        </p:nvSpPr>
        <p:spPr bwMode="auto">
          <a:xfrm>
            <a:off x="304800" y="1838117"/>
            <a:ext cx="8534400" cy="302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4" name="Picture 13"/>
          <p:cNvPicPr/>
          <p:nvPr/>
        </p:nvPicPr>
        <p:blipFill>
          <a:blip r:embed="rId2">
            <a:extLst>
              <a:ext uri="{28A0092B-C50C-407E-A947-70E740481C1C}">
                <a14:useLocalDpi xmlns:a14="http://schemas.microsoft.com/office/drawing/2010/main" val="0"/>
              </a:ext>
            </a:extLst>
          </a:blip>
          <a:srcRect/>
          <a:stretch>
            <a:fillRect/>
          </a:stretch>
        </p:blipFill>
        <p:spPr bwMode="auto">
          <a:xfrm>
            <a:off x="609600" y="1713938"/>
            <a:ext cx="7315200" cy="41153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7D066739-34CB-4C77-B0B1-78F3404DC8E3}"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47</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315350" y="969036"/>
            <a:ext cx="8371449" cy="6278642"/>
          </a:xfrm>
          <a:prstGeom prst="rect">
            <a:avLst/>
          </a:prstGeom>
        </p:spPr>
        <p:txBody>
          <a:bodyPr wrap="square">
            <a:spAutoFit/>
          </a:bodyPr>
          <a:lstStyle/>
          <a:p>
            <a:pPr fontAlgn="base"/>
            <a:r>
              <a:rPr lang="en-IN" sz="2400" b="1" dirty="0"/>
              <a:t>Sum of Subsets Example</a:t>
            </a:r>
          </a:p>
          <a:p>
            <a:pPr fontAlgn="base"/>
            <a:r>
              <a:rPr lang="en-IN" sz="2200" dirty="0"/>
              <a:t>Given a set S = (3, 4, 5, 6) and X =9. Obtain the subset sum using Backtracking approach.</a:t>
            </a:r>
            <a:endParaRPr lang="en-IN" sz="2200" b="1" dirty="0"/>
          </a:p>
          <a:p>
            <a:r>
              <a:rPr lang="en-IN" sz="2200" b="1" dirty="0"/>
              <a:t>Solution:</a:t>
            </a:r>
            <a:endParaRPr lang="en-IN" sz="2200" dirty="0"/>
          </a:p>
          <a:p>
            <a:pPr lvl="0"/>
            <a:r>
              <a:rPr lang="en-IN" sz="2200" dirty="0"/>
              <a:t>Initially S = (3, 4, 5, 6) and X =9.  </a:t>
            </a:r>
          </a:p>
          <a:p>
            <a:pPr lvl="0"/>
            <a:r>
              <a:rPr lang="en-IN" sz="2200" dirty="0"/>
              <a:t>              S'= (∅)  </a:t>
            </a:r>
          </a:p>
          <a:p>
            <a:pPr lvl="0"/>
            <a:endParaRPr lang="en-IN" sz="2200" dirty="0"/>
          </a:p>
          <a:p>
            <a:pPr marL="342900" lvl="0" indent="-342900">
              <a:buFont typeface="Arial" panose="020B0604020202020204" pitchFamily="34" charset="0"/>
              <a:buChar char="•"/>
            </a:pPr>
            <a:r>
              <a:rPr lang="en-IN" sz="2200" dirty="0"/>
              <a:t>The implicit binary tree for the subset sum problem is shown in Fig.</a:t>
            </a:r>
          </a:p>
          <a:p>
            <a:pPr marL="342900" lvl="0" indent="-342900">
              <a:buFont typeface="Arial" panose="020B0604020202020204" pitchFamily="34" charset="0"/>
              <a:buChar char="•"/>
            </a:pPr>
            <a:endParaRPr lang="en-IN" sz="2200" dirty="0"/>
          </a:p>
          <a:p>
            <a:pPr marL="342900" lvl="0" indent="-342900">
              <a:buFont typeface="Arial" panose="020B0604020202020204" pitchFamily="34" charset="0"/>
              <a:buChar char="•"/>
            </a:pPr>
            <a:r>
              <a:rPr lang="en-IN" sz="2200" dirty="0"/>
              <a:t>The number inside a node is the sum of the partial solution elements at a particular level.</a:t>
            </a:r>
          </a:p>
          <a:p>
            <a:pPr marL="342900" lvl="0" indent="-342900">
              <a:buFont typeface="Arial" panose="020B0604020202020204" pitchFamily="34" charset="0"/>
              <a:buChar char="•"/>
            </a:pPr>
            <a:endParaRPr lang="en-IN" sz="2200" dirty="0"/>
          </a:p>
          <a:p>
            <a:pPr marL="342900" lvl="0" indent="-342900">
              <a:buFont typeface="Arial" panose="020B0604020202020204" pitchFamily="34" charset="0"/>
              <a:buChar char="•"/>
            </a:pPr>
            <a:r>
              <a:rPr lang="en-IN" sz="2200" dirty="0"/>
              <a:t>Thus, if our partial solution elements sum is equal to the positive integer 'X' then at that time search will terminate, or it continues if all the possible solution needs to be obtained.</a:t>
            </a:r>
          </a:p>
          <a:p>
            <a:pPr lvl="0"/>
            <a:endParaRPr lang="en-IN" sz="2200" dirty="0"/>
          </a:p>
          <a:p>
            <a:pPr fontAlgn="base"/>
            <a:endParaRPr lang="en-IN" sz="2400" b="1" dirty="0"/>
          </a:p>
          <a:p>
            <a:pPr fontAlgn="base"/>
            <a:endParaRPr lang="en-IN" sz="2400" b="1" dirty="0"/>
          </a:p>
        </p:txBody>
      </p:sp>
      <p:sp>
        <p:nvSpPr>
          <p:cNvPr id="11" name="Rectangle 10"/>
          <p:cNvSpPr/>
          <p:nvPr/>
        </p:nvSpPr>
        <p:spPr>
          <a:xfrm>
            <a:off x="342314" y="1359149"/>
            <a:ext cx="8115300" cy="430887"/>
          </a:xfrm>
          <a:prstGeom prst="rect">
            <a:avLst/>
          </a:prstGeom>
        </p:spPr>
        <p:txBody>
          <a:bodyPr wrap="square">
            <a:spAutoFit/>
          </a:bodyPr>
          <a:lstStyle/>
          <a:p>
            <a:pPr marL="342900" indent="-342900">
              <a:buFont typeface="Arial" panose="020B0604020202020204" pitchFamily="34" charset="0"/>
              <a:buChar char="•"/>
            </a:pPr>
            <a:endParaRPr lang="en-IN" sz="2200" b="0" i="0" dirty="0">
              <a:solidFill>
                <a:srgbClr val="000000"/>
              </a:solidFill>
              <a:effectLst/>
              <a:latin typeface="+mj-lt"/>
            </a:endParaRPr>
          </a:p>
        </p:txBody>
      </p:sp>
      <p:sp>
        <p:nvSpPr>
          <p:cNvPr id="12" name="Rectangle 2"/>
          <p:cNvSpPr>
            <a:spLocks noChangeArrowheads="1"/>
          </p:cNvSpPr>
          <p:nvPr/>
        </p:nvSpPr>
        <p:spPr bwMode="auto">
          <a:xfrm>
            <a:off x="304800" y="1838117"/>
            <a:ext cx="8534400" cy="302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9C86A7A0-1F3E-455B-9BFE-DB7A8FD92DFC}"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48</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315351" y="969036"/>
            <a:ext cx="7848600" cy="461665"/>
          </a:xfrm>
          <a:prstGeom prst="rect">
            <a:avLst/>
          </a:prstGeom>
        </p:spPr>
        <p:txBody>
          <a:bodyPr wrap="square">
            <a:spAutoFit/>
          </a:bodyPr>
          <a:lstStyle/>
          <a:p>
            <a:pPr fontAlgn="base"/>
            <a:r>
              <a:rPr lang="en-IN" sz="2400" b="1" dirty="0"/>
              <a:t>Sum of Subsets Example </a:t>
            </a:r>
          </a:p>
        </p:txBody>
      </p:sp>
      <p:sp>
        <p:nvSpPr>
          <p:cNvPr id="11" name="Rectangle 10"/>
          <p:cNvSpPr/>
          <p:nvPr/>
        </p:nvSpPr>
        <p:spPr>
          <a:xfrm>
            <a:off x="152400" y="1496086"/>
            <a:ext cx="8115300" cy="430887"/>
          </a:xfrm>
          <a:prstGeom prst="rect">
            <a:avLst/>
          </a:prstGeom>
        </p:spPr>
        <p:txBody>
          <a:bodyPr wrap="square">
            <a:spAutoFit/>
          </a:bodyPr>
          <a:lstStyle/>
          <a:p>
            <a:pPr marL="342900" indent="-342900">
              <a:buFont typeface="Arial" panose="020B0604020202020204" pitchFamily="34" charset="0"/>
              <a:buChar char="•"/>
            </a:pPr>
            <a:endParaRPr lang="en-IN" sz="2200" b="0" i="0" dirty="0">
              <a:solidFill>
                <a:srgbClr val="000000"/>
              </a:solidFill>
              <a:effectLst/>
              <a:latin typeface="+mj-lt"/>
            </a:endParaRPr>
          </a:p>
        </p:txBody>
      </p:sp>
      <p:sp>
        <p:nvSpPr>
          <p:cNvPr id="12" name="Rectangle 2"/>
          <p:cNvSpPr>
            <a:spLocks noChangeArrowheads="1"/>
          </p:cNvSpPr>
          <p:nvPr/>
        </p:nvSpPr>
        <p:spPr bwMode="auto">
          <a:xfrm>
            <a:off x="304800" y="1838117"/>
            <a:ext cx="8534400" cy="302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3" name="Picture 12" descr="Subset-Sum Problem"/>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773603"/>
            <a:ext cx="6324600" cy="35883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9759D-9363-6E27-C44F-8D71498B602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CD17D7-2DBA-22DC-D534-D1246A72DD3A}"/>
                  </a:ext>
                </a:extLst>
              </p:cNvPr>
              <p:cNvSpPr>
                <a:spLocks noGrp="1"/>
              </p:cNvSpPr>
              <p:nvPr>
                <p:ph idx="1"/>
              </p:nvPr>
            </p:nvSpPr>
            <p:spPr>
              <a:xfrm>
                <a:off x="457200" y="1028700"/>
                <a:ext cx="8229600" cy="5295900"/>
              </a:xfrm>
            </p:spPr>
            <p:txBody>
              <a:bodyPr>
                <a:normAutofit fontScale="40000" lnSpcReduction="20000"/>
              </a:bodyPr>
              <a:lstStyle/>
              <a:p>
                <a:pPr marL="0" indent="0">
                  <a:buNone/>
                </a:pPr>
                <a:r>
                  <a:rPr lang="en-US" sz="7000" b="1" dirty="0"/>
                  <a:t>Time Complexity of Sum of Subsets Using Backtracking</a:t>
                </a:r>
              </a:p>
              <a:p>
                <a:pPr marL="0" indent="0">
                  <a:buNone/>
                </a:pPr>
                <a:r>
                  <a:rPr lang="en-US" sz="4200" dirty="0"/>
                  <a:t>The </a:t>
                </a:r>
                <a:r>
                  <a:rPr lang="en-US" sz="4200" b="1" dirty="0"/>
                  <a:t>Sum of Subsets</a:t>
                </a:r>
                <a:r>
                  <a:rPr lang="en-US" sz="4200" dirty="0"/>
                  <a:t> problem uses </a:t>
                </a:r>
                <a:r>
                  <a:rPr lang="en-US" sz="4200" b="1" dirty="0"/>
                  <a:t>backtracking</a:t>
                </a:r>
                <a:r>
                  <a:rPr lang="en-US" sz="4200" dirty="0"/>
                  <a:t> to determine all subsets whose sum equals a given target value.</a:t>
                </a:r>
              </a:p>
              <a:p>
                <a:pPr marL="0" indent="0">
                  <a:buNone/>
                </a:pPr>
                <a:r>
                  <a:rPr lang="en-US" sz="4200" b="1" dirty="0"/>
                  <a:t>Time Complexity: O(2ⁿ)</a:t>
                </a:r>
              </a:p>
              <a:p>
                <a:pPr marL="0" indent="0">
                  <a:buNone/>
                </a:pPr>
                <a:r>
                  <a:rPr lang="en-US" sz="4200" b="1" dirty="0"/>
                  <a:t>Justification:</a:t>
                </a:r>
                <a:endParaRPr lang="en-US" sz="4200" dirty="0"/>
              </a:p>
              <a:p>
                <a:pPr marL="0" indent="0">
                  <a:buNone/>
                </a:pPr>
                <a:r>
                  <a:rPr lang="en-US" sz="4200" dirty="0"/>
                  <a:t>    For each element, there are </a:t>
                </a:r>
                <a:r>
                  <a:rPr lang="en-US" sz="4200" b="1" dirty="0"/>
                  <a:t>two choices</a:t>
                </a:r>
                <a:r>
                  <a:rPr lang="en-US" sz="4200" dirty="0"/>
                  <a:t>: </a:t>
                </a:r>
              </a:p>
              <a:p>
                <a:pPr lvl="1"/>
                <a:r>
                  <a:rPr lang="en-US" sz="4200" dirty="0"/>
                  <a:t>Include the element in the subset. </a:t>
                </a:r>
              </a:p>
              <a:p>
                <a:pPr lvl="1"/>
                <a:r>
                  <a:rPr lang="en-US" sz="4200" dirty="0"/>
                  <a:t>Exclude the element from the subset. </a:t>
                </a:r>
              </a:p>
              <a:p>
                <a:pPr marL="0" indent="0">
                  <a:buNone/>
                </a:pPr>
                <a:r>
                  <a:rPr lang="en-US" sz="4200" dirty="0"/>
                  <a:t>Therefore, for </a:t>
                </a:r>
                <a:r>
                  <a:rPr lang="en-US" sz="4200" b="1" dirty="0"/>
                  <a:t>n elements</a:t>
                </a:r>
                <a:r>
                  <a:rPr lang="en-US" sz="4200" dirty="0"/>
                  <a:t>, the total number of possible subsets is: </a:t>
                </a:r>
              </a:p>
              <a:p>
                <a:pPr marL="0" indent="0">
                  <a:buNone/>
                </a:pPr>
                <a14:m>
                  <m:oMathPara xmlns:m="http://schemas.openxmlformats.org/officeDocument/2006/math">
                    <m:oMathParaPr>
                      <m:jc m:val="centerGroup"/>
                    </m:oMathParaPr>
                    <m:oMath xmlns:m="http://schemas.openxmlformats.org/officeDocument/2006/math">
                      <m:sSup>
                        <m:sSupPr>
                          <m:ctrlPr>
                            <a:rPr lang="en-US" sz="4200" i="1">
                              <a:latin typeface="Cambria Math" panose="02040503050406030204" pitchFamily="18" charset="0"/>
                            </a:rPr>
                          </m:ctrlPr>
                        </m:sSupPr>
                        <m:e>
                          <m:r>
                            <a:rPr lang="en-US" sz="4200">
                              <a:latin typeface="Cambria Math" panose="02040503050406030204" pitchFamily="18" charset="0"/>
                            </a:rPr>
                            <m:t>2</m:t>
                          </m:r>
                        </m:e>
                        <m:sup>
                          <m:r>
                            <a:rPr lang="en-US" sz="4200" i="1">
                              <a:latin typeface="Cambria Math" panose="02040503050406030204" pitchFamily="18" charset="0"/>
                            </a:rPr>
                            <m:t>𝑛</m:t>
                          </m:r>
                        </m:sup>
                      </m:sSup>
                    </m:oMath>
                  </m:oMathPara>
                </a14:m>
                <a:endParaRPr lang="en-US" sz="4200" dirty="0"/>
              </a:p>
              <a:p>
                <a:r>
                  <a:rPr lang="en-US" sz="4200" dirty="0"/>
                  <a:t>In the worst case, the algorithm may need to explore all possible subsets before finding the solution or concluding that no solution exists. </a:t>
                </a:r>
              </a:p>
              <a:p>
                <a:r>
                  <a:rPr lang="en-US" sz="4200" b="1" dirty="0"/>
                  <a:t>Backtracking Effect</a:t>
                </a:r>
              </a:p>
              <a:p>
                <a:r>
                  <a:rPr lang="en-US" sz="4200" dirty="0"/>
                  <a:t>Backtracking can </a:t>
                </a:r>
                <a:r>
                  <a:rPr lang="en-US" sz="4200" b="1" dirty="0"/>
                  <a:t>prune</a:t>
                </a:r>
                <a:r>
                  <a:rPr lang="en-US" sz="4200" dirty="0"/>
                  <a:t> some branches when the partial sum exceeds the target or cannot reach the target. </a:t>
                </a:r>
              </a:p>
              <a:p>
                <a:r>
                  <a:rPr lang="en-US" sz="4200" dirty="0"/>
                  <a:t>However, in the </a:t>
                </a:r>
                <a:r>
                  <a:rPr lang="en-US" sz="4200" b="1" dirty="0"/>
                  <a:t>worst case</a:t>
                </a:r>
                <a:r>
                  <a:rPr lang="en-US" sz="4200" dirty="0"/>
                  <a:t>, all branches may still be explored. </a:t>
                </a:r>
              </a:p>
              <a:p>
                <a:pPr marL="0" indent="0">
                  <a:buNone/>
                </a:pPr>
                <a:r>
                  <a:rPr lang="en-US" sz="4200" b="1" dirty="0"/>
                  <a:t>Hence, the worst-case time complexity of the Sum of Subsets problem using backtracking is O(2ⁿ).</a:t>
                </a:r>
                <a:endParaRPr lang="en-US" sz="4200" dirty="0"/>
              </a:p>
              <a:p>
                <a:pPr marL="0" indent="0">
                  <a:buNone/>
                </a:pPr>
                <a:r>
                  <a:rPr lang="en-US" sz="4200" b="1" dirty="0"/>
                  <a:t>Space Complexity:</a:t>
                </a:r>
                <a:r>
                  <a:rPr lang="en-US" sz="4200" dirty="0"/>
                  <a:t> O(n) due to the recursion stack.</a:t>
                </a:r>
              </a:p>
              <a:p>
                <a:pPr marL="0" indent="0">
                  <a:buNone/>
                </a:pPr>
                <a:endParaRPr lang="en-US" sz="2200" dirty="0"/>
              </a:p>
            </p:txBody>
          </p:sp>
        </mc:Choice>
        <mc:Fallback xmlns="">
          <p:sp>
            <p:nvSpPr>
              <p:cNvPr id="3" name="Content Placeholder 2">
                <a:extLst>
                  <a:ext uri="{FF2B5EF4-FFF2-40B4-BE49-F238E27FC236}">
                    <a16:creationId xmlns:a16="http://schemas.microsoft.com/office/drawing/2014/main" id="{89CD17D7-2DBA-22DC-D534-D1246A72DD3A}"/>
                  </a:ext>
                </a:extLst>
              </p:cNvPr>
              <p:cNvSpPr>
                <a:spLocks noGrp="1" noRot="1" noChangeAspect="1" noMove="1" noResize="1" noEditPoints="1" noAdjustHandles="1" noChangeArrowheads="1" noChangeShapeType="1" noTextEdit="1"/>
              </p:cNvSpPr>
              <p:nvPr>
                <p:ph idx="1"/>
              </p:nvPr>
            </p:nvSpPr>
            <p:spPr>
              <a:xfrm>
                <a:off x="457200" y="1028700"/>
                <a:ext cx="8229600" cy="5295900"/>
              </a:xfrm>
              <a:blipFill>
                <a:blip r:embed="rId2"/>
                <a:stretch>
                  <a:fillRect l="-1481" t="-2877" r="-296" b="-46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F07A925-9808-D20F-300D-8662513B1E5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C86A7A0-1F3E-455B-9BFE-DB7A8FD92DFC}"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6/8/2026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5" name="Footer Placeholder 4">
            <a:extLst>
              <a:ext uri="{FF2B5EF4-FFF2-40B4-BE49-F238E27FC236}">
                <a16:creationId xmlns:a16="http://schemas.microsoft.com/office/drawing/2014/main" id="{A2D4715F-CBCC-9292-76C5-933D8D54EA6E}"/>
              </a:ext>
            </a:extLst>
          </p:cNvPr>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i-FI" sz="1200" b="0" i="0" u="none" strike="noStrike" kern="1200" cap="none" spc="0" normalizeH="0" baseline="0" noProof="0">
                <a:ln>
                  <a:noFill/>
                </a:ln>
                <a:solidFill>
                  <a:prstClr val="black">
                    <a:tint val="75000"/>
                  </a:prstClr>
                </a:solidFill>
                <a:effectLst/>
                <a:uLnTx/>
                <a:uFillTx/>
                <a:latin typeface="Times New Roman"/>
                <a:ea typeface="+mn-ea"/>
                <a:cs typeface="+mn-cs"/>
              </a:rPr>
              <a:t>Adnan Naseem DSA-II        Unit IV</a:t>
            </a:r>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6" name="Slide Number Placeholder 5">
            <a:extLst>
              <a:ext uri="{FF2B5EF4-FFF2-40B4-BE49-F238E27FC236}">
                <a16:creationId xmlns:a16="http://schemas.microsoft.com/office/drawing/2014/main" id="{BA4B54F9-9586-F8E9-D678-EC5B26142A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7" name="Title 1">
            <a:extLst>
              <a:ext uri="{FF2B5EF4-FFF2-40B4-BE49-F238E27FC236}">
                <a16:creationId xmlns:a16="http://schemas.microsoft.com/office/drawing/2014/main" id="{E7F1AB46-2136-C877-7D03-742C85BD5CC7}"/>
              </a:ext>
            </a:extLst>
          </p:cNvPr>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prstClr val="black"/>
                </a:solidFill>
                <a:effectLst/>
                <a:uLnTx/>
                <a:uFillTx/>
                <a:latin typeface="Times New Roman"/>
                <a:ea typeface="+mn-ea"/>
                <a:cs typeface="+mn-cs"/>
              </a:rPr>
              <a:t>Backtracking</a:t>
            </a:r>
          </a:p>
        </p:txBody>
      </p:sp>
      <p:sp>
        <p:nvSpPr>
          <p:cNvPr id="11" name="Rectangle 10">
            <a:extLst>
              <a:ext uri="{FF2B5EF4-FFF2-40B4-BE49-F238E27FC236}">
                <a16:creationId xmlns:a16="http://schemas.microsoft.com/office/drawing/2014/main" id="{F9D80C51-30E4-CE00-E2C8-F5F3E73F638D}"/>
              </a:ext>
            </a:extLst>
          </p:cNvPr>
          <p:cNvSpPr/>
          <p:nvPr/>
        </p:nvSpPr>
        <p:spPr>
          <a:xfrm>
            <a:off x="152400" y="1496086"/>
            <a:ext cx="8115300" cy="430887"/>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200" b="0" i="0" u="none" strike="noStrike" kern="1200" cap="none" spc="0" normalizeH="0" baseline="0" noProof="0" dirty="0">
              <a:ln>
                <a:noFill/>
              </a:ln>
              <a:solidFill>
                <a:srgbClr val="000000"/>
              </a:solidFill>
              <a:effectLst/>
              <a:uLnTx/>
              <a:uFillTx/>
              <a:latin typeface="Times New Roman"/>
              <a:ea typeface="+mn-ea"/>
              <a:cs typeface="+mn-cs"/>
            </a:endParaRPr>
          </a:p>
        </p:txBody>
      </p:sp>
      <p:sp>
        <p:nvSpPr>
          <p:cNvPr id="12" name="Rectangle 2">
            <a:extLst>
              <a:ext uri="{FF2B5EF4-FFF2-40B4-BE49-F238E27FC236}">
                <a16:creationId xmlns:a16="http://schemas.microsoft.com/office/drawing/2014/main" id="{5DC49024-5EC7-B9C8-0605-E39B65F17C38}"/>
              </a:ext>
            </a:extLst>
          </p:cNvPr>
          <p:cNvSpPr>
            <a:spLocks noChangeArrowheads="1"/>
          </p:cNvSpPr>
          <p:nvPr/>
        </p:nvSpPr>
        <p:spPr bwMode="auto">
          <a:xfrm>
            <a:off x="304800" y="1838117"/>
            <a:ext cx="8534400" cy="302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428162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0"/>
            <a:ext cx="8229600" cy="4800600"/>
          </a:xfrm>
        </p:spPr>
        <p:txBody>
          <a:bodyPr>
            <a:normAutofit/>
          </a:bodyPr>
          <a:lstStyle/>
          <a:p>
            <a:pPr marL="0" indent="0">
              <a:buNone/>
            </a:pPr>
            <a:r>
              <a:rPr lang="en-US" sz="2200" dirty="0"/>
              <a:t> </a:t>
            </a:r>
          </a:p>
        </p:txBody>
      </p:sp>
      <p:sp>
        <p:nvSpPr>
          <p:cNvPr id="4" name="Date Placeholder 3"/>
          <p:cNvSpPr>
            <a:spLocks noGrp="1"/>
          </p:cNvSpPr>
          <p:nvPr>
            <p:ph type="dt" sz="half" idx="10"/>
          </p:nvPr>
        </p:nvSpPr>
        <p:spPr/>
        <p:txBody>
          <a:bodyPr/>
          <a:lstStyle/>
          <a:p>
            <a:fld id="{6E9ABD8C-A7D0-4A75-B223-488ABC8F3B95}"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50</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Backtracking</a:t>
            </a:r>
          </a:p>
        </p:txBody>
      </p:sp>
      <p:sp>
        <p:nvSpPr>
          <p:cNvPr id="9" name="Rectangle 8"/>
          <p:cNvSpPr/>
          <p:nvPr/>
        </p:nvSpPr>
        <p:spPr>
          <a:xfrm>
            <a:off x="315351" y="969036"/>
            <a:ext cx="7848600" cy="4247317"/>
          </a:xfrm>
          <a:prstGeom prst="rect">
            <a:avLst/>
          </a:prstGeom>
        </p:spPr>
        <p:txBody>
          <a:bodyPr wrap="square">
            <a:spAutoFit/>
          </a:bodyPr>
          <a:lstStyle/>
          <a:p>
            <a:pPr fontAlgn="base"/>
            <a:r>
              <a:rPr lang="en-IN" sz="2400" b="1" dirty="0"/>
              <a:t>Sum of Subsets Example</a:t>
            </a:r>
          </a:p>
          <a:p>
            <a:pPr fontAlgn="base"/>
            <a:endParaRPr lang="en-IN" sz="2400" b="1" dirty="0"/>
          </a:p>
          <a:p>
            <a:r>
              <a:rPr lang="en-IN" sz="2200" dirty="0"/>
              <a:t>Input: The Set: {10, 7, 5, 18, 12, 20, 15}</a:t>
            </a:r>
          </a:p>
          <a:p>
            <a:r>
              <a:rPr lang="en-IN" sz="2200" dirty="0"/>
              <a:t>The sum Value: 35</a:t>
            </a:r>
          </a:p>
          <a:p>
            <a:r>
              <a:rPr lang="en-IN" sz="2200" dirty="0"/>
              <a:t>Output:</a:t>
            </a:r>
          </a:p>
          <a:p>
            <a:r>
              <a:rPr lang="en-IN" sz="2200" dirty="0"/>
              <a:t>All possible subsets of the given set, where sum of each element for every subsets is same as the given sum value.</a:t>
            </a:r>
          </a:p>
          <a:p>
            <a:r>
              <a:rPr lang="en-IN" sz="2200" dirty="0"/>
              <a:t>{10,  7,  18}</a:t>
            </a:r>
          </a:p>
          <a:p>
            <a:r>
              <a:rPr lang="en-IN" sz="2200" dirty="0"/>
              <a:t>{10,  5,  20}</a:t>
            </a:r>
          </a:p>
          <a:p>
            <a:r>
              <a:rPr lang="en-IN" sz="2200" dirty="0"/>
              <a:t>{5,  18,  12}</a:t>
            </a:r>
          </a:p>
          <a:p>
            <a:r>
              <a:rPr lang="en-IN" sz="2200" dirty="0"/>
              <a:t>{20,  15}</a:t>
            </a:r>
          </a:p>
          <a:p>
            <a:pPr fontAlgn="base"/>
            <a:endParaRPr lang="en-IN" sz="2400" b="1" dirty="0"/>
          </a:p>
        </p:txBody>
      </p:sp>
      <p:sp>
        <p:nvSpPr>
          <p:cNvPr id="11" name="Rectangle 10"/>
          <p:cNvSpPr/>
          <p:nvPr/>
        </p:nvSpPr>
        <p:spPr>
          <a:xfrm>
            <a:off x="152400" y="1496086"/>
            <a:ext cx="8115300" cy="430887"/>
          </a:xfrm>
          <a:prstGeom prst="rect">
            <a:avLst/>
          </a:prstGeom>
        </p:spPr>
        <p:txBody>
          <a:bodyPr wrap="square">
            <a:spAutoFit/>
          </a:bodyPr>
          <a:lstStyle/>
          <a:p>
            <a:pPr marL="342900" indent="-342900">
              <a:buFont typeface="Arial" panose="020B0604020202020204" pitchFamily="34" charset="0"/>
              <a:buChar char="•"/>
            </a:pPr>
            <a:endParaRPr lang="en-IN" sz="2200" b="0" i="0" dirty="0">
              <a:solidFill>
                <a:srgbClr val="000000"/>
              </a:solidFill>
              <a:effectLst/>
              <a:latin typeface="+mj-lt"/>
            </a:endParaRPr>
          </a:p>
        </p:txBody>
      </p:sp>
      <p:sp>
        <p:nvSpPr>
          <p:cNvPr id="12" name="Rectangle 2"/>
          <p:cNvSpPr>
            <a:spLocks noChangeArrowheads="1"/>
          </p:cNvSpPr>
          <p:nvPr/>
        </p:nvSpPr>
        <p:spPr bwMode="auto">
          <a:xfrm>
            <a:off x="304800" y="1838117"/>
            <a:ext cx="8534400" cy="302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xEl>
                                              <p:pRg st="6" end="6"/>
                                            </p:txEl>
                                          </p:spTgt>
                                        </p:tgtEl>
                                        <p:attrNameLst>
                                          <p:attrName>style.visibility</p:attrName>
                                        </p:attrNameLst>
                                      </p:cBhvr>
                                      <p:to>
                                        <p:strVal val="visible"/>
                                      </p:to>
                                    </p:set>
                                    <p:animEffect transition="in" filter="barn(inVertical)">
                                      <p:cBhvr>
                                        <p:cTn id="7" dur="500"/>
                                        <p:tgtEl>
                                          <p:spTgt spid="9">
                                            <p:txEl>
                                              <p:pRg st="6" end="6"/>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9">
                                            <p:txEl>
                                              <p:pRg st="7" end="7"/>
                                            </p:txEl>
                                          </p:spTgt>
                                        </p:tgtEl>
                                        <p:attrNameLst>
                                          <p:attrName>style.visibility</p:attrName>
                                        </p:attrNameLst>
                                      </p:cBhvr>
                                      <p:to>
                                        <p:strVal val="visible"/>
                                      </p:to>
                                    </p:set>
                                    <p:animEffect transition="in" filter="barn(inVertical)">
                                      <p:cBhvr>
                                        <p:cTn id="10" dur="500"/>
                                        <p:tgtEl>
                                          <p:spTgt spid="9">
                                            <p:txEl>
                                              <p:pRg st="7" end="7"/>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9">
                                            <p:txEl>
                                              <p:pRg st="8" end="8"/>
                                            </p:txEl>
                                          </p:spTgt>
                                        </p:tgtEl>
                                        <p:attrNameLst>
                                          <p:attrName>style.visibility</p:attrName>
                                        </p:attrNameLst>
                                      </p:cBhvr>
                                      <p:to>
                                        <p:strVal val="visible"/>
                                      </p:to>
                                    </p:set>
                                    <p:animEffect transition="in" filter="barn(inVertical)">
                                      <p:cBhvr>
                                        <p:cTn id="13" dur="500"/>
                                        <p:tgtEl>
                                          <p:spTgt spid="9">
                                            <p:txEl>
                                              <p:pRg st="8" end="8"/>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9">
                                            <p:txEl>
                                              <p:pRg st="9" end="9"/>
                                            </p:txEl>
                                          </p:spTgt>
                                        </p:tgtEl>
                                        <p:attrNameLst>
                                          <p:attrName>style.visibility</p:attrName>
                                        </p:attrNameLst>
                                      </p:cBhvr>
                                      <p:to>
                                        <p:strVal val="visible"/>
                                      </p:to>
                                    </p:set>
                                    <p:animEffect transition="in" filter="barn(inVertical)">
                                      <p:cBhvr>
                                        <p:cTn id="16"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514350" indent="-514350">
              <a:buFont typeface="+mj-lt"/>
              <a:buAutoNum type="arabicPeriod"/>
            </a:pPr>
            <a:r>
              <a:rPr lang="en-IN" sz="2200" dirty="0"/>
              <a:t>Which of the following is/are property/properties of a dynamic programming problem?</a:t>
            </a:r>
            <a:br>
              <a:rPr lang="en-IN" sz="2200" dirty="0"/>
            </a:br>
            <a:r>
              <a:rPr lang="en-IN" sz="2200" dirty="0"/>
              <a:t>a) Optimal substructure</a:t>
            </a:r>
            <a:br>
              <a:rPr lang="en-IN" sz="2200" dirty="0"/>
            </a:br>
            <a:r>
              <a:rPr lang="en-IN" sz="2200" dirty="0"/>
              <a:t>b) Overlapping subproblems</a:t>
            </a:r>
            <a:br>
              <a:rPr lang="en-IN" sz="2200" dirty="0"/>
            </a:br>
            <a:r>
              <a:rPr lang="en-IN" sz="2200" dirty="0"/>
              <a:t>c) Greedy approach</a:t>
            </a:r>
            <a:br>
              <a:rPr lang="en-IN" sz="2200" dirty="0"/>
            </a:br>
            <a:r>
              <a:rPr lang="en-IN" sz="2200" dirty="0"/>
              <a:t>d) Both optimal substructure and overlapping subproblems</a:t>
            </a:r>
          </a:p>
          <a:p>
            <a:pPr marL="514350" indent="-514350">
              <a:buFont typeface="+mj-lt"/>
              <a:buAutoNum type="arabicPeriod"/>
            </a:pPr>
            <a:endParaRPr lang="en-IN" sz="2200" dirty="0"/>
          </a:p>
          <a:p>
            <a:pPr marL="514350" indent="-514350">
              <a:buFont typeface="+mj-lt"/>
              <a:buAutoNum type="arabicPeriod"/>
            </a:pPr>
            <a:r>
              <a:rPr lang="en-IN" sz="2200" dirty="0"/>
              <a:t>If a problem can be broken into subproblems which are reused several times, the problem possesses ____________ property.</a:t>
            </a:r>
            <a:br>
              <a:rPr lang="en-IN" sz="2200" dirty="0"/>
            </a:br>
            <a:r>
              <a:rPr lang="en-IN" sz="2200" dirty="0"/>
              <a:t>a) Overlapping subproblems</a:t>
            </a:r>
            <a:br>
              <a:rPr lang="en-IN" sz="2200" dirty="0"/>
            </a:br>
            <a:r>
              <a:rPr lang="en-IN" sz="2200" dirty="0"/>
              <a:t>b) Optimal substructure</a:t>
            </a:r>
            <a:br>
              <a:rPr lang="en-IN" sz="2200" dirty="0"/>
            </a:br>
            <a:r>
              <a:rPr lang="en-IN" sz="2200" dirty="0"/>
              <a:t>c) </a:t>
            </a:r>
            <a:r>
              <a:rPr lang="en-IN" sz="2200" dirty="0" err="1"/>
              <a:t>Memoization</a:t>
            </a:r>
            <a:br>
              <a:rPr lang="en-IN" sz="2200" dirty="0"/>
            </a:br>
            <a:r>
              <a:rPr lang="en-IN" sz="2200" dirty="0"/>
              <a:t>d) Greedy </a:t>
            </a:r>
          </a:p>
        </p:txBody>
      </p:sp>
      <p:sp>
        <p:nvSpPr>
          <p:cNvPr id="4" name="Date Placeholder 3"/>
          <p:cNvSpPr>
            <a:spLocks noGrp="1"/>
          </p:cNvSpPr>
          <p:nvPr>
            <p:ph type="dt" sz="half" idx="10"/>
          </p:nvPr>
        </p:nvSpPr>
        <p:spPr/>
        <p:txBody>
          <a:bodyPr/>
          <a:lstStyle/>
          <a:p>
            <a:fld id="{40B115B7-EC27-4B13-8320-0C2510C98CD7}"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51</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schemeClr val="dk1"/>
                </a:solidFill>
                <a:effectLst/>
                <a:uLnTx/>
                <a:uFillTx/>
                <a:latin typeface="+mn-lt"/>
                <a:ea typeface="+mn-ea"/>
                <a:cs typeface="+mn-cs"/>
              </a:rPr>
              <a:t>MCQ</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457200" indent="-457200">
              <a:buFont typeface="+mj-lt"/>
              <a:buAutoNum type="arabicPeriod" startAt="3"/>
            </a:pPr>
            <a:r>
              <a:rPr lang="en-IN" sz="2200" dirty="0"/>
              <a:t>When dynamic programming is applied to a problem, it takes far less time as compared to other methods that don’t take advantage of overlapping subproblems.</a:t>
            </a:r>
            <a:br>
              <a:rPr lang="en-IN" sz="2200" dirty="0"/>
            </a:br>
            <a:r>
              <a:rPr lang="en-IN" sz="2200" dirty="0"/>
              <a:t>a) True</a:t>
            </a:r>
            <a:br>
              <a:rPr lang="en-IN" sz="2200" dirty="0"/>
            </a:br>
            <a:r>
              <a:rPr lang="en-IN" sz="2200" dirty="0"/>
              <a:t>b) False </a:t>
            </a:r>
          </a:p>
          <a:p>
            <a:pPr marL="457200" indent="-457200">
              <a:buFont typeface="+mj-lt"/>
              <a:buAutoNum type="arabicPeriod" startAt="3"/>
            </a:pPr>
            <a:endParaRPr lang="en-IN" sz="2200" dirty="0"/>
          </a:p>
          <a:p>
            <a:pPr marL="457200" indent="-457200">
              <a:buFont typeface="+mj-lt"/>
              <a:buAutoNum type="arabicPeriod" startAt="4"/>
            </a:pPr>
            <a:r>
              <a:rPr lang="en-IN" sz="2200" dirty="0"/>
              <a:t>Which of the following problems is NOT solved using dynamic programming?</a:t>
            </a:r>
            <a:br>
              <a:rPr lang="en-IN" sz="2200" dirty="0"/>
            </a:br>
            <a:r>
              <a:rPr lang="en-IN" sz="2200" dirty="0"/>
              <a:t>a) 0/1 knapsack problem</a:t>
            </a:r>
            <a:br>
              <a:rPr lang="en-IN" sz="2200" dirty="0"/>
            </a:br>
            <a:r>
              <a:rPr lang="en-IN" sz="2200" dirty="0"/>
              <a:t>b) Matrix chain multiplication problem</a:t>
            </a:r>
            <a:br>
              <a:rPr lang="en-IN" sz="2200" dirty="0"/>
            </a:br>
            <a:r>
              <a:rPr lang="en-IN" sz="2200" dirty="0"/>
              <a:t>c) Edit distance problem</a:t>
            </a:r>
            <a:br>
              <a:rPr lang="en-IN" sz="2200" dirty="0"/>
            </a:br>
            <a:r>
              <a:rPr lang="en-IN" sz="2200" dirty="0"/>
              <a:t>d) Fractional knapsack problem</a:t>
            </a:r>
          </a:p>
          <a:p>
            <a:pPr marL="457200" indent="-457200">
              <a:buFont typeface="+mj-lt"/>
              <a:buAutoNum type="arabicPeriod" startAt="3"/>
            </a:pPr>
            <a:endParaRPr lang="en-IN" sz="2200" dirty="0"/>
          </a:p>
        </p:txBody>
      </p:sp>
      <p:sp>
        <p:nvSpPr>
          <p:cNvPr id="4" name="Date Placeholder 3"/>
          <p:cNvSpPr>
            <a:spLocks noGrp="1"/>
          </p:cNvSpPr>
          <p:nvPr>
            <p:ph type="dt" sz="half" idx="10"/>
          </p:nvPr>
        </p:nvSpPr>
        <p:spPr/>
        <p:txBody>
          <a:bodyPr/>
          <a:lstStyle/>
          <a:p>
            <a:fld id="{35E38701-1FDC-4778-B239-464EC6C1FAA5}"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52</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schemeClr val="dk1"/>
                </a:solidFill>
                <a:effectLst/>
                <a:uLnTx/>
                <a:uFillTx/>
                <a:latin typeface="+mn-lt"/>
                <a:ea typeface="+mn-ea"/>
                <a:cs typeface="+mn-cs"/>
              </a:rPr>
              <a:t>MCQ</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lnSpcReduction="10000"/>
          </a:bodyPr>
          <a:lstStyle/>
          <a:p>
            <a:pPr marL="457200" indent="-457200">
              <a:buFont typeface="+mj-lt"/>
              <a:buAutoNum type="arabicPeriod" startAt="5"/>
            </a:pPr>
            <a:r>
              <a:rPr lang="en-IN" sz="2200" dirty="0"/>
              <a:t>Which of the following problems should be solved using dynamic programming?</a:t>
            </a:r>
            <a:br>
              <a:rPr lang="en-IN" sz="2200" dirty="0"/>
            </a:br>
            <a:r>
              <a:rPr lang="en-IN" sz="2200" dirty="0"/>
              <a:t>a) </a:t>
            </a:r>
            <a:r>
              <a:rPr lang="en-IN" sz="2200" dirty="0" err="1"/>
              <a:t>Mergesort</a:t>
            </a:r>
            <a:br>
              <a:rPr lang="en-IN" sz="2200" dirty="0"/>
            </a:br>
            <a:r>
              <a:rPr lang="en-IN" sz="2200" dirty="0"/>
              <a:t>b) Binary search</a:t>
            </a:r>
            <a:br>
              <a:rPr lang="en-IN" sz="2200" dirty="0"/>
            </a:br>
            <a:r>
              <a:rPr lang="en-IN" sz="2200" dirty="0"/>
              <a:t>c) Longest common subsequence</a:t>
            </a:r>
            <a:br>
              <a:rPr lang="en-IN" sz="2200" dirty="0"/>
            </a:br>
            <a:r>
              <a:rPr lang="en-IN" sz="2200" dirty="0"/>
              <a:t>d) Quicksort</a:t>
            </a:r>
          </a:p>
          <a:p>
            <a:pPr marL="457200" indent="-457200">
              <a:buFont typeface="+mj-lt"/>
              <a:buAutoNum type="arabicPeriod" startAt="5"/>
            </a:pPr>
            <a:endParaRPr lang="en-IN" sz="2200" dirty="0"/>
          </a:p>
          <a:p>
            <a:pPr marL="457200" indent="-457200">
              <a:buFont typeface="+mj-lt"/>
              <a:buAutoNum type="arabicPeriod" startAt="5"/>
            </a:pPr>
            <a:r>
              <a:rPr lang="en-IN" sz="2200" dirty="0"/>
              <a:t>If a problem can be solved by combining optimal solutions to non-overlapping problems, the strategy is called _____________</a:t>
            </a:r>
            <a:br>
              <a:rPr lang="en-IN" sz="2200" dirty="0"/>
            </a:br>
            <a:r>
              <a:rPr lang="en-IN" sz="2200" dirty="0"/>
              <a:t>a) Dynamic programming</a:t>
            </a:r>
            <a:br>
              <a:rPr lang="en-IN" sz="2200" dirty="0"/>
            </a:br>
            <a:r>
              <a:rPr lang="en-IN" sz="2200" dirty="0"/>
              <a:t>b) Greedy</a:t>
            </a:r>
            <a:br>
              <a:rPr lang="en-IN" sz="2200" dirty="0"/>
            </a:br>
            <a:r>
              <a:rPr lang="en-IN" sz="2200" dirty="0"/>
              <a:t>c) Divide and conquer</a:t>
            </a:r>
            <a:br>
              <a:rPr lang="en-IN" sz="2200" dirty="0"/>
            </a:br>
            <a:r>
              <a:rPr lang="en-IN" sz="2200" dirty="0"/>
              <a:t>d) Recursion</a:t>
            </a:r>
          </a:p>
          <a:p>
            <a:pPr marL="0" indent="0">
              <a:buNone/>
            </a:pPr>
            <a:endParaRPr lang="en-US" dirty="0"/>
          </a:p>
        </p:txBody>
      </p:sp>
      <p:sp>
        <p:nvSpPr>
          <p:cNvPr id="4" name="Date Placeholder 3"/>
          <p:cNvSpPr>
            <a:spLocks noGrp="1"/>
          </p:cNvSpPr>
          <p:nvPr>
            <p:ph type="dt" sz="half" idx="10"/>
          </p:nvPr>
        </p:nvSpPr>
        <p:spPr/>
        <p:txBody>
          <a:bodyPr/>
          <a:lstStyle/>
          <a:p>
            <a:fld id="{0D4537BA-EF7A-43D3-934C-4464D794B706}"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53</a:t>
            </a:fld>
            <a:endParaRPr lang="en-US"/>
          </a:p>
        </p:txBody>
      </p:sp>
      <p:sp>
        <p:nvSpPr>
          <p:cNvPr id="7" name="Title 1"/>
          <p:cNvSpPr txBox="1"/>
          <p:nvPr/>
        </p:nvSpPr>
        <p:spPr>
          <a:xfrm>
            <a:off x="1335258" y="-6151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MCQ</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514350" indent="-514350">
              <a:buFont typeface="+mj-lt"/>
              <a:buAutoNum type="arabicPeriod" startAt="7"/>
            </a:pPr>
            <a:r>
              <a:rPr lang="en-IN" sz="2200" dirty="0"/>
              <a:t> Which of the problems cannot be solved by backtracking method?</a:t>
            </a:r>
            <a:br>
              <a:rPr lang="en-IN" sz="2200" dirty="0"/>
            </a:br>
            <a:r>
              <a:rPr lang="en-IN" sz="2200" dirty="0"/>
              <a:t>a) n-queen problem</a:t>
            </a:r>
            <a:br>
              <a:rPr lang="en-IN" sz="2200" dirty="0"/>
            </a:br>
            <a:r>
              <a:rPr lang="en-IN" sz="2200" dirty="0"/>
              <a:t>b) subset sum problem</a:t>
            </a:r>
            <a:br>
              <a:rPr lang="en-IN" sz="2200" dirty="0"/>
            </a:br>
            <a:r>
              <a:rPr lang="en-IN" sz="2200" dirty="0"/>
              <a:t>c) </a:t>
            </a:r>
            <a:r>
              <a:rPr lang="en-IN" sz="2200" dirty="0" err="1"/>
              <a:t>hamiltonian</a:t>
            </a:r>
            <a:r>
              <a:rPr lang="en-IN" sz="2200" dirty="0"/>
              <a:t> circuit problem</a:t>
            </a:r>
            <a:br>
              <a:rPr lang="en-IN" sz="2200" dirty="0"/>
            </a:br>
            <a:r>
              <a:rPr lang="en-IN" sz="2200" dirty="0"/>
              <a:t>d) travelling salesman problem</a:t>
            </a:r>
          </a:p>
          <a:p>
            <a:pPr marL="514350" indent="-514350">
              <a:buFont typeface="+mj-lt"/>
              <a:buAutoNum type="arabicPeriod" startAt="7"/>
            </a:pPr>
            <a:endParaRPr lang="en-IN" sz="2200" dirty="0"/>
          </a:p>
          <a:p>
            <a:pPr marL="514350" indent="-514350">
              <a:buFont typeface="+mj-lt"/>
              <a:buAutoNum type="arabicPeriod" startAt="7"/>
            </a:pPr>
            <a:r>
              <a:rPr lang="en-IN" sz="2200" dirty="0"/>
              <a:t>Backtracking algorithm is implemented by constructing a tree of choices called as?</a:t>
            </a:r>
            <a:br>
              <a:rPr lang="en-IN" sz="2200" dirty="0"/>
            </a:br>
            <a:r>
              <a:rPr lang="en-IN" sz="2200" dirty="0"/>
              <a:t>a) State-space tree</a:t>
            </a:r>
            <a:br>
              <a:rPr lang="en-IN" sz="2200" dirty="0"/>
            </a:br>
            <a:r>
              <a:rPr lang="en-IN" sz="2200" dirty="0"/>
              <a:t>b) State-chart tree</a:t>
            </a:r>
            <a:br>
              <a:rPr lang="en-IN" sz="2200" dirty="0"/>
            </a:br>
            <a:r>
              <a:rPr lang="en-IN" sz="2200" dirty="0"/>
              <a:t>c) Node tree</a:t>
            </a:r>
            <a:br>
              <a:rPr lang="en-IN" sz="2200" dirty="0"/>
            </a:br>
            <a:r>
              <a:rPr lang="en-IN" sz="2200" dirty="0"/>
              <a:t>d) Backtracking tree</a:t>
            </a:r>
          </a:p>
          <a:p>
            <a:pPr marL="514350" indent="-514350">
              <a:buFont typeface="+mj-lt"/>
              <a:buAutoNum type="arabicPeriod" startAt="7"/>
            </a:pPr>
            <a:endParaRPr lang="en-IN" sz="2200" dirty="0"/>
          </a:p>
          <a:p>
            <a:pPr marL="0" indent="0">
              <a:buNone/>
            </a:pPr>
            <a:endParaRPr lang="en-US" dirty="0"/>
          </a:p>
        </p:txBody>
      </p:sp>
      <p:sp>
        <p:nvSpPr>
          <p:cNvPr id="4" name="Date Placeholder 3"/>
          <p:cNvSpPr>
            <a:spLocks noGrp="1"/>
          </p:cNvSpPr>
          <p:nvPr>
            <p:ph type="dt" sz="half" idx="10"/>
          </p:nvPr>
        </p:nvSpPr>
        <p:spPr/>
        <p:txBody>
          <a:bodyPr/>
          <a:lstStyle/>
          <a:p>
            <a:fld id="{990353BF-2756-4BFE-9BC9-20139B868A0A}"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54</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MCQ</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lnSpcReduction="10000"/>
          </a:bodyPr>
          <a:lstStyle/>
          <a:p>
            <a:pPr marL="514350" indent="-514350">
              <a:buFont typeface="+mj-lt"/>
              <a:buAutoNum type="arabicPeriod" startAt="9"/>
            </a:pPr>
            <a:r>
              <a:rPr lang="en-IN" sz="2200" dirty="0"/>
              <a:t>In what manner is a state-space tree for a backtracking algorithm constructed?</a:t>
            </a:r>
            <a:br>
              <a:rPr lang="en-IN" sz="2200" dirty="0"/>
            </a:br>
            <a:r>
              <a:rPr lang="en-IN" sz="2200" dirty="0"/>
              <a:t>a) Depth-first search</a:t>
            </a:r>
            <a:br>
              <a:rPr lang="en-IN" sz="2200" dirty="0"/>
            </a:br>
            <a:r>
              <a:rPr lang="en-IN" sz="2200" dirty="0"/>
              <a:t>b) Breadth-first search</a:t>
            </a:r>
            <a:br>
              <a:rPr lang="en-IN" sz="2200" dirty="0"/>
            </a:br>
            <a:r>
              <a:rPr lang="en-IN" sz="2200" dirty="0"/>
              <a:t>c) Twice around the tree</a:t>
            </a:r>
            <a:br>
              <a:rPr lang="en-IN" sz="2200" dirty="0"/>
            </a:br>
            <a:r>
              <a:rPr lang="en-IN" sz="2200" dirty="0"/>
              <a:t>d) Nearest neighbour first</a:t>
            </a:r>
          </a:p>
          <a:p>
            <a:pPr marL="514350" indent="-514350">
              <a:buFont typeface="+mj-lt"/>
              <a:buAutoNum type="arabicPeriod" startAt="9"/>
            </a:pPr>
            <a:endParaRPr lang="en-IN" sz="2200" dirty="0"/>
          </a:p>
          <a:p>
            <a:pPr marL="514350" indent="-514350">
              <a:buFont typeface="+mj-lt"/>
              <a:buAutoNum type="arabicPeriod" startAt="9"/>
            </a:pPr>
            <a:r>
              <a:rPr lang="en-IN" sz="2200" dirty="0"/>
              <a:t>The problem of finding a subset of positive integers whose sum is equal to a given positive integer is called as?</a:t>
            </a:r>
            <a:br>
              <a:rPr lang="en-IN" sz="2200" dirty="0"/>
            </a:br>
            <a:r>
              <a:rPr lang="en-IN" sz="2200" dirty="0"/>
              <a:t>a) n- queen problem</a:t>
            </a:r>
            <a:br>
              <a:rPr lang="en-IN" sz="2200" dirty="0"/>
            </a:br>
            <a:r>
              <a:rPr lang="en-IN" sz="2200" dirty="0"/>
              <a:t>b) subset sum problem</a:t>
            </a:r>
            <a:br>
              <a:rPr lang="en-IN" sz="2200" dirty="0"/>
            </a:br>
            <a:r>
              <a:rPr lang="en-IN" sz="2200" dirty="0"/>
              <a:t>c) knapsack problem</a:t>
            </a:r>
            <a:br>
              <a:rPr lang="en-IN" sz="2200" dirty="0"/>
            </a:br>
            <a:r>
              <a:rPr lang="en-IN" sz="2200" dirty="0"/>
              <a:t>d) </a:t>
            </a:r>
            <a:r>
              <a:rPr lang="en-IN" sz="2200" dirty="0" err="1"/>
              <a:t>hamiltonian</a:t>
            </a:r>
            <a:r>
              <a:rPr lang="en-IN" sz="2200" dirty="0"/>
              <a:t> circuit problem</a:t>
            </a:r>
            <a:endParaRPr lang="en-US" sz="2200" dirty="0"/>
          </a:p>
        </p:txBody>
      </p:sp>
      <p:sp>
        <p:nvSpPr>
          <p:cNvPr id="4" name="Date Placeholder 3"/>
          <p:cNvSpPr>
            <a:spLocks noGrp="1"/>
          </p:cNvSpPr>
          <p:nvPr>
            <p:ph type="dt" sz="half" idx="10"/>
          </p:nvPr>
        </p:nvSpPr>
        <p:spPr/>
        <p:txBody>
          <a:bodyPr/>
          <a:lstStyle/>
          <a:p>
            <a:fld id="{0C552C9C-E8CE-46AE-8521-DEC6A6656D9D}" type="datetime1">
              <a:rPr lang="en-US" smtClean="0"/>
              <a:t>6/8/2026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55</a:t>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MCQ</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4648C88-4360-40E9-B333-CA8AC4707D54}" type="datetime1">
              <a:rPr lang="en-US" smtClean="0"/>
              <a:t>6/8/2026</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56</a:t>
            </a:fld>
            <a:endParaRPr lang="en-US"/>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Expected Questions </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2" name="Content Placeholder 1"/>
          <p:cNvPicPr>
            <a:picLocks noGrp="1" noChangeAspect="1"/>
          </p:cNvPicPr>
          <p:nvPr>
            <p:ph idx="1"/>
          </p:nvPr>
        </p:nvPicPr>
        <p:blipFill>
          <a:blip r:embed="rId3"/>
          <a:stretch>
            <a:fillRect/>
          </a:stretch>
        </p:blipFill>
        <p:spPr>
          <a:xfrm>
            <a:off x="4556125" y="1659136"/>
            <a:ext cx="184150" cy="75803"/>
          </a:xfrm>
          <a:prstGeom prst="rect">
            <a:avLst/>
          </a:prstGeom>
        </p:spPr>
      </p:pic>
      <p:sp>
        <p:nvSpPr>
          <p:cNvPr id="9" name="Rectangle 8"/>
          <p:cNvSpPr/>
          <p:nvPr/>
        </p:nvSpPr>
        <p:spPr>
          <a:xfrm>
            <a:off x="876300" y="1140329"/>
            <a:ext cx="7391400" cy="1384995"/>
          </a:xfrm>
          <a:prstGeom prst="rect">
            <a:avLst/>
          </a:prstGeom>
        </p:spPr>
        <p:txBody>
          <a:bodyPr wrap="square">
            <a:spAutoFit/>
          </a:bodyPr>
          <a:lstStyle/>
          <a:p>
            <a:pPr marL="342900" indent="-342900">
              <a:buAutoNum type="arabicPeriod"/>
            </a:pPr>
            <a:r>
              <a:rPr lang="en-US" sz="2200" dirty="0">
                <a:latin typeface="+mj-lt"/>
                <a:ea typeface="Times New Roman" panose="02020603050405020304" pitchFamily="18" charset="0"/>
              </a:rPr>
              <a:t>Solve the problem of travelling salesman problem on following graph and perform operation for each vertex.  							[CO4]</a:t>
            </a:r>
          </a:p>
          <a:p>
            <a:pPr marL="342900" indent="-342900">
              <a:buAutoNum type="arabicPeriod"/>
            </a:pPr>
            <a:endParaRPr lang="en-IN" dirty="0"/>
          </a:p>
        </p:txBody>
      </p:sp>
      <p:pic>
        <p:nvPicPr>
          <p:cNvPr id="11" name="Picture 10"/>
          <p:cNvPicPr/>
          <p:nvPr/>
        </p:nvPicPr>
        <p:blipFill>
          <a:blip r:embed="rId4">
            <a:extLst>
              <a:ext uri="{28A0092B-C50C-407E-A947-70E740481C1C}">
                <a14:useLocalDpi xmlns:a14="http://schemas.microsoft.com/office/drawing/2010/main" val="0"/>
              </a:ext>
            </a:extLst>
          </a:blip>
          <a:srcRect/>
          <a:stretch>
            <a:fillRect/>
          </a:stretch>
        </p:blipFill>
        <p:spPr bwMode="auto">
          <a:xfrm>
            <a:off x="2209800" y="1908129"/>
            <a:ext cx="4390390" cy="2301875"/>
          </a:xfrm>
          <a:prstGeom prst="rect">
            <a:avLst/>
          </a:prstGeom>
          <a:noFill/>
          <a:ln>
            <a:noFill/>
          </a:ln>
        </p:spPr>
      </p:pic>
      <p:sp>
        <p:nvSpPr>
          <p:cNvPr id="10" name="Rectangle 9"/>
          <p:cNvSpPr/>
          <p:nvPr/>
        </p:nvSpPr>
        <p:spPr>
          <a:xfrm>
            <a:off x="1143000" y="4277414"/>
            <a:ext cx="6934200" cy="1626856"/>
          </a:xfrm>
          <a:prstGeom prst="rect">
            <a:avLst/>
          </a:prstGeom>
        </p:spPr>
        <p:txBody>
          <a:bodyPr wrap="square">
            <a:spAutoFit/>
          </a:bodyPr>
          <a:lstStyle/>
          <a:p>
            <a:pPr>
              <a:lnSpc>
                <a:spcPct val="115000"/>
              </a:lnSpc>
              <a:spcAft>
                <a:spcPts val="0"/>
              </a:spcAft>
              <a:tabLst>
                <a:tab pos="171450" algn="l"/>
                <a:tab pos="285750" algn="l"/>
              </a:tabLst>
            </a:pPr>
            <a:r>
              <a:rPr lang="en-US" sz="2200" dirty="0">
                <a:latin typeface="Times New Roman" panose="02020603050405020304" pitchFamily="18" charset="0"/>
                <a:ea typeface="Times New Roman" panose="02020603050405020304" pitchFamily="18" charset="0"/>
                <a:cs typeface="Times New Roman" panose="02020603050405020304" pitchFamily="18" charset="0"/>
              </a:rPr>
              <a:t>2. </a:t>
            </a:r>
            <a:r>
              <a:rPr lang="en-US" sz="2200" dirty="0">
                <a:latin typeface="+mj-lt"/>
                <a:ea typeface="Times New Roman" panose="02020603050405020304" pitchFamily="18" charset="0"/>
                <a:cs typeface="Times New Roman" panose="02020603050405020304" pitchFamily="18" charset="0"/>
              </a:rPr>
              <a:t>Write Short notes on the following.		       [CO4]	</a:t>
            </a:r>
            <a:r>
              <a:rPr lang="en-US" sz="2200" dirty="0" err="1">
                <a:latin typeface="+mj-lt"/>
                <a:ea typeface="Times New Roman" panose="02020603050405020304" pitchFamily="18" charset="0"/>
                <a:cs typeface="Times New Roman" panose="02020603050405020304" pitchFamily="18" charset="0"/>
              </a:rPr>
              <a:t>i</a:t>
            </a:r>
            <a:r>
              <a:rPr lang="en-US" sz="2200" dirty="0">
                <a:latin typeface="+mj-lt"/>
                <a:ea typeface="Times New Roman" panose="02020603050405020304" pitchFamily="18" charset="0"/>
                <a:cs typeface="Times New Roman" panose="02020603050405020304" pitchFamily="18" charset="0"/>
              </a:rPr>
              <a:t>) Graph Coloring</a:t>
            </a:r>
            <a:endParaRPr lang="en-IN" sz="2200" dirty="0">
              <a:latin typeface="+mj-lt"/>
              <a:ea typeface="Times New Roman" panose="02020603050405020304" pitchFamily="18" charset="0"/>
              <a:cs typeface="Times New Roman" panose="02020603050405020304" pitchFamily="18" charset="0"/>
            </a:endParaRPr>
          </a:p>
          <a:p>
            <a:pPr marL="457200">
              <a:lnSpc>
                <a:spcPct val="115000"/>
              </a:lnSpc>
              <a:spcAft>
                <a:spcPts val="0"/>
              </a:spcAft>
              <a:tabLst>
                <a:tab pos="171450" algn="l"/>
                <a:tab pos="285750" algn="l"/>
              </a:tabLst>
            </a:pPr>
            <a:r>
              <a:rPr lang="en-US" sz="2200" dirty="0">
                <a:latin typeface="+mj-lt"/>
                <a:ea typeface="Times New Roman" panose="02020603050405020304" pitchFamily="18" charset="0"/>
                <a:cs typeface="Times New Roman" panose="02020603050405020304" pitchFamily="18" charset="0"/>
              </a:rPr>
              <a:t>ii)Sub Set Sum Problem</a:t>
            </a:r>
            <a:endParaRPr lang="en-IN" sz="2200" dirty="0">
              <a:latin typeface="+mj-lt"/>
              <a:ea typeface="Times New Roman" panose="02020603050405020304" pitchFamily="18" charset="0"/>
              <a:cs typeface="Times New Roman" panose="02020603050405020304" pitchFamily="18" charset="0"/>
            </a:endParaRPr>
          </a:p>
          <a:p>
            <a:pPr marL="457200">
              <a:lnSpc>
                <a:spcPct val="115000"/>
              </a:lnSpc>
              <a:spcAft>
                <a:spcPts val="0"/>
              </a:spcAft>
              <a:tabLst>
                <a:tab pos="171450" algn="l"/>
                <a:tab pos="285750" algn="l"/>
              </a:tabLst>
            </a:pPr>
            <a:r>
              <a:rPr lang="en-US" sz="2200" dirty="0">
                <a:latin typeface="+mj-lt"/>
                <a:ea typeface="Times New Roman" panose="02020603050405020304" pitchFamily="18" charset="0"/>
                <a:cs typeface="Times New Roman" panose="02020603050405020304" pitchFamily="18" charset="0"/>
              </a:rPr>
              <a:t>iii)Hamiltonian Cycle</a:t>
            </a:r>
            <a:endParaRPr lang="en-IN" sz="2200" dirty="0">
              <a:effectLst/>
              <a:latin typeface="+mj-lt"/>
              <a:ea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543B256-EADD-493A-8CEB-FD68E875FF91}" type="datetime1">
              <a:rPr lang="en-US" smtClean="0"/>
              <a:t>6/8/2026</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fi-FI"/>
              <a:t>Adnan Naseem DSA-II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57</a:t>
            </a:fld>
            <a:endParaRPr lang="en-US"/>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Expected Questions  </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2" name="Content Placeholder 1"/>
          <p:cNvPicPr>
            <a:picLocks noGrp="1" noChangeAspect="1"/>
          </p:cNvPicPr>
          <p:nvPr>
            <p:ph idx="1"/>
          </p:nvPr>
        </p:nvPicPr>
        <p:blipFill>
          <a:blip r:embed="rId3"/>
          <a:stretch>
            <a:fillRect/>
          </a:stretch>
        </p:blipFill>
        <p:spPr>
          <a:xfrm>
            <a:off x="4556125" y="1659136"/>
            <a:ext cx="184150" cy="75803"/>
          </a:xfrm>
          <a:prstGeom prst="rect">
            <a:avLst/>
          </a:prstGeom>
        </p:spPr>
      </p:pic>
      <p:sp>
        <p:nvSpPr>
          <p:cNvPr id="9" name="Rectangle 8"/>
          <p:cNvSpPr/>
          <p:nvPr/>
        </p:nvSpPr>
        <p:spPr>
          <a:xfrm>
            <a:off x="876300" y="1140329"/>
            <a:ext cx="7391400" cy="4708981"/>
          </a:xfrm>
          <a:prstGeom prst="rect">
            <a:avLst/>
          </a:prstGeom>
        </p:spPr>
        <p:txBody>
          <a:bodyPr wrap="square">
            <a:spAutoFit/>
          </a:bodyPr>
          <a:lstStyle/>
          <a:p>
            <a:r>
              <a:rPr lang="en-US" sz="2200" dirty="0"/>
              <a:t>3. Find out one optimal solution for following using back tracking</a:t>
            </a:r>
            <a:r>
              <a:rPr lang="en-US" sz="2200" b="1" dirty="0"/>
              <a:t>.</a:t>
            </a:r>
            <a:endParaRPr lang="en-IN" sz="2200" dirty="0"/>
          </a:p>
          <a:p>
            <a:pPr lvl="0"/>
            <a:r>
              <a:rPr lang="en-US" sz="2200" dirty="0"/>
              <a:t>     4*4 chessboard,4 Queen Problem</a:t>
            </a:r>
            <a:endParaRPr lang="en-IN" sz="2200" dirty="0"/>
          </a:p>
          <a:p>
            <a:pPr lvl="0"/>
            <a:r>
              <a:rPr lang="en-US" sz="2200" dirty="0"/>
              <a:t>     8*8 chessboard,8 Queen Problem                                   [CO4]</a:t>
            </a:r>
          </a:p>
          <a:p>
            <a:pPr lvl="0"/>
            <a:endParaRPr lang="en-US" sz="2200" dirty="0"/>
          </a:p>
          <a:p>
            <a:r>
              <a:rPr lang="en-US" sz="2200" dirty="0"/>
              <a:t>4. Write the difference between the Greedy method and Dynamic programming.                                                            [CO4]</a:t>
            </a:r>
          </a:p>
          <a:p>
            <a:endParaRPr lang="en-US" sz="2200" dirty="0"/>
          </a:p>
          <a:p>
            <a:pPr marL="342900" indent="-342900">
              <a:buAutoNum type="arabicPeriod" startAt="5"/>
            </a:pPr>
            <a:r>
              <a:rPr lang="en-US" sz="2200" dirty="0"/>
              <a:t>Explain the term state space search tree with suitable example.                                                                                [CO4]</a:t>
            </a:r>
          </a:p>
          <a:p>
            <a:endParaRPr lang="en-US" sz="2200" dirty="0"/>
          </a:p>
          <a:p>
            <a:r>
              <a:rPr lang="en-IN" sz="2200" dirty="0"/>
              <a:t>6. Explain Floyd algorithm and also </a:t>
            </a:r>
            <a:r>
              <a:rPr lang="en-IN" sz="2200" dirty="0" err="1"/>
              <a:t>analyze</a:t>
            </a:r>
            <a:r>
              <a:rPr lang="en-IN" sz="2200" dirty="0"/>
              <a:t> its complexity [CO4]</a:t>
            </a:r>
          </a:p>
          <a:p>
            <a:pPr lvl="0"/>
            <a:endParaRPr lang="en-IN" dirty="0"/>
          </a:p>
          <a:p>
            <a:pPr marL="342900" indent="-342900">
              <a:buAutoNum type="arabicPeriod"/>
            </a:pPr>
            <a:endParaRPr lang="en-IN" dirty="0"/>
          </a:p>
        </p:txBody>
      </p:sp>
    </p:spTree>
  </p:cSld>
  <p:clrMapOvr>
    <a:masterClrMapping/>
  </p:clrMapOvr>
</p:sld>
</file>

<file path=ppt/theme/theme1.xml><?xml version="1.0" encoding="utf-8"?>
<a:theme xmlns:a="http://schemas.openxmlformats.org/drawingml/2006/main" name="Office Theme">
  <a:themeElements>
    <a:clrScheme name="Custom 7">
      <a:dk1>
        <a:sysClr val="windowText" lastClr="000000"/>
      </a:dk1>
      <a:lt1>
        <a:sysClr val="window" lastClr="FFFFFF"/>
      </a:lt1>
      <a:dk2>
        <a:srgbClr val="1F497D"/>
      </a:dk2>
      <a:lt2>
        <a:srgbClr val="EEECE1"/>
      </a:lt2>
      <a:accent1>
        <a:srgbClr val="FF7C80"/>
      </a:accent1>
      <a:accent2>
        <a:srgbClr val="FF7C80"/>
      </a:accent2>
      <a:accent3>
        <a:srgbClr val="FF7C80"/>
      </a:accent3>
      <a:accent4>
        <a:srgbClr val="FF7C80"/>
      </a:accent4>
      <a:accent5>
        <a:srgbClr val="FF7C80"/>
      </a:accent5>
      <a:accent6>
        <a:srgbClr val="FF7C80"/>
      </a:accent6>
      <a:hlink>
        <a:srgbClr val="FF7C80"/>
      </a:hlink>
      <a:folHlink>
        <a:srgbClr val="FF7C80"/>
      </a:folHlink>
    </a:clrScheme>
    <a:fontScheme name="Custom 1">
      <a:majorFont>
        <a:latin typeface="Times New Roman"/>
        <a:ea typeface=""/>
        <a:cs typeface=""/>
      </a:majorFont>
      <a:minorFont>
        <a:latin typeface="Times New Roman"/>
        <a:ea typeface=""/>
        <a:cs typeface=""/>
      </a:minorFont>
    </a:fontScheme>
    <a:fmtScheme name="Glow Edge">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4912</Words>
  <Application>Microsoft Office PowerPoint</Application>
  <PresentationFormat>On-screen Show (4:3)</PresentationFormat>
  <Paragraphs>776</Paragraphs>
  <Slides>57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Arial</vt:lpstr>
      <vt:lpstr>Calibri</vt:lpstr>
      <vt:lpstr>Calibri Light</vt:lpstr>
      <vt:lpstr>Cambria Math</vt:lpstr>
      <vt:lpstr>Times New Roman</vt:lpstr>
      <vt:lpstr>Verdana</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ADNAN NASEEM</cp:lastModifiedBy>
  <cp:revision>140</cp:revision>
  <dcterms:created xsi:type="dcterms:W3CDTF">2006-08-16T00:00:00Z</dcterms:created>
  <dcterms:modified xsi:type="dcterms:W3CDTF">2026-06-08T09:06:52Z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4D44F8AD9BAE47AEB1EBF0CC7818B2BC_12</vt:lpwstr>
  </property>
  <property fmtid="{D5CDD505-2E9C-101B-9397-08002B2CF9AE}" pid="3" name="KSOProductBuildVer">
    <vt:lpwstr>1033-12.2.0.23196</vt:lpwstr>
  </property>
</Properties>
</file>