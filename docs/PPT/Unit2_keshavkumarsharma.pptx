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2.jpg" ContentType="image/jpg"/>
  <Override PartName="/ppt/media/image14.jpg" ContentType="image/jp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3"/>
  </p:notesMasterIdLst>
  <p:handoutMasterIdLst>
    <p:handoutMasterId r:id="rId124"/>
  </p:handoutMasterIdLst>
  <p:sldIdLst>
    <p:sldId id="436" r:id="rId2"/>
    <p:sldId id="615" r:id="rId3"/>
    <p:sldId id="259" r:id="rId4"/>
    <p:sldId id="260" r:id="rId5"/>
    <p:sldId id="271" r:id="rId6"/>
    <p:sldId id="272" r:id="rId7"/>
    <p:sldId id="275" r:id="rId8"/>
    <p:sldId id="277" r:id="rId9"/>
    <p:sldId id="280" r:id="rId10"/>
    <p:sldId id="424" r:id="rId11"/>
    <p:sldId id="425" r:id="rId12"/>
    <p:sldId id="281" r:id="rId13"/>
    <p:sldId id="352" r:id="rId14"/>
    <p:sldId id="353" r:id="rId15"/>
    <p:sldId id="350" r:id="rId16"/>
    <p:sldId id="354" r:id="rId17"/>
    <p:sldId id="426" r:id="rId18"/>
    <p:sldId id="440" r:id="rId19"/>
    <p:sldId id="427" r:id="rId20"/>
    <p:sldId id="284" r:id="rId21"/>
    <p:sldId id="428" r:id="rId22"/>
    <p:sldId id="441" r:id="rId23"/>
    <p:sldId id="442" r:id="rId24"/>
    <p:sldId id="429" r:id="rId25"/>
    <p:sldId id="430" r:id="rId26"/>
    <p:sldId id="443" r:id="rId27"/>
    <p:sldId id="362" r:id="rId28"/>
    <p:sldId id="289" r:id="rId29"/>
    <p:sldId id="290" r:id="rId30"/>
    <p:sldId id="355" r:id="rId31"/>
    <p:sldId id="356" r:id="rId32"/>
    <p:sldId id="357" r:id="rId33"/>
    <p:sldId id="358" r:id="rId34"/>
    <p:sldId id="359" r:id="rId35"/>
    <p:sldId id="360" r:id="rId36"/>
    <p:sldId id="361" r:id="rId37"/>
    <p:sldId id="431" r:id="rId38"/>
    <p:sldId id="444" r:id="rId39"/>
    <p:sldId id="437" r:id="rId40"/>
    <p:sldId id="439" r:id="rId41"/>
    <p:sldId id="438" r:id="rId42"/>
    <p:sldId id="433" r:id="rId43"/>
    <p:sldId id="291" r:id="rId44"/>
    <p:sldId id="292" r:id="rId45"/>
    <p:sldId id="293" r:id="rId46"/>
    <p:sldId id="363" r:id="rId47"/>
    <p:sldId id="364" r:id="rId48"/>
    <p:sldId id="365" r:id="rId49"/>
    <p:sldId id="366" r:id="rId50"/>
    <p:sldId id="367" r:id="rId51"/>
    <p:sldId id="368" r:id="rId52"/>
    <p:sldId id="434" r:id="rId53"/>
    <p:sldId id="369" r:id="rId54"/>
    <p:sldId id="390" r:id="rId55"/>
    <p:sldId id="370" r:id="rId56"/>
    <p:sldId id="296" r:id="rId57"/>
    <p:sldId id="445" r:id="rId58"/>
    <p:sldId id="435" r:id="rId59"/>
    <p:sldId id="297" r:id="rId60"/>
    <p:sldId id="372" r:id="rId61"/>
    <p:sldId id="373" r:id="rId62"/>
    <p:sldId id="371" r:id="rId63"/>
    <p:sldId id="374" r:id="rId64"/>
    <p:sldId id="375" r:id="rId65"/>
    <p:sldId id="376" r:id="rId66"/>
    <p:sldId id="377" r:id="rId67"/>
    <p:sldId id="378" r:id="rId68"/>
    <p:sldId id="379" r:id="rId69"/>
    <p:sldId id="380" r:id="rId70"/>
    <p:sldId id="381" r:id="rId71"/>
    <p:sldId id="382" r:id="rId72"/>
    <p:sldId id="383" r:id="rId73"/>
    <p:sldId id="384" r:id="rId74"/>
    <p:sldId id="385" r:id="rId75"/>
    <p:sldId id="386" r:id="rId76"/>
    <p:sldId id="387" r:id="rId77"/>
    <p:sldId id="388" r:id="rId78"/>
    <p:sldId id="389" r:id="rId79"/>
    <p:sldId id="391" r:id="rId80"/>
    <p:sldId id="392" r:id="rId81"/>
    <p:sldId id="393" r:id="rId82"/>
    <p:sldId id="300" r:id="rId83"/>
    <p:sldId id="301" r:id="rId84"/>
    <p:sldId id="302" r:id="rId85"/>
    <p:sldId id="394" r:id="rId86"/>
    <p:sldId id="395" r:id="rId87"/>
    <p:sldId id="397" r:id="rId88"/>
    <p:sldId id="398" r:id="rId89"/>
    <p:sldId id="399" r:id="rId90"/>
    <p:sldId id="400" r:id="rId91"/>
    <p:sldId id="401" r:id="rId92"/>
    <p:sldId id="402" r:id="rId93"/>
    <p:sldId id="403" r:id="rId94"/>
    <p:sldId id="404" r:id="rId95"/>
    <p:sldId id="405" r:id="rId96"/>
    <p:sldId id="406" r:id="rId97"/>
    <p:sldId id="407" r:id="rId98"/>
    <p:sldId id="304" r:id="rId99"/>
    <p:sldId id="408" r:id="rId100"/>
    <p:sldId id="409" r:id="rId101"/>
    <p:sldId id="410" r:id="rId102"/>
    <p:sldId id="411" r:id="rId103"/>
    <p:sldId id="412" r:id="rId104"/>
    <p:sldId id="413" r:id="rId105"/>
    <p:sldId id="414" r:id="rId106"/>
    <p:sldId id="415" r:id="rId107"/>
    <p:sldId id="416" r:id="rId108"/>
    <p:sldId id="417" r:id="rId109"/>
    <p:sldId id="418" r:id="rId110"/>
    <p:sldId id="419" r:id="rId111"/>
    <p:sldId id="420" r:id="rId112"/>
    <p:sldId id="421" r:id="rId113"/>
    <p:sldId id="422" r:id="rId114"/>
    <p:sldId id="332" r:id="rId115"/>
    <p:sldId id="333" r:id="rId116"/>
    <p:sldId id="334" r:id="rId117"/>
    <p:sldId id="340" r:id="rId118"/>
    <p:sldId id="423" r:id="rId119"/>
    <p:sldId id="345" r:id="rId120"/>
    <p:sldId id="348" r:id="rId121"/>
    <p:sldId id="349" r:id="rId1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F827A-BE4D-45F7-82CC-E7596A78E4E1}" v="323" dt="2025-01-04T17:13:00.84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157" autoAdjust="0"/>
  </p:normalViewPr>
  <p:slideViewPr>
    <p:cSldViewPr>
      <p:cViewPr varScale="1">
        <p:scale>
          <a:sx n="78" d="100"/>
          <a:sy n="78" d="100"/>
        </p:scale>
        <p:origin x="850" y="1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handoutMaster" Target="handoutMasters/handoutMaster1.xml"/><Relationship Id="rId12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83E620-35C9-2787-EB42-31E3E041B97A}"/>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6D41F65-2774-FACB-2DEC-4080840B65A9}"/>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138AACF6-EFC9-4EEE-BD61-2684324A7D71}" type="datetimeFigureOut">
              <a:rPr lang="en-IN" smtClean="0"/>
              <a:t>08-07-2026</a:t>
            </a:fld>
            <a:endParaRPr lang="en-IN"/>
          </a:p>
        </p:txBody>
      </p:sp>
      <p:sp>
        <p:nvSpPr>
          <p:cNvPr id="4" name="Footer Placeholder 3">
            <a:extLst>
              <a:ext uri="{FF2B5EF4-FFF2-40B4-BE49-F238E27FC236}">
                <a16:creationId xmlns:a16="http://schemas.microsoft.com/office/drawing/2014/main" id="{CE0768BB-DEF7-6861-12F9-67F9B287CF54}"/>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r>
              <a:rPr lang="en-IN"/>
              <a:t>NEHA BHATI</a:t>
            </a:r>
          </a:p>
        </p:txBody>
      </p:sp>
      <p:sp>
        <p:nvSpPr>
          <p:cNvPr id="5" name="Slide Number Placeholder 4">
            <a:extLst>
              <a:ext uri="{FF2B5EF4-FFF2-40B4-BE49-F238E27FC236}">
                <a16:creationId xmlns:a16="http://schemas.microsoft.com/office/drawing/2014/main" id="{2269BEBB-6530-9872-87AF-0ACBD4C777F3}"/>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9DF177D1-E0C0-45A4-86C3-00AE414B4390}" type="slidenum">
              <a:rPr lang="en-IN" smtClean="0"/>
              <a:t>‹#›</a:t>
            </a:fld>
            <a:endParaRPr lang="en-IN"/>
          </a:p>
        </p:txBody>
      </p:sp>
    </p:spTree>
    <p:extLst>
      <p:ext uri="{BB962C8B-B14F-4D97-AF65-F5344CB8AC3E}">
        <p14:creationId xmlns:p14="http://schemas.microsoft.com/office/powerpoint/2010/main" val="126594161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2158EB3-09DC-4C57-B349-EAF24AD649D4}" type="datetimeFigureOut">
              <a:rPr lang="en-IN" smtClean="0"/>
              <a:t>08-07-2026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r>
              <a:rPr lang="en-IN"/>
              <a:t>NEHA BHATI</a:t>
            </a:r>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AF2A03B-3901-4DFE-A410-7D02B36A1DC0}" type="slidenum">
              <a:rPr lang="en-IN" smtClean="0"/>
              <a:t>‹#›</a:t>
            </a:fld>
            <a:endParaRPr lang="en-IN"/>
          </a:p>
        </p:txBody>
      </p:sp>
    </p:spTree>
    <p:extLst>
      <p:ext uri="{BB962C8B-B14F-4D97-AF65-F5344CB8AC3E}">
        <p14:creationId xmlns:p14="http://schemas.microsoft.com/office/powerpoint/2010/main" val="240053277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958974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558242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IN"/>
              <a:t>NEHA BHATI</a:t>
            </a:r>
          </a:p>
        </p:txBody>
      </p:sp>
      <p:sp>
        <p:nvSpPr>
          <p:cNvPr id="5" name="Slide Number Placeholder 4"/>
          <p:cNvSpPr>
            <a:spLocks noGrp="1"/>
          </p:cNvSpPr>
          <p:nvPr>
            <p:ph type="sldNum" sz="quarter" idx="11"/>
          </p:nvPr>
        </p:nvSpPr>
        <p:spPr/>
        <p:txBody>
          <a:bodyPr/>
          <a:lstStyle/>
          <a:p>
            <a:fld id="{CAF2A03B-3901-4DFE-A410-7D02B36A1DC0}" type="slidenum">
              <a:rPr lang="en-IN" smtClean="0"/>
              <a:t>21</a:t>
            </a:fld>
            <a:endParaRPr lang="en-IN"/>
          </a:p>
        </p:txBody>
      </p:sp>
    </p:spTree>
    <p:extLst>
      <p:ext uri="{BB962C8B-B14F-4D97-AF65-F5344CB8AC3E}">
        <p14:creationId xmlns:p14="http://schemas.microsoft.com/office/powerpoint/2010/main" val="2495781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1BE9A3AF-6AFA-426B-A609-20A070BEE5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EC8BFD36-261F-4F16-B19B-38FF791233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BD87299C-C973-414C-895A-0B3DD5BAC5C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87</a:t>
            </a:fld>
            <a:endParaRPr lang="en-US" altLang="en-US">
              <a:latin typeface="Calibri" panose="020F0502020204030204" pitchFamily="34" charset="0"/>
            </a:endParaRPr>
          </a:p>
        </p:txBody>
      </p:sp>
    </p:spTree>
    <p:extLst>
      <p:ext uri="{BB962C8B-B14F-4D97-AF65-F5344CB8AC3E}">
        <p14:creationId xmlns:p14="http://schemas.microsoft.com/office/powerpoint/2010/main" val="3591683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29D91-BF8E-430A-06C6-B0F67A3C914D}"/>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0D70653D-2E1E-4B6D-F483-7D697D1F7B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5018F5FE-7465-AD6B-EA18-6E874E5168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E5974F3B-5423-B2DB-A25F-759C74880B3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88</a:t>
            </a:fld>
            <a:endParaRPr lang="en-US" altLang="en-US">
              <a:latin typeface="Calibri" panose="020F0502020204030204" pitchFamily="34" charset="0"/>
            </a:endParaRPr>
          </a:p>
        </p:txBody>
      </p:sp>
    </p:spTree>
    <p:extLst>
      <p:ext uri="{BB962C8B-B14F-4D97-AF65-F5344CB8AC3E}">
        <p14:creationId xmlns:p14="http://schemas.microsoft.com/office/powerpoint/2010/main" val="1459800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44C86-F50D-BCF3-295A-1ACE60EC0E47}"/>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7F22F305-BDCE-D165-9E91-7101C9201D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544867D0-30E0-B61C-B89B-9921575B0B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DB8A819D-6A5F-0740-6592-9AD17E8AE65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89</a:t>
            </a:fld>
            <a:endParaRPr lang="en-US" altLang="en-US">
              <a:latin typeface="Calibri" panose="020F0502020204030204" pitchFamily="34" charset="0"/>
            </a:endParaRPr>
          </a:p>
        </p:txBody>
      </p:sp>
    </p:spTree>
    <p:extLst>
      <p:ext uri="{BB962C8B-B14F-4D97-AF65-F5344CB8AC3E}">
        <p14:creationId xmlns:p14="http://schemas.microsoft.com/office/powerpoint/2010/main" val="3205830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DA02-9896-F407-8FF6-D33B99943B90}"/>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B50ED28E-463B-B73D-C116-F0BBAEA5C4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B19ABAA3-58B0-9801-1774-DF4A5F7358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D34B2C46-F163-ED7D-2EC1-F38055A9CC7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90</a:t>
            </a:fld>
            <a:endParaRPr lang="en-US" altLang="en-US">
              <a:latin typeface="Calibri" panose="020F0502020204030204" pitchFamily="34" charset="0"/>
            </a:endParaRPr>
          </a:p>
        </p:txBody>
      </p:sp>
    </p:spTree>
    <p:extLst>
      <p:ext uri="{BB962C8B-B14F-4D97-AF65-F5344CB8AC3E}">
        <p14:creationId xmlns:p14="http://schemas.microsoft.com/office/powerpoint/2010/main" val="4291491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B7F6-D3A8-51AA-BA03-58E177882307}"/>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DE9688FC-1AE2-BBB3-3CB6-42F0B61A33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2CE2E319-8287-1F5A-2CD9-D1792212FA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D4C188D6-E1CD-1D3B-B8E7-9081604F86E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91</a:t>
            </a:fld>
            <a:endParaRPr lang="en-US" altLang="en-US">
              <a:latin typeface="Calibri" panose="020F0502020204030204" pitchFamily="34" charset="0"/>
            </a:endParaRPr>
          </a:p>
        </p:txBody>
      </p:sp>
    </p:spTree>
    <p:extLst>
      <p:ext uri="{BB962C8B-B14F-4D97-AF65-F5344CB8AC3E}">
        <p14:creationId xmlns:p14="http://schemas.microsoft.com/office/powerpoint/2010/main" val="1868784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33A8A-A04C-6559-8CC0-C9A472646A0F}"/>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6DCBC351-DD3D-630A-9285-AAC92310AC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FCE55123-A226-B338-F2B2-71297BE171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24C2DE1E-478E-26E2-4167-FC3DE58B975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92</a:t>
            </a:fld>
            <a:endParaRPr lang="en-US" altLang="en-US">
              <a:latin typeface="Calibri" panose="020F0502020204030204" pitchFamily="34" charset="0"/>
            </a:endParaRPr>
          </a:p>
        </p:txBody>
      </p:sp>
    </p:spTree>
    <p:extLst>
      <p:ext uri="{BB962C8B-B14F-4D97-AF65-F5344CB8AC3E}">
        <p14:creationId xmlns:p14="http://schemas.microsoft.com/office/powerpoint/2010/main" val="554224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94D05-0BAD-48A4-E305-756D2E0C9B31}"/>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F92E97EA-8A24-489A-F853-964BBCB078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33E4AFEF-3701-C0DC-C065-C8E13AA7EB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5C677A5D-0732-D4F3-060B-207FAA65DCB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93</a:t>
            </a:fld>
            <a:endParaRPr lang="en-US" altLang="en-US">
              <a:latin typeface="Calibri" panose="020F0502020204030204" pitchFamily="34" charset="0"/>
            </a:endParaRPr>
          </a:p>
        </p:txBody>
      </p:sp>
    </p:spTree>
    <p:extLst>
      <p:ext uri="{BB962C8B-B14F-4D97-AF65-F5344CB8AC3E}">
        <p14:creationId xmlns:p14="http://schemas.microsoft.com/office/powerpoint/2010/main" val="2435731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9EDCD-35B1-F758-9813-114C31DB4851}"/>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723912D1-0D1C-77CB-E3B7-35F929E5F8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3A47ADBF-9A08-1016-FA77-34728A2905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258E148C-9F2B-9492-14D6-E6599A27A2DD}"/>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94</a:t>
            </a:fld>
            <a:endParaRPr lang="en-US" altLang="en-US">
              <a:latin typeface="Calibri" panose="020F0502020204030204" pitchFamily="34" charset="0"/>
            </a:endParaRPr>
          </a:p>
        </p:txBody>
      </p:sp>
    </p:spTree>
    <p:extLst>
      <p:ext uri="{BB962C8B-B14F-4D97-AF65-F5344CB8AC3E}">
        <p14:creationId xmlns:p14="http://schemas.microsoft.com/office/powerpoint/2010/main" val="3366898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DA7C6-5BF0-BA73-6276-617DB379673B}"/>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2F03B7E9-CC25-6B7E-C12E-1EEF988AF3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D993937C-7D6D-D02F-DF27-241DEEE06A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56DFD28E-0021-D89F-093F-C713D22FE2C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95</a:t>
            </a:fld>
            <a:endParaRPr lang="en-US" altLang="en-US">
              <a:latin typeface="Calibri" panose="020F0502020204030204" pitchFamily="34" charset="0"/>
            </a:endParaRPr>
          </a:p>
        </p:txBody>
      </p:sp>
    </p:spTree>
    <p:extLst>
      <p:ext uri="{BB962C8B-B14F-4D97-AF65-F5344CB8AC3E}">
        <p14:creationId xmlns:p14="http://schemas.microsoft.com/office/powerpoint/2010/main" val="4232026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7E3E7-723D-F546-8562-8FC7F8C877D9}"/>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B4818F6D-85A3-C533-D5A0-0A246DC7B2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E305BB1E-CD40-39DB-6479-D569B9987E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571A775F-97F0-99B2-7FC6-8A8642FFE46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96</a:t>
            </a:fld>
            <a:endParaRPr lang="en-US" altLang="en-US">
              <a:latin typeface="Calibri" panose="020F0502020204030204" pitchFamily="34" charset="0"/>
            </a:endParaRPr>
          </a:p>
        </p:txBody>
      </p:sp>
    </p:spTree>
    <p:extLst>
      <p:ext uri="{BB962C8B-B14F-4D97-AF65-F5344CB8AC3E}">
        <p14:creationId xmlns:p14="http://schemas.microsoft.com/office/powerpoint/2010/main" val="948164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4321E-E89D-239F-9AA6-0AEB46EB4631}"/>
            </a:ext>
          </a:extLst>
        </p:cNvPr>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8F5A68B5-0BD0-617C-E71F-BD247AF649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1FBB1A47-F09C-027D-6F92-DA7F073E16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71684" name="Slide Number Placeholder 3">
            <a:extLst>
              <a:ext uri="{FF2B5EF4-FFF2-40B4-BE49-F238E27FC236}">
                <a16:creationId xmlns:a16="http://schemas.microsoft.com/office/drawing/2014/main" id="{EF383E7A-EA93-6AB1-39B3-AB24ADB9B44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3D3F42-AF43-46AF-AF2F-5AB1F7BD0D11}" type="slidenum">
              <a:rPr lang="en-US" altLang="en-US">
                <a:latin typeface="Calibri" panose="020F0502020204030204" pitchFamily="34" charset="0"/>
              </a:rPr>
              <a:pPr eaLnBrk="1" hangingPunct="1"/>
              <a:t>97</a:t>
            </a:fld>
            <a:endParaRPr lang="en-US" altLang="en-US">
              <a:latin typeface="Calibri" panose="020F0502020204030204" pitchFamily="34" charset="0"/>
            </a:endParaRPr>
          </a:p>
        </p:txBody>
      </p:sp>
    </p:spTree>
    <p:extLst>
      <p:ext uri="{BB962C8B-B14F-4D97-AF65-F5344CB8AC3E}">
        <p14:creationId xmlns:p14="http://schemas.microsoft.com/office/powerpoint/2010/main" val="559535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IN" spc="-10"/>
              <a:t>KeshavSharma         CSE</a:t>
            </a:r>
            <a:endParaRPr spc="-10"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FAB6C368-ADE9-493D-90BF-E6AE9057C902}" type="datetime1">
              <a:rPr lang="en-US" spc="-25" smtClean="0"/>
              <a:t>7/8/2026</a:t>
            </a:fld>
            <a:endParaRPr spc="-2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IN" spc="-10"/>
              <a:t>KeshavSharma         CSE</a:t>
            </a:r>
            <a:endParaRPr spc="-10"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BAECC8A0-1DAE-413E-8923-F8446F4FBF36}" type="datetime1">
              <a:rPr lang="en-US" spc="-25" smtClean="0"/>
              <a:t>7/8/2026</a:t>
            </a:fld>
            <a:endParaRPr spc="-2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857498" y="0"/>
            <a:ext cx="7844031" cy="740881"/>
          </a:xfrm>
          <a:prstGeom prst="rect">
            <a:avLst/>
          </a:prstGeom>
        </p:spPr>
      </p:pic>
      <p:pic>
        <p:nvPicPr>
          <p:cNvPr id="17" name="bg object 17"/>
          <p:cNvPicPr/>
          <p:nvPr/>
        </p:nvPicPr>
        <p:blipFill>
          <a:blip r:embed="rId3" cstate="print"/>
          <a:stretch>
            <a:fillRect/>
          </a:stretch>
        </p:blipFill>
        <p:spPr>
          <a:xfrm>
            <a:off x="5376672" y="47269"/>
            <a:ext cx="2804160" cy="720826"/>
          </a:xfrm>
          <a:prstGeom prst="rect">
            <a:avLst/>
          </a:prstGeom>
        </p:spPr>
      </p:pic>
      <p:pic>
        <p:nvPicPr>
          <p:cNvPr id="18" name="bg object 18"/>
          <p:cNvPicPr/>
          <p:nvPr/>
        </p:nvPicPr>
        <p:blipFill>
          <a:blip r:embed="rId4" cstate="print"/>
          <a:stretch>
            <a:fillRect/>
          </a:stretch>
        </p:blipFill>
        <p:spPr>
          <a:xfrm>
            <a:off x="2895599" y="635"/>
            <a:ext cx="7772400" cy="685800"/>
          </a:xfrm>
          <a:prstGeom prst="rect">
            <a:avLst/>
          </a:prstGeom>
        </p:spPr>
      </p:pic>
      <p:sp>
        <p:nvSpPr>
          <p:cNvPr id="19" name="bg object 19"/>
          <p:cNvSpPr/>
          <p:nvPr/>
        </p:nvSpPr>
        <p:spPr>
          <a:xfrm>
            <a:off x="2895599" y="635"/>
            <a:ext cx="7772400" cy="685800"/>
          </a:xfrm>
          <a:custGeom>
            <a:avLst/>
            <a:gdLst/>
            <a:ahLst/>
            <a:cxnLst/>
            <a:rect l="l" t="t" r="r" b="b"/>
            <a:pathLst>
              <a:path w="7772400" h="685800">
                <a:moveTo>
                  <a:pt x="0" y="685800"/>
                </a:moveTo>
                <a:lnTo>
                  <a:pt x="7772400" y="685800"/>
                </a:lnTo>
                <a:lnTo>
                  <a:pt x="7772400" y="0"/>
                </a:lnTo>
                <a:lnTo>
                  <a:pt x="0" y="0"/>
                </a:lnTo>
                <a:lnTo>
                  <a:pt x="0" y="685800"/>
                </a:lnTo>
                <a:close/>
              </a:path>
            </a:pathLst>
          </a:custGeom>
          <a:ln w="9525">
            <a:solidFill>
              <a:srgbClr val="46AAC5"/>
            </a:solidFill>
          </a:ln>
        </p:spPr>
        <p:txBody>
          <a:bodyPr wrap="square" lIns="0" tIns="0" rIns="0" bIns="0" rtlCol="0"/>
          <a:lstStyle/>
          <a:p>
            <a:endParaRPr/>
          </a:p>
        </p:txBody>
      </p:sp>
      <p:pic>
        <p:nvPicPr>
          <p:cNvPr id="20" name="bg object 20"/>
          <p:cNvPicPr/>
          <p:nvPr/>
        </p:nvPicPr>
        <p:blipFill>
          <a:blip r:embed="rId5" cstate="print"/>
          <a:stretch>
            <a:fillRect/>
          </a:stretch>
        </p:blipFill>
        <p:spPr>
          <a:xfrm>
            <a:off x="2592323" y="10655"/>
            <a:ext cx="9599676" cy="999756"/>
          </a:xfrm>
          <a:prstGeom prst="rect">
            <a:avLst/>
          </a:prstGeom>
        </p:spPr>
      </p:pic>
      <p:pic>
        <p:nvPicPr>
          <p:cNvPr id="21" name="bg object 21"/>
          <p:cNvPicPr/>
          <p:nvPr/>
        </p:nvPicPr>
        <p:blipFill>
          <a:blip r:embed="rId6" cstate="print"/>
          <a:stretch>
            <a:fillRect/>
          </a:stretch>
        </p:blipFill>
        <p:spPr>
          <a:xfrm>
            <a:off x="5937503" y="149352"/>
            <a:ext cx="2951988" cy="827532"/>
          </a:xfrm>
          <a:prstGeom prst="rect">
            <a:avLst/>
          </a:prstGeom>
        </p:spPr>
      </p:pic>
      <p:pic>
        <p:nvPicPr>
          <p:cNvPr id="22" name="bg object 22"/>
          <p:cNvPicPr/>
          <p:nvPr/>
        </p:nvPicPr>
        <p:blipFill>
          <a:blip r:embed="rId7" cstate="print"/>
          <a:stretch>
            <a:fillRect/>
          </a:stretch>
        </p:blipFill>
        <p:spPr>
          <a:xfrm>
            <a:off x="2639567" y="38252"/>
            <a:ext cx="9552432" cy="909040"/>
          </a:xfrm>
          <a:prstGeom prst="rect">
            <a:avLst/>
          </a:prstGeom>
        </p:spPr>
      </p:pic>
      <p:sp>
        <p:nvSpPr>
          <p:cNvPr id="23" name="bg object 23"/>
          <p:cNvSpPr/>
          <p:nvPr/>
        </p:nvSpPr>
        <p:spPr>
          <a:xfrm>
            <a:off x="2639567" y="38252"/>
            <a:ext cx="9552940" cy="909319"/>
          </a:xfrm>
          <a:custGeom>
            <a:avLst/>
            <a:gdLst/>
            <a:ahLst/>
            <a:cxnLst/>
            <a:rect l="l" t="t" r="r" b="b"/>
            <a:pathLst>
              <a:path w="9552940" h="909319">
                <a:moveTo>
                  <a:pt x="0" y="909040"/>
                </a:moveTo>
                <a:lnTo>
                  <a:pt x="9552432" y="909040"/>
                </a:lnTo>
                <a:lnTo>
                  <a:pt x="9552432" y="0"/>
                </a:lnTo>
                <a:lnTo>
                  <a:pt x="0" y="0"/>
                </a:lnTo>
                <a:lnTo>
                  <a:pt x="0" y="909040"/>
                </a:lnTo>
                <a:close/>
              </a:path>
            </a:pathLst>
          </a:custGeom>
          <a:ln w="9525">
            <a:solidFill>
              <a:srgbClr val="46AAC5"/>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IN" spc="-10"/>
              <a:t>KeshavSharma         CSE</a:t>
            </a:r>
            <a:endParaRPr spc="-10" dirty="0"/>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6CF6FC68-C8BA-4F18-81AA-375D5F8249E0}" type="datetime1">
              <a:rPr lang="en-US" spc="-25" smtClean="0"/>
              <a:t>7/8/2026</a:t>
            </a:fld>
            <a:endParaRPr spc="-25"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IN" spc="-10"/>
              <a:t>KeshavSharma         CSE</a:t>
            </a:r>
            <a:endParaRPr spc="-10" dirty="0"/>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942222F2-EDE0-4ADA-B309-3D012B87B375}" type="datetime1">
              <a:rPr lang="en-US" spc="-25" smtClean="0"/>
              <a:t>7/8/2026</a:t>
            </a:fld>
            <a:endParaRPr spc="-25"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IN" spc="-10"/>
              <a:t>KeshavSharma         CSE</a:t>
            </a:r>
            <a:endParaRPr spc="-10" dirty="0"/>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3BDB0E53-00A7-4309-9BDF-453E2F076604}" type="datetime1">
              <a:rPr lang="en-US" spc="-25" smtClean="0"/>
              <a:t>7/8/2026</a:t>
            </a:fld>
            <a:endParaRPr spc="-25"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0" y="0"/>
            <a:ext cx="12192000" cy="6858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149094" y="1433829"/>
            <a:ext cx="7294880" cy="3714115"/>
          </a:xfrm>
          <a:prstGeom prst="rect">
            <a:avLst/>
          </a:prstGeom>
        </p:spPr>
        <p:txBody>
          <a:bodyPr wrap="square" lIns="0" tIns="0" rIns="0" bIns="0">
            <a:spAutoFit/>
          </a:bodyPr>
          <a:lstStyle>
            <a:lvl1pPr>
              <a:defRPr sz="2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688340" y="6464680"/>
            <a:ext cx="915669"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lang="en-IN" spc="-10"/>
              <a:t>KeshavSharma         CSE</a:t>
            </a:r>
            <a:endParaRPr spc="-10" dirty="0"/>
          </a:p>
        </p:txBody>
      </p:sp>
      <p:sp>
        <p:nvSpPr>
          <p:cNvPr id="5" name="Holder 5"/>
          <p:cNvSpPr>
            <a:spLocks noGrp="1"/>
          </p:cNvSpPr>
          <p:nvPr>
            <p:ph type="dt" sz="half" idx="6"/>
          </p:nvPr>
        </p:nvSpPr>
        <p:spPr>
          <a:xfrm>
            <a:off x="6009142" y="6464680"/>
            <a:ext cx="1794811" cy="24671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76CCA30E-9ABA-45E4-92F5-E2C048D77243}" type="datetime1">
              <a:rPr lang="en-US" spc="-25" smtClean="0"/>
              <a:t>7/8/2026</a:t>
            </a:fld>
            <a:endParaRPr spc="-25" dirty="0"/>
          </a:p>
        </p:txBody>
      </p:sp>
      <p:sp>
        <p:nvSpPr>
          <p:cNvPr id="6" name="Holder 6"/>
          <p:cNvSpPr>
            <a:spLocks noGrp="1"/>
          </p:cNvSpPr>
          <p:nvPr>
            <p:ph type="sldNum" sz="quarter" idx="7"/>
          </p:nvPr>
        </p:nvSpPr>
        <p:spPr>
          <a:xfrm>
            <a:off x="11297666" y="6464680"/>
            <a:ext cx="245109"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2.jp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en.wikipedia.org/wiki/Path_graph" TargetMode="External"/><Relationship Id="rId2" Type="http://schemas.openxmlformats.org/officeDocument/2006/relationships/hyperlink" Target="https://www.baeldung.com/cs/graphs" TargetMode="Externa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12.jpg"/></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8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8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9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9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9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9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9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9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9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9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27.png"/></Relationships>
</file>

<file path=ppt/slides/_rels/slide10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27.png"/></Relationships>
</file>

<file path=ppt/slides/_rels/slide10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12.jpg"/><Relationship Id="rId4" Type="http://schemas.openxmlformats.org/officeDocument/2006/relationships/image" Target="../media/image27.png"/></Relationships>
</file>

<file path=ppt/slides/_rels/slide10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12.jpg"/><Relationship Id="rId4" Type="http://schemas.openxmlformats.org/officeDocument/2006/relationships/image" Target="../media/image27.png"/></Relationships>
</file>

<file path=ppt/slides/_rels/slide10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12.jpg"/><Relationship Id="rId4" Type="http://schemas.openxmlformats.org/officeDocument/2006/relationships/image" Target="../media/image27.png"/></Relationships>
</file>

<file path=ppt/slides/_rels/slide10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12.jpg"/><Relationship Id="rId4" Type="http://schemas.openxmlformats.org/officeDocument/2006/relationships/image" Target="../media/image27.png"/></Relationships>
</file>

<file path=ppt/slides/_rels/slide10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12.jpg"/><Relationship Id="rId4" Type="http://schemas.openxmlformats.org/officeDocument/2006/relationships/image" Target="../media/image27.png"/></Relationships>
</file>

<file path=ppt/slides/_rels/slide11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12.jpg"/><Relationship Id="rId4" Type="http://schemas.openxmlformats.org/officeDocument/2006/relationships/image" Target="../media/image27.png"/></Relationships>
</file>

<file path=ppt/slides/_rels/slide11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12.jpg"/><Relationship Id="rId4" Type="http://schemas.openxmlformats.org/officeDocument/2006/relationships/image" Target="../media/image27.png"/></Relationships>
</file>

<file path=ppt/slides/_rels/slide11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12.jpg"/><Relationship Id="rId4" Type="http://schemas.openxmlformats.org/officeDocument/2006/relationships/image" Target="../media/image27.png"/></Relationships>
</file>

<file path=ppt/slides/_rels/slide1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12.jpg"/><Relationship Id="rId4" Type="http://schemas.openxmlformats.org/officeDocument/2006/relationships/image" Target="../media/image27.png"/></Relationships>
</file>

<file path=ppt/slides/_rels/slide114.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hyperlink" Target="https://youtu.be/EaK6aslcC5g?si=GxPmvbDChavAwNtx" TargetMode="External"/><Relationship Id="rId7" Type="http://schemas.openxmlformats.org/officeDocument/2006/relationships/image" Target="../media/image27.png"/><Relationship Id="rId2" Type="http://schemas.openxmlformats.org/officeDocument/2006/relationships/hyperlink" Target="https://youtu.be/TwdjOQMTaQ4?si=6db12akzF2AAYufChttps://www.youtube.com/watch?v=9NJNsWwkg54" TargetMode="Externa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hyperlink" Target="https://onlinecourses.nptel.ac.in/noc25_cs23/course" TargetMode="External"/></Relationships>
</file>

<file path=ppt/slides/_rels/slide11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27.png"/></Relationships>
</file>

<file path=ppt/slides/_rels/slide11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27.png"/></Relationships>
</file>

<file path=ppt/slides/_rels/slide11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12.jpg"/><Relationship Id="rId4" Type="http://schemas.openxmlformats.org/officeDocument/2006/relationships/image" Target="../media/image27.png"/></Relationships>
</file>

<file path=ppt/slides/_rels/slide11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3.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12.jpg"/><Relationship Id="rId4" Type="http://schemas.openxmlformats.org/officeDocument/2006/relationships/image" Target="../media/image27.png"/></Relationships>
</file>

<file path=ppt/slides/_rels/slide11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27.png"/></Relationships>
</file>

<file path=ppt/slides/_rels/slide12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1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5.xml"/><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95474" y="16887"/>
            <a:ext cx="10096528" cy="832591"/>
          </a:xfrm>
          <a:solidFill>
            <a:srgbClr val="E98FCD"/>
          </a:solidFill>
        </p:spPr>
        <p:style>
          <a:lnRef idx="1">
            <a:schemeClr val="accent5"/>
          </a:lnRef>
          <a:fillRef idx="2">
            <a:schemeClr val="accent5"/>
          </a:fillRef>
          <a:effectRef idx="1">
            <a:schemeClr val="accent5"/>
          </a:effectRef>
          <a:fontRef idx="minor">
            <a:schemeClr val="dk1"/>
          </a:fontRef>
        </p:style>
        <p:txBody>
          <a:bodyPr>
            <a:noAutofit/>
          </a:bodyPr>
          <a:lstStyle/>
          <a:p>
            <a:r>
              <a:rPr lang="en-US" sz="3284" dirty="0" err="1"/>
              <a:t>Noida</a:t>
            </a:r>
            <a:r>
              <a:rPr lang="en-US" sz="3284" dirty="0"/>
              <a:t> Institute of Engineering and Technology, Greater </a:t>
            </a:r>
            <a:r>
              <a:rPr lang="en-US" sz="3284" dirty="0" err="1"/>
              <a:t>Noida</a:t>
            </a:r>
            <a:endParaRPr lang="en-US" sz="3284" dirty="0"/>
          </a:p>
        </p:txBody>
      </p:sp>
      <p:sp>
        <p:nvSpPr>
          <p:cNvPr id="3" name="Subtitle 2"/>
          <p:cNvSpPr>
            <a:spLocks noGrp="1"/>
          </p:cNvSpPr>
          <p:nvPr>
            <p:ph type="subTitle" idx="4294967295"/>
          </p:nvPr>
        </p:nvSpPr>
        <p:spPr>
          <a:xfrm>
            <a:off x="3607979" y="1083153"/>
            <a:ext cx="6145621" cy="1137380"/>
          </a:xfrm>
        </p:spPr>
        <p:style>
          <a:lnRef idx="2">
            <a:schemeClr val="accent5"/>
          </a:lnRef>
          <a:fillRef idx="1">
            <a:schemeClr val="lt1"/>
          </a:fillRef>
          <a:effectRef idx="0">
            <a:schemeClr val="accent5"/>
          </a:effectRef>
          <a:fontRef idx="minor">
            <a:schemeClr val="dk1"/>
          </a:fontRef>
        </p:style>
        <p:txBody>
          <a:bodyPr anchor="ctr" anchorCtr="0">
            <a:normAutofit/>
          </a:bodyPr>
          <a:lstStyle/>
          <a:p>
            <a:pPr marL="420370" marR="416559" algn="ctr">
              <a:lnSpc>
                <a:spcPct val="100000"/>
              </a:lnSpc>
            </a:pPr>
            <a:r>
              <a:rPr lang="en-US" sz="3200" spc="-10" dirty="0">
                <a:cs typeface="Calibri"/>
              </a:rPr>
              <a:t>Data Structure &amp; Algorithm - II</a:t>
            </a:r>
          </a:p>
          <a:p>
            <a:pPr marL="420370" marR="416559" algn="ctr">
              <a:lnSpc>
                <a:spcPct val="100000"/>
              </a:lnSpc>
            </a:pPr>
            <a:r>
              <a:rPr lang="en-US" sz="3200" dirty="0">
                <a:latin typeface="Calibri" panose="020F0502020204030204" pitchFamily="34" charset="0"/>
                <a:ea typeface="Times New Roman" panose="02020603050405020304" pitchFamily="18" charset="0"/>
              </a:rPr>
              <a:t>CCSE0301 </a:t>
            </a:r>
            <a:endParaRPr lang="en-US" sz="3200" dirty="0">
              <a:cs typeface="Calibri"/>
            </a:endParaRPr>
          </a:p>
        </p:txBody>
      </p:sp>
      <p:sp>
        <p:nvSpPr>
          <p:cNvPr id="6" name="Subtitle 2"/>
          <p:cNvSpPr txBox="1">
            <a:spLocks/>
          </p:cNvSpPr>
          <p:nvPr/>
        </p:nvSpPr>
        <p:spPr>
          <a:xfrm>
            <a:off x="7721600" y="4779639"/>
            <a:ext cx="4064000" cy="924106"/>
          </a:xfrm>
          <a:prstGeom prst="rect">
            <a:avLst/>
          </a:prstGeom>
        </p:spPr>
        <p:style>
          <a:lnRef idx="2">
            <a:schemeClr val="accent5"/>
          </a:lnRef>
          <a:fillRef idx="1">
            <a:schemeClr val="lt1"/>
          </a:fillRef>
          <a:effectRef idx="0">
            <a:schemeClr val="accent5"/>
          </a:effectRef>
          <a:fontRef idx="minor">
            <a:schemeClr val="dk1"/>
          </a:fontRef>
        </p:style>
        <p:txBody>
          <a:bodyPr vert="horz" lIns="98787" tIns="49394" rIns="98787" bIns="49394" rtlCol="0" anchor="ctr" anchorCtr="0">
            <a:normAutofit fontScale="77500" lnSpcReduction="20000"/>
          </a:bodyPr>
          <a:lstStyle/>
          <a:p>
            <a:pPr algn="ctr">
              <a:spcBef>
                <a:spcPct val="20000"/>
              </a:spcBef>
              <a:defRPr/>
            </a:pPr>
            <a:r>
              <a:rPr lang="en-IN" sz="2388" dirty="0">
                <a:solidFill>
                  <a:schemeClr val="tx1"/>
                </a:solidFill>
              </a:rPr>
              <a:t>Keshav Sharma</a:t>
            </a:r>
            <a:endParaRPr lang="en-US" sz="2388" dirty="0">
              <a:solidFill>
                <a:schemeClr val="tx1"/>
              </a:solidFill>
            </a:endParaRPr>
          </a:p>
          <a:p>
            <a:pPr algn="ctr">
              <a:spcBef>
                <a:spcPct val="20000"/>
              </a:spcBef>
              <a:defRPr/>
            </a:pPr>
            <a:r>
              <a:rPr lang="en-US" sz="2388" dirty="0">
                <a:solidFill>
                  <a:schemeClr val="tx1"/>
                </a:solidFill>
              </a:rPr>
              <a:t>Assistant Professor </a:t>
            </a:r>
          </a:p>
          <a:p>
            <a:pPr algn="ctr">
              <a:spcBef>
                <a:spcPct val="20000"/>
              </a:spcBef>
              <a:defRPr/>
            </a:pPr>
            <a:r>
              <a:rPr lang="en-US" sz="2388" dirty="0">
                <a:solidFill>
                  <a:schemeClr val="tx1"/>
                </a:solidFill>
              </a:rPr>
              <a:t>Department of CSE</a:t>
            </a:r>
          </a:p>
        </p:txBody>
      </p:sp>
      <p:sp>
        <p:nvSpPr>
          <p:cNvPr id="12" name="Subtitle 2"/>
          <p:cNvSpPr txBox="1">
            <a:spLocks/>
          </p:cNvSpPr>
          <p:nvPr/>
        </p:nvSpPr>
        <p:spPr>
          <a:xfrm>
            <a:off x="1048875" y="2575965"/>
            <a:ext cx="2061503" cy="530774"/>
          </a:xfrm>
          <a:prstGeom prst="rect">
            <a:avLst/>
          </a:prstGeom>
        </p:spPr>
        <p:style>
          <a:lnRef idx="2">
            <a:schemeClr val="accent5"/>
          </a:lnRef>
          <a:fillRef idx="1">
            <a:schemeClr val="lt1"/>
          </a:fillRef>
          <a:effectRef idx="0">
            <a:schemeClr val="accent5"/>
          </a:effectRef>
          <a:fontRef idx="minor">
            <a:schemeClr val="dk1"/>
          </a:fontRef>
        </p:style>
        <p:txBody>
          <a:bodyPr vert="horz" lIns="98787" tIns="49394" rIns="98787" bIns="49394" rtlCol="0">
            <a:normAutofit/>
          </a:bodyPr>
          <a:lstStyle/>
          <a:p>
            <a:pPr algn="ctr">
              <a:spcBef>
                <a:spcPct val="20000"/>
              </a:spcBef>
              <a:defRPr/>
            </a:pPr>
            <a:r>
              <a:rPr lang="en-US" sz="2388" dirty="0">
                <a:solidFill>
                  <a:schemeClr val="tx1"/>
                </a:solidFill>
              </a:rPr>
              <a:t>Unit: 2</a:t>
            </a:r>
            <a:endParaRPr lang="en-US" sz="2687" dirty="0">
              <a:solidFill>
                <a:schemeClr val="tx1"/>
              </a:solidFill>
            </a:endParaRPr>
          </a:p>
        </p:txBody>
      </p:sp>
      <p:sp>
        <p:nvSpPr>
          <p:cNvPr id="14" name="Subtitle 2"/>
          <p:cNvSpPr txBox="1">
            <a:spLocks/>
          </p:cNvSpPr>
          <p:nvPr/>
        </p:nvSpPr>
        <p:spPr>
          <a:xfrm>
            <a:off x="764530" y="3500086"/>
            <a:ext cx="2693916" cy="544997"/>
          </a:xfrm>
          <a:prstGeom prst="rect">
            <a:avLst/>
          </a:prstGeom>
        </p:spPr>
        <p:style>
          <a:lnRef idx="2">
            <a:schemeClr val="accent5"/>
          </a:lnRef>
          <a:fillRef idx="1">
            <a:schemeClr val="lt1"/>
          </a:fillRef>
          <a:effectRef idx="0">
            <a:schemeClr val="accent5"/>
          </a:effectRef>
          <a:fontRef idx="minor">
            <a:schemeClr val="dk1"/>
          </a:fontRef>
        </p:style>
        <p:txBody>
          <a:bodyPr vert="horz" lIns="98787" tIns="49394" rIns="98787" bIns="49394" rtlCol="0" anchor="ctr" anchorCtr="0">
            <a:normAutofit fontScale="25000" lnSpcReduction="20000"/>
          </a:bodyPr>
          <a:lstStyle/>
          <a:p>
            <a:r>
              <a:rPr lang="en-US" sz="2189" dirty="0">
                <a:solidFill>
                  <a:schemeClr val="tx1"/>
                </a:solidFill>
              </a:rPr>
              <a:t>     </a:t>
            </a:r>
          </a:p>
          <a:p>
            <a:pPr algn="ctr"/>
            <a:r>
              <a:rPr lang="en-US" sz="8000" dirty="0">
                <a:effectLst/>
                <a:latin typeface="Calibri" panose="020F0502020204030204" pitchFamily="34" charset="0"/>
                <a:ea typeface="Times New Roman" panose="02020603050405020304" pitchFamily="18" charset="0"/>
              </a:rPr>
              <a:t>Design and Analysis of Algorithms: Graphs</a:t>
            </a:r>
            <a:endParaRPr lang="en-US" sz="8800" dirty="0">
              <a:cs typeface="Calibri"/>
            </a:endParaRPr>
          </a:p>
          <a:p>
            <a:endParaRPr lang="en-US" sz="2189" dirty="0">
              <a:solidFill>
                <a:schemeClr val="tx1"/>
              </a:solidFill>
            </a:endParaRPr>
          </a:p>
        </p:txBody>
      </p:sp>
      <p:sp>
        <p:nvSpPr>
          <p:cNvPr id="15" name="Subtitle 2"/>
          <p:cNvSpPr txBox="1">
            <a:spLocks/>
          </p:cNvSpPr>
          <p:nvPr/>
        </p:nvSpPr>
        <p:spPr>
          <a:xfrm>
            <a:off x="764530" y="4495293"/>
            <a:ext cx="2693916" cy="519627"/>
          </a:xfrm>
          <a:prstGeom prst="rect">
            <a:avLst/>
          </a:prstGeom>
        </p:spPr>
        <p:style>
          <a:lnRef idx="2">
            <a:schemeClr val="accent5"/>
          </a:lnRef>
          <a:fillRef idx="1">
            <a:schemeClr val="lt1"/>
          </a:fillRef>
          <a:effectRef idx="0">
            <a:schemeClr val="accent5"/>
          </a:effectRef>
          <a:fontRef idx="minor">
            <a:schemeClr val="dk1"/>
          </a:fontRef>
        </p:style>
        <p:txBody>
          <a:bodyPr vert="horz" lIns="98787" tIns="49394" rIns="98787" bIns="49394" rtlCol="0" anchor="ctr" anchorCtr="0">
            <a:normAutofit/>
          </a:bodyPr>
          <a:lstStyle/>
          <a:p>
            <a:pPr algn="ctr">
              <a:spcBef>
                <a:spcPct val="20000"/>
              </a:spcBef>
              <a:defRPr/>
            </a:pPr>
            <a:r>
              <a:rPr lang="en-US" sz="2189" dirty="0">
                <a:solidFill>
                  <a:schemeClr val="tx1"/>
                </a:solidFill>
              </a:rPr>
              <a:t> B. Tech III Semester</a:t>
            </a:r>
          </a:p>
        </p:txBody>
      </p:sp>
      <p:pic>
        <p:nvPicPr>
          <p:cNvPr id="18" name="Picture 1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419" y="16859"/>
            <a:ext cx="2198920" cy="942604"/>
          </a:xfrm>
          <a:prstGeom prst="rect">
            <a:avLst/>
          </a:prstGeom>
        </p:spPr>
      </p:pic>
      <p:sp>
        <p:nvSpPr>
          <p:cNvPr id="19" name="Title 1"/>
          <p:cNvSpPr txBox="1">
            <a:spLocks/>
          </p:cNvSpPr>
          <p:nvPr/>
        </p:nvSpPr>
        <p:spPr>
          <a:xfrm>
            <a:off x="2186255" y="16883"/>
            <a:ext cx="9995168" cy="95401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8787" tIns="49394" rIns="98787" bIns="49394" rtlCol="0" anchor="ctr">
            <a:noAutofit/>
          </a:bodyPr>
          <a:lstStyle/>
          <a:p>
            <a:pPr algn="ctr" defTabSz="987899" rtl="0">
              <a:spcBef>
                <a:spcPct val="0"/>
              </a:spcBef>
              <a:defRPr/>
            </a:pPr>
            <a:r>
              <a:rPr lang="en-US" sz="2786" b="1" kern="1200" dirty="0" err="1"/>
              <a:t>Noida</a:t>
            </a:r>
            <a:r>
              <a:rPr lang="en-US" sz="2786" b="1" kern="1200" dirty="0"/>
              <a:t> Institute of Engineering and Technology, Greater </a:t>
            </a:r>
            <a:r>
              <a:rPr lang="en-US" sz="2786" b="1" kern="1200" dirty="0" err="1"/>
              <a:t>Noida</a:t>
            </a:r>
            <a:endParaRPr lang="en-US" sz="2786" b="1" kern="1200" dirty="0"/>
          </a:p>
        </p:txBody>
      </p:sp>
      <p:sp>
        <p:nvSpPr>
          <p:cNvPr id="4" name="Date Placeholder 3">
            <a:extLst>
              <a:ext uri="{FF2B5EF4-FFF2-40B4-BE49-F238E27FC236}">
                <a16:creationId xmlns:a16="http://schemas.microsoft.com/office/drawing/2014/main" id="{7D446B09-19CE-46EA-90BC-5FAE8DF22E2F}"/>
              </a:ext>
            </a:extLst>
          </p:cNvPr>
          <p:cNvSpPr>
            <a:spLocks noGrp="1"/>
          </p:cNvSpPr>
          <p:nvPr>
            <p:ph type="dt" sz="half" idx="6"/>
          </p:nvPr>
        </p:nvSpPr>
        <p:spPr/>
        <p:txBody>
          <a:bodyPr/>
          <a:lstStyle/>
          <a:p>
            <a:pPr marL="12700">
              <a:lnSpc>
                <a:spcPts val="1240"/>
              </a:lnSpc>
            </a:pPr>
            <a:fld id="{7BC1C786-9CB1-4082-88BC-E4F14AF9EDAF}" type="datetime1">
              <a:rPr lang="en-US" spc="-25" smtClean="0"/>
              <a:t>7/8/2026</a:t>
            </a:fld>
            <a:endParaRPr lang="en-IN" spc="-25" dirty="0"/>
          </a:p>
        </p:txBody>
      </p:sp>
      <p:sp>
        <p:nvSpPr>
          <p:cNvPr id="5" name="Footer Placeholder 4">
            <a:extLst>
              <a:ext uri="{FF2B5EF4-FFF2-40B4-BE49-F238E27FC236}">
                <a16:creationId xmlns:a16="http://schemas.microsoft.com/office/drawing/2014/main" id="{8363B2FB-2DAD-41EE-95E2-BA459F690B8D}"/>
              </a:ext>
            </a:extLst>
          </p:cNvPr>
          <p:cNvSpPr>
            <a:spLocks noGrp="1"/>
          </p:cNvSpPr>
          <p:nvPr>
            <p:ph type="ftr" sz="quarter" idx="5"/>
          </p:nvPr>
        </p:nvSpPr>
        <p:spPr>
          <a:xfrm>
            <a:off x="685800" y="6464680"/>
            <a:ext cx="915669" cy="178434"/>
          </a:xfrm>
        </p:spPr>
        <p:txBody>
          <a:bodyPr/>
          <a:lstStyle/>
          <a:p>
            <a:pPr marL="12700">
              <a:lnSpc>
                <a:spcPts val="1240"/>
              </a:lnSpc>
            </a:pPr>
            <a:r>
              <a:rPr lang="en-IN" spc="-10"/>
              <a:t>KeshavSharma         CSE</a:t>
            </a:r>
            <a:endParaRPr lang="en-IN" spc="-10" dirty="0"/>
          </a:p>
        </p:txBody>
      </p:sp>
      <p:pic>
        <p:nvPicPr>
          <p:cNvPr id="8" name="Picture 7">
            <a:extLst>
              <a:ext uri="{FF2B5EF4-FFF2-40B4-BE49-F238E27FC236}">
                <a16:creationId xmlns:a16="http://schemas.microsoft.com/office/drawing/2014/main" id="{A73546B5-F0F5-46DF-83BE-68CBDA0A89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2200" y="2462557"/>
            <a:ext cx="1638300" cy="2190750"/>
          </a:xfrm>
          <a:prstGeom prst="rect">
            <a:avLst/>
          </a:prstGeom>
        </p:spPr>
      </p:pic>
    </p:spTree>
    <p:extLst>
      <p:ext uri="{BB962C8B-B14F-4D97-AF65-F5344CB8AC3E}">
        <p14:creationId xmlns:p14="http://schemas.microsoft.com/office/powerpoint/2010/main" val="2135972586"/>
      </p:ext>
    </p:extLst>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
            <a:ext cx="9982200" cy="762000"/>
          </a:xfrm>
        </p:spPr>
        <p:txBody>
          <a:bodyPr/>
          <a:lstStyle/>
          <a:p>
            <a:r>
              <a:rPr lang="en-US" sz="3200" b="1" dirty="0"/>
              <a:t>Faculty Introduction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19656967"/>
              </p:ext>
            </p:extLst>
          </p:nvPr>
        </p:nvGraphicFramePr>
        <p:xfrm>
          <a:off x="838200" y="1502232"/>
          <a:ext cx="10866120" cy="4715690"/>
        </p:xfrm>
        <a:graphic>
          <a:graphicData uri="http://schemas.openxmlformats.org/drawingml/2006/table">
            <a:tbl>
              <a:tblPr firstRow="1" bandRow="1">
                <a:tableStyleId>{0E3FDE45-AF77-4B5C-9715-49D594BDF05E}</a:tableStyleId>
              </a:tblPr>
              <a:tblGrid>
                <a:gridCol w="2791895">
                  <a:extLst>
                    <a:ext uri="{9D8B030D-6E8A-4147-A177-3AD203B41FA5}">
                      <a16:colId xmlns:a16="http://schemas.microsoft.com/office/drawing/2014/main" val="1744705376"/>
                    </a:ext>
                  </a:extLst>
                </a:gridCol>
                <a:gridCol w="8074225">
                  <a:extLst>
                    <a:ext uri="{9D8B030D-6E8A-4147-A177-3AD203B41FA5}">
                      <a16:colId xmlns:a16="http://schemas.microsoft.com/office/drawing/2014/main" val="1490992011"/>
                    </a:ext>
                  </a:extLst>
                </a:gridCol>
              </a:tblGrid>
              <a:tr h="673670">
                <a:tc>
                  <a:txBody>
                    <a:bodyPr/>
                    <a:lstStyle/>
                    <a:p>
                      <a:pPr algn="just">
                        <a:lnSpc>
                          <a:spcPct val="200000"/>
                        </a:lnSpc>
                      </a:pPr>
                      <a:r>
                        <a:rPr lang="en-US" b="1" dirty="0"/>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Mr. Keshav Kumar Sharma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362520"/>
                  </a:ext>
                </a:extLst>
              </a:tr>
              <a:tr h="673670">
                <a:tc>
                  <a:txBody>
                    <a:bodyPr/>
                    <a:lstStyle/>
                    <a:p>
                      <a:pPr algn="just">
                        <a:lnSpc>
                          <a:spcPct val="200000"/>
                        </a:lnSpc>
                      </a:pPr>
                      <a:r>
                        <a:rPr lang="en-US" b="1" dirty="0"/>
                        <a:t>QUALIFICATION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B.Tech</a:t>
                      </a:r>
                      <a:r>
                        <a:rPr lang="en-US" dirty="0"/>
                        <a:t>(CSE) ,  </a:t>
                      </a:r>
                      <a:r>
                        <a:rPr lang="en-US" dirty="0" err="1"/>
                        <a:t>M.Tech</a:t>
                      </a:r>
                      <a:r>
                        <a:rPr lang="en-US" dirty="0"/>
                        <a:t>(SWE) , GATE , CDS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8198469"/>
                  </a:ext>
                </a:extLst>
              </a:tr>
              <a:tr h="673670">
                <a:tc>
                  <a:txBody>
                    <a:bodyPr/>
                    <a:lstStyle/>
                    <a:p>
                      <a:pPr algn="just">
                        <a:lnSpc>
                          <a:spcPct val="200000"/>
                        </a:lnSpc>
                      </a:pPr>
                      <a:r>
                        <a:rPr lang="en-US" b="1" dirty="0"/>
                        <a:t>DESIGNATION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Assistant Professor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053568"/>
                  </a:ext>
                </a:extLst>
              </a:tr>
              <a:tr h="673670">
                <a:tc>
                  <a:txBody>
                    <a:bodyPr/>
                    <a:lstStyle/>
                    <a:p>
                      <a:pPr algn="just">
                        <a:lnSpc>
                          <a:spcPct val="200000"/>
                        </a:lnSpc>
                      </a:pPr>
                      <a:r>
                        <a:rPr lang="en-US" b="1" dirty="0"/>
                        <a:t>DEPARTMENT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8933676"/>
                  </a:ext>
                </a:extLst>
              </a:tr>
              <a:tr h="673670">
                <a:tc>
                  <a:txBody>
                    <a:bodyPr/>
                    <a:lstStyle/>
                    <a:p>
                      <a:pPr algn="just">
                        <a:lnSpc>
                          <a:spcPct val="200000"/>
                        </a:lnSpc>
                      </a:pPr>
                      <a:r>
                        <a:rPr lang="en-US" b="1" dirty="0"/>
                        <a:t>TOTAL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2yr (</a:t>
                      </a:r>
                      <a:r>
                        <a:rPr lang="en-US" dirty="0" err="1"/>
                        <a:t>Indusrty</a:t>
                      </a:r>
                      <a:r>
                        <a:rPr lang="en-US" dirty="0"/>
                        <a:t>) + 1yr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677162"/>
                  </a:ext>
                </a:extLst>
              </a:tr>
              <a:tr h="673670">
                <a:tc>
                  <a:txBody>
                    <a:bodyPr/>
                    <a:lstStyle/>
                    <a:p>
                      <a:pPr algn="just">
                        <a:lnSpc>
                          <a:spcPct val="200000"/>
                        </a:lnSpc>
                      </a:pPr>
                      <a:r>
                        <a:rPr lang="en-US" b="1" dirty="0"/>
                        <a:t>NIET</a:t>
                      </a:r>
                      <a:r>
                        <a:rPr lang="en-US" b="1" baseline="0" dirty="0"/>
                        <a:t> EXPERIENCE</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131121"/>
                  </a:ext>
                </a:extLst>
              </a:tr>
              <a:tr h="673670">
                <a:tc>
                  <a:txBody>
                    <a:bodyPr/>
                    <a:lstStyle/>
                    <a:p>
                      <a:pPr algn="just">
                        <a:lnSpc>
                          <a:spcPct val="200000"/>
                        </a:lnSpc>
                      </a:pPr>
                      <a:r>
                        <a:rPr lang="en-US" b="1" dirty="0"/>
                        <a:t>SUBJECT TAUGHT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DSA-I , DSA-II , OS , CN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02859"/>
                  </a:ext>
                </a:extLst>
              </a:tr>
            </a:tbl>
          </a:graphicData>
        </a:graphic>
      </p:graphicFrame>
      <p:sp>
        <p:nvSpPr>
          <p:cNvPr id="4" name="Date Placeholder 3"/>
          <p:cNvSpPr>
            <a:spLocks noGrp="1"/>
          </p:cNvSpPr>
          <p:nvPr>
            <p:ph type="dt" sz="half" idx="10"/>
          </p:nvPr>
        </p:nvSpPr>
        <p:spPr>
          <a:xfrm>
            <a:off x="609600" y="6356351"/>
            <a:ext cx="28448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EA21ED-1BBD-4146-974E-69CB96E2D9CD}" type="datetime1">
              <a:rPr lang="en-US" smtClean="0"/>
              <a:pPr/>
              <a:t>7/8/2026</a:t>
            </a:fld>
            <a:endParaRPr lang="en-IN" dirty="0"/>
          </a:p>
        </p:txBody>
      </p:sp>
      <p:sp>
        <p:nvSpPr>
          <p:cNvPr id="5" name="Footer Placeholder 4"/>
          <p:cNvSpPr>
            <a:spLocks noGrp="1"/>
          </p:cNvSpPr>
          <p:nvPr>
            <p:ph type="ftr" sz="quarter" idx="11"/>
          </p:nvPr>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Mr. Keshav Sharma     BCSE401: DSA-II  Unit-I                          </a:t>
            </a:r>
            <a:endParaRPr lang="en-IN"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905C6F2-E09D-4EF0-B81E-C14778A9C4C1}" type="slidenum">
              <a:rPr lang="en-IN" smtClean="0"/>
              <a:pPr/>
              <a:t>2</a:t>
            </a:fld>
            <a:endParaRPr lang="en-IN" dirty="0"/>
          </a:p>
        </p:txBody>
      </p:sp>
    </p:spTree>
    <p:extLst>
      <p:ext uri="{BB962C8B-B14F-4D97-AF65-F5344CB8AC3E}">
        <p14:creationId xmlns:p14="http://schemas.microsoft.com/office/powerpoint/2010/main" val="3033276732"/>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29837" y="0"/>
            <a:ext cx="9662160" cy="963930"/>
            <a:chOff x="2529837" y="0"/>
            <a:chExt cx="9662160" cy="963930"/>
          </a:xfrm>
        </p:grpSpPr>
        <p:pic>
          <p:nvPicPr>
            <p:cNvPr id="3" name="object 3"/>
            <p:cNvPicPr/>
            <p:nvPr/>
          </p:nvPicPr>
          <p:blipFill>
            <a:blip r:embed="rId2" cstate="print"/>
            <a:stretch>
              <a:fillRect/>
            </a:stretch>
          </p:blipFill>
          <p:spPr>
            <a:xfrm>
              <a:off x="2529837" y="0"/>
              <a:ext cx="9662162" cy="963309"/>
            </a:xfrm>
            <a:prstGeom prst="rect">
              <a:avLst/>
            </a:prstGeom>
          </p:spPr>
        </p:pic>
        <p:pic>
          <p:nvPicPr>
            <p:cNvPr id="4" name="object 4"/>
            <p:cNvPicPr/>
            <p:nvPr/>
          </p:nvPicPr>
          <p:blipFill>
            <a:blip r:embed="rId3" cstate="print"/>
            <a:stretch>
              <a:fillRect/>
            </a:stretch>
          </p:blipFill>
          <p:spPr>
            <a:xfrm>
              <a:off x="5765291" y="111252"/>
              <a:ext cx="3224784" cy="827532"/>
            </a:xfrm>
            <a:prstGeom prst="rect">
              <a:avLst/>
            </a:prstGeom>
          </p:spPr>
        </p:pic>
        <p:pic>
          <p:nvPicPr>
            <p:cNvPr id="5" name="object 5"/>
            <p:cNvPicPr/>
            <p:nvPr/>
          </p:nvPicPr>
          <p:blipFill>
            <a:blip r:embed="rId4" cstate="print"/>
            <a:stretch>
              <a:fillRect/>
            </a:stretch>
          </p:blipFill>
          <p:spPr>
            <a:xfrm>
              <a:off x="2567558" y="25"/>
              <a:ext cx="9624441" cy="909040"/>
            </a:xfrm>
            <a:prstGeom prst="rect">
              <a:avLst/>
            </a:prstGeom>
          </p:spPr>
        </p:pic>
      </p:grpSp>
      <p:sp>
        <p:nvSpPr>
          <p:cNvPr id="6" name="object 6"/>
          <p:cNvSpPr txBox="1">
            <a:spLocks noGrp="1"/>
          </p:cNvSpPr>
          <p:nvPr>
            <p:ph type="title"/>
          </p:nvPr>
        </p:nvSpPr>
        <p:spPr>
          <a:xfrm>
            <a:off x="2567558" y="25"/>
            <a:ext cx="9624695" cy="909319"/>
          </a:xfrm>
          <a:prstGeom prst="rect">
            <a:avLst/>
          </a:prstGeom>
          <a:ln w="9525">
            <a:solidFill>
              <a:srgbClr val="46AAC5"/>
            </a:solidFill>
          </a:ln>
        </p:spPr>
        <p:txBody>
          <a:bodyPr vert="horz" wrap="square" lIns="0" tIns="217804" rIns="0" bIns="0" rtlCol="0">
            <a:spAutoFit/>
          </a:bodyPr>
          <a:lstStyle/>
          <a:p>
            <a:pPr marL="3175" algn="ctr">
              <a:lnSpc>
                <a:spcPct val="100000"/>
              </a:lnSpc>
              <a:spcBef>
                <a:spcPts val="1714"/>
              </a:spcBef>
            </a:pPr>
            <a:r>
              <a:rPr sz="2800" spc="-10" dirty="0">
                <a:latin typeface="Calibri"/>
                <a:cs typeface="Calibri"/>
              </a:rPr>
              <a:t>Evaluation</a:t>
            </a:r>
            <a:r>
              <a:rPr sz="2800" spc="-110" dirty="0">
                <a:latin typeface="Calibri"/>
                <a:cs typeface="Calibri"/>
              </a:rPr>
              <a:t> </a:t>
            </a:r>
            <a:r>
              <a:rPr sz="2800" spc="-10" dirty="0">
                <a:latin typeface="Calibri"/>
                <a:cs typeface="Calibri"/>
              </a:rPr>
              <a:t>Scheme</a:t>
            </a:r>
            <a:endParaRPr sz="2800" dirty="0">
              <a:latin typeface="Calibri"/>
              <a:cs typeface="Calibri"/>
            </a:endParaRPr>
          </a:p>
        </p:txBody>
      </p:sp>
      <p:pic>
        <p:nvPicPr>
          <p:cNvPr id="7" name="object 7"/>
          <p:cNvPicPr/>
          <p:nvPr/>
        </p:nvPicPr>
        <p:blipFill>
          <a:blip r:embed="rId5" cstate="print"/>
          <a:stretch>
            <a:fillRect/>
          </a:stretch>
        </p:blipFill>
        <p:spPr>
          <a:xfrm>
            <a:off x="110161" y="25"/>
            <a:ext cx="2313379" cy="947267"/>
          </a:xfrm>
          <a:prstGeom prst="rect">
            <a:avLst/>
          </a:prstGeom>
        </p:spPr>
      </p:pic>
      <p:sp>
        <p:nvSpPr>
          <p:cNvPr id="15" name="object 15"/>
          <p:cNvSpPr txBox="1"/>
          <p:nvPr/>
        </p:nvSpPr>
        <p:spPr>
          <a:xfrm>
            <a:off x="11171935" y="6464680"/>
            <a:ext cx="102870" cy="178435"/>
          </a:xfrm>
          <a:prstGeom prst="rect">
            <a:avLst/>
          </a:prstGeom>
        </p:spPr>
        <p:txBody>
          <a:bodyPr vert="horz" wrap="square" lIns="0" tIns="0" rIns="0" bIns="0" rtlCol="0">
            <a:spAutoFit/>
          </a:bodyPr>
          <a:lstStyle/>
          <a:p>
            <a:pPr marL="12700">
              <a:lnSpc>
                <a:spcPts val="1240"/>
              </a:lnSpc>
            </a:pPr>
            <a:r>
              <a:rPr sz="1200" spc="-50" dirty="0">
                <a:solidFill>
                  <a:srgbClr val="888888"/>
                </a:solidFill>
                <a:latin typeface="Calibri"/>
                <a:cs typeface="Calibri"/>
              </a:rPr>
              <a:t>4</a:t>
            </a:r>
            <a:endParaRPr sz="1200">
              <a:latin typeface="Calibri"/>
              <a:cs typeface="Calibri"/>
            </a:endParaRPr>
          </a:p>
        </p:txBody>
      </p:sp>
      <p:sp>
        <p:nvSpPr>
          <p:cNvPr id="16" name="Rectangle 15">
            <a:extLst>
              <a:ext uri="{FF2B5EF4-FFF2-40B4-BE49-F238E27FC236}">
                <a16:creationId xmlns:a16="http://schemas.microsoft.com/office/drawing/2014/main" id="{0A07BF9D-22F1-5564-E679-412F2B40F690}"/>
              </a:ext>
            </a:extLst>
          </p:cNvPr>
          <p:cNvSpPr/>
          <p:nvPr/>
        </p:nvSpPr>
        <p:spPr>
          <a:xfrm>
            <a:off x="495300" y="3453455"/>
            <a:ext cx="11277600"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Date Placeholder 7">
            <a:extLst>
              <a:ext uri="{FF2B5EF4-FFF2-40B4-BE49-F238E27FC236}">
                <a16:creationId xmlns:a16="http://schemas.microsoft.com/office/drawing/2014/main" id="{CE0BA8FB-8418-427F-B64D-B980BBA61D18}"/>
              </a:ext>
            </a:extLst>
          </p:cNvPr>
          <p:cNvSpPr>
            <a:spLocks noGrp="1"/>
          </p:cNvSpPr>
          <p:nvPr>
            <p:ph type="dt" sz="half" idx="6"/>
          </p:nvPr>
        </p:nvSpPr>
        <p:spPr/>
        <p:txBody>
          <a:bodyPr/>
          <a:lstStyle/>
          <a:p>
            <a:pPr marL="12700">
              <a:lnSpc>
                <a:spcPts val="1240"/>
              </a:lnSpc>
            </a:pPr>
            <a:fld id="{85694558-58E6-4046-9AFC-4A9241A8E17F}" type="datetime1">
              <a:rPr lang="en-US" spc="-25" smtClean="0"/>
              <a:t>7/8/2026</a:t>
            </a:fld>
            <a:endParaRPr lang="en-IN" spc="-25" dirty="0"/>
          </a:p>
        </p:txBody>
      </p:sp>
      <p:sp>
        <p:nvSpPr>
          <p:cNvPr id="9" name="Footer Placeholder 8">
            <a:extLst>
              <a:ext uri="{FF2B5EF4-FFF2-40B4-BE49-F238E27FC236}">
                <a16:creationId xmlns:a16="http://schemas.microsoft.com/office/drawing/2014/main" id="{5E75C49D-FA10-4F99-BA50-2048A986044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pic>
        <p:nvPicPr>
          <p:cNvPr id="13" name="Picture 12">
            <a:extLst>
              <a:ext uri="{FF2B5EF4-FFF2-40B4-BE49-F238E27FC236}">
                <a16:creationId xmlns:a16="http://schemas.microsoft.com/office/drawing/2014/main" id="{D1BA937D-E6D0-45AB-B235-787F5DC44E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733213"/>
            <a:ext cx="12192000" cy="53915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object 9"/>
          <p:cNvPicPr/>
          <p:nvPr/>
        </p:nvPicPr>
        <p:blipFill>
          <a:blip r:embed="rId2" cstate="print"/>
          <a:stretch>
            <a:fillRect/>
          </a:stretch>
        </p:blipFill>
        <p:spPr>
          <a:xfrm>
            <a:off x="0" y="25"/>
            <a:ext cx="2423540" cy="947267"/>
          </a:xfrm>
          <a:prstGeom prst="rect">
            <a:avLst/>
          </a:prstGeom>
        </p:spPr>
      </p:pic>
      <p:graphicFrame>
        <p:nvGraphicFramePr>
          <p:cNvPr id="10" name="object 10"/>
          <p:cNvGraphicFramePr>
            <a:graphicFrameLocks noGrp="1"/>
          </p:cNvGraphicFramePr>
          <p:nvPr>
            <p:extLst>
              <p:ext uri="{D42A27DB-BD31-4B8C-83A1-F6EECF244321}">
                <p14:modId xmlns:p14="http://schemas.microsoft.com/office/powerpoint/2010/main" val="1846794274"/>
              </p:ext>
            </p:extLst>
          </p:nvPr>
        </p:nvGraphicFramePr>
        <p:xfrm>
          <a:off x="1219200" y="1828800"/>
          <a:ext cx="9982200" cy="3403814"/>
        </p:xfrm>
        <a:graphic>
          <a:graphicData uri="http://schemas.openxmlformats.org/drawingml/2006/table">
            <a:tbl>
              <a:tblPr firstRow="1" bandRow="1">
                <a:tableStyleId>{2D5ABB26-0587-4C30-8999-92F81FD0307C}</a:tableStyleId>
              </a:tblPr>
              <a:tblGrid>
                <a:gridCol w="1562595">
                  <a:extLst>
                    <a:ext uri="{9D8B030D-6E8A-4147-A177-3AD203B41FA5}">
                      <a16:colId xmlns:a16="http://schemas.microsoft.com/office/drawing/2014/main" val="20000"/>
                    </a:ext>
                  </a:extLst>
                </a:gridCol>
                <a:gridCol w="8419605">
                  <a:extLst>
                    <a:ext uri="{9D8B030D-6E8A-4147-A177-3AD203B41FA5}">
                      <a16:colId xmlns:a16="http://schemas.microsoft.com/office/drawing/2014/main" val="20001"/>
                    </a:ext>
                  </a:extLst>
                </a:gridCol>
              </a:tblGrid>
              <a:tr h="0">
                <a:tc>
                  <a:txBody>
                    <a:bodyPr/>
                    <a:lstStyle/>
                    <a:p>
                      <a:pPr marL="67945">
                        <a:lnSpc>
                          <a:spcPts val="2800"/>
                        </a:lnSpc>
                      </a:pPr>
                      <a:r>
                        <a:rPr sz="1600" spc="-20" dirty="0">
                          <a:latin typeface="Calibri"/>
                          <a:cs typeface="Calibri"/>
                        </a:rPr>
                        <a:t>UNIT-</a:t>
                      </a:r>
                      <a:r>
                        <a:rPr lang="en-US" sz="1600" spc="-50" dirty="0">
                          <a:latin typeface="Calibri"/>
                          <a:cs typeface="Calibri"/>
                        </a:rPr>
                        <a:t>2</a:t>
                      </a:r>
                      <a:endParaRPr sz="1600" dirty="0">
                        <a:latin typeface="Calibri"/>
                        <a:cs typeface="Calibri"/>
                      </a:endParaRPr>
                    </a:p>
                  </a:txBody>
                  <a:tcPr marL="0" marR="0" marT="0" marB="0">
                    <a:lnL w="12700">
                      <a:solidFill>
                        <a:srgbClr val="000000"/>
                      </a:solidFill>
                      <a:prstDash val="solid"/>
                    </a:lnL>
                    <a:lnR w="12700" cap="flat" cmpd="sng" algn="ctr">
                      <a:solidFill>
                        <a:schemeClr val="tx1"/>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marL="68580">
                        <a:lnSpc>
                          <a:spcPts val="2800"/>
                        </a:lnSpc>
                      </a:pPr>
                      <a:r>
                        <a:rPr lang="en-US" sz="1600" b="1" dirty="0">
                          <a:solidFill>
                            <a:schemeClr val="tx1"/>
                          </a:solidFill>
                          <a:effectLst/>
                          <a:latin typeface="+mn-lt"/>
                          <a:ea typeface="+mn-ea"/>
                          <a:cs typeface="+mn-cs"/>
                        </a:rPr>
                        <a:t>Design and Analysis of Algorithms: Graphs</a:t>
                      </a:r>
                      <a:endParaRPr sz="1600" b="1" dirty="0">
                        <a:latin typeface="Calibri"/>
                        <a:cs typeface="Calibri"/>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43646">
                <a:tc>
                  <a:txBody>
                    <a:bodyPr/>
                    <a:lstStyle/>
                    <a:p>
                      <a:pPr>
                        <a:lnSpc>
                          <a:spcPct val="115000"/>
                        </a:lnSpc>
                        <a:spcAft>
                          <a:spcPts val="1000"/>
                        </a:spcAft>
                      </a:pPr>
                      <a:r>
                        <a:rPr lang="en-US"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Module 2.1: </a:t>
                      </a:r>
                      <a:br>
                        <a:rPr lang="en-US"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br>
                      <a:r>
                        <a:rPr lang="en-US"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Graphs</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p>
                      <a:pPr>
                        <a:lnSpc>
                          <a:spcPct val="115000"/>
                        </a:lnSpc>
                        <a:spcAft>
                          <a:spcPts val="1000"/>
                        </a:spcAft>
                      </a:pPr>
                      <a:r>
                        <a:rPr lang="en-US" sz="16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p>
                      <a:pPr>
                        <a:lnSpc>
                          <a:spcPct val="115000"/>
                        </a:lnSpc>
                        <a:spcAft>
                          <a:spcPts val="1000"/>
                        </a:spcAft>
                      </a:pPr>
                      <a:r>
                        <a:rPr lang="en-US" sz="1600" dirty="0">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p>
                      <a:pPr>
                        <a:lnSpc>
                          <a:spcPct val="115000"/>
                        </a:lnSpc>
                        <a:spcAft>
                          <a:spcPts val="1000"/>
                        </a:spcAft>
                      </a:pPr>
                      <a:r>
                        <a:rPr lang="en-US" sz="1600" dirty="0">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a:solidFill>
                        <a:srgbClr val="000000"/>
                      </a:solidFill>
                      <a:prstDash val="solid"/>
                    </a:lnL>
                    <a:lnR w="12700" cap="flat" cmpd="sng" algn="ctr">
                      <a:solidFill>
                        <a:schemeClr val="tx1"/>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IN" sz="1600" dirty="0">
                          <a:effectLst/>
                          <a:latin typeface="Calibri" panose="020F0502020204030204" pitchFamily="34" charset="0"/>
                          <a:ea typeface="Times New Roman" panose="02020603050405020304" pitchFamily="18" charset="0"/>
                          <a:cs typeface="Calibri" panose="020F0502020204030204" pitchFamily="34" charset="0"/>
                        </a:rPr>
                        <a:t>Terminology used with Graph, Data Structure for Graph Representations: Adjacency matrices, Adjacency List.</a:t>
                      </a:r>
                      <a:br>
                        <a:rPr lang="en-IN" sz="1600" dirty="0">
                          <a:effectLst/>
                          <a:latin typeface="Calibri" panose="020F0502020204030204" pitchFamily="34" charset="0"/>
                          <a:ea typeface="Times New Roman" panose="02020603050405020304" pitchFamily="18" charset="0"/>
                          <a:cs typeface="Calibri" panose="020F0502020204030204" pitchFamily="34" charset="0"/>
                        </a:rPr>
                      </a:br>
                      <a:r>
                        <a:rPr lang="en-IN" sz="1600" dirty="0">
                          <a:effectLst/>
                          <a:latin typeface="Calibri" panose="020F0502020204030204" pitchFamily="34" charset="0"/>
                          <a:ea typeface="Times New Roman" panose="02020603050405020304" pitchFamily="18" charset="0"/>
                          <a:cs typeface="Calibri" panose="020F0502020204030204" pitchFamily="34" charset="0"/>
                        </a:rPr>
                        <a:t>Graph Traversal: Depth First Search and Breadth First Search, Spanning Trees</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p>
                      <a:pPr>
                        <a:lnSpc>
                          <a:spcPct val="115000"/>
                        </a:lnSpc>
                        <a:spcAft>
                          <a:spcPts val="1000"/>
                        </a:spcAft>
                      </a:pPr>
                      <a:r>
                        <a:rPr lang="en-IN" sz="1600" dirty="0">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316950">
                <a:tc>
                  <a:txBody>
                    <a:bodyPr/>
                    <a:lstStyle/>
                    <a:p>
                      <a:pPr>
                        <a:lnSpc>
                          <a:spcPct val="115000"/>
                        </a:lnSpc>
                        <a:spcAft>
                          <a:spcPts val="1000"/>
                        </a:spcAft>
                      </a:pPr>
                      <a:r>
                        <a:rPr lang="en-US" sz="16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Module 2.2: </a:t>
                      </a:r>
                      <a:br>
                        <a:rPr lang="en-US" sz="16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br>
                      <a:r>
                        <a:rPr lang="en-US" sz="16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Algorithms on Graphs</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p>
                      <a:pPr>
                        <a:lnSpc>
                          <a:spcPct val="115000"/>
                        </a:lnSpc>
                        <a:spcAft>
                          <a:spcPts val="1000"/>
                        </a:spcAft>
                      </a:pPr>
                      <a:r>
                        <a:rPr lang="en-US" sz="16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a:solidFill>
                        <a:srgbClr val="000000"/>
                      </a:solidFill>
                      <a:prstDash val="solid"/>
                    </a:lnL>
                    <a:lnR w="12700" cap="flat" cmpd="sng" algn="ctr">
                      <a:solidFill>
                        <a:schemeClr val="tx1"/>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15000"/>
                        </a:lnSpc>
                        <a:spcAft>
                          <a:spcPts val="1000"/>
                        </a:spcAft>
                      </a:pPr>
                      <a:r>
                        <a:rPr lang="en-IN" sz="1600" dirty="0">
                          <a:effectLst/>
                          <a:latin typeface="Calibri" panose="020F0502020204030204" pitchFamily="34" charset="0"/>
                          <a:ea typeface="Times New Roman" panose="02020603050405020304" pitchFamily="18" charset="0"/>
                          <a:cs typeface="Calibri" panose="020F0502020204030204" pitchFamily="34" charset="0"/>
                        </a:rPr>
                        <a:t>Minimum Cost Spanning Trees: Prim’ s and Kruskal’s algorithm.  Shortest Path algorithms: Dijkstra Algorithm, Bellman Ford Algorithm</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2785319"/>
                  </a:ext>
                </a:extLst>
              </a:tr>
            </a:tbl>
          </a:graphicData>
        </a:graphic>
      </p:graphicFrame>
      <p:sp>
        <p:nvSpPr>
          <p:cNvPr id="27" name="Title 1">
            <a:extLst>
              <a:ext uri="{FF2B5EF4-FFF2-40B4-BE49-F238E27FC236}">
                <a16:creationId xmlns:a16="http://schemas.microsoft.com/office/drawing/2014/main" id="{1C7BBAA3-263A-8FE5-5AA3-E40EF73A5AE9}"/>
              </a:ext>
            </a:extLst>
          </p:cNvPr>
          <p:cNvSpPr txBox="1">
            <a:spLocks/>
          </p:cNvSpPr>
          <p:nvPr/>
        </p:nvSpPr>
        <p:spPr>
          <a:xfrm>
            <a:off x="2514600" y="17278"/>
            <a:ext cx="9677400" cy="9300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cs typeface="Times New Roman" panose="02020603050405020304" pitchFamily="18" charset="0"/>
              </a:rPr>
              <a:t>Subject Syllabus</a:t>
            </a:r>
          </a:p>
        </p:txBody>
      </p:sp>
      <p:sp>
        <p:nvSpPr>
          <p:cNvPr id="2" name="Date Placeholder 1">
            <a:extLst>
              <a:ext uri="{FF2B5EF4-FFF2-40B4-BE49-F238E27FC236}">
                <a16:creationId xmlns:a16="http://schemas.microsoft.com/office/drawing/2014/main" id="{FB27EB08-6EBB-4F44-B940-AC7B3D7977A8}"/>
              </a:ext>
            </a:extLst>
          </p:cNvPr>
          <p:cNvSpPr>
            <a:spLocks noGrp="1"/>
          </p:cNvSpPr>
          <p:nvPr>
            <p:ph type="dt" sz="half" idx="6"/>
          </p:nvPr>
        </p:nvSpPr>
        <p:spPr/>
        <p:txBody>
          <a:bodyPr/>
          <a:lstStyle/>
          <a:p>
            <a:pPr marL="12700">
              <a:lnSpc>
                <a:spcPts val="1240"/>
              </a:lnSpc>
            </a:pPr>
            <a:fld id="{756D2ED1-91E5-42D5-965B-FF8A94EE71AC}" type="datetime1">
              <a:rPr lang="en-US" spc="-25" smtClean="0"/>
              <a:t>7/8/2026</a:t>
            </a:fld>
            <a:endParaRPr lang="en-IN" spc="-25" dirty="0"/>
          </a:p>
        </p:txBody>
      </p:sp>
      <p:sp>
        <p:nvSpPr>
          <p:cNvPr id="3" name="Footer Placeholder 2">
            <a:extLst>
              <a:ext uri="{FF2B5EF4-FFF2-40B4-BE49-F238E27FC236}">
                <a16:creationId xmlns:a16="http://schemas.microsoft.com/office/drawing/2014/main" id="{27D9F314-7F33-47C6-92D0-64F109E8DF6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object 9"/>
          <p:cNvPicPr/>
          <p:nvPr/>
        </p:nvPicPr>
        <p:blipFill>
          <a:blip r:embed="rId2" cstate="print"/>
          <a:stretch>
            <a:fillRect/>
          </a:stretch>
        </p:blipFill>
        <p:spPr>
          <a:xfrm>
            <a:off x="117763" y="25"/>
            <a:ext cx="2473036" cy="947267"/>
          </a:xfrm>
          <a:prstGeom prst="rect">
            <a:avLst/>
          </a:prstGeom>
        </p:spPr>
      </p:pic>
      <p:pic>
        <p:nvPicPr>
          <p:cNvPr id="10" name="object 10"/>
          <p:cNvPicPr/>
          <p:nvPr/>
        </p:nvPicPr>
        <p:blipFill>
          <a:blip r:embed="rId3" cstate="print"/>
          <a:stretch>
            <a:fillRect/>
          </a:stretch>
        </p:blipFill>
        <p:spPr>
          <a:xfrm>
            <a:off x="685800" y="1268730"/>
            <a:ext cx="10896600" cy="4968582"/>
          </a:xfrm>
          <a:prstGeom prst="rect">
            <a:avLst/>
          </a:prstGeom>
        </p:spPr>
      </p:pic>
      <p:sp>
        <p:nvSpPr>
          <p:cNvPr id="11" name="Title 10"/>
          <p:cNvSpPr>
            <a:spLocks noGrp="1"/>
          </p:cNvSpPr>
          <p:nvPr>
            <p:ph type="title"/>
          </p:nvPr>
        </p:nvSpPr>
        <p:spPr>
          <a:xfrm>
            <a:off x="0" y="0"/>
            <a:ext cx="12192000" cy="369332"/>
          </a:xfrm>
        </p:spPr>
        <p:txBody>
          <a:bodyPr/>
          <a:lstStyle/>
          <a:p>
            <a:r>
              <a:rPr lang="en-US" dirty="0"/>
              <a:t>End </a:t>
            </a:r>
            <a:endParaRPr lang="en-IN" dirty="0"/>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2739984"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End </a:t>
            </a:r>
            <a:r>
              <a:rPr lang="en-US" sz="2800" dirty="0">
                <a:latin typeface="+mj-lt"/>
                <a:cs typeface="Times New Roman" panose="02020603050405020304" pitchFamily="18" charset="0"/>
              </a:rPr>
              <a:t>Semester</a:t>
            </a:r>
            <a:r>
              <a:rPr lang="en-US" sz="2800" dirty="0">
                <a:latin typeface="Calibri (Body)"/>
                <a:cs typeface="Times New Roman" panose="02020603050405020304" pitchFamily="18" charset="0"/>
              </a:rPr>
              <a:t> Paper Template</a:t>
            </a:r>
          </a:p>
        </p:txBody>
      </p:sp>
      <p:sp>
        <p:nvSpPr>
          <p:cNvPr id="2" name="Date Placeholder 1">
            <a:extLst>
              <a:ext uri="{FF2B5EF4-FFF2-40B4-BE49-F238E27FC236}">
                <a16:creationId xmlns:a16="http://schemas.microsoft.com/office/drawing/2014/main" id="{EAADE457-02F5-46DA-B353-60DDECB8E919}"/>
              </a:ext>
            </a:extLst>
          </p:cNvPr>
          <p:cNvSpPr>
            <a:spLocks noGrp="1"/>
          </p:cNvSpPr>
          <p:nvPr>
            <p:ph type="dt" sz="half" idx="6"/>
          </p:nvPr>
        </p:nvSpPr>
        <p:spPr/>
        <p:txBody>
          <a:bodyPr/>
          <a:lstStyle/>
          <a:p>
            <a:pPr marL="12700">
              <a:lnSpc>
                <a:spcPts val="1240"/>
              </a:lnSpc>
            </a:pPr>
            <a:fld id="{6722CCD0-5432-4D47-84D5-6C05184FC3D0}" type="datetime1">
              <a:rPr lang="en-US" spc="-25" smtClean="0"/>
              <a:t>7/8/2026</a:t>
            </a:fld>
            <a:endParaRPr lang="en-IN" spc="-25" dirty="0"/>
          </a:p>
        </p:txBody>
      </p:sp>
      <p:sp>
        <p:nvSpPr>
          <p:cNvPr id="3" name="Footer Placeholder 2">
            <a:extLst>
              <a:ext uri="{FF2B5EF4-FFF2-40B4-BE49-F238E27FC236}">
                <a16:creationId xmlns:a16="http://schemas.microsoft.com/office/drawing/2014/main" id="{43A37B86-9845-4433-8102-10F0C8CADF1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057400" y="1863417"/>
            <a:ext cx="9768840" cy="909319"/>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sz="2800" dirty="0">
                <a:latin typeface="Calibri"/>
                <a:cs typeface="Calibri"/>
              </a:rPr>
              <a:t>End</a:t>
            </a:r>
            <a:r>
              <a:rPr sz="2800" spc="5" dirty="0">
                <a:latin typeface="Calibri"/>
                <a:cs typeface="Calibri"/>
              </a:rPr>
              <a:t> </a:t>
            </a:r>
            <a:r>
              <a:rPr sz="2800" spc="-10" dirty="0" err="1">
                <a:latin typeface="Calibri"/>
                <a:cs typeface="Calibri"/>
              </a:rPr>
              <a:t>Se</a:t>
            </a:r>
            <a:r>
              <a:rPr sz="2800" spc="-305" dirty="0" err="1">
                <a:latin typeface="Calibri"/>
                <a:cs typeface="Calibri"/>
              </a:rPr>
              <a:t>m</a:t>
            </a:r>
            <a:r>
              <a:rPr sz="3600" spc="-1770" baseline="21990" dirty="0" err="1"/>
              <a:t>E</a:t>
            </a:r>
            <a:r>
              <a:rPr sz="2800" spc="-225" dirty="0" err="1">
                <a:latin typeface="Calibri"/>
                <a:cs typeface="Calibri"/>
              </a:rPr>
              <a:t>e</a:t>
            </a:r>
            <a:r>
              <a:rPr sz="3600" spc="-1485" baseline="21990" dirty="0" err="1"/>
              <a:t>v</a:t>
            </a:r>
            <a:r>
              <a:rPr sz="2800" spc="-125" dirty="0" err="1">
                <a:latin typeface="Calibri"/>
                <a:cs typeface="Calibri"/>
              </a:rPr>
              <a:t>s</a:t>
            </a:r>
            <a:r>
              <a:rPr sz="3600" spc="-1500" baseline="21990" dirty="0" err="1"/>
              <a:t>a</a:t>
            </a:r>
            <a:r>
              <a:rPr sz="2800" spc="-40" dirty="0" err="1">
                <a:latin typeface="Calibri"/>
                <a:cs typeface="Calibri"/>
              </a:rPr>
              <a:t>t</a:t>
            </a:r>
            <a:r>
              <a:rPr sz="2800" spc="-1320" dirty="0" err="1">
                <a:latin typeface="Calibri"/>
                <a:cs typeface="Calibri"/>
              </a:rPr>
              <a:t>e</a:t>
            </a:r>
            <a:r>
              <a:rPr sz="3600" spc="-7" baseline="21990" dirty="0" err="1"/>
              <a:t>l</a:t>
            </a:r>
            <a:r>
              <a:rPr sz="3600" spc="-839" baseline="21990" dirty="0" err="1"/>
              <a:t>u</a:t>
            </a:r>
            <a:r>
              <a:rPr sz="2800" spc="-430" dirty="0" err="1">
                <a:latin typeface="Calibri"/>
                <a:cs typeface="Calibri"/>
              </a:rPr>
              <a:t>r</a:t>
            </a:r>
            <a:r>
              <a:rPr sz="3600" spc="-15" baseline="21990" dirty="0" err="1"/>
              <a:t>a</a:t>
            </a:r>
            <a:r>
              <a:rPr sz="3600" spc="-1005" baseline="21990" dirty="0" err="1"/>
              <a:t>t</a:t>
            </a:r>
            <a:r>
              <a:rPr sz="2800" spc="-1225" dirty="0" err="1">
                <a:latin typeface="Calibri"/>
                <a:cs typeface="Calibri"/>
              </a:rPr>
              <a:t>Q</a:t>
            </a:r>
            <a:r>
              <a:rPr sz="3600" spc="-7" baseline="21990" dirty="0" err="1"/>
              <a:t>i</a:t>
            </a:r>
            <a:r>
              <a:rPr sz="3600" spc="-1012" baseline="21990" dirty="0" err="1"/>
              <a:t>o</a:t>
            </a:r>
            <a:r>
              <a:rPr sz="2800" spc="-819" dirty="0" err="1">
                <a:latin typeface="Calibri"/>
                <a:cs typeface="Calibri"/>
              </a:rPr>
              <a:t>u</a:t>
            </a:r>
            <a:r>
              <a:rPr sz="3600" spc="-607" baseline="21990" dirty="0" err="1"/>
              <a:t>n</a:t>
            </a:r>
            <a:r>
              <a:rPr sz="2800" spc="-430" dirty="0" err="1">
                <a:latin typeface="Calibri"/>
                <a:cs typeface="Calibri"/>
              </a:rPr>
              <a:t>e</a:t>
            </a:r>
            <a:r>
              <a:rPr sz="3600" spc="-1395" baseline="21990" dirty="0" err="1"/>
              <a:t>S</a:t>
            </a:r>
            <a:r>
              <a:rPr sz="2800" spc="-195" dirty="0" err="1">
                <a:latin typeface="Calibri"/>
                <a:cs typeface="Calibri"/>
              </a:rPr>
              <a:t>s</a:t>
            </a:r>
            <a:r>
              <a:rPr sz="3600" spc="-1395" baseline="21990" dirty="0" err="1"/>
              <a:t>c</a:t>
            </a:r>
            <a:r>
              <a:rPr sz="2800" spc="-30" dirty="0" err="1">
                <a:latin typeface="Calibri"/>
                <a:cs typeface="Calibri"/>
              </a:rPr>
              <a:t>t</a:t>
            </a:r>
            <a:r>
              <a:rPr sz="2800" spc="-635" dirty="0" err="1">
                <a:latin typeface="Calibri"/>
                <a:cs typeface="Calibri"/>
              </a:rPr>
              <a:t>i</a:t>
            </a:r>
            <a:r>
              <a:rPr sz="3600" spc="-847" baseline="21990" dirty="0" err="1"/>
              <a:t>h</a:t>
            </a:r>
            <a:r>
              <a:rPr sz="2800" spc="-944" dirty="0" err="1">
                <a:latin typeface="Calibri"/>
                <a:cs typeface="Calibri"/>
              </a:rPr>
              <a:t>o</a:t>
            </a:r>
            <a:r>
              <a:rPr sz="3600" spc="-217" baseline="21990" dirty="0" err="1"/>
              <a:t>e</a:t>
            </a:r>
            <a:r>
              <a:rPr sz="2800" spc="-1355" dirty="0" err="1">
                <a:latin typeface="Calibri"/>
                <a:cs typeface="Calibri"/>
              </a:rPr>
              <a:t>n</a:t>
            </a:r>
            <a:r>
              <a:rPr sz="3600" spc="-37" baseline="21990" dirty="0" err="1"/>
              <a:t>m</a:t>
            </a:r>
            <a:r>
              <a:rPr sz="3600" spc="-1395" baseline="21990" dirty="0" err="1"/>
              <a:t>e</a:t>
            </a:r>
            <a:r>
              <a:rPr sz="2800" spc="-75" dirty="0" err="1">
                <a:latin typeface="Calibri"/>
                <a:cs typeface="Calibri"/>
              </a:rPr>
              <a:t>P</a:t>
            </a:r>
            <a:r>
              <a:rPr sz="2800" spc="-5" dirty="0" err="1">
                <a:latin typeface="Calibri"/>
                <a:cs typeface="Calibri"/>
              </a:rPr>
              <a:t>aper</a:t>
            </a:r>
            <a:r>
              <a:rPr sz="2800" spc="15" dirty="0">
                <a:latin typeface="Calibri"/>
                <a:cs typeface="Calibri"/>
              </a:rPr>
              <a:t> </a:t>
            </a:r>
            <a:r>
              <a:rPr sz="2800" spc="-10" dirty="0">
                <a:latin typeface="Calibri"/>
                <a:cs typeface="Calibri"/>
              </a:rPr>
              <a:t>Templates</a:t>
            </a:r>
            <a:endParaRPr sz="2800" dirty="0">
              <a:latin typeface="Calibri"/>
              <a:cs typeface="Calibri"/>
            </a:endParaRPr>
          </a:p>
        </p:txBody>
      </p:sp>
      <p:pic>
        <p:nvPicPr>
          <p:cNvPr id="9" name="object 9"/>
          <p:cNvPicPr/>
          <p:nvPr/>
        </p:nvPicPr>
        <p:blipFill>
          <a:blip r:embed="rId2" cstate="print"/>
          <a:stretch>
            <a:fillRect/>
          </a:stretch>
        </p:blipFill>
        <p:spPr>
          <a:xfrm>
            <a:off x="103614" y="25"/>
            <a:ext cx="2175908" cy="947267"/>
          </a:xfrm>
          <a:prstGeom prst="rect">
            <a:avLst/>
          </a:prstGeom>
        </p:spPr>
      </p:pic>
      <p:pic>
        <p:nvPicPr>
          <p:cNvPr id="10" name="object 10"/>
          <p:cNvPicPr/>
          <p:nvPr/>
        </p:nvPicPr>
        <p:blipFill>
          <a:blip r:embed="rId3" cstate="print"/>
          <a:stretch>
            <a:fillRect/>
          </a:stretch>
        </p:blipFill>
        <p:spPr>
          <a:xfrm>
            <a:off x="335356" y="1052702"/>
            <a:ext cx="6336665" cy="2448306"/>
          </a:xfrm>
          <a:prstGeom prst="rect">
            <a:avLst/>
          </a:prstGeom>
        </p:spPr>
      </p:pic>
      <p:pic>
        <p:nvPicPr>
          <p:cNvPr id="11" name="object 11"/>
          <p:cNvPicPr/>
          <p:nvPr/>
        </p:nvPicPr>
        <p:blipFill>
          <a:blip r:embed="rId4" cstate="print"/>
          <a:stretch>
            <a:fillRect/>
          </a:stretch>
        </p:blipFill>
        <p:spPr>
          <a:xfrm>
            <a:off x="407365" y="3644988"/>
            <a:ext cx="6192647" cy="2592324"/>
          </a:xfrm>
          <a:prstGeom prst="rect">
            <a:avLst/>
          </a:prstGeom>
        </p:spPr>
      </p:pic>
      <p:pic>
        <p:nvPicPr>
          <p:cNvPr id="12" name="object 12"/>
          <p:cNvPicPr/>
          <p:nvPr/>
        </p:nvPicPr>
        <p:blipFill>
          <a:blip r:embed="rId5" cstate="print"/>
          <a:stretch>
            <a:fillRect/>
          </a:stretch>
        </p:blipFill>
        <p:spPr>
          <a:xfrm>
            <a:off x="6781800" y="909066"/>
            <a:ext cx="5290820" cy="2591942"/>
          </a:xfrm>
          <a:prstGeom prst="rect">
            <a:avLst/>
          </a:prstGeom>
        </p:spPr>
      </p:pic>
      <p:pic>
        <p:nvPicPr>
          <p:cNvPr id="13" name="object 13"/>
          <p:cNvPicPr/>
          <p:nvPr/>
        </p:nvPicPr>
        <p:blipFill>
          <a:blip r:embed="rId6" cstate="print"/>
          <a:stretch>
            <a:fillRect/>
          </a:stretch>
        </p:blipFill>
        <p:spPr>
          <a:xfrm>
            <a:off x="6781800" y="3644988"/>
            <a:ext cx="5290820" cy="2592324"/>
          </a:xfrm>
          <a:prstGeom prst="rect">
            <a:avLst/>
          </a:prstGeom>
        </p:spPr>
      </p:pic>
      <p:sp>
        <p:nvSpPr>
          <p:cNvPr id="17" name="object 17"/>
          <p:cNvSpPr txBox="1"/>
          <p:nvPr/>
        </p:nvSpPr>
        <p:spPr>
          <a:xfrm>
            <a:off x="7840429" y="6465519"/>
            <a:ext cx="977900" cy="156068"/>
          </a:xfrm>
          <a:prstGeom prst="rect">
            <a:avLst/>
          </a:prstGeom>
        </p:spPr>
        <p:txBody>
          <a:bodyPr vert="horz" wrap="square" lIns="0" tIns="0" rIns="0" bIns="0" rtlCol="0">
            <a:spAutoFit/>
          </a:bodyPr>
          <a:lstStyle/>
          <a:p>
            <a:pPr marL="12700">
              <a:lnSpc>
                <a:spcPts val="1240"/>
              </a:lnSpc>
            </a:pPr>
            <a:r>
              <a:rPr sz="1200" dirty="0">
                <a:solidFill>
                  <a:srgbClr val="888888"/>
                </a:solidFill>
                <a:latin typeface="Calibri"/>
                <a:cs typeface="Calibri"/>
              </a:rPr>
              <a:t>U</a:t>
            </a:r>
            <a:endParaRPr sz="1200" dirty="0">
              <a:latin typeface="Calibri"/>
              <a:cs typeface="Calibri"/>
            </a:endParaRPr>
          </a:p>
        </p:txBody>
      </p:sp>
      <p:sp>
        <p:nvSpPr>
          <p:cNvPr id="14" name="Title 1">
            <a:extLst>
              <a:ext uri="{FF2B5EF4-FFF2-40B4-BE49-F238E27FC236}">
                <a16:creationId xmlns:a16="http://schemas.microsoft.com/office/drawing/2014/main" id="{1C7BBAA3-263A-8FE5-5AA3-E40EF73A5AE9}"/>
              </a:ext>
            </a:extLst>
          </p:cNvPr>
          <p:cNvSpPr txBox="1">
            <a:spLocks/>
          </p:cNvSpPr>
          <p:nvPr/>
        </p:nvSpPr>
        <p:spPr>
          <a:xfrm>
            <a:off x="2739984"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End </a:t>
            </a:r>
            <a:r>
              <a:rPr lang="en-US" sz="2800" dirty="0">
                <a:latin typeface="+mj-lt"/>
                <a:cs typeface="Times New Roman" panose="02020603050405020304" pitchFamily="18" charset="0"/>
              </a:rPr>
              <a:t>Semester</a:t>
            </a:r>
            <a:r>
              <a:rPr lang="en-US" sz="2800" dirty="0">
                <a:latin typeface="Calibri (Body)"/>
                <a:cs typeface="Times New Roman" panose="02020603050405020304" pitchFamily="18" charset="0"/>
              </a:rPr>
              <a:t> Paper Template</a:t>
            </a:r>
          </a:p>
        </p:txBody>
      </p:sp>
      <p:sp>
        <p:nvSpPr>
          <p:cNvPr id="2" name="Date Placeholder 1">
            <a:extLst>
              <a:ext uri="{FF2B5EF4-FFF2-40B4-BE49-F238E27FC236}">
                <a16:creationId xmlns:a16="http://schemas.microsoft.com/office/drawing/2014/main" id="{4B65D85C-C1A4-4D19-9122-724D52C35DBB}"/>
              </a:ext>
            </a:extLst>
          </p:cNvPr>
          <p:cNvSpPr>
            <a:spLocks noGrp="1"/>
          </p:cNvSpPr>
          <p:nvPr>
            <p:ph type="dt" sz="half" idx="6"/>
          </p:nvPr>
        </p:nvSpPr>
        <p:spPr/>
        <p:txBody>
          <a:bodyPr/>
          <a:lstStyle/>
          <a:p>
            <a:pPr marL="12700">
              <a:lnSpc>
                <a:spcPts val="1240"/>
              </a:lnSpc>
            </a:pPr>
            <a:fld id="{F6BD78C9-EC12-4F09-8A76-2401775E0AFB}" type="datetime1">
              <a:rPr lang="en-US" spc="-25" smtClean="0"/>
              <a:t>7/8/2026</a:t>
            </a:fld>
            <a:endParaRPr lang="en-IN" spc="-25" dirty="0"/>
          </a:p>
        </p:txBody>
      </p:sp>
      <p:sp>
        <p:nvSpPr>
          <p:cNvPr id="3" name="Footer Placeholder 2">
            <a:extLst>
              <a:ext uri="{FF2B5EF4-FFF2-40B4-BE49-F238E27FC236}">
                <a16:creationId xmlns:a16="http://schemas.microsoft.com/office/drawing/2014/main" id="{39D239D3-775F-4EA3-8007-E0583D0B61B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044700" y="1320291"/>
            <a:ext cx="7950200" cy="864869"/>
            <a:chOff x="2044700" y="1320291"/>
            <a:chExt cx="7950200" cy="864869"/>
          </a:xfrm>
        </p:grpSpPr>
        <p:sp>
          <p:nvSpPr>
            <p:cNvPr id="3" name="object 3"/>
            <p:cNvSpPr/>
            <p:nvPr/>
          </p:nvSpPr>
          <p:spPr>
            <a:xfrm>
              <a:off x="2057400" y="1642884"/>
              <a:ext cx="7924800" cy="529590"/>
            </a:xfrm>
            <a:custGeom>
              <a:avLst/>
              <a:gdLst/>
              <a:ahLst/>
              <a:cxnLst/>
              <a:rect l="l" t="t" r="r" b="b"/>
              <a:pathLst>
                <a:path w="7924800" h="529589">
                  <a:moveTo>
                    <a:pt x="0" y="529196"/>
                  </a:moveTo>
                  <a:lnTo>
                    <a:pt x="7924800" y="529196"/>
                  </a:lnTo>
                  <a:lnTo>
                    <a:pt x="7924800" y="0"/>
                  </a:lnTo>
                  <a:lnTo>
                    <a:pt x="0" y="0"/>
                  </a:lnTo>
                  <a:lnTo>
                    <a:pt x="0" y="529196"/>
                  </a:lnTo>
                  <a:close/>
                </a:path>
              </a:pathLst>
            </a:custGeom>
            <a:ln w="25400">
              <a:solidFill>
                <a:srgbClr val="4AACC5"/>
              </a:solidFill>
            </a:ln>
          </p:spPr>
          <p:txBody>
            <a:bodyPr wrap="square" lIns="0" tIns="0" rIns="0" bIns="0" rtlCol="0"/>
            <a:lstStyle/>
            <a:p>
              <a:endParaRPr/>
            </a:p>
          </p:txBody>
        </p:sp>
        <p:sp>
          <p:nvSpPr>
            <p:cNvPr id="4" name="object 4"/>
            <p:cNvSpPr/>
            <p:nvPr/>
          </p:nvSpPr>
          <p:spPr>
            <a:xfrm>
              <a:off x="2453640" y="1332991"/>
              <a:ext cx="5547360" cy="620395"/>
            </a:xfrm>
            <a:custGeom>
              <a:avLst/>
              <a:gdLst/>
              <a:ahLst/>
              <a:cxnLst/>
              <a:rect l="l" t="t" r="r" b="b"/>
              <a:pathLst>
                <a:path w="5547359" h="620394">
                  <a:moveTo>
                    <a:pt x="5443982" y="0"/>
                  </a:moveTo>
                  <a:lnTo>
                    <a:pt x="103378" y="0"/>
                  </a:lnTo>
                  <a:lnTo>
                    <a:pt x="63115" y="8114"/>
                  </a:lnTo>
                  <a:lnTo>
                    <a:pt x="30257" y="30241"/>
                  </a:lnTo>
                  <a:lnTo>
                    <a:pt x="8116" y="63061"/>
                  </a:lnTo>
                  <a:lnTo>
                    <a:pt x="0" y="103250"/>
                  </a:lnTo>
                  <a:lnTo>
                    <a:pt x="0" y="516509"/>
                  </a:lnTo>
                  <a:lnTo>
                    <a:pt x="8116" y="556771"/>
                  </a:lnTo>
                  <a:lnTo>
                    <a:pt x="30257" y="589629"/>
                  </a:lnTo>
                  <a:lnTo>
                    <a:pt x="63115" y="611770"/>
                  </a:lnTo>
                  <a:lnTo>
                    <a:pt x="103378" y="619887"/>
                  </a:lnTo>
                  <a:lnTo>
                    <a:pt x="5443982" y="619887"/>
                  </a:lnTo>
                  <a:lnTo>
                    <a:pt x="5484244" y="611770"/>
                  </a:lnTo>
                  <a:lnTo>
                    <a:pt x="5517102" y="589629"/>
                  </a:lnTo>
                  <a:lnTo>
                    <a:pt x="5539243" y="556771"/>
                  </a:lnTo>
                  <a:lnTo>
                    <a:pt x="5547360" y="516509"/>
                  </a:lnTo>
                  <a:lnTo>
                    <a:pt x="5547360" y="103250"/>
                  </a:lnTo>
                  <a:lnTo>
                    <a:pt x="5539243" y="63061"/>
                  </a:lnTo>
                  <a:lnTo>
                    <a:pt x="5517102" y="30241"/>
                  </a:lnTo>
                  <a:lnTo>
                    <a:pt x="5484244" y="8114"/>
                  </a:lnTo>
                  <a:lnTo>
                    <a:pt x="5443982" y="0"/>
                  </a:lnTo>
                  <a:close/>
                </a:path>
              </a:pathLst>
            </a:custGeom>
            <a:solidFill>
              <a:srgbClr val="4AACC5"/>
            </a:solidFill>
          </p:spPr>
          <p:txBody>
            <a:bodyPr wrap="square" lIns="0" tIns="0" rIns="0" bIns="0" rtlCol="0"/>
            <a:lstStyle/>
            <a:p>
              <a:endParaRPr/>
            </a:p>
          </p:txBody>
        </p:sp>
        <p:sp>
          <p:nvSpPr>
            <p:cNvPr id="5" name="object 5"/>
            <p:cNvSpPr/>
            <p:nvPr/>
          </p:nvSpPr>
          <p:spPr>
            <a:xfrm>
              <a:off x="2453640" y="1332991"/>
              <a:ext cx="5547360" cy="620395"/>
            </a:xfrm>
            <a:custGeom>
              <a:avLst/>
              <a:gdLst/>
              <a:ahLst/>
              <a:cxnLst/>
              <a:rect l="l" t="t" r="r" b="b"/>
              <a:pathLst>
                <a:path w="5547359" h="620394">
                  <a:moveTo>
                    <a:pt x="0" y="103250"/>
                  </a:moveTo>
                  <a:lnTo>
                    <a:pt x="8116" y="63061"/>
                  </a:lnTo>
                  <a:lnTo>
                    <a:pt x="30257" y="30241"/>
                  </a:lnTo>
                  <a:lnTo>
                    <a:pt x="63115" y="8114"/>
                  </a:lnTo>
                  <a:lnTo>
                    <a:pt x="103378" y="0"/>
                  </a:lnTo>
                  <a:lnTo>
                    <a:pt x="5443982" y="0"/>
                  </a:lnTo>
                  <a:lnTo>
                    <a:pt x="5484244" y="8114"/>
                  </a:lnTo>
                  <a:lnTo>
                    <a:pt x="5517102" y="30241"/>
                  </a:lnTo>
                  <a:lnTo>
                    <a:pt x="5539243" y="63061"/>
                  </a:lnTo>
                  <a:lnTo>
                    <a:pt x="5547360" y="103250"/>
                  </a:lnTo>
                  <a:lnTo>
                    <a:pt x="5547360" y="516509"/>
                  </a:lnTo>
                  <a:lnTo>
                    <a:pt x="5539243" y="556771"/>
                  </a:lnTo>
                  <a:lnTo>
                    <a:pt x="5517102" y="589629"/>
                  </a:lnTo>
                  <a:lnTo>
                    <a:pt x="5484244" y="611770"/>
                  </a:lnTo>
                  <a:lnTo>
                    <a:pt x="5443982" y="619887"/>
                  </a:lnTo>
                  <a:lnTo>
                    <a:pt x="103378" y="619887"/>
                  </a:lnTo>
                  <a:lnTo>
                    <a:pt x="63115" y="611770"/>
                  </a:lnTo>
                  <a:lnTo>
                    <a:pt x="30257" y="589629"/>
                  </a:lnTo>
                  <a:lnTo>
                    <a:pt x="8116" y="556771"/>
                  </a:lnTo>
                  <a:lnTo>
                    <a:pt x="0" y="516509"/>
                  </a:lnTo>
                  <a:lnTo>
                    <a:pt x="0" y="103250"/>
                  </a:lnTo>
                  <a:close/>
                </a:path>
              </a:pathLst>
            </a:custGeom>
            <a:ln w="25400">
              <a:solidFill>
                <a:srgbClr val="FFFFFF"/>
              </a:solidFill>
            </a:ln>
          </p:spPr>
          <p:txBody>
            <a:bodyPr wrap="square" lIns="0" tIns="0" rIns="0" bIns="0" rtlCol="0"/>
            <a:lstStyle/>
            <a:p>
              <a:endParaRPr/>
            </a:p>
          </p:txBody>
        </p:sp>
      </p:grpSp>
      <p:grpSp>
        <p:nvGrpSpPr>
          <p:cNvPr id="6" name="object 6"/>
          <p:cNvGrpSpPr/>
          <p:nvPr/>
        </p:nvGrpSpPr>
        <p:grpSpPr>
          <a:xfrm>
            <a:off x="2044700" y="2272792"/>
            <a:ext cx="7950200" cy="864869"/>
            <a:chOff x="2044700" y="2272792"/>
            <a:chExt cx="7950200" cy="864869"/>
          </a:xfrm>
        </p:grpSpPr>
        <p:sp>
          <p:nvSpPr>
            <p:cNvPr id="7" name="object 7"/>
            <p:cNvSpPr/>
            <p:nvPr/>
          </p:nvSpPr>
          <p:spPr>
            <a:xfrm>
              <a:off x="2057400" y="2595511"/>
              <a:ext cx="7924800" cy="529590"/>
            </a:xfrm>
            <a:custGeom>
              <a:avLst/>
              <a:gdLst/>
              <a:ahLst/>
              <a:cxnLst/>
              <a:rect l="l" t="t" r="r" b="b"/>
              <a:pathLst>
                <a:path w="7924800" h="529589">
                  <a:moveTo>
                    <a:pt x="0" y="529196"/>
                  </a:moveTo>
                  <a:lnTo>
                    <a:pt x="7924800" y="529196"/>
                  </a:lnTo>
                  <a:lnTo>
                    <a:pt x="7924800" y="0"/>
                  </a:lnTo>
                  <a:lnTo>
                    <a:pt x="0" y="0"/>
                  </a:lnTo>
                  <a:lnTo>
                    <a:pt x="0" y="529196"/>
                  </a:lnTo>
                  <a:close/>
                </a:path>
              </a:pathLst>
            </a:custGeom>
            <a:ln w="25400">
              <a:solidFill>
                <a:srgbClr val="5FE046"/>
              </a:solidFill>
            </a:ln>
          </p:spPr>
          <p:txBody>
            <a:bodyPr wrap="square" lIns="0" tIns="0" rIns="0" bIns="0" rtlCol="0"/>
            <a:lstStyle/>
            <a:p>
              <a:endParaRPr/>
            </a:p>
          </p:txBody>
        </p:sp>
        <p:sp>
          <p:nvSpPr>
            <p:cNvPr id="8" name="object 8"/>
            <p:cNvSpPr/>
            <p:nvPr/>
          </p:nvSpPr>
          <p:spPr>
            <a:xfrm>
              <a:off x="2453640" y="2285492"/>
              <a:ext cx="5547360" cy="620395"/>
            </a:xfrm>
            <a:custGeom>
              <a:avLst/>
              <a:gdLst/>
              <a:ahLst/>
              <a:cxnLst/>
              <a:rect l="l" t="t" r="r" b="b"/>
              <a:pathLst>
                <a:path w="5547359" h="620394">
                  <a:moveTo>
                    <a:pt x="5443982" y="0"/>
                  </a:moveTo>
                  <a:lnTo>
                    <a:pt x="103378" y="0"/>
                  </a:lnTo>
                  <a:lnTo>
                    <a:pt x="63115" y="8116"/>
                  </a:lnTo>
                  <a:lnTo>
                    <a:pt x="30257" y="30257"/>
                  </a:lnTo>
                  <a:lnTo>
                    <a:pt x="8116" y="63115"/>
                  </a:lnTo>
                  <a:lnTo>
                    <a:pt x="0" y="103378"/>
                  </a:lnTo>
                  <a:lnTo>
                    <a:pt x="0" y="516636"/>
                  </a:lnTo>
                  <a:lnTo>
                    <a:pt x="8116" y="556825"/>
                  </a:lnTo>
                  <a:lnTo>
                    <a:pt x="30257" y="589645"/>
                  </a:lnTo>
                  <a:lnTo>
                    <a:pt x="63115" y="611772"/>
                  </a:lnTo>
                  <a:lnTo>
                    <a:pt x="103378" y="619887"/>
                  </a:lnTo>
                  <a:lnTo>
                    <a:pt x="5443982" y="619887"/>
                  </a:lnTo>
                  <a:lnTo>
                    <a:pt x="5484244" y="611772"/>
                  </a:lnTo>
                  <a:lnTo>
                    <a:pt x="5517102" y="589645"/>
                  </a:lnTo>
                  <a:lnTo>
                    <a:pt x="5539243" y="556825"/>
                  </a:lnTo>
                  <a:lnTo>
                    <a:pt x="5547360" y="516636"/>
                  </a:lnTo>
                  <a:lnTo>
                    <a:pt x="5547360" y="103378"/>
                  </a:lnTo>
                  <a:lnTo>
                    <a:pt x="5539243" y="63115"/>
                  </a:lnTo>
                  <a:lnTo>
                    <a:pt x="5517102" y="30257"/>
                  </a:lnTo>
                  <a:lnTo>
                    <a:pt x="5484244" y="8116"/>
                  </a:lnTo>
                  <a:lnTo>
                    <a:pt x="5443982" y="0"/>
                  </a:lnTo>
                  <a:close/>
                </a:path>
              </a:pathLst>
            </a:custGeom>
            <a:solidFill>
              <a:srgbClr val="5FE046"/>
            </a:solidFill>
          </p:spPr>
          <p:txBody>
            <a:bodyPr wrap="square" lIns="0" tIns="0" rIns="0" bIns="0" rtlCol="0"/>
            <a:lstStyle/>
            <a:p>
              <a:endParaRPr/>
            </a:p>
          </p:txBody>
        </p:sp>
        <p:sp>
          <p:nvSpPr>
            <p:cNvPr id="9" name="object 9"/>
            <p:cNvSpPr/>
            <p:nvPr/>
          </p:nvSpPr>
          <p:spPr>
            <a:xfrm>
              <a:off x="2453640" y="2285492"/>
              <a:ext cx="5547360" cy="620395"/>
            </a:xfrm>
            <a:custGeom>
              <a:avLst/>
              <a:gdLst/>
              <a:ahLst/>
              <a:cxnLst/>
              <a:rect l="l" t="t" r="r" b="b"/>
              <a:pathLst>
                <a:path w="5547359" h="620394">
                  <a:moveTo>
                    <a:pt x="0" y="103378"/>
                  </a:moveTo>
                  <a:lnTo>
                    <a:pt x="8116" y="63115"/>
                  </a:lnTo>
                  <a:lnTo>
                    <a:pt x="30257" y="30257"/>
                  </a:lnTo>
                  <a:lnTo>
                    <a:pt x="63115" y="8116"/>
                  </a:lnTo>
                  <a:lnTo>
                    <a:pt x="103378" y="0"/>
                  </a:lnTo>
                  <a:lnTo>
                    <a:pt x="5443982" y="0"/>
                  </a:lnTo>
                  <a:lnTo>
                    <a:pt x="5484244" y="8116"/>
                  </a:lnTo>
                  <a:lnTo>
                    <a:pt x="5517102" y="30257"/>
                  </a:lnTo>
                  <a:lnTo>
                    <a:pt x="5539243" y="63115"/>
                  </a:lnTo>
                  <a:lnTo>
                    <a:pt x="5547360" y="103378"/>
                  </a:lnTo>
                  <a:lnTo>
                    <a:pt x="5547360" y="516636"/>
                  </a:lnTo>
                  <a:lnTo>
                    <a:pt x="5539243" y="556825"/>
                  </a:lnTo>
                  <a:lnTo>
                    <a:pt x="5517102" y="589645"/>
                  </a:lnTo>
                  <a:lnTo>
                    <a:pt x="5484244" y="611772"/>
                  </a:lnTo>
                  <a:lnTo>
                    <a:pt x="5443982" y="619887"/>
                  </a:lnTo>
                  <a:lnTo>
                    <a:pt x="103378" y="619887"/>
                  </a:lnTo>
                  <a:lnTo>
                    <a:pt x="63115" y="611772"/>
                  </a:lnTo>
                  <a:lnTo>
                    <a:pt x="30257" y="589645"/>
                  </a:lnTo>
                  <a:lnTo>
                    <a:pt x="8116" y="556825"/>
                  </a:lnTo>
                  <a:lnTo>
                    <a:pt x="0" y="516636"/>
                  </a:lnTo>
                  <a:lnTo>
                    <a:pt x="0" y="103378"/>
                  </a:lnTo>
                  <a:close/>
                </a:path>
              </a:pathLst>
            </a:custGeom>
            <a:ln w="25400">
              <a:solidFill>
                <a:srgbClr val="FFFFFF"/>
              </a:solidFill>
            </a:ln>
          </p:spPr>
          <p:txBody>
            <a:bodyPr wrap="square" lIns="0" tIns="0" rIns="0" bIns="0" rtlCol="0"/>
            <a:lstStyle/>
            <a:p>
              <a:endParaRPr/>
            </a:p>
          </p:txBody>
        </p:sp>
      </p:grpSp>
      <p:grpSp>
        <p:nvGrpSpPr>
          <p:cNvPr id="10" name="object 10"/>
          <p:cNvGrpSpPr/>
          <p:nvPr/>
        </p:nvGrpSpPr>
        <p:grpSpPr>
          <a:xfrm>
            <a:off x="2044700" y="3225419"/>
            <a:ext cx="7950200" cy="864869"/>
            <a:chOff x="2044700" y="3225419"/>
            <a:chExt cx="7950200" cy="864869"/>
          </a:xfrm>
        </p:grpSpPr>
        <p:sp>
          <p:nvSpPr>
            <p:cNvPr id="11" name="object 11"/>
            <p:cNvSpPr/>
            <p:nvPr/>
          </p:nvSpPr>
          <p:spPr>
            <a:xfrm>
              <a:off x="2057400" y="3548011"/>
              <a:ext cx="7924800" cy="529590"/>
            </a:xfrm>
            <a:custGeom>
              <a:avLst/>
              <a:gdLst/>
              <a:ahLst/>
              <a:cxnLst/>
              <a:rect l="l" t="t" r="r" b="b"/>
              <a:pathLst>
                <a:path w="7924800" h="529589">
                  <a:moveTo>
                    <a:pt x="0" y="529196"/>
                  </a:moveTo>
                  <a:lnTo>
                    <a:pt x="7924800" y="529196"/>
                  </a:lnTo>
                  <a:lnTo>
                    <a:pt x="7924800" y="0"/>
                  </a:lnTo>
                  <a:lnTo>
                    <a:pt x="0" y="0"/>
                  </a:lnTo>
                  <a:lnTo>
                    <a:pt x="0" y="529196"/>
                  </a:lnTo>
                  <a:close/>
                </a:path>
              </a:pathLst>
            </a:custGeom>
            <a:ln w="25400">
              <a:solidFill>
                <a:srgbClr val="F79546"/>
              </a:solidFill>
            </a:ln>
          </p:spPr>
          <p:txBody>
            <a:bodyPr wrap="square" lIns="0" tIns="0" rIns="0" bIns="0" rtlCol="0"/>
            <a:lstStyle/>
            <a:p>
              <a:endParaRPr/>
            </a:p>
          </p:txBody>
        </p:sp>
        <p:sp>
          <p:nvSpPr>
            <p:cNvPr id="12" name="object 12"/>
            <p:cNvSpPr/>
            <p:nvPr/>
          </p:nvSpPr>
          <p:spPr>
            <a:xfrm>
              <a:off x="2453640" y="3238119"/>
              <a:ext cx="5547360" cy="620395"/>
            </a:xfrm>
            <a:custGeom>
              <a:avLst/>
              <a:gdLst/>
              <a:ahLst/>
              <a:cxnLst/>
              <a:rect l="l" t="t" r="r" b="b"/>
              <a:pathLst>
                <a:path w="5547359" h="620395">
                  <a:moveTo>
                    <a:pt x="5443982" y="0"/>
                  </a:moveTo>
                  <a:lnTo>
                    <a:pt x="103378" y="0"/>
                  </a:lnTo>
                  <a:lnTo>
                    <a:pt x="63115" y="8114"/>
                  </a:lnTo>
                  <a:lnTo>
                    <a:pt x="30257" y="30241"/>
                  </a:lnTo>
                  <a:lnTo>
                    <a:pt x="8116" y="63061"/>
                  </a:lnTo>
                  <a:lnTo>
                    <a:pt x="0" y="103250"/>
                  </a:lnTo>
                  <a:lnTo>
                    <a:pt x="0" y="516508"/>
                  </a:lnTo>
                  <a:lnTo>
                    <a:pt x="8116" y="556771"/>
                  </a:lnTo>
                  <a:lnTo>
                    <a:pt x="30257" y="589629"/>
                  </a:lnTo>
                  <a:lnTo>
                    <a:pt x="63115" y="611770"/>
                  </a:lnTo>
                  <a:lnTo>
                    <a:pt x="103378" y="619886"/>
                  </a:lnTo>
                  <a:lnTo>
                    <a:pt x="5443982" y="619886"/>
                  </a:lnTo>
                  <a:lnTo>
                    <a:pt x="5484244" y="611770"/>
                  </a:lnTo>
                  <a:lnTo>
                    <a:pt x="5517102" y="589629"/>
                  </a:lnTo>
                  <a:lnTo>
                    <a:pt x="5539243" y="556771"/>
                  </a:lnTo>
                  <a:lnTo>
                    <a:pt x="5547360" y="516508"/>
                  </a:lnTo>
                  <a:lnTo>
                    <a:pt x="5547360" y="103250"/>
                  </a:lnTo>
                  <a:lnTo>
                    <a:pt x="5539243" y="63061"/>
                  </a:lnTo>
                  <a:lnTo>
                    <a:pt x="5517102" y="30241"/>
                  </a:lnTo>
                  <a:lnTo>
                    <a:pt x="5484244" y="8114"/>
                  </a:lnTo>
                  <a:lnTo>
                    <a:pt x="5443982" y="0"/>
                  </a:lnTo>
                  <a:close/>
                </a:path>
              </a:pathLst>
            </a:custGeom>
            <a:solidFill>
              <a:srgbClr val="F79546"/>
            </a:solidFill>
          </p:spPr>
          <p:txBody>
            <a:bodyPr wrap="square" lIns="0" tIns="0" rIns="0" bIns="0" rtlCol="0"/>
            <a:lstStyle/>
            <a:p>
              <a:endParaRPr/>
            </a:p>
          </p:txBody>
        </p:sp>
        <p:sp>
          <p:nvSpPr>
            <p:cNvPr id="13" name="object 13"/>
            <p:cNvSpPr/>
            <p:nvPr/>
          </p:nvSpPr>
          <p:spPr>
            <a:xfrm>
              <a:off x="2453640" y="3238119"/>
              <a:ext cx="5547360" cy="620395"/>
            </a:xfrm>
            <a:custGeom>
              <a:avLst/>
              <a:gdLst/>
              <a:ahLst/>
              <a:cxnLst/>
              <a:rect l="l" t="t" r="r" b="b"/>
              <a:pathLst>
                <a:path w="5547359" h="620395">
                  <a:moveTo>
                    <a:pt x="0" y="103250"/>
                  </a:moveTo>
                  <a:lnTo>
                    <a:pt x="8116" y="63061"/>
                  </a:lnTo>
                  <a:lnTo>
                    <a:pt x="30257" y="30241"/>
                  </a:lnTo>
                  <a:lnTo>
                    <a:pt x="63115" y="8114"/>
                  </a:lnTo>
                  <a:lnTo>
                    <a:pt x="103378" y="0"/>
                  </a:lnTo>
                  <a:lnTo>
                    <a:pt x="5443982" y="0"/>
                  </a:lnTo>
                  <a:lnTo>
                    <a:pt x="5484244" y="8114"/>
                  </a:lnTo>
                  <a:lnTo>
                    <a:pt x="5517102" y="30241"/>
                  </a:lnTo>
                  <a:lnTo>
                    <a:pt x="5539243" y="63061"/>
                  </a:lnTo>
                  <a:lnTo>
                    <a:pt x="5547360" y="103250"/>
                  </a:lnTo>
                  <a:lnTo>
                    <a:pt x="5547360" y="516508"/>
                  </a:lnTo>
                  <a:lnTo>
                    <a:pt x="5539243" y="556771"/>
                  </a:lnTo>
                  <a:lnTo>
                    <a:pt x="5517102" y="589629"/>
                  </a:lnTo>
                  <a:lnTo>
                    <a:pt x="5484244" y="611770"/>
                  </a:lnTo>
                  <a:lnTo>
                    <a:pt x="5443982" y="619886"/>
                  </a:lnTo>
                  <a:lnTo>
                    <a:pt x="103378" y="619886"/>
                  </a:lnTo>
                  <a:lnTo>
                    <a:pt x="63115" y="611770"/>
                  </a:lnTo>
                  <a:lnTo>
                    <a:pt x="30257" y="589629"/>
                  </a:lnTo>
                  <a:lnTo>
                    <a:pt x="8116" y="556771"/>
                  </a:lnTo>
                  <a:lnTo>
                    <a:pt x="0" y="516508"/>
                  </a:lnTo>
                  <a:lnTo>
                    <a:pt x="0" y="103250"/>
                  </a:lnTo>
                  <a:close/>
                </a:path>
              </a:pathLst>
            </a:custGeom>
            <a:ln w="25400">
              <a:solidFill>
                <a:srgbClr val="FFFFFF"/>
              </a:solidFill>
            </a:ln>
          </p:spPr>
          <p:txBody>
            <a:bodyPr wrap="square" lIns="0" tIns="0" rIns="0" bIns="0" rtlCol="0"/>
            <a:lstStyle/>
            <a:p>
              <a:endParaRPr/>
            </a:p>
          </p:txBody>
        </p:sp>
      </p:grpSp>
      <p:sp>
        <p:nvSpPr>
          <p:cNvPr id="14" name="object 14"/>
          <p:cNvSpPr txBox="1"/>
          <p:nvPr/>
        </p:nvSpPr>
        <p:spPr>
          <a:xfrm>
            <a:off x="2681097" y="1429892"/>
            <a:ext cx="2994660" cy="2392322"/>
          </a:xfrm>
          <a:prstGeom prst="rect">
            <a:avLst/>
          </a:prstGeom>
        </p:spPr>
        <p:txBody>
          <a:bodyPr vert="horz" wrap="square" lIns="0" tIns="12065" rIns="0" bIns="0" rtlCol="0">
            <a:spAutoFit/>
          </a:bodyPr>
          <a:lstStyle/>
          <a:p>
            <a:pPr marL="12700">
              <a:lnSpc>
                <a:spcPct val="100000"/>
              </a:lnSpc>
              <a:spcBef>
                <a:spcPts val="95"/>
              </a:spcBef>
            </a:pPr>
            <a:r>
              <a:rPr lang="en-US" sz="1600" dirty="0">
                <a:solidFill>
                  <a:srgbClr val="FFFFFF"/>
                </a:solidFill>
                <a:latin typeface="Calibri"/>
                <a:cs typeface="Calibri"/>
              </a:rPr>
              <a:t>Trees Terminology , Traversal Algorithms</a:t>
            </a:r>
            <a:endParaRPr sz="1600" dirty="0">
              <a:latin typeface="Calibri"/>
              <a:cs typeface="Calibri"/>
            </a:endParaRPr>
          </a:p>
          <a:p>
            <a:pPr>
              <a:lnSpc>
                <a:spcPct val="100000"/>
              </a:lnSpc>
              <a:spcBef>
                <a:spcPts val="2175"/>
              </a:spcBef>
            </a:pPr>
            <a:endParaRPr lang="en-IN" sz="2200" dirty="0">
              <a:latin typeface="Calibri"/>
              <a:cs typeface="Calibri"/>
            </a:endParaRPr>
          </a:p>
          <a:p>
            <a:pPr marL="12700">
              <a:lnSpc>
                <a:spcPct val="100000"/>
              </a:lnSpc>
            </a:pPr>
            <a:r>
              <a:rPr lang="en-IN" dirty="0" err="1">
                <a:solidFill>
                  <a:srgbClr val="FFFFFF"/>
                </a:solidFill>
                <a:latin typeface="Calibri"/>
                <a:cs typeface="Calibri"/>
              </a:rPr>
              <a:t>Inorder</a:t>
            </a:r>
            <a:r>
              <a:rPr lang="en-IN" dirty="0">
                <a:solidFill>
                  <a:srgbClr val="FFFFFF"/>
                </a:solidFill>
                <a:latin typeface="Calibri"/>
                <a:cs typeface="Calibri"/>
              </a:rPr>
              <a:t>, Preorder , Post order</a:t>
            </a:r>
            <a:endParaRPr dirty="0">
              <a:latin typeface="Calibri"/>
              <a:cs typeface="Calibri"/>
            </a:endParaRPr>
          </a:p>
          <a:p>
            <a:pPr>
              <a:lnSpc>
                <a:spcPct val="100000"/>
              </a:lnSpc>
              <a:spcBef>
                <a:spcPts val="2175"/>
              </a:spcBef>
            </a:pPr>
            <a:endParaRPr lang="en-IN" sz="2200" dirty="0">
              <a:latin typeface="Calibri"/>
              <a:cs typeface="Calibri"/>
            </a:endParaRPr>
          </a:p>
          <a:p>
            <a:pPr marL="12700">
              <a:lnSpc>
                <a:spcPct val="100000"/>
              </a:lnSpc>
            </a:pPr>
            <a:r>
              <a:rPr lang="en-IN" sz="2000" spc="-10" dirty="0">
                <a:solidFill>
                  <a:srgbClr val="FFFFFF"/>
                </a:solidFill>
                <a:latin typeface="Calibri"/>
                <a:cs typeface="Calibri"/>
              </a:rPr>
              <a:t>Application of trees</a:t>
            </a:r>
            <a:endParaRPr lang="en-IN" sz="2000" dirty="0">
              <a:latin typeface="Calibri"/>
              <a:cs typeface="Calibri"/>
            </a:endParaRPr>
          </a:p>
        </p:txBody>
      </p:sp>
      <p:pic>
        <p:nvPicPr>
          <p:cNvPr id="20" name="object 20"/>
          <p:cNvPicPr/>
          <p:nvPr/>
        </p:nvPicPr>
        <p:blipFill>
          <a:blip r:embed="rId2" cstate="print"/>
          <a:stretch>
            <a:fillRect/>
          </a:stretch>
        </p:blipFill>
        <p:spPr>
          <a:xfrm>
            <a:off x="110161" y="25"/>
            <a:ext cx="2313379" cy="947267"/>
          </a:xfrm>
          <a:prstGeom prst="rect">
            <a:avLst/>
          </a:prstGeom>
        </p:spPr>
      </p:pic>
      <p:sp>
        <p:nvSpPr>
          <p:cNvPr id="24" name="Title 1">
            <a:extLst>
              <a:ext uri="{FF2B5EF4-FFF2-40B4-BE49-F238E27FC236}">
                <a16:creationId xmlns:a16="http://schemas.microsoft.com/office/drawing/2014/main" id="{1C7BBAA3-263A-8FE5-5AA3-E40EF73A5AE9}"/>
              </a:ext>
            </a:extLst>
          </p:cNvPr>
          <p:cNvSpPr txBox="1">
            <a:spLocks/>
          </p:cNvSpPr>
          <p:nvPr/>
        </p:nvSpPr>
        <p:spPr>
          <a:xfrm>
            <a:off x="2739985" y="1237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Prerequisite and Recap</a:t>
            </a:r>
          </a:p>
        </p:txBody>
      </p:sp>
      <p:sp>
        <p:nvSpPr>
          <p:cNvPr id="15" name="Date Placeholder 14">
            <a:extLst>
              <a:ext uri="{FF2B5EF4-FFF2-40B4-BE49-F238E27FC236}">
                <a16:creationId xmlns:a16="http://schemas.microsoft.com/office/drawing/2014/main" id="{1C2E8802-2488-460F-9AFE-38DAB6FF33DC}"/>
              </a:ext>
            </a:extLst>
          </p:cNvPr>
          <p:cNvSpPr>
            <a:spLocks noGrp="1"/>
          </p:cNvSpPr>
          <p:nvPr>
            <p:ph type="dt" sz="half" idx="6"/>
          </p:nvPr>
        </p:nvSpPr>
        <p:spPr/>
        <p:txBody>
          <a:bodyPr/>
          <a:lstStyle/>
          <a:p>
            <a:pPr marL="12700">
              <a:lnSpc>
                <a:spcPts val="1240"/>
              </a:lnSpc>
            </a:pPr>
            <a:fld id="{F6B978B8-495D-4743-AF81-25CC6F7FE663}" type="datetime1">
              <a:rPr lang="en-US" spc="-25" smtClean="0"/>
              <a:t>7/8/2026</a:t>
            </a:fld>
            <a:endParaRPr lang="en-IN" spc="-25" dirty="0"/>
          </a:p>
        </p:txBody>
      </p:sp>
      <p:sp>
        <p:nvSpPr>
          <p:cNvPr id="16" name="Footer Placeholder 15">
            <a:extLst>
              <a:ext uri="{FF2B5EF4-FFF2-40B4-BE49-F238E27FC236}">
                <a16:creationId xmlns:a16="http://schemas.microsoft.com/office/drawing/2014/main" id="{8CF3A073-56EA-47C1-8D5F-2011ED27639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62000" y="1383538"/>
            <a:ext cx="10744200" cy="2879763"/>
          </a:xfrm>
          <a:prstGeom prst="rect">
            <a:avLst/>
          </a:prstGeom>
        </p:spPr>
        <p:txBody>
          <a:bodyPr vert="horz" wrap="square" lIns="0" tIns="13335" rIns="0" bIns="0" rtlCol="0">
            <a:spAutoFit/>
          </a:bodyPr>
          <a:lstStyle/>
          <a:p>
            <a:pPr marL="355600" marR="6985" indent="-342900" algn="just">
              <a:lnSpc>
                <a:spcPct val="100000"/>
              </a:lnSpc>
              <a:spcBef>
                <a:spcPts val="105"/>
              </a:spcBef>
              <a:buFont typeface="Arial MT"/>
              <a:buChar char="•"/>
              <a:tabLst>
                <a:tab pos="355600" algn="l"/>
              </a:tabLst>
            </a:pPr>
            <a:r>
              <a:rPr lang="en-US" sz="2000" b="0" i="0" dirty="0">
                <a:solidFill>
                  <a:srgbClr val="273239"/>
                </a:solidFill>
                <a:effectLst/>
                <a:latin typeface="Times New Roman" panose="02020603050405020304" pitchFamily="18" charset="0"/>
                <a:cs typeface="Times New Roman" panose="02020603050405020304" pitchFamily="18" charset="0"/>
              </a:rPr>
              <a:t>A Graph is a non-linear data structure consisting of vertices and edges. The vertices are sometimes also referred to as nodes and the edges are lines or arcs that connect any two nodes in the graph. More formally a Graph is composed of a set of vertices( V ) and a set of edges( E ). The graph is denoted by G(E, V).</a:t>
            </a:r>
            <a:endParaRP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itchFamily="18" charset="0"/>
                <a:cs typeface="Times New Roman" pitchFamily="18" charset="0"/>
              </a:rPr>
              <a:t>The interconnected objects are represented by points termed as vertices, and the links that connect the vertices are called edges.</a:t>
            </a:r>
          </a:p>
          <a:p>
            <a:pPr marL="285750" indent="-285750">
              <a:buFont typeface="Arial" panose="020B0604020202020204" pitchFamily="34" charset="0"/>
              <a:buChar char="•"/>
            </a:pPr>
            <a:r>
              <a:rPr lang="en-US" sz="2000" dirty="0">
                <a:latin typeface="Times New Roman" pitchFamily="18" charset="0"/>
                <a:cs typeface="Times New Roman" pitchFamily="18" charset="0"/>
              </a:rPr>
              <a:t>Formally, a graph is a pair of sets </a:t>
            </a:r>
            <a:r>
              <a:rPr lang="en-US" sz="2000" b="1" dirty="0">
                <a:latin typeface="Times New Roman" panose="02020603050405020304" pitchFamily="18" charset="0"/>
                <a:cs typeface="Times New Roman" pitchFamily="18" charset="0"/>
              </a:rPr>
              <a:t>(V, E),</a:t>
            </a:r>
            <a:r>
              <a:rPr lang="en-US" sz="2000" dirty="0">
                <a:latin typeface="Times New Roman" panose="02020603050405020304" pitchFamily="18" charset="0"/>
                <a:cs typeface="Times New Roman" pitchFamily="18" charset="0"/>
              </a:rPr>
              <a:t> where </a:t>
            </a:r>
            <a:r>
              <a:rPr lang="en-US" sz="2000" b="1" dirty="0">
                <a:latin typeface="Times New Roman" panose="02020603050405020304" pitchFamily="18" charset="0"/>
                <a:cs typeface="Times New Roman" pitchFamily="18" charset="0"/>
              </a:rPr>
              <a:t>V</a:t>
            </a:r>
            <a:r>
              <a:rPr lang="en-US" sz="2000" dirty="0">
                <a:latin typeface="Times New Roman" panose="02020603050405020304" pitchFamily="18" charset="0"/>
                <a:cs typeface="Times New Roman" pitchFamily="18" charset="0"/>
              </a:rPr>
              <a:t> is the set of vertices and </a:t>
            </a:r>
            <a:r>
              <a:rPr lang="en-US" sz="2000" b="1" dirty="0">
                <a:latin typeface="Times New Roman" panose="02020603050405020304" pitchFamily="18" charset="0"/>
                <a:cs typeface="Times New Roman" pitchFamily="18" charset="0"/>
              </a:rPr>
              <a:t>E</a:t>
            </a:r>
            <a:r>
              <a:rPr lang="en-US" sz="2000" dirty="0">
                <a:latin typeface="Times New Roman" panose="02020603050405020304" pitchFamily="18" charset="0"/>
                <a:cs typeface="Times New Roman" pitchFamily="18" charset="0"/>
              </a:rPr>
              <a:t> is the set of edges, connecting the pairs of vertices</a:t>
            </a:r>
            <a:endParaRPr sz="2000" dirty="0">
              <a:latin typeface="Times New Roman" panose="02020603050405020304" pitchFamily="18" charset="0"/>
              <a:cs typeface="Times New Roman" panose="02020603050405020304" pitchFamily="18" charset="0"/>
            </a:endParaRPr>
          </a:p>
          <a:p>
            <a:pPr marL="355600" marR="5080" indent="-342900" algn="just">
              <a:lnSpc>
                <a:spcPct val="101499"/>
              </a:lnSpc>
              <a:spcBef>
                <a:spcPts val="5"/>
              </a:spcBef>
              <a:buFont typeface="Arial MT"/>
              <a:buChar char="•"/>
              <a:tabLst>
                <a:tab pos="355600" algn="l"/>
              </a:tabLst>
            </a:pPr>
            <a:endParaRPr sz="2600" dirty="0">
              <a:latin typeface="Calibri"/>
              <a:cs typeface="Calibri"/>
            </a:endParaRPr>
          </a:p>
        </p:txBody>
      </p:sp>
      <p:pic>
        <p:nvPicPr>
          <p:cNvPr id="8" name="object 8"/>
          <p:cNvPicPr/>
          <p:nvPr/>
        </p:nvPicPr>
        <p:blipFill>
          <a:blip r:embed="rId2" cstate="print"/>
          <a:stretch>
            <a:fillRect/>
          </a:stretch>
        </p:blipFill>
        <p:spPr>
          <a:xfrm>
            <a:off x="110161" y="25"/>
            <a:ext cx="2313379" cy="947267"/>
          </a:xfrm>
          <a:prstGeom prst="rect">
            <a:avLst/>
          </a:prstGeom>
        </p:spPr>
      </p:pic>
      <p:pic>
        <p:nvPicPr>
          <p:cNvPr id="15" name="Picture 2" descr="Lightbox">
            <a:extLst>
              <a:ext uri="{FF2B5EF4-FFF2-40B4-BE49-F238E27FC236}">
                <a16:creationId xmlns:a16="http://schemas.microsoft.com/office/drawing/2014/main" id="{BEEC4DC6-0AE8-786A-D5E7-197C489512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32" t="7790" r="10703" b="7032"/>
          <a:stretch/>
        </p:blipFill>
        <p:spPr bwMode="auto">
          <a:xfrm>
            <a:off x="4419600" y="3815107"/>
            <a:ext cx="4114801" cy="2895600"/>
          </a:xfrm>
          <a:prstGeom prst="rect">
            <a:avLst/>
          </a:prstGeom>
          <a:noFill/>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2739984"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INTRODUCTION</a:t>
            </a:r>
          </a:p>
        </p:txBody>
      </p:sp>
      <p:sp>
        <p:nvSpPr>
          <p:cNvPr id="3" name="Date Placeholder 2">
            <a:extLst>
              <a:ext uri="{FF2B5EF4-FFF2-40B4-BE49-F238E27FC236}">
                <a16:creationId xmlns:a16="http://schemas.microsoft.com/office/drawing/2014/main" id="{852CA983-62B1-4CCC-BC3F-95733AECD1F2}"/>
              </a:ext>
            </a:extLst>
          </p:cNvPr>
          <p:cNvSpPr>
            <a:spLocks noGrp="1"/>
          </p:cNvSpPr>
          <p:nvPr>
            <p:ph type="dt" sz="half" idx="6"/>
          </p:nvPr>
        </p:nvSpPr>
        <p:spPr/>
        <p:txBody>
          <a:bodyPr/>
          <a:lstStyle/>
          <a:p>
            <a:pPr marL="12700">
              <a:lnSpc>
                <a:spcPts val="1240"/>
              </a:lnSpc>
            </a:pPr>
            <a:fld id="{88BA0F54-8058-498D-ADC9-4AC05CC531BE}" type="datetime1">
              <a:rPr lang="en-US" spc="-25" smtClean="0"/>
              <a:t>7/8/2026</a:t>
            </a:fld>
            <a:endParaRPr lang="en-IN" spc="-25" dirty="0"/>
          </a:p>
        </p:txBody>
      </p:sp>
      <p:sp>
        <p:nvSpPr>
          <p:cNvPr id="4" name="Footer Placeholder 3">
            <a:extLst>
              <a:ext uri="{FF2B5EF4-FFF2-40B4-BE49-F238E27FC236}">
                <a16:creationId xmlns:a16="http://schemas.microsoft.com/office/drawing/2014/main" id="{F5912806-B38F-4EDD-B1B5-9FF20363A19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8340" y="1159510"/>
            <a:ext cx="11120755" cy="4859664"/>
          </a:xfrm>
          <a:prstGeom prst="rect">
            <a:avLst/>
          </a:prstGeom>
        </p:spPr>
        <p:txBody>
          <a:bodyPr vert="horz" wrap="square" lIns="0" tIns="12065" rIns="0" bIns="0" rtlCol="0">
            <a:spAutoFit/>
          </a:bodyPr>
          <a:lstStyle/>
          <a:p>
            <a:pPr algn="l" fontAlgn="base"/>
            <a:r>
              <a:rPr lang="en-US" sz="2000" b="1" i="0" u="sng" dirty="0">
                <a:solidFill>
                  <a:srgbClr val="273239"/>
                </a:solidFill>
                <a:effectLst/>
                <a:latin typeface="Times New Roman" panose="02020603050405020304" pitchFamily="18" charset="0"/>
                <a:cs typeface="Times New Roman" panose="02020603050405020304" pitchFamily="18" charset="0"/>
              </a:rPr>
              <a:t>Types Of Graph</a:t>
            </a:r>
          </a:p>
          <a:p>
            <a:pPr algn="l" fontAlgn="base"/>
            <a:endParaRPr lang="en-US" sz="2000" b="1" i="0" dirty="0">
              <a:solidFill>
                <a:srgbClr val="273239"/>
              </a:solidFill>
              <a:effectLst/>
              <a:latin typeface="Times New Roman" panose="02020603050405020304" pitchFamily="18" charset="0"/>
              <a:cs typeface="Times New Roman" panose="02020603050405020304" pitchFamily="18" charset="0"/>
            </a:endParaRPr>
          </a:p>
          <a:p>
            <a:pPr marL="285750" indent="-285750" algn="l" fontAlgn="base">
              <a:spcAft>
                <a:spcPts val="1800"/>
              </a:spcAft>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Null Graph</a:t>
            </a:r>
            <a:r>
              <a:rPr lang="en-US" sz="2000" b="0" i="0" dirty="0">
                <a:solidFill>
                  <a:srgbClr val="273239"/>
                </a:solidFill>
                <a:effectLst/>
                <a:latin typeface="Times New Roman" panose="02020603050405020304" pitchFamily="18" charset="0"/>
                <a:cs typeface="Times New Roman" panose="02020603050405020304" pitchFamily="18" charset="0"/>
              </a:rPr>
              <a:t>: A graph is known as a null graph if there are no edges in the graph.</a:t>
            </a:r>
          </a:p>
          <a:p>
            <a:pPr marL="285750" indent="-285750" algn="l" fontAlgn="base">
              <a:spcAft>
                <a:spcPts val="1800"/>
              </a:spcAft>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Trivial Graph</a:t>
            </a:r>
            <a:r>
              <a:rPr lang="en-US" sz="2000" b="0" i="0" dirty="0">
                <a:solidFill>
                  <a:srgbClr val="273239"/>
                </a:solidFill>
                <a:effectLst/>
                <a:latin typeface="Times New Roman" panose="02020603050405020304" pitchFamily="18" charset="0"/>
                <a:cs typeface="Times New Roman" panose="02020603050405020304" pitchFamily="18" charset="0"/>
              </a:rPr>
              <a:t>: Graph having only a single vertex, it is also the smallest graph possible.</a:t>
            </a:r>
          </a:p>
          <a:p>
            <a:pPr marL="285750" indent="-285750" algn="l" fontAlgn="base">
              <a:spcAft>
                <a:spcPts val="1800"/>
              </a:spcAft>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Undirected Graph</a:t>
            </a:r>
            <a:r>
              <a:rPr lang="en-US" sz="2000" b="0" i="0" dirty="0">
                <a:solidFill>
                  <a:srgbClr val="273239"/>
                </a:solidFill>
                <a:effectLst/>
                <a:latin typeface="Times New Roman" panose="02020603050405020304" pitchFamily="18" charset="0"/>
                <a:cs typeface="Times New Roman" panose="02020603050405020304" pitchFamily="18" charset="0"/>
              </a:rPr>
              <a:t>: A graph in which edges do not have any direction. That is the nodes are unordered pairs in the definition of every edge. </a:t>
            </a:r>
          </a:p>
          <a:p>
            <a:pPr marL="285750" indent="-285750" algn="l" fontAlgn="base">
              <a:spcAft>
                <a:spcPts val="1800"/>
              </a:spcAft>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Directed Graph</a:t>
            </a:r>
            <a:r>
              <a:rPr lang="en-US" sz="2000" b="0" i="0" dirty="0">
                <a:solidFill>
                  <a:srgbClr val="273239"/>
                </a:solidFill>
                <a:effectLst/>
                <a:latin typeface="Times New Roman" panose="02020603050405020304" pitchFamily="18" charset="0"/>
                <a:cs typeface="Times New Roman" panose="02020603050405020304" pitchFamily="18" charset="0"/>
              </a:rPr>
              <a:t>: A graph in which edge has direction. That is the nodes are ordered pairs in the definition of every edge.</a:t>
            </a:r>
          </a:p>
          <a:p>
            <a:pPr marL="285750" indent="-285750" algn="l" fontAlgn="base">
              <a:spcAft>
                <a:spcPts val="1800"/>
              </a:spcAft>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Connected Graph</a:t>
            </a:r>
            <a:r>
              <a:rPr lang="en-US" sz="2000" b="0" i="0" dirty="0">
                <a:solidFill>
                  <a:srgbClr val="273239"/>
                </a:solidFill>
                <a:effectLst/>
                <a:latin typeface="Times New Roman" panose="02020603050405020304" pitchFamily="18" charset="0"/>
                <a:cs typeface="Times New Roman" panose="02020603050405020304" pitchFamily="18" charset="0"/>
              </a:rPr>
              <a:t>: The graph in which from one node we can visit any other node in the graph is known as a connected graph. </a:t>
            </a:r>
          </a:p>
          <a:p>
            <a:pPr marL="285750" indent="-285750" algn="l" fontAlgn="base">
              <a:spcAft>
                <a:spcPts val="1800"/>
              </a:spcAft>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Disconnected Graph</a:t>
            </a:r>
            <a:r>
              <a:rPr lang="en-US" sz="2000" b="0" i="0" dirty="0">
                <a:solidFill>
                  <a:srgbClr val="273239"/>
                </a:solidFill>
                <a:effectLst/>
                <a:latin typeface="Times New Roman" panose="02020603050405020304" pitchFamily="18" charset="0"/>
                <a:cs typeface="Times New Roman" panose="02020603050405020304" pitchFamily="18" charset="0"/>
              </a:rPr>
              <a:t>: The graph in which at least one node is not reachable from a node is known as a disconnected graph.</a:t>
            </a:r>
          </a:p>
        </p:txBody>
      </p:sp>
      <p:pic>
        <p:nvPicPr>
          <p:cNvPr id="8" name="object 8"/>
          <p:cNvPicPr/>
          <p:nvPr/>
        </p:nvPicPr>
        <p:blipFill>
          <a:blip r:embed="rId2" cstate="print"/>
          <a:stretch>
            <a:fillRect/>
          </a:stretch>
        </p:blipFill>
        <p:spPr>
          <a:xfrm>
            <a:off x="117763" y="25"/>
            <a:ext cx="2473036" cy="94726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TYPES OF GRAPH</a:t>
            </a:r>
          </a:p>
        </p:txBody>
      </p:sp>
      <p:sp>
        <p:nvSpPr>
          <p:cNvPr id="3" name="Date Placeholder 2">
            <a:extLst>
              <a:ext uri="{FF2B5EF4-FFF2-40B4-BE49-F238E27FC236}">
                <a16:creationId xmlns:a16="http://schemas.microsoft.com/office/drawing/2014/main" id="{153AE8E5-1138-4773-B1A7-76461D4F9173}"/>
              </a:ext>
            </a:extLst>
          </p:cNvPr>
          <p:cNvSpPr>
            <a:spLocks noGrp="1"/>
          </p:cNvSpPr>
          <p:nvPr>
            <p:ph type="dt" sz="half" idx="6"/>
          </p:nvPr>
        </p:nvSpPr>
        <p:spPr/>
        <p:txBody>
          <a:bodyPr/>
          <a:lstStyle/>
          <a:p>
            <a:pPr marL="12700">
              <a:lnSpc>
                <a:spcPts val="1240"/>
              </a:lnSpc>
            </a:pPr>
            <a:fld id="{8383E656-6930-4123-92F0-E522841500D3}" type="datetime1">
              <a:rPr lang="en-US" spc="-25" smtClean="0"/>
              <a:t>7/8/2026</a:t>
            </a:fld>
            <a:endParaRPr lang="en-IN" spc="-25" dirty="0"/>
          </a:p>
        </p:txBody>
      </p:sp>
      <p:sp>
        <p:nvSpPr>
          <p:cNvPr id="4" name="Footer Placeholder 3">
            <a:extLst>
              <a:ext uri="{FF2B5EF4-FFF2-40B4-BE49-F238E27FC236}">
                <a16:creationId xmlns:a16="http://schemas.microsoft.com/office/drawing/2014/main" id="{AC4ECFC9-AF74-415A-B87E-EA35E09E3E5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2BDFF4-1468-71F9-E503-F270B8409E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5440D8E-54E0-C28E-1067-A1E3F8BC67C1}"/>
              </a:ext>
            </a:extLst>
          </p:cNvPr>
          <p:cNvSpPr txBox="1"/>
          <p:nvPr/>
        </p:nvSpPr>
        <p:spPr>
          <a:xfrm>
            <a:off x="688341" y="1159510"/>
            <a:ext cx="5483859" cy="2751394"/>
          </a:xfrm>
          <a:prstGeom prst="rect">
            <a:avLst/>
          </a:prstGeom>
        </p:spPr>
        <p:txBody>
          <a:bodyPr vert="horz" wrap="square" lIns="0" tIns="12065" rIns="0" bIns="0" rtlCol="0">
            <a:spAutoFit/>
          </a:bodyPr>
          <a:lstStyle/>
          <a:p>
            <a:pPr algn="just" eaLnBrk="1" hangingPunct="1"/>
            <a:r>
              <a:rPr lang="en-US" altLang="en-US" sz="1800" dirty="0">
                <a:latin typeface="Calibri" panose="020F0502020204030204" pitchFamily="34" charset="0"/>
              </a:rPr>
              <a:t> </a:t>
            </a:r>
            <a:r>
              <a:rPr lang="en-US" altLang="en-US" sz="2000" b="1" i="1" dirty="0">
                <a:latin typeface="Times New Roman" panose="02020603050405020304" pitchFamily="18" charset="0"/>
                <a:cs typeface="Times New Roman" panose="02020603050405020304" pitchFamily="18" charset="0"/>
              </a:rPr>
              <a:t>Degree (Directed Graph)</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The out-degree of a vertex is the number of edges leaving it. The out-degree of vertex 2  is 3.</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The in-degree of a vertex is the number of edges entering it. The in-degree of vertex 2 is 2.</a:t>
            </a:r>
          </a:p>
          <a:p>
            <a:pPr eaLnBrk="1" hangingPunct="1"/>
            <a:r>
              <a:rPr lang="en-US" altLang="en-US" sz="2000" dirty="0">
                <a:latin typeface="Times New Roman" panose="02020603050405020304" pitchFamily="18" charset="0"/>
                <a:cs typeface="Times New Roman" panose="02020603050405020304" pitchFamily="18" charset="0"/>
              </a:rPr>
              <a:t>    degree=out-degree+ in-degree</a:t>
            </a:r>
          </a:p>
          <a:p>
            <a:pPr eaLnBrk="1" hangingPunct="1"/>
            <a:endParaRPr lang="en-US" b="0" i="0" dirty="0">
              <a:solidFill>
                <a:srgbClr val="273239"/>
              </a:solidFill>
              <a:effectLst/>
              <a:latin typeface="Nunito" pitchFamily="2" charset="0"/>
            </a:endParaRPr>
          </a:p>
        </p:txBody>
      </p:sp>
      <p:pic>
        <p:nvPicPr>
          <p:cNvPr id="8" name="object 8">
            <a:extLst>
              <a:ext uri="{FF2B5EF4-FFF2-40B4-BE49-F238E27FC236}">
                <a16:creationId xmlns:a16="http://schemas.microsoft.com/office/drawing/2014/main" id="{3E26E7C2-96E8-A3A2-CAC0-065BA9F1D1ED}"/>
              </a:ext>
            </a:extLst>
          </p:cNvPr>
          <p:cNvPicPr/>
          <p:nvPr/>
        </p:nvPicPr>
        <p:blipFill>
          <a:blip r:embed="rId2" cstate="print"/>
          <a:stretch>
            <a:fillRect/>
          </a:stretch>
        </p:blipFill>
        <p:spPr>
          <a:xfrm>
            <a:off x="117763" y="25"/>
            <a:ext cx="2473036" cy="947267"/>
          </a:xfrm>
          <a:prstGeom prst="rect">
            <a:avLst/>
          </a:prstGeom>
        </p:spPr>
      </p:pic>
      <p:pic>
        <p:nvPicPr>
          <p:cNvPr id="9" name="Picture 2">
            <a:extLst>
              <a:ext uri="{FF2B5EF4-FFF2-40B4-BE49-F238E27FC236}">
                <a16:creationId xmlns:a16="http://schemas.microsoft.com/office/drawing/2014/main" id="{111ED548-84ED-EC8C-55F0-20317B4FE5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95400"/>
            <a:ext cx="4648200" cy="366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8237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TYPES OF GRAPH</a:t>
            </a:r>
          </a:p>
        </p:txBody>
      </p:sp>
      <p:sp>
        <p:nvSpPr>
          <p:cNvPr id="3" name="Date Placeholder 2">
            <a:extLst>
              <a:ext uri="{FF2B5EF4-FFF2-40B4-BE49-F238E27FC236}">
                <a16:creationId xmlns:a16="http://schemas.microsoft.com/office/drawing/2014/main" id="{E6ABC8E3-2291-4D77-B567-D5EDDAD87164}"/>
              </a:ext>
            </a:extLst>
          </p:cNvPr>
          <p:cNvSpPr>
            <a:spLocks noGrp="1"/>
          </p:cNvSpPr>
          <p:nvPr>
            <p:ph type="dt" sz="half" idx="6"/>
          </p:nvPr>
        </p:nvSpPr>
        <p:spPr/>
        <p:txBody>
          <a:bodyPr/>
          <a:lstStyle/>
          <a:p>
            <a:pPr marL="12700">
              <a:lnSpc>
                <a:spcPts val="1240"/>
              </a:lnSpc>
            </a:pPr>
            <a:fld id="{546E7F85-0808-44C8-BFE8-92F48B909A7E}" type="datetime1">
              <a:rPr lang="en-US" spc="-25" smtClean="0"/>
              <a:t>7/8/2026</a:t>
            </a:fld>
            <a:endParaRPr lang="en-IN" spc="-25" dirty="0"/>
          </a:p>
        </p:txBody>
      </p:sp>
      <p:sp>
        <p:nvSpPr>
          <p:cNvPr id="4" name="Footer Placeholder 3">
            <a:extLst>
              <a:ext uri="{FF2B5EF4-FFF2-40B4-BE49-F238E27FC236}">
                <a16:creationId xmlns:a16="http://schemas.microsoft.com/office/drawing/2014/main" id="{1BFCCF34-235B-4BDC-A142-0E58F7E8A92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03575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EECDA4-FC70-CDAC-4717-26E2417F262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709BFD-CCFB-4501-EB1D-9463B9D84F67}"/>
              </a:ext>
            </a:extLst>
          </p:cNvPr>
          <p:cNvSpPr txBox="1"/>
          <p:nvPr/>
        </p:nvSpPr>
        <p:spPr>
          <a:xfrm>
            <a:off x="688341" y="1159510"/>
            <a:ext cx="5483859" cy="2166619"/>
          </a:xfrm>
          <a:prstGeom prst="rect">
            <a:avLst/>
          </a:prstGeom>
        </p:spPr>
        <p:txBody>
          <a:bodyPr vert="horz" wrap="square" lIns="0" tIns="12065" rIns="0" bIns="0" rtlCol="0">
            <a:spAutoFit/>
          </a:bodyPr>
          <a:lstStyle/>
          <a:p>
            <a:pPr algn="just" eaLnBrk="1" hangingPunct="1"/>
            <a:r>
              <a:rPr lang="en-US" altLang="en-US" sz="1800" dirty="0">
                <a:latin typeface="Calibri" panose="020F0502020204030204" pitchFamily="34" charset="0"/>
              </a:rPr>
              <a:t> </a:t>
            </a:r>
            <a:r>
              <a:rPr lang="en-US" altLang="en-US" sz="2000" b="1" i="1" dirty="0">
                <a:latin typeface="Times New Roman" panose="02020603050405020304" pitchFamily="18" charset="0"/>
                <a:cs typeface="Times New Roman" panose="02020603050405020304" pitchFamily="18" charset="0"/>
              </a:rPr>
              <a:t>Degree (Undirected Graph)</a:t>
            </a:r>
          </a:p>
          <a:p>
            <a:pPr eaLnBrk="1" hangingPunct="1"/>
            <a:endParaRPr lang="en-US" altLang="en-US" sz="2000" dirty="0">
              <a:latin typeface="Times New Roman" panose="02020603050405020304" pitchFamily="18" charset="0"/>
              <a:cs typeface="Times New Roman" panose="02020603050405020304" pitchFamily="18" charset="0"/>
            </a:endParaRPr>
          </a:p>
          <a:p>
            <a:pPr algn="just" eaLnBrk="1" hangingPunct="1"/>
            <a:r>
              <a:rPr lang="en-US" altLang="en-US" sz="2000" dirty="0">
                <a:latin typeface="Times New Roman" panose="02020603050405020304" pitchFamily="18" charset="0"/>
                <a:cs typeface="Times New Roman" panose="02020603050405020304" pitchFamily="18" charset="0"/>
              </a:rPr>
              <a:t>In an undirected graph,</a:t>
            </a:r>
          </a:p>
          <a:p>
            <a:pPr algn="just" eaLnBrk="1" hangingPunct="1"/>
            <a:r>
              <a:rPr lang="en-US" altLang="en-US" sz="2000" dirty="0">
                <a:latin typeface="Times New Roman" panose="02020603050405020304" pitchFamily="18" charset="0"/>
                <a:cs typeface="Times New Roman" panose="02020603050405020304" pitchFamily="18" charset="0"/>
              </a:rPr>
              <a:t>The out-degree and the in-degree are not defined.</a:t>
            </a:r>
          </a:p>
          <a:p>
            <a:pPr algn="just" eaLnBrk="1" hangingPunct="1"/>
            <a:r>
              <a:rPr lang="en-US" altLang="en-US" sz="2000" dirty="0">
                <a:latin typeface="Times New Roman" panose="02020603050405020304" pitchFamily="18" charset="0"/>
                <a:cs typeface="Times New Roman" panose="02020603050405020304" pitchFamily="18" charset="0"/>
              </a:rPr>
              <a:t> Only the degree of a vertex is defined.  The degree of vertex 2 is 3.</a:t>
            </a:r>
            <a:endParaRPr lang="en-US" altLang="en-US" sz="2000" b="1" i="1" dirty="0">
              <a:latin typeface="Times New Roman" panose="02020603050405020304" pitchFamily="18" charset="0"/>
              <a:cs typeface="Times New Roman" panose="02020603050405020304" pitchFamily="18" charset="0"/>
            </a:endParaRPr>
          </a:p>
          <a:p>
            <a:pPr eaLnBrk="1" hangingPunct="1"/>
            <a:endParaRPr lang="en-US" sz="2000" b="0" i="0" dirty="0">
              <a:solidFill>
                <a:srgbClr val="273239"/>
              </a:solidFill>
              <a:effectLst/>
              <a:latin typeface="Times New Roman" panose="02020603050405020304" pitchFamily="18" charset="0"/>
              <a:cs typeface="Times New Roman" panose="02020603050405020304" pitchFamily="18" charset="0"/>
            </a:endParaRPr>
          </a:p>
        </p:txBody>
      </p:sp>
      <p:pic>
        <p:nvPicPr>
          <p:cNvPr id="8" name="object 8">
            <a:extLst>
              <a:ext uri="{FF2B5EF4-FFF2-40B4-BE49-F238E27FC236}">
                <a16:creationId xmlns:a16="http://schemas.microsoft.com/office/drawing/2014/main" id="{F90FC3C3-3156-C0E3-FC81-B3F40916351B}"/>
              </a:ext>
            </a:extLst>
          </p:cNvPr>
          <p:cNvPicPr/>
          <p:nvPr/>
        </p:nvPicPr>
        <p:blipFill>
          <a:blip r:embed="rId2" cstate="print"/>
          <a:stretch>
            <a:fillRect/>
          </a:stretch>
        </p:blipFill>
        <p:spPr>
          <a:xfrm>
            <a:off x="117763" y="25"/>
            <a:ext cx="2473036" cy="947267"/>
          </a:xfrm>
          <a:prstGeom prst="rect">
            <a:avLst/>
          </a:prstGeom>
        </p:spPr>
      </p:pic>
      <p:pic>
        <p:nvPicPr>
          <p:cNvPr id="10" name="Picture 2">
            <a:extLst>
              <a:ext uri="{FF2B5EF4-FFF2-40B4-BE49-F238E27FC236}">
                <a16:creationId xmlns:a16="http://schemas.microsoft.com/office/drawing/2014/main" id="{5ADD2F96-3A85-D5DB-1755-98795ABCFB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9900" y="1339034"/>
            <a:ext cx="4267200" cy="437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28201"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TYPES OF GRAPH</a:t>
            </a:r>
          </a:p>
        </p:txBody>
      </p:sp>
      <p:sp>
        <p:nvSpPr>
          <p:cNvPr id="3" name="Date Placeholder 2">
            <a:extLst>
              <a:ext uri="{FF2B5EF4-FFF2-40B4-BE49-F238E27FC236}">
                <a16:creationId xmlns:a16="http://schemas.microsoft.com/office/drawing/2014/main" id="{433A2767-EF10-4931-B433-032A1A303CB0}"/>
              </a:ext>
            </a:extLst>
          </p:cNvPr>
          <p:cNvSpPr>
            <a:spLocks noGrp="1"/>
          </p:cNvSpPr>
          <p:nvPr>
            <p:ph type="dt" sz="half" idx="6"/>
          </p:nvPr>
        </p:nvSpPr>
        <p:spPr/>
        <p:txBody>
          <a:bodyPr/>
          <a:lstStyle/>
          <a:p>
            <a:pPr marL="12700">
              <a:lnSpc>
                <a:spcPts val="1240"/>
              </a:lnSpc>
            </a:pPr>
            <a:fld id="{53B2F03F-2F12-4DDF-AA72-14A4960180A4}" type="datetime1">
              <a:rPr lang="en-US" spc="-25" smtClean="0"/>
              <a:t>7/8/2026</a:t>
            </a:fld>
            <a:endParaRPr lang="en-IN" spc="-25" dirty="0"/>
          </a:p>
        </p:txBody>
      </p:sp>
      <p:sp>
        <p:nvSpPr>
          <p:cNvPr id="4" name="Footer Placeholder 3">
            <a:extLst>
              <a:ext uri="{FF2B5EF4-FFF2-40B4-BE49-F238E27FC236}">
                <a16:creationId xmlns:a16="http://schemas.microsoft.com/office/drawing/2014/main" id="{A6DE71BD-98DF-4E77-9321-B3F87419633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91339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1" y="1355217"/>
            <a:ext cx="10744200" cy="5275162"/>
          </a:xfrm>
          <a:prstGeom prst="rect">
            <a:avLst/>
          </a:prstGeom>
        </p:spPr>
        <p:txBody>
          <a:bodyPr vert="horz" wrap="square" lIns="0" tIns="12065" rIns="0" bIns="0" rtlCol="0">
            <a:spAutoFit/>
          </a:bodyPr>
          <a:lstStyle/>
          <a:p>
            <a:r>
              <a:rPr lang="en-US" b="1" dirty="0">
                <a:latin typeface="Times New Roman" panose="02020603050405020304" pitchFamily="18" charset="0"/>
                <a:cs typeface="Times New Roman" panose="02020603050405020304" pitchFamily="18" charset="0"/>
              </a:rPr>
              <a:t>Vertex (Node)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Fundamental unit of a graph.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Represents entities (e.g., individuals in social networks or locations in road networks).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Edge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Connection between two vertices.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Directed Edge:</a:t>
            </a:r>
            <a:r>
              <a:rPr lang="en-US" dirty="0">
                <a:latin typeface="Times New Roman" panose="02020603050405020304" pitchFamily="18" charset="0"/>
                <a:cs typeface="Times New Roman" panose="02020603050405020304" pitchFamily="18" charset="0"/>
              </a:rPr>
              <a:t> One-way connection.</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Undirected Edge:</a:t>
            </a:r>
            <a:r>
              <a:rPr lang="en-US" dirty="0">
                <a:latin typeface="Times New Roman" panose="02020603050405020304" pitchFamily="18" charset="0"/>
                <a:cs typeface="Times New Roman" panose="02020603050405020304" pitchFamily="18" charset="0"/>
              </a:rPr>
              <a:t> Bidirectional connection.</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Degree of a Vertex</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Number of edges incident to a vertex.</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In-degree:</a:t>
            </a:r>
            <a:r>
              <a:rPr lang="en-US" dirty="0">
                <a:latin typeface="Times New Roman" panose="02020603050405020304" pitchFamily="18" charset="0"/>
                <a:cs typeface="Times New Roman" panose="02020603050405020304" pitchFamily="18" charset="0"/>
              </a:rPr>
              <a:t> Incoming edges (directed graphs).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Out-degree:</a:t>
            </a:r>
            <a:r>
              <a:rPr lang="en-US" dirty="0">
                <a:latin typeface="Times New Roman" panose="02020603050405020304" pitchFamily="18" charset="0"/>
                <a:cs typeface="Times New Roman" panose="02020603050405020304" pitchFamily="18" charset="0"/>
              </a:rPr>
              <a:t> Outgoing edges (directed graphs).</a:t>
            </a:r>
          </a:p>
          <a:p>
            <a:r>
              <a:rPr lang="en-US" b="1" dirty="0">
                <a:latin typeface="Times New Roman" panose="02020603050405020304" pitchFamily="18" charset="0"/>
                <a:cs typeface="Times New Roman" panose="02020603050405020304" pitchFamily="18" charset="0"/>
              </a:rPr>
              <a:t>Path</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 Path in a graph is a </a:t>
            </a:r>
            <a:r>
              <a:rPr lang="en-US" b="1" i="0" dirty="0">
                <a:solidFill>
                  <a:srgbClr val="273239"/>
                </a:solidFill>
                <a:effectLst/>
                <a:latin typeface="Times New Roman" panose="02020603050405020304" pitchFamily="18" charset="0"/>
                <a:cs typeface="Times New Roman" panose="02020603050405020304" pitchFamily="18" charset="0"/>
              </a:rPr>
              <a:t>sequence of vertices </a:t>
            </a:r>
            <a:r>
              <a:rPr lang="en-US" b="0" i="0" dirty="0">
                <a:solidFill>
                  <a:srgbClr val="273239"/>
                </a:solidFill>
                <a:effectLst/>
                <a:latin typeface="Times New Roman" panose="02020603050405020304" pitchFamily="18" charset="0"/>
                <a:cs typeface="Times New Roman" panose="02020603050405020304" pitchFamily="18" charset="0"/>
              </a:rPr>
              <a:t>where each adjacent pair is connected by an edge. Paths can be of varying lengths and may or may not visit the same vertex more than once</a:t>
            </a:r>
          </a:p>
          <a:p>
            <a:r>
              <a:rPr lang="en-US" dirty="0">
                <a:solidFill>
                  <a:srgbClr val="273239"/>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Cycle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Path that starts and ends at the same vertex without repetition (except start/end).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Important for cycle detection and graph structure analysis.</a:t>
            </a:r>
          </a:p>
        </p:txBody>
      </p:sp>
      <p:pic>
        <p:nvPicPr>
          <p:cNvPr id="3" name="object 3"/>
          <p:cNvPicPr/>
          <p:nvPr/>
        </p:nvPicPr>
        <p:blipFill>
          <a:blip r:embed="rId2" cstate="print"/>
          <a:stretch>
            <a:fillRect/>
          </a:stretch>
        </p:blipFill>
        <p:spPr>
          <a:xfrm>
            <a:off x="110836" y="25"/>
            <a:ext cx="2327563" cy="94726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13276"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GRAPH TERMINOLOGY</a:t>
            </a:r>
          </a:p>
        </p:txBody>
      </p:sp>
      <p:sp>
        <p:nvSpPr>
          <p:cNvPr id="4" name="Date Placeholder 3">
            <a:extLst>
              <a:ext uri="{FF2B5EF4-FFF2-40B4-BE49-F238E27FC236}">
                <a16:creationId xmlns:a16="http://schemas.microsoft.com/office/drawing/2014/main" id="{92C2A544-5655-4D9A-A772-8AD7B1F4017D}"/>
              </a:ext>
            </a:extLst>
          </p:cNvPr>
          <p:cNvSpPr>
            <a:spLocks noGrp="1"/>
          </p:cNvSpPr>
          <p:nvPr>
            <p:ph type="dt" sz="half" idx="6"/>
          </p:nvPr>
        </p:nvSpPr>
        <p:spPr/>
        <p:txBody>
          <a:bodyPr/>
          <a:lstStyle/>
          <a:p>
            <a:pPr marL="12700">
              <a:lnSpc>
                <a:spcPts val="1240"/>
              </a:lnSpc>
            </a:pPr>
            <a:fld id="{F55561C3-0661-43E9-BFD0-8BA5262EA754}" type="datetime1">
              <a:rPr lang="en-US" spc="-25" smtClean="0"/>
              <a:t>7/8/2026</a:t>
            </a:fld>
            <a:endParaRPr lang="en-IN" spc="-25" dirty="0"/>
          </a:p>
        </p:txBody>
      </p:sp>
      <p:sp>
        <p:nvSpPr>
          <p:cNvPr id="5" name="Footer Placeholder 4">
            <a:extLst>
              <a:ext uri="{FF2B5EF4-FFF2-40B4-BE49-F238E27FC236}">
                <a16:creationId xmlns:a16="http://schemas.microsoft.com/office/drawing/2014/main" id="{1100F242-78CC-4B43-97D2-49A0D7C77CD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0DCE5-CB40-F11A-A4FD-875B72827A0E}"/>
              </a:ext>
            </a:extLst>
          </p:cNvPr>
          <p:cNvSpPr>
            <a:spLocks noGrp="1"/>
          </p:cNvSpPr>
          <p:nvPr>
            <p:ph type="title"/>
          </p:nvPr>
        </p:nvSpPr>
        <p:spPr>
          <a:xfrm>
            <a:off x="0" y="0"/>
            <a:ext cx="12192000" cy="369332"/>
          </a:xfrm>
        </p:spPr>
        <p:txBody>
          <a:bodyPr/>
          <a:lstStyle/>
          <a:p>
            <a:r>
              <a:rPr lang="en-US" dirty="0"/>
              <a:t>   </a:t>
            </a:r>
            <a:endParaRPr lang="en-IN" dirty="0"/>
          </a:p>
        </p:txBody>
      </p:sp>
      <p:pic>
        <p:nvPicPr>
          <p:cNvPr id="5" name="object 3">
            <a:extLst>
              <a:ext uri="{FF2B5EF4-FFF2-40B4-BE49-F238E27FC236}">
                <a16:creationId xmlns:a16="http://schemas.microsoft.com/office/drawing/2014/main" id="{66FD1322-46DE-936A-91D4-784CF799E269}"/>
              </a:ext>
            </a:extLst>
          </p:cNvPr>
          <p:cNvPicPr/>
          <p:nvPr/>
        </p:nvPicPr>
        <p:blipFill>
          <a:blip r:embed="rId2" cstate="print"/>
          <a:stretch>
            <a:fillRect/>
          </a:stretch>
        </p:blipFill>
        <p:spPr>
          <a:xfrm>
            <a:off x="110836" y="25"/>
            <a:ext cx="2327563" cy="947267"/>
          </a:xfrm>
          <a:prstGeom prst="rect">
            <a:avLst/>
          </a:prstGeom>
        </p:spPr>
      </p:pic>
      <p:sp>
        <p:nvSpPr>
          <p:cNvPr id="12" name="Rectangle 1">
            <a:extLst>
              <a:ext uri="{FF2B5EF4-FFF2-40B4-BE49-F238E27FC236}">
                <a16:creationId xmlns:a16="http://schemas.microsoft.com/office/drawing/2014/main" id="{D10B8B90-8368-A0FE-F11C-5E9591E6F6E6}"/>
              </a:ext>
            </a:extLst>
          </p:cNvPr>
          <p:cNvSpPr>
            <a:spLocks noGrp="1" noChangeArrowheads="1"/>
          </p:cNvSpPr>
          <p:nvPr>
            <p:ph type="body" idx="1"/>
          </p:nvPr>
        </p:nvSpPr>
        <p:spPr bwMode="auto">
          <a:xfrm>
            <a:off x="533400" y="1398062"/>
            <a:ext cx="109728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Navigation and Pathfinding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GPS, robotics, and game AI to find the shortest or optimal paths.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Networks and Web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relationships between users or webpages for recommendations and connections.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and Transport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Designs and optimizes networks like computer, telecommunication, and transportation systems.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Science and 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knowledge graphs, clustering, and graph neural networks for machine learning.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Biology and Medicine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disease spread, DNA sequencing, and neural networks. </a:t>
            </a:r>
          </a:p>
        </p:txBody>
      </p:sp>
      <p:sp>
        <p:nvSpPr>
          <p:cNvPr id="13" name="Title 1">
            <a:extLst>
              <a:ext uri="{FF2B5EF4-FFF2-40B4-BE49-F238E27FC236}">
                <a16:creationId xmlns:a16="http://schemas.microsoft.com/office/drawing/2014/main" id="{1C7BBAA3-263A-8FE5-5AA3-E40EF73A5AE9}"/>
              </a:ext>
            </a:extLst>
          </p:cNvPr>
          <p:cNvSpPr txBox="1">
            <a:spLocks/>
          </p:cNvSpPr>
          <p:nvPr/>
        </p:nvSpPr>
        <p:spPr>
          <a:xfrm>
            <a:off x="2761195" y="-786"/>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APPLICATION OF GRAPHS</a:t>
            </a:r>
          </a:p>
        </p:txBody>
      </p:sp>
      <p:sp>
        <p:nvSpPr>
          <p:cNvPr id="3" name="Date Placeholder 2">
            <a:extLst>
              <a:ext uri="{FF2B5EF4-FFF2-40B4-BE49-F238E27FC236}">
                <a16:creationId xmlns:a16="http://schemas.microsoft.com/office/drawing/2014/main" id="{976A4CD5-E493-4D10-95F1-67022DBE14BF}"/>
              </a:ext>
            </a:extLst>
          </p:cNvPr>
          <p:cNvSpPr>
            <a:spLocks noGrp="1"/>
          </p:cNvSpPr>
          <p:nvPr>
            <p:ph type="dt" sz="half" idx="6"/>
          </p:nvPr>
        </p:nvSpPr>
        <p:spPr/>
        <p:txBody>
          <a:bodyPr/>
          <a:lstStyle/>
          <a:p>
            <a:pPr marL="12700">
              <a:lnSpc>
                <a:spcPts val="1240"/>
              </a:lnSpc>
            </a:pPr>
            <a:fld id="{06D259E6-877B-4989-9B46-DE9079EF1F7A}" type="datetime1">
              <a:rPr lang="en-US" spc="-25" smtClean="0"/>
              <a:t>7/8/2026</a:t>
            </a:fld>
            <a:endParaRPr lang="en-IN" spc="-25" dirty="0"/>
          </a:p>
        </p:txBody>
      </p:sp>
      <p:sp>
        <p:nvSpPr>
          <p:cNvPr id="4" name="Footer Placeholder 3">
            <a:extLst>
              <a:ext uri="{FF2B5EF4-FFF2-40B4-BE49-F238E27FC236}">
                <a16:creationId xmlns:a16="http://schemas.microsoft.com/office/drawing/2014/main" id="{D6989B47-7357-4C70-9ACA-090F7856C3B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655396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578CD3-0580-D28D-C093-973685AB7161}"/>
              </a:ext>
            </a:extLst>
          </p:cNvPr>
          <p:cNvSpPr>
            <a:spLocks noGrp="1"/>
          </p:cNvSpPr>
          <p:nvPr>
            <p:ph type="body" idx="1"/>
          </p:nvPr>
        </p:nvSpPr>
        <p:spPr>
          <a:xfrm>
            <a:off x="990600" y="1433829"/>
            <a:ext cx="10515600" cy="2554545"/>
          </a:xfrm>
        </p:spPr>
        <p:txBody>
          <a:bodyPr/>
          <a:lstStyle/>
          <a:p>
            <a:r>
              <a:rPr lang="en-US" sz="2400" dirty="0">
                <a:latin typeface="Times New Roman" pitchFamily="18" charset="0"/>
                <a:cs typeface="Times New Roman" pitchFamily="18" charset="0"/>
              </a:rPr>
              <a:t>Following two are the most commonly used representations of graph.</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Adjacency Matrix</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Adjacency List</a:t>
            </a:r>
          </a:p>
          <a:p>
            <a:r>
              <a:rPr lang="en-US" sz="2400" dirty="0">
                <a:latin typeface="Times New Roman" pitchFamily="18" charset="0"/>
                <a:cs typeface="Times New Roman" pitchFamily="18" charset="0"/>
              </a:rPr>
              <a:t>There are other representations also like, Incidence Matrix and Incidence List</a:t>
            </a:r>
            <a:r>
              <a:rPr lang="en-US" sz="2000" dirty="0">
                <a:latin typeface="Times New Roman" pitchFamily="18" charset="0"/>
                <a:cs typeface="Times New Roman" pitchFamily="18" charset="0"/>
              </a:rPr>
              <a:t>.</a:t>
            </a:r>
          </a:p>
          <a:p>
            <a:endParaRPr lang="en-IN" dirty="0"/>
          </a:p>
        </p:txBody>
      </p:sp>
      <p:pic>
        <p:nvPicPr>
          <p:cNvPr id="5" name="object 3">
            <a:extLst>
              <a:ext uri="{FF2B5EF4-FFF2-40B4-BE49-F238E27FC236}">
                <a16:creationId xmlns:a16="http://schemas.microsoft.com/office/drawing/2014/main" id="{A119E64E-E235-625D-8B0F-A8ED5669413D}"/>
              </a:ext>
            </a:extLst>
          </p:cNvPr>
          <p:cNvPicPr/>
          <p:nvPr/>
        </p:nvPicPr>
        <p:blipFill>
          <a:blip r:embed="rId2" cstate="print"/>
          <a:stretch>
            <a:fillRect/>
          </a:stretch>
        </p:blipFill>
        <p:spPr>
          <a:xfrm>
            <a:off x="110836" y="25"/>
            <a:ext cx="2327563" cy="94726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GRAPH REPRESENTATIONS</a:t>
            </a:r>
          </a:p>
        </p:txBody>
      </p:sp>
      <p:sp>
        <p:nvSpPr>
          <p:cNvPr id="2" name="Date Placeholder 1">
            <a:extLst>
              <a:ext uri="{FF2B5EF4-FFF2-40B4-BE49-F238E27FC236}">
                <a16:creationId xmlns:a16="http://schemas.microsoft.com/office/drawing/2014/main" id="{C99766AC-7E56-4578-99D6-9D714EB711D9}"/>
              </a:ext>
            </a:extLst>
          </p:cNvPr>
          <p:cNvSpPr>
            <a:spLocks noGrp="1"/>
          </p:cNvSpPr>
          <p:nvPr>
            <p:ph type="dt" sz="half" idx="6"/>
          </p:nvPr>
        </p:nvSpPr>
        <p:spPr/>
        <p:txBody>
          <a:bodyPr/>
          <a:lstStyle/>
          <a:p>
            <a:pPr marL="12700">
              <a:lnSpc>
                <a:spcPts val="1240"/>
              </a:lnSpc>
            </a:pPr>
            <a:fld id="{71802E27-2B16-4808-92EF-14B352A77FC8}" type="datetime1">
              <a:rPr lang="en-US" spc="-25" smtClean="0"/>
              <a:t>7/8/2026</a:t>
            </a:fld>
            <a:endParaRPr lang="en-IN" spc="-25" dirty="0"/>
          </a:p>
        </p:txBody>
      </p:sp>
      <p:sp>
        <p:nvSpPr>
          <p:cNvPr id="4" name="Footer Placeholder 3">
            <a:extLst>
              <a:ext uri="{FF2B5EF4-FFF2-40B4-BE49-F238E27FC236}">
                <a16:creationId xmlns:a16="http://schemas.microsoft.com/office/drawing/2014/main" id="{F6BBAE88-1C6D-4D98-AE2E-48A3B72EEE6B}"/>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527418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62BA9A-9AA2-D440-5F41-644E59ADE46F}"/>
              </a:ext>
            </a:extLst>
          </p:cNvPr>
          <p:cNvSpPr>
            <a:spLocks noGrp="1"/>
          </p:cNvSpPr>
          <p:nvPr>
            <p:ph type="body" idx="1"/>
          </p:nvPr>
        </p:nvSpPr>
        <p:spPr>
          <a:xfrm>
            <a:off x="990600" y="1433829"/>
            <a:ext cx="9677400" cy="1292959"/>
          </a:xfrm>
        </p:spPr>
        <p:txBody>
          <a:bodyPr/>
          <a:lstStyle/>
          <a:p>
            <a:pPr algn="l"/>
            <a:r>
              <a:rPr lang="en-IN" sz="1800" b="1" i="0" dirty="0">
                <a:solidFill>
                  <a:srgbClr val="000000"/>
                </a:solidFill>
                <a:effectLst/>
                <a:latin typeface="Times New Roman" panose="02020603050405020304" pitchFamily="18" charset="0"/>
                <a:cs typeface="Times New Roman" panose="02020603050405020304" pitchFamily="18" charset="0"/>
              </a:rPr>
              <a:t>Adjacency Matrix Graph Representation</a:t>
            </a:r>
          </a:p>
          <a:p>
            <a:pPr algn="l"/>
            <a:r>
              <a:rPr lang="en-US" sz="1800" b="0" i="0" dirty="0">
                <a:solidFill>
                  <a:srgbClr val="000000"/>
                </a:solidFill>
                <a:effectLst/>
                <a:latin typeface="Times New Roman" panose="02020603050405020304" pitchFamily="18" charset="0"/>
                <a:cs typeface="Times New Roman" panose="02020603050405020304" pitchFamily="18" charset="0"/>
              </a:rPr>
              <a:t>The Adjacency Matrix is a 2D array (matrix) where each cell on index (</a:t>
            </a:r>
            <a:r>
              <a:rPr lang="en-US" sz="1800" b="0" i="0" dirty="0" err="1">
                <a:solidFill>
                  <a:srgbClr val="000000"/>
                </a:solidFill>
                <a:effectLst/>
                <a:latin typeface="Times New Roman" panose="02020603050405020304" pitchFamily="18" charset="0"/>
                <a:cs typeface="Times New Roman" panose="02020603050405020304" pitchFamily="18" charset="0"/>
              </a:rPr>
              <a:t>i,j</a:t>
            </a:r>
            <a:r>
              <a:rPr lang="en-US" sz="1800" b="0" i="0" dirty="0">
                <a:solidFill>
                  <a:srgbClr val="000000"/>
                </a:solidFill>
                <a:effectLst/>
                <a:latin typeface="Times New Roman" panose="02020603050405020304" pitchFamily="18" charset="0"/>
                <a:cs typeface="Times New Roman" panose="02020603050405020304" pitchFamily="18" charset="0"/>
              </a:rPr>
              <a:t>) stores information about the edge from vertex </a:t>
            </a:r>
            <a:r>
              <a:rPr lang="en-US" sz="1800" b="0" i="0" dirty="0" err="1">
                <a:solidFill>
                  <a:srgbClr val="000000"/>
                </a:solidFill>
                <a:effectLst/>
                <a:latin typeface="Times New Roman" panose="02020603050405020304" pitchFamily="18" charset="0"/>
                <a:cs typeface="Times New Roman" panose="02020603050405020304" pitchFamily="18" charset="0"/>
              </a:rPr>
              <a:t>i</a:t>
            </a:r>
            <a:r>
              <a:rPr lang="en-US" sz="1800" b="0" i="0" dirty="0">
                <a:solidFill>
                  <a:srgbClr val="000000"/>
                </a:solidFill>
                <a:effectLst/>
                <a:latin typeface="Times New Roman" panose="02020603050405020304" pitchFamily="18" charset="0"/>
                <a:cs typeface="Times New Roman" panose="02020603050405020304" pitchFamily="18" charset="0"/>
              </a:rPr>
              <a:t> to vertex j.</a:t>
            </a:r>
          </a:p>
          <a:p>
            <a:pPr marL="342900" indent="-342900" algn="l">
              <a:buFont typeface="Wingdings" panose="05000000000000000000" pitchFamily="2" charset="2"/>
              <a:buChar char="§"/>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algn="l"/>
            <a:endParaRPr lang="en-IN" sz="1800" b="0" i="0" dirty="0">
              <a:solidFill>
                <a:srgbClr val="000000"/>
              </a:solidFill>
              <a:effectLst/>
              <a:latin typeface="Times New Roman" panose="02020603050405020304" pitchFamily="18" charset="0"/>
              <a:cs typeface="Times New Roman" panose="02020603050405020304" pitchFamily="18" charset="0"/>
            </a:endParaRPr>
          </a:p>
          <a:p>
            <a:pPr algn="l"/>
            <a:endParaRPr lang="en-IN" sz="1800" b="0" i="0" dirty="0">
              <a:solidFill>
                <a:srgbClr val="000000"/>
              </a:solidFill>
              <a:effectLst/>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9" name="object 3">
            <a:extLst>
              <a:ext uri="{FF2B5EF4-FFF2-40B4-BE49-F238E27FC236}">
                <a16:creationId xmlns:a16="http://schemas.microsoft.com/office/drawing/2014/main" id="{59434E87-206D-EC72-B29D-1B9F31B82A4D}"/>
              </a:ext>
            </a:extLst>
          </p:cNvPr>
          <p:cNvPicPr/>
          <p:nvPr/>
        </p:nvPicPr>
        <p:blipFill>
          <a:blip r:embed="rId2" cstate="print"/>
          <a:stretch>
            <a:fillRect/>
          </a:stretch>
        </p:blipFill>
        <p:spPr>
          <a:xfrm>
            <a:off x="110836" y="25"/>
            <a:ext cx="2556164" cy="947267"/>
          </a:xfrm>
          <a:prstGeom prst="rect">
            <a:avLst/>
          </a:prstGeom>
        </p:spPr>
      </p:pic>
      <p:sp>
        <p:nvSpPr>
          <p:cNvPr id="10" name="Rectangle 9">
            <a:extLst>
              <a:ext uri="{FF2B5EF4-FFF2-40B4-BE49-F238E27FC236}">
                <a16:creationId xmlns:a16="http://schemas.microsoft.com/office/drawing/2014/main" id="{FF72DDA5-3924-7776-1515-917E1DBC4A2F}"/>
              </a:ext>
            </a:extLst>
          </p:cNvPr>
          <p:cNvSpPr/>
          <p:nvPr/>
        </p:nvSpPr>
        <p:spPr>
          <a:xfrm>
            <a:off x="3048000" y="228600"/>
            <a:ext cx="9033164"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36C00384-9830-FDF3-3622-945CCE2EA191}"/>
              </a:ext>
            </a:extLst>
          </p:cNvPr>
          <p:cNvPicPr>
            <a:picLocks noChangeAspect="1"/>
          </p:cNvPicPr>
          <p:nvPr/>
        </p:nvPicPr>
        <p:blipFill>
          <a:blip r:embed="rId3"/>
          <a:stretch>
            <a:fillRect/>
          </a:stretch>
        </p:blipFill>
        <p:spPr>
          <a:xfrm>
            <a:off x="655145" y="3048000"/>
            <a:ext cx="4023709" cy="2270957"/>
          </a:xfrm>
          <a:prstGeom prst="rect">
            <a:avLst/>
          </a:prstGeom>
        </p:spPr>
      </p:pic>
      <p:pic>
        <p:nvPicPr>
          <p:cNvPr id="23" name="Picture 22">
            <a:extLst>
              <a:ext uri="{FF2B5EF4-FFF2-40B4-BE49-F238E27FC236}">
                <a16:creationId xmlns:a16="http://schemas.microsoft.com/office/drawing/2014/main" id="{3BD5F330-3C03-0ADD-48C8-288E5AB58A37}"/>
              </a:ext>
            </a:extLst>
          </p:cNvPr>
          <p:cNvPicPr>
            <a:picLocks noChangeAspect="1"/>
          </p:cNvPicPr>
          <p:nvPr/>
        </p:nvPicPr>
        <p:blipFill>
          <a:blip r:embed="rId4"/>
          <a:stretch>
            <a:fillRect/>
          </a:stretch>
        </p:blipFill>
        <p:spPr>
          <a:xfrm>
            <a:off x="5996474" y="2971794"/>
            <a:ext cx="3985605" cy="2347163"/>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2739985" y="18093"/>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DATA STRUCTURE FOR GRAPH REPRESENTATIONS</a:t>
            </a:r>
          </a:p>
        </p:txBody>
      </p:sp>
      <p:sp>
        <p:nvSpPr>
          <p:cNvPr id="2" name="Date Placeholder 1">
            <a:extLst>
              <a:ext uri="{FF2B5EF4-FFF2-40B4-BE49-F238E27FC236}">
                <a16:creationId xmlns:a16="http://schemas.microsoft.com/office/drawing/2014/main" id="{E03FA68C-1565-4DF1-9A93-98EC154DC086}"/>
              </a:ext>
            </a:extLst>
          </p:cNvPr>
          <p:cNvSpPr>
            <a:spLocks noGrp="1"/>
          </p:cNvSpPr>
          <p:nvPr>
            <p:ph type="dt" sz="half" idx="6"/>
          </p:nvPr>
        </p:nvSpPr>
        <p:spPr/>
        <p:txBody>
          <a:bodyPr/>
          <a:lstStyle/>
          <a:p>
            <a:pPr marL="12700">
              <a:lnSpc>
                <a:spcPts val="1240"/>
              </a:lnSpc>
            </a:pPr>
            <a:fld id="{A782BA3B-D95B-43EE-814F-E922C0A36321}" type="datetime1">
              <a:rPr lang="en-US" spc="-25" smtClean="0"/>
              <a:t>7/8/2026</a:t>
            </a:fld>
            <a:endParaRPr lang="en-IN" spc="-25" dirty="0"/>
          </a:p>
        </p:txBody>
      </p:sp>
      <p:sp>
        <p:nvSpPr>
          <p:cNvPr id="4" name="Footer Placeholder 3">
            <a:extLst>
              <a:ext uri="{FF2B5EF4-FFF2-40B4-BE49-F238E27FC236}">
                <a16:creationId xmlns:a16="http://schemas.microsoft.com/office/drawing/2014/main" id="{5D058392-96A7-4A27-A487-E585B739E20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964970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6AD70C-CDC0-D0EF-6311-86C255EEFD21}"/>
              </a:ext>
            </a:extLst>
          </p:cNvPr>
          <p:cNvSpPr>
            <a:spLocks noGrp="1"/>
          </p:cNvSpPr>
          <p:nvPr>
            <p:ph type="body" idx="1"/>
          </p:nvPr>
        </p:nvSpPr>
        <p:spPr>
          <a:xfrm>
            <a:off x="1752600" y="1600200"/>
            <a:ext cx="8839200" cy="3662541"/>
          </a:xfrm>
        </p:spPr>
        <p:txBody>
          <a:bodyPr/>
          <a:lstStyle/>
          <a:p>
            <a:pPr marL="342900" indent="-342900">
              <a:buFont typeface="Arial" panose="020B0604020202020204" pitchFamily="34" charset="0"/>
              <a:buChar char="•"/>
            </a:pPr>
            <a:r>
              <a:rPr lang="en-US" sz="2400" dirty="0">
                <a:latin typeface="Times New Roman" pitchFamily="18" charset="0"/>
                <a:cs typeface="Times New Roman" pitchFamily="18" charset="0"/>
              </a:rPr>
              <a:t>Adjacency Matrix is a 2D array of size V x V where V is the number of vertices in a graph. </a:t>
            </a:r>
          </a:p>
          <a:p>
            <a:pPr marL="342900" indent="-342900">
              <a:buFont typeface="Arial" panose="020B0604020202020204" pitchFamily="34" charset="0"/>
              <a:buChar char="•"/>
            </a:pPr>
            <a:r>
              <a:rPr lang="en-US" sz="2400" dirty="0">
                <a:latin typeface="Times New Roman" pitchFamily="18" charset="0"/>
                <a:cs typeface="Times New Roman" pitchFamily="18" charset="0"/>
              </a:rPr>
              <a:t>Let the 2D array be </a:t>
            </a:r>
            <a:r>
              <a:rPr lang="en-US" sz="2400" b="1" dirty="0">
                <a:latin typeface="Times New Roman" pitchFamily="18" charset="0"/>
                <a:cs typeface="Times New Roman" pitchFamily="18" charset="0"/>
              </a:rPr>
              <a:t>adj[][]</a:t>
            </a:r>
            <a:r>
              <a:rPr lang="en-US" sz="2400" dirty="0">
                <a:latin typeface="Times New Roman" pitchFamily="18" charset="0"/>
                <a:cs typeface="Times New Roman" pitchFamily="18" charset="0"/>
              </a:rPr>
              <a:t>, </a:t>
            </a:r>
          </a:p>
          <a:p>
            <a:pPr marL="342900" indent="-342900">
              <a:buFont typeface="Arial" panose="020B0604020202020204" pitchFamily="34" charset="0"/>
              <a:buChar char="•"/>
            </a:pPr>
            <a:r>
              <a:rPr lang="en-US" sz="2400" dirty="0">
                <a:latin typeface="Times New Roman" pitchFamily="18" charset="0"/>
                <a:cs typeface="Times New Roman" pitchFamily="18" charset="0"/>
              </a:rPr>
              <a:t>	a slot adj[</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][j] = 1 indicates that there is an edge from 			    vertex </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to vertex j. </a:t>
            </a:r>
          </a:p>
          <a:p>
            <a:pPr marL="342900" indent="-342900">
              <a:buFont typeface="Arial" panose="020B0604020202020204" pitchFamily="34" charset="0"/>
              <a:buChar char="•"/>
            </a:pPr>
            <a:r>
              <a:rPr lang="en-US" sz="2400" dirty="0">
                <a:latin typeface="Times New Roman" pitchFamily="18" charset="0"/>
                <a:cs typeface="Times New Roman" pitchFamily="18" charset="0"/>
              </a:rPr>
              <a:t>Adjacency matrix for undirected graph is always symmetric. </a:t>
            </a:r>
          </a:p>
          <a:p>
            <a:pPr marL="342900" indent="-342900">
              <a:buFont typeface="Arial" panose="020B0604020202020204" pitchFamily="34" charset="0"/>
              <a:buChar char="•"/>
            </a:pPr>
            <a:r>
              <a:rPr lang="en-US" sz="2400" dirty="0">
                <a:latin typeface="Times New Roman" pitchFamily="18" charset="0"/>
                <a:cs typeface="Times New Roman" pitchFamily="18" charset="0"/>
              </a:rPr>
              <a:t>Adjacency Matrix is also used to represent weighted graphs. </a:t>
            </a:r>
          </a:p>
          <a:p>
            <a:pPr marL="342900" indent="-342900">
              <a:buFont typeface="Arial" panose="020B0604020202020204" pitchFamily="34" charset="0"/>
              <a:buChar char="•"/>
            </a:pPr>
            <a:r>
              <a:rPr lang="en-US" sz="2400" dirty="0">
                <a:latin typeface="Times New Roman" pitchFamily="18" charset="0"/>
                <a:cs typeface="Times New Roman" pitchFamily="18" charset="0"/>
              </a:rPr>
              <a:t>If adj[</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][j] = w, then there is an edge from vertex </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to vertex j with weight w.</a:t>
            </a:r>
          </a:p>
          <a:p>
            <a:endParaRPr lang="en-IN" sz="2400" dirty="0"/>
          </a:p>
        </p:txBody>
      </p:sp>
      <p:pic>
        <p:nvPicPr>
          <p:cNvPr id="5" name="object 3">
            <a:extLst>
              <a:ext uri="{FF2B5EF4-FFF2-40B4-BE49-F238E27FC236}">
                <a16:creationId xmlns:a16="http://schemas.microsoft.com/office/drawing/2014/main" id="{F7016ECF-E0A9-6191-6883-F037C94B1043}"/>
              </a:ext>
            </a:extLst>
          </p:cNvPr>
          <p:cNvPicPr/>
          <p:nvPr/>
        </p:nvPicPr>
        <p:blipFill>
          <a:blip r:embed="rId2" cstate="print"/>
          <a:stretch>
            <a:fillRect/>
          </a:stretch>
        </p:blipFill>
        <p:spPr>
          <a:xfrm>
            <a:off x="110836" y="25"/>
            <a:ext cx="2556164" cy="94726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453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MATRIX</a:t>
            </a:r>
          </a:p>
        </p:txBody>
      </p:sp>
      <p:sp>
        <p:nvSpPr>
          <p:cNvPr id="2" name="Date Placeholder 1">
            <a:extLst>
              <a:ext uri="{FF2B5EF4-FFF2-40B4-BE49-F238E27FC236}">
                <a16:creationId xmlns:a16="http://schemas.microsoft.com/office/drawing/2014/main" id="{EDFF9CBC-AC6D-4A3A-96E3-CF5B443024EC}"/>
              </a:ext>
            </a:extLst>
          </p:cNvPr>
          <p:cNvSpPr>
            <a:spLocks noGrp="1"/>
          </p:cNvSpPr>
          <p:nvPr>
            <p:ph type="dt" sz="half" idx="6"/>
          </p:nvPr>
        </p:nvSpPr>
        <p:spPr/>
        <p:txBody>
          <a:bodyPr/>
          <a:lstStyle/>
          <a:p>
            <a:pPr marL="12700">
              <a:lnSpc>
                <a:spcPts val="1240"/>
              </a:lnSpc>
            </a:pPr>
            <a:fld id="{89EB1A51-C29C-4D2D-92E1-3F9199BE67F0}" type="datetime1">
              <a:rPr lang="en-US" spc="-25" smtClean="0"/>
              <a:t>7/8/2026</a:t>
            </a:fld>
            <a:endParaRPr lang="en-IN" spc="-25" dirty="0"/>
          </a:p>
        </p:txBody>
      </p:sp>
      <p:sp>
        <p:nvSpPr>
          <p:cNvPr id="4" name="Footer Placeholder 3">
            <a:extLst>
              <a:ext uri="{FF2B5EF4-FFF2-40B4-BE49-F238E27FC236}">
                <a16:creationId xmlns:a16="http://schemas.microsoft.com/office/drawing/2014/main" id="{EA6326C9-EFC5-489D-8BFC-D78ECB938E7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767304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0694-CAAD-0205-B286-02FA6EC88855}"/>
            </a:ext>
          </a:extLst>
        </p:cNvPr>
        <p:cNvGrpSpPr/>
        <p:nvPr/>
      </p:nvGrpSpPr>
      <p:grpSpPr>
        <a:xfrm>
          <a:off x="0" y="0"/>
          <a:ext cx="0" cy="0"/>
          <a:chOff x="0" y="0"/>
          <a:chExt cx="0" cy="0"/>
        </a:xfrm>
      </p:grpSpPr>
      <p:pic>
        <p:nvPicPr>
          <p:cNvPr id="5" name="object 3">
            <a:extLst>
              <a:ext uri="{FF2B5EF4-FFF2-40B4-BE49-F238E27FC236}">
                <a16:creationId xmlns:a16="http://schemas.microsoft.com/office/drawing/2014/main" id="{3898FFA2-D559-B61F-BBBB-3460F9237B27}"/>
              </a:ext>
            </a:extLst>
          </p:cNvPr>
          <p:cNvPicPr/>
          <p:nvPr/>
        </p:nvPicPr>
        <p:blipFill>
          <a:blip r:embed="rId2" cstate="print"/>
          <a:stretch>
            <a:fillRect/>
          </a:stretch>
        </p:blipFill>
        <p:spPr>
          <a:xfrm>
            <a:off x="110836" y="25"/>
            <a:ext cx="2556164" cy="947267"/>
          </a:xfrm>
          <a:prstGeom prst="rect">
            <a:avLst/>
          </a:prstGeom>
        </p:spPr>
      </p:pic>
      <p:sp>
        <p:nvSpPr>
          <p:cNvPr id="12" name="Rectangle 2">
            <a:extLst>
              <a:ext uri="{FF2B5EF4-FFF2-40B4-BE49-F238E27FC236}">
                <a16:creationId xmlns:a16="http://schemas.microsoft.com/office/drawing/2014/main" id="{9C8B6D07-9108-641D-5274-9A36816812F1}"/>
              </a:ext>
            </a:extLst>
          </p:cNvPr>
          <p:cNvSpPr>
            <a:spLocks noGrp="1" noChangeArrowheads="1"/>
          </p:cNvSpPr>
          <p:nvPr>
            <p:ph type="body" idx="1"/>
          </p:nvPr>
        </p:nvSpPr>
        <p:spPr bwMode="auto">
          <a:xfrm>
            <a:off x="2133600" y="1143000"/>
            <a:ext cx="8991600" cy="43088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57799"/>
                </a:solidFill>
                <a:effectLst/>
                <a:latin typeface="Times New Roman" panose="02020603050405020304" pitchFamily="18" charset="0"/>
                <a:cs typeface="Times New Roman" panose="02020603050405020304" pitchFamily="18" charset="0"/>
              </a:rPr>
              <a:t>#include&lt;stdio.h&gt;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57799"/>
                </a:solidFill>
                <a:effectLst/>
                <a:latin typeface="Times New Roman" panose="02020603050405020304" pitchFamily="18" charset="0"/>
                <a:cs typeface="Times New Roman" panose="02020603050405020304" pitchFamily="18" charset="0"/>
              </a:rPr>
              <a:t>#define V 5</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888888"/>
                </a:solidFill>
                <a:effectLst/>
                <a:latin typeface="Times New Roman" panose="02020603050405020304" pitchFamily="18" charset="0"/>
                <a:cs typeface="Times New Roman" panose="02020603050405020304" pitchFamily="18" charset="0"/>
              </a:rPr>
              <a:t>init</a:t>
            </a: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 matrix to 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void</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rgbClr val="0066BB"/>
                </a:solidFill>
                <a:effectLst/>
                <a:latin typeface="Times New Roman" panose="02020603050405020304" pitchFamily="18" charset="0"/>
                <a:cs typeface="Times New Roman" panose="02020603050405020304" pitchFamily="18" charset="0"/>
              </a:rPr>
              <a:t>init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[][V])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i,j</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for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&lt; V;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	for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(j =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j &lt; V;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j++</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][j] =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//Add edge. set </a:t>
            </a:r>
            <a:r>
              <a:rPr kumimoji="0" lang="en-US" altLang="en-US" sz="2000" b="0" i="0" u="none" strike="noStrike" cap="none" normalizeH="0" baseline="0" dirty="0" err="1">
                <a:ln>
                  <a:noFill/>
                </a:ln>
                <a:solidFill>
                  <a:srgbClr val="888888"/>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888888"/>
                </a:solidFill>
                <a:effectLst/>
                <a:latin typeface="Times New Roman" panose="02020603050405020304" pitchFamily="18" charset="0"/>
                <a:cs typeface="Times New Roman" panose="02020603050405020304" pitchFamily="18" charset="0"/>
              </a:rPr>
              <a:t>src</a:t>
            </a: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888888"/>
                </a:solidFill>
                <a:effectLst/>
                <a:latin typeface="Times New Roman" panose="02020603050405020304" pitchFamily="18" charset="0"/>
                <a:cs typeface="Times New Roman" panose="02020603050405020304" pitchFamily="18" charset="0"/>
              </a:rPr>
              <a:t>dest</a:t>
            </a: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 = 1</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void</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rgbClr val="0066BB"/>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[][V],</a:t>
            </a: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src</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dest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src</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dest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1</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p:txBody>
      </p:sp>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3"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MATRIX</a:t>
            </a:r>
          </a:p>
        </p:txBody>
      </p:sp>
      <p:sp>
        <p:nvSpPr>
          <p:cNvPr id="2" name="Date Placeholder 1">
            <a:extLst>
              <a:ext uri="{FF2B5EF4-FFF2-40B4-BE49-F238E27FC236}">
                <a16:creationId xmlns:a16="http://schemas.microsoft.com/office/drawing/2014/main" id="{90710065-C897-462D-8CB7-6845AC2B56E1}"/>
              </a:ext>
            </a:extLst>
          </p:cNvPr>
          <p:cNvSpPr>
            <a:spLocks noGrp="1"/>
          </p:cNvSpPr>
          <p:nvPr>
            <p:ph type="dt" sz="half" idx="6"/>
          </p:nvPr>
        </p:nvSpPr>
        <p:spPr/>
        <p:txBody>
          <a:bodyPr/>
          <a:lstStyle/>
          <a:p>
            <a:pPr marL="12700">
              <a:lnSpc>
                <a:spcPts val="1240"/>
              </a:lnSpc>
            </a:pPr>
            <a:fld id="{5E255D96-CE68-456C-A3C6-BF0EBB951AE0}" type="datetime1">
              <a:rPr lang="en-US" spc="-25" smtClean="0"/>
              <a:t>7/8/2026</a:t>
            </a:fld>
            <a:endParaRPr lang="en-IN" spc="-25" dirty="0"/>
          </a:p>
        </p:txBody>
      </p:sp>
      <p:sp>
        <p:nvSpPr>
          <p:cNvPr id="3" name="Footer Placeholder 2">
            <a:extLst>
              <a:ext uri="{FF2B5EF4-FFF2-40B4-BE49-F238E27FC236}">
                <a16:creationId xmlns:a16="http://schemas.microsoft.com/office/drawing/2014/main" id="{5E5EF8D0-C391-4647-ACF1-CE031022779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818824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028A0-1277-0B49-409B-3B63DCCD096C}"/>
            </a:ext>
          </a:extLst>
        </p:cNvPr>
        <p:cNvGrpSpPr/>
        <p:nvPr/>
      </p:nvGrpSpPr>
      <p:grpSpPr>
        <a:xfrm>
          <a:off x="0" y="0"/>
          <a:ext cx="0" cy="0"/>
          <a:chOff x="0" y="0"/>
          <a:chExt cx="0" cy="0"/>
        </a:xfrm>
      </p:grpSpPr>
      <p:pic>
        <p:nvPicPr>
          <p:cNvPr id="5" name="object 3">
            <a:extLst>
              <a:ext uri="{FF2B5EF4-FFF2-40B4-BE49-F238E27FC236}">
                <a16:creationId xmlns:a16="http://schemas.microsoft.com/office/drawing/2014/main" id="{D15A255D-F6EF-D612-400A-159BE252A50A}"/>
              </a:ext>
            </a:extLst>
          </p:cNvPr>
          <p:cNvPicPr/>
          <p:nvPr/>
        </p:nvPicPr>
        <p:blipFill>
          <a:blip r:embed="rId2" cstate="print"/>
          <a:stretch>
            <a:fillRect/>
          </a:stretch>
        </p:blipFill>
        <p:spPr>
          <a:xfrm>
            <a:off x="110836" y="25"/>
            <a:ext cx="2556164" cy="947267"/>
          </a:xfrm>
          <a:prstGeom prst="rect">
            <a:avLst/>
          </a:prstGeom>
        </p:spPr>
      </p:pic>
      <p:sp>
        <p:nvSpPr>
          <p:cNvPr id="12" name="Rectangle 2">
            <a:extLst>
              <a:ext uri="{FF2B5EF4-FFF2-40B4-BE49-F238E27FC236}">
                <a16:creationId xmlns:a16="http://schemas.microsoft.com/office/drawing/2014/main" id="{44A1BBF3-0DDB-573A-EA12-3DDE2C5BABAA}"/>
              </a:ext>
            </a:extLst>
          </p:cNvPr>
          <p:cNvSpPr>
            <a:spLocks noGrp="1" noChangeArrowheads="1"/>
          </p:cNvSpPr>
          <p:nvPr>
            <p:ph type="body" idx="1"/>
          </p:nvPr>
        </p:nvSpPr>
        <p:spPr bwMode="auto">
          <a:xfrm>
            <a:off x="1371600" y="1371600"/>
            <a:ext cx="8991600" cy="40010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void</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a:ln>
                  <a:noFill/>
                </a:ln>
                <a:solidFill>
                  <a:srgbClr val="0066BB"/>
                </a:solidFill>
                <a:effectLst/>
                <a:latin typeface="Times New Roman" panose="02020603050405020304" pitchFamily="18" charset="0"/>
                <a:cs typeface="Times New Roman" panose="02020603050405020304" pitchFamily="18" charset="0"/>
              </a:rPr>
              <a:t>printAdjMatrix</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[][V])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j;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for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&lt; V;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for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(j =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j &lt; V;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j++</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printf</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("%d ",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arr</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][j]);</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printf</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666666"/>
                </a:solidFill>
                <a:effectLst/>
                <a:latin typeface="Times New Roman" panose="02020603050405020304" pitchFamily="18" charset="0"/>
                <a:cs typeface="Times New Roman" panose="02020603050405020304" pitchFamily="18" charset="0"/>
              </a:rPr>
              <a:t>\n</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33333"/>
                </a:solidFill>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rPr>
              <a:t>//print the </a:t>
            </a:r>
            <a:r>
              <a:rPr kumimoji="0" lang="en-US" altLang="en-US" sz="2000" b="0" i="0" u="none" strike="noStrike" cap="none" normalizeH="0" baseline="0" dirty="0" err="1">
                <a:ln>
                  <a:noFill/>
                </a:ln>
                <a:solidFill>
                  <a:srgbClr val="888888"/>
                </a:solidFill>
                <a:effectLst/>
                <a:latin typeface="Times New Roman" panose="02020603050405020304" pitchFamily="18" charset="0"/>
                <a:cs typeface="Times New Roman" panose="02020603050405020304" pitchFamily="18" charset="0"/>
              </a:rPr>
              <a:t>adjMatrix</a:t>
            </a:r>
            <a:endParaRPr kumimoji="0" lang="en-US" altLang="en-US" sz="2000" b="0" i="0" u="none" strike="noStrike" cap="none" normalizeH="0" baseline="0" dirty="0">
              <a:ln>
                <a:noFill/>
              </a:ln>
              <a:solidFill>
                <a:srgbClr val="888888"/>
              </a:solidFill>
              <a:effectLst/>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1C7BBAA3-263A-8FE5-5AA3-E40EF73A5AE9}"/>
              </a:ext>
            </a:extLst>
          </p:cNvPr>
          <p:cNvSpPr txBox="1">
            <a:spLocks/>
          </p:cNvSpPr>
          <p:nvPr/>
        </p:nvSpPr>
        <p:spPr>
          <a:xfrm>
            <a:off x="2734486" y="25"/>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err="1">
                <a:latin typeface="Calibri (Body)"/>
                <a:cs typeface="Times New Roman" panose="02020603050405020304" pitchFamily="18" charset="0"/>
              </a:rPr>
              <a:t>ADJANnd</a:t>
            </a:r>
            <a:r>
              <a:rPr lang="en-US" sz="2800" dirty="0">
                <a:latin typeface="Calibri (Body)"/>
                <a:cs typeface="Times New Roman" panose="02020603050405020304" pitchFamily="18" charset="0"/>
              </a:rPr>
              <a:t> </a:t>
            </a:r>
            <a:r>
              <a:rPr lang="en-US" sz="2800" dirty="0">
                <a:latin typeface="+mj-lt"/>
                <a:cs typeface="Times New Roman" panose="02020603050405020304" pitchFamily="18" charset="0"/>
              </a:rPr>
              <a:t>Semester</a:t>
            </a:r>
            <a:r>
              <a:rPr lang="en-US" sz="2800" dirty="0">
                <a:latin typeface="Calibri (Body)"/>
                <a:cs typeface="Times New Roman" panose="02020603050405020304" pitchFamily="18" charset="0"/>
              </a:rPr>
              <a:t> Paper Template</a:t>
            </a:r>
          </a:p>
        </p:txBody>
      </p:sp>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3"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MATRIX</a:t>
            </a:r>
          </a:p>
        </p:txBody>
      </p:sp>
      <p:sp>
        <p:nvSpPr>
          <p:cNvPr id="2" name="Date Placeholder 1">
            <a:extLst>
              <a:ext uri="{FF2B5EF4-FFF2-40B4-BE49-F238E27FC236}">
                <a16:creationId xmlns:a16="http://schemas.microsoft.com/office/drawing/2014/main" id="{38ABECBF-7051-458C-99C6-0533FBCF8F21}"/>
              </a:ext>
            </a:extLst>
          </p:cNvPr>
          <p:cNvSpPr>
            <a:spLocks noGrp="1"/>
          </p:cNvSpPr>
          <p:nvPr>
            <p:ph type="dt" sz="half" idx="6"/>
          </p:nvPr>
        </p:nvSpPr>
        <p:spPr/>
        <p:txBody>
          <a:bodyPr/>
          <a:lstStyle/>
          <a:p>
            <a:pPr marL="12700">
              <a:lnSpc>
                <a:spcPts val="1240"/>
              </a:lnSpc>
            </a:pPr>
            <a:fld id="{C8383EBB-5C1B-4FFB-B7DD-2F9165CD1455}" type="datetime1">
              <a:rPr lang="en-US" spc="-25" smtClean="0"/>
              <a:t>7/8/2026</a:t>
            </a:fld>
            <a:endParaRPr lang="en-IN" spc="-25" dirty="0"/>
          </a:p>
        </p:txBody>
      </p:sp>
      <p:sp>
        <p:nvSpPr>
          <p:cNvPr id="3" name="Footer Placeholder 2">
            <a:extLst>
              <a:ext uri="{FF2B5EF4-FFF2-40B4-BE49-F238E27FC236}">
                <a16:creationId xmlns:a16="http://schemas.microsoft.com/office/drawing/2014/main" id="{344E1B5D-3C6E-474B-BAE3-1E5E3AA2408F}"/>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838584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028A0-1277-0B49-409B-3B63DCCD096C}"/>
            </a:ext>
          </a:extLst>
        </p:cNvPr>
        <p:cNvGrpSpPr/>
        <p:nvPr/>
      </p:nvGrpSpPr>
      <p:grpSpPr>
        <a:xfrm>
          <a:off x="0" y="0"/>
          <a:ext cx="0" cy="0"/>
          <a:chOff x="0" y="0"/>
          <a:chExt cx="0" cy="0"/>
        </a:xfrm>
      </p:grpSpPr>
      <p:pic>
        <p:nvPicPr>
          <p:cNvPr id="5" name="object 3">
            <a:extLst>
              <a:ext uri="{FF2B5EF4-FFF2-40B4-BE49-F238E27FC236}">
                <a16:creationId xmlns:a16="http://schemas.microsoft.com/office/drawing/2014/main" id="{D15A255D-F6EF-D612-400A-159BE252A50A}"/>
              </a:ext>
            </a:extLst>
          </p:cNvPr>
          <p:cNvPicPr/>
          <p:nvPr/>
        </p:nvPicPr>
        <p:blipFill>
          <a:blip r:embed="rId2" cstate="print"/>
          <a:stretch>
            <a:fillRect/>
          </a:stretch>
        </p:blipFill>
        <p:spPr>
          <a:xfrm>
            <a:off x="110836" y="25"/>
            <a:ext cx="2556164" cy="947267"/>
          </a:xfrm>
          <a:prstGeom prst="rect">
            <a:avLst/>
          </a:prstGeom>
        </p:spPr>
      </p:pic>
      <p:sp>
        <p:nvSpPr>
          <p:cNvPr id="12" name="Rectangle 2">
            <a:extLst>
              <a:ext uri="{FF2B5EF4-FFF2-40B4-BE49-F238E27FC236}">
                <a16:creationId xmlns:a16="http://schemas.microsoft.com/office/drawing/2014/main" id="{44A1BBF3-0DDB-573A-EA12-3DDE2C5BABAA}"/>
              </a:ext>
            </a:extLst>
          </p:cNvPr>
          <p:cNvSpPr>
            <a:spLocks noGrp="1" noChangeArrowheads="1"/>
          </p:cNvSpPr>
          <p:nvPr>
            <p:ph type="body" idx="1"/>
          </p:nvPr>
        </p:nvSpPr>
        <p:spPr bwMode="auto">
          <a:xfrm>
            <a:off x="1066800" y="1371600"/>
            <a:ext cx="8991600" cy="43088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rgbClr val="333399"/>
                </a:solidFill>
                <a:effectLst/>
                <a:latin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0066BB"/>
                </a:solidFill>
                <a:effectLst/>
                <a:latin typeface="Times New Roman" panose="02020603050405020304" pitchFamily="18" charset="0"/>
                <a:cs typeface="Times New Roman" panose="02020603050405020304" pitchFamily="18" charset="0"/>
              </a:rPr>
              <a:t>main</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99"/>
                </a:solidFill>
                <a:effectLst/>
                <a:latin typeface="Times New Roman" panose="02020603050405020304" pitchFamily="18" charset="0"/>
                <a:cs typeface="Times New Roman" panose="02020603050405020304" pitchFamily="18" charset="0"/>
              </a:rPr>
              <a:t>	int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[V][V];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init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1</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2</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3</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1</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3</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1</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4</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2</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3</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addEdge</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3</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4</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printAdjMatrix</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adjMatrix</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8800"/>
                </a:solidFill>
                <a:effectLst/>
                <a:latin typeface="Times New Roman" panose="02020603050405020304" pitchFamily="18" charset="0"/>
                <a:cs typeface="Times New Roman" panose="02020603050405020304" pitchFamily="18" charset="0"/>
              </a:rPr>
              <a:t>return</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rgbClr val="0000DD"/>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p:txBody>
      </p:sp>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MATRIX</a:t>
            </a:r>
          </a:p>
        </p:txBody>
      </p:sp>
      <p:sp>
        <p:nvSpPr>
          <p:cNvPr id="2" name="Date Placeholder 1">
            <a:extLst>
              <a:ext uri="{FF2B5EF4-FFF2-40B4-BE49-F238E27FC236}">
                <a16:creationId xmlns:a16="http://schemas.microsoft.com/office/drawing/2014/main" id="{9789D889-B2F4-42EA-BBC2-6FDAECAF3AAF}"/>
              </a:ext>
            </a:extLst>
          </p:cNvPr>
          <p:cNvSpPr>
            <a:spLocks noGrp="1"/>
          </p:cNvSpPr>
          <p:nvPr>
            <p:ph type="dt" sz="half" idx="6"/>
          </p:nvPr>
        </p:nvSpPr>
        <p:spPr/>
        <p:txBody>
          <a:bodyPr/>
          <a:lstStyle/>
          <a:p>
            <a:pPr marL="12700">
              <a:lnSpc>
                <a:spcPts val="1240"/>
              </a:lnSpc>
            </a:pPr>
            <a:fld id="{EBE57D49-6DD9-4B6A-885B-5D8167BEDE6C}" type="datetime1">
              <a:rPr lang="en-US" spc="-25" smtClean="0"/>
              <a:t>7/8/2026</a:t>
            </a:fld>
            <a:endParaRPr lang="en-IN" spc="-25" dirty="0"/>
          </a:p>
        </p:txBody>
      </p:sp>
      <p:sp>
        <p:nvSpPr>
          <p:cNvPr id="3" name="Footer Placeholder 2">
            <a:extLst>
              <a:ext uri="{FF2B5EF4-FFF2-40B4-BE49-F238E27FC236}">
                <a16:creationId xmlns:a16="http://schemas.microsoft.com/office/drawing/2014/main" id="{9AE5ACB5-B3AC-4AA5-9C10-B942B0DB487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887839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2750947" y="1384554"/>
            <a:ext cx="6256655" cy="1286378"/>
          </a:xfrm>
          <a:prstGeom prst="rect">
            <a:avLst/>
          </a:prstGeom>
        </p:spPr>
        <p:txBody>
          <a:bodyPr vert="horz" wrap="square" lIns="0" tIns="40005" rIns="0" bIns="0" rtlCol="0">
            <a:spAutoFit/>
          </a:bodyPr>
          <a:lstStyle/>
          <a:p>
            <a:pPr marL="12700" marR="5080">
              <a:lnSpc>
                <a:spcPct val="91600"/>
              </a:lnSpc>
              <a:spcBef>
                <a:spcPts val="315"/>
              </a:spcBef>
            </a:pPr>
            <a:r>
              <a:rPr sz="2200" dirty="0">
                <a:solidFill>
                  <a:srgbClr val="FFFFFF"/>
                </a:solidFill>
                <a:latin typeface="Calibri"/>
                <a:cs typeface="Calibri"/>
              </a:rPr>
              <a:t>)</a:t>
            </a:r>
            <a:r>
              <a:rPr sz="2200" spc="-30" dirty="0">
                <a:solidFill>
                  <a:srgbClr val="FFFFFF"/>
                </a:solidFill>
                <a:latin typeface="Calibri"/>
                <a:cs typeface="Calibri"/>
              </a:rPr>
              <a:t> </a:t>
            </a:r>
            <a:r>
              <a:rPr sz="2200" dirty="0">
                <a:solidFill>
                  <a:srgbClr val="FFFFFF"/>
                </a:solidFill>
                <a:latin typeface="Calibri"/>
                <a:cs typeface="Calibri"/>
              </a:rPr>
              <a:t>is</a:t>
            </a:r>
            <a:r>
              <a:rPr sz="2200" spc="-40" dirty="0">
                <a:solidFill>
                  <a:srgbClr val="FFFFFF"/>
                </a:solidFill>
                <a:latin typeface="Calibri"/>
                <a:cs typeface="Calibri"/>
              </a:rPr>
              <a:t> </a:t>
            </a:r>
            <a:r>
              <a:rPr sz="2200" dirty="0">
                <a:solidFill>
                  <a:srgbClr val="FFFFFF"/>
                </a:solidFill>
                <a:latin typeface="Calibri"/>
                <a:cs typeface="Calibri"/>
              </a:rPr>
              <a:t>the</a:t>
            </a:r>
            <a:r>
              <a:rPr sz="2200" spc="-30" dirty="0">
                <a:solidFill>
                  <a:srgbClr val="FFFFFF"/>
                </a:solidFill>
                <a:latin typeface="Calibri"/>
                <a:cs typeface="Calibri"/>
              </a:rPr>
              <a:t> </a:t>
            </a:r>
            <a:r>
              <a:rPr sz="2200" dirty="0">
                <a:solidFill>
                  <a:srgbClr val="FFFFFF"/>
                </a:solidFill>
                <a:latin typeface="Calibri"/>
                <a:cs typeface="Calibri"/>
              </a:rPr>
              <a:t>network</a:t>
            </a:r>
            <a:r>
              <a:rPr sz="2200" spc="-45" dirty="0">
                <a:solidFill>
                  <a:srgbClr val="FFFFFF"/>
                </a:solidFill>
                <a:latin typeface="Calibri"/>
                <a:cs typeface="Calibri"/>
              </a:rPr>
              <a:t> </a:t>
            </a:r>
            <a:r>
              <a:rPr sz="2200" dirty="0">
                <a:solidFill>
                  <a:srgbClr val="FFFFFF"/>
                </a:solidFill>
                <a:latin typeface="Calibri"/>
                <a:cs typeface="Calibri"/>
              </a:rPr>
              <a:t>of</a:t>
            </a:r>
            <a:r>
              <a:rPr sz="2200" spc="-40" dirty="0">
                <a:solidFill>
                  <a:srgbClr val="FFFFFF"/>
                </a:solidFill>
                <a:latin typeface="Calibri"/>
                <a:cs typeface="Calibri"/>
              </a:rPr>
              <a:t> </a:t>
            </a:r>
            <a:r>
              <a:rPr sz="2200" spc="-10" dirty="0">
                <a:solidFill>
                  <a:srgbClr val="FFFFFF"/>
                </a:solidFill>
                <a:latin typeface="Calibri"/>
                <a:cs typeface="Calibri"/>
              </a:rPr>
              <a:t>devices </a:t>
            </a:r>
            <a:r>
              <a:rPr sz="2200" dirty="0">
                <a:solidFill>
                  <a:srgbClr val="FFFFFF"/>
                </a:solidFill>
                <a:latin typeface="Calibri"/>
                <a:cs typeface="Calibri"/>
              </a:rPr>
              <a:t>such</a:t>
            </a:r>
            <a:r>
              <a:rPr sz="2200" spc="-40" dirty="0">
                <a:solidFill>
                  <a:srgbClr val="FFFFFF"/>
                </a:solidFill>
                <a:latin typeface="Calibri"/>
                <a:cs typeface="Calibri"/>
              </a:rPr>
              <a:t> </a:t>
            </a:r>
            <a:r>
              <a:rPr sz="2200" dirty="0">
                <a:solidFill>
                  <a:srgbClr val="FFFFFF"/>
                </a:solidFill>
                <a:latin typeface="Calibri"/>
                <a:cs typeface="Calibri"/>
              </a:rPr>
              <a:t>as</a:t>
            </a:r>
            <a:r>
              <a:rPr sz="2200" spc="-35" dirty="0">
                <a:solidFill>
                  <a:srgbClr val="FFFFFF"/>
                </a:solidFill>
                <a:latin typeface="Calibri"/>
                <a:cs typeface="Calibri"/>
              </a:rPr>
              <a:t> </a:t>
            </a:r>
            <a:r>
              <a:rPr sz="2200" dirty="0">
                <a:solidFill>
                  <a:srgbClr val="FFFFFF"/>
                </a:solidFill>
                <a:latin typeface="Calibri"/>
                <a:cs typeface="Calibri"/>
              </a:rPr>
              <a:t>vehicles,</a:t>
            </a:r>
            <a:r>
              <a:rPr sz="2200" spc="-10" dirty="0">
                <a:solidFill>
                  <a:srgbClr val="FFFFFF"/>
                </a:solidFill>
                <a:latin typeface="Calibri"/>
                <a:cs typeface="Calibri"/>
              </a:rPr>
              <a:t> </a:t>
            </a:r>
            <a:r>
              <a:rPr sz="2200" dirty="0">
                <a:solidFill>
                  <a:srgbClr val="FFFFFF"/>
                </a:solidFill>
                <a:latin typeface="Calibri"/>
                <a:cs typeface="Calibri"/>
              </a:rPr>
              <a:t>and</a:t>
            </a:r>
            <a:r>
              <a:rPr sz="2200" spc="-25" dirty="0">
                <a:solidFill>
                  <a:srgbClr val="FFFFFF"/>
                </a:solidFill>
                <a:latin typeface="Calibri"/>
                <a:cs typeface="Calibri"/>
              </a:rPr>
              <a:t> </a:t>
            </a:r>
            <a:r>
              <a:rPr sz="2200" dirty="0">
                <a:solidFill>
                  <a:srgbClr val="FFFFFF"/>
                </a:solidFill>
                <a:latin typeface="Calibri"/>
                <a:cs typeface="Calibri"/>
              </a:rPr>
              <a:t>home</a:t>
            </a:r>
            <a:r>
              <a:rPr sz="2200" spc="-30" dirty="0">
                <a:solidFill>
                  <a:srgbClr val="FFFFFF"/>
                </a:solidFill>
                <a:latin typeface="Calibri"/>
                <a:cs typeface="Calibri"/>
              </a:rPr>
              <a:t> </a:t>
            </a:r>
            <a:r>
              <a:rPr sz="2200" dirty="0">
                <a:solidFill>
                  <a:srgbClr val="FFFFFF"/>
                </a:solidFill>
                <a:latin typeface="Calibri"/>
                <a:cs typeface="Calibri"/>
              </a:rPr>
              <a:t>appliances</a:t>
            </a:r>
            <a:r>
              <a:rPr sz="2200" spc="-15" dirty="0">
                <a:solidFill>
                  <a:srgbClr val="FFFFFF"/>
                </a:solidFill>
                <a:latin typeface="Calibri"/>
                <a:cs typeface="Calibri"/>
              </a:rPr>
              <a:t> </a:t>
            </a:r>
            <a:r>
              <a:rPr sz="2200" dirty="0">
                <a:solidFill>
                  <a:srgbClr val="FFFFFF"/>
                </a:solidFill>
                <a:latin typeface="Calibri"/>
                <a:cs typeface="Calibri"/>
              </a:rPr>
              <a:t>that</a:t>
            </a:r>
            <a:r>
              <a:rPr sz="2200" spc="-35" dirty="0">
                <a:solidFill>
                  <a:srgbClr val="FFFFFF"/>
                </a:solidFill>
                <a:latin typeface="Calibri"/>
                <a:cs typeface="Calibri"/>
              </a:rPr>
              <a:t> </a:t>
            </a:r>
            <a:r>
              <a:rPr sz="2200" spc="-10" dirty="0">
                <a:solidFill>
                  <a:srgbClr val="FFFFFF"/>
                </a:solidFill>
                <a:latin typeface="Calibri"/>
                <a:cs typeface="Calibri"/>
              </a:rPr>
              <a:t>contain </a:t>
            </a:r>
            <a:r>
              <a:rPr sz="2200" dirty="0">
                <a:solidFill>
                  <a:srgbClr val="FFFFFF"/>
                </a:solidFill>
                <a:latin typeface="Calibri"/>
                <a:cs typeface="Calibri"/>
              </a:rPr>
              <a:t>electronics,</a:t>
            </a:r>
            <a:r>
              <a:rPr sz="2200" spc="-50" dirty="0">
                <a:solidFill>
                  <a:srgbClr val="FFFFFF"/>
                </a:solidFill>
                <a:latin typeface="Calibri"/>
                <a:cs typeface="Calibri"/>
              </a:rPr>
              <a:t> </a:t>
            </a:r>
            <a:r>
              <a:rPr sz="2200" spc="-10" dirty="0">
                <a:solidFill>
                  <a:srgbClr val="FFFFFF"/>
                </a:solidFill>
                <a:latin typeface="Calibri"/>
                <a:cs typeface="Calibri"/>
              </a:rPr>
              <a:t>software,</a:t>
            </a:r>
            <a:r>
              <a:rPr sz="2200" spc="-80" dirty="0">
                <a:solidFill>
                  <a:srgbClr val="FFFFFF"/>
                </a:solidFill>
                <a:latin typeface="Calibri"/>
                <a:cs typeface="Calibri"/>
              </a:rPr>
              <a:t> </a:t>
            </a:r>
            <a:r>
              <a:rPr sz="2200" dirty="0">
                <a:solidFill>
                  <a:srgbClr val="FFFFFF"/>
                </a:solidFill>
                <a:latin typeface="Calibri"/>
                <a:cs typeface="Calibri"/>
              </a:rPr>
              <a:t>actuators</a:t>
            </a:r>
            <a:r>
              <a:rPr sz="2200" spc="-45" dirty="0">
                <a:solidFill>
                  <a:srgbClr val="FFFFFF"/>
                </a:solidFill>
                <a:latin typeface="Calibri"/>
                <a:cs typeface="Calibri"/>
              </a:rPr>
              <a:t> </a:t>
            </a:r>
            <a:r>
              <a:rPr sz="2200" dirty="0">
                <a:solidFill>
                  <a:srgbClr val="FFFFFF"/>
                </a:solidFill>
                <a:latin typeface="Calibri"/>
                <a:cs typeface="Calibri"/>
              </a:rPr>
              <a:t>and</a:t>
            </a:r>
            <a:r>
              <a:rPr sz="2200" spc="-60" dirty="0">
                <a:solidFill>
                  <a:srgbClr val="FFFFFF"/>
                </a:solidFill>
                <a:latin typeface="Calibri"/>
                <a:cs typeface="Calibri"/>
              </a:rPr>
              <a:t> </a:t>
            </a:r>
            <a:r>
              <a:rPr sz="2200" dirty="0">
                <a:solidFill>
                  <a:srgbClr val="FFFFFF"/>
                </a:solidFill>
                <a:latin typeface="Calibri"/>
                <a:cs typeface="Calibri"/>
              </a:rPr>
              <a:t>connectivity</a:t>
            </a:r>
            <a:r>
              <a:rPr sz="2200" spc="-45" dirty="0">
                <a:solidFill>
                  <a:srgbClr val="FFFFFF"/>
                </a:solidFill>
                <a:latin typeface="Calibri"/>
                <a:cs typeface="Calibri"/>
              </a:rPr>
              <a:t> </a:t>
            </a:r>
            <a:r>
              <a:rPr sz="2200" spc="-10" dirty="0">
                <a:solidFill>
                  <a:srgbClr val="FFFFFF"/>
                </a:solidFill>
                <a:latin typeface="Calibri"/>
                <a:cs typeface="Calibri"/>
              </a:rPr>
              <a:t>which </a:t>
            </a:r>
            <a:r>
              <a:rPr sz="2200" dirty="0">
                <a:solidFill>
                  <a:srgbClr val="FFFFFF"/>
                </a:solidFill>
                <a:latin typeface="Calibri"/>
                <a:cs typeface="Calibri"/>
              </a:rPr>
              <a:t>allows</a:t>
            </a:r>
            <a:r>
              <a:rPr sz="2200" spc="-50" dirty="0">
                <a:solidFill>
                  <a:srgbClr val="FFFFFF"/>
                </a:solidFill>
                <a:latin typeface="Calibri"/>
                <a:cs typeface="Calibri"/>
              </a:rPr>
              <a:t> </a:t>
            </a:r>
            <a:r>
              <a:rPr sz="2200" dirty="0">
                <a:solidFill>
                  <a:srgbClr val="FFFFFF"/>
                </a:solidFill>
                <a:latin typeface="Calibri"/>
                <a:cs typeface="Calibri"/>
              </a:rPr>
              <a:t>these</a:t>
            </a:r>
            <a:r>
              <a:rPr sz="2200" spc="-60" dirty="0">
                <a:solidFill>
                  <a:srgbClr val="FFFFFF"/>
                </a:solidFill>
                <a:latin typeface="Calibri"/>
                <a:cs typeface="Calibri"/>
              </a:rPr>
              <a:t> </a:t>
            </a:r>
            <a:r>
              <a:rPr sz="2200" dirty="0">
                <a:solidFill>
                  <a:srgbClr val="FFFFFF"/>
                </a:solidFill>
                <a:latin typeface="Calibri"/>
                <a:cs typeface="Calibri"/>
              </a:rPr>
              <a:t>things</a:t>
            </a:r>
            <a:r>
              <a:rPr sz="2200" spc="-40" dirty="0">
                <a:solidFill>
                  <a:srgbClr val="FFFFFF"/>
                </a:solidFill>
                <a:latin typeface="Calibri"/>
                <a:cs typeface="Calibri"/>
              </a:rPr>
              <a:t> </a:t>
            </a:r>
            <a:r>
              <a:rPr sz="2200" dirty="0">
                <a:solidFill>
                  <a:srgbClr val="FFFFFF"/>
                </a:solidFill>
                <a:latin typeface="Calibri"/>
                <a:cs typeface="Calibri"/>
              </a:rPr>
              <a:t>to</a:t>
            </a:r>
            <a:r>
              <a:rPr sz="2200" spc="-55" dirty="0">
                <a:solidFill>
                  <a:srgbClr val="FFFFFF"/>
                </a:solidFill>
                <a:latin typeface="Calibri"/>
                <a:cs typeface="Calibri"/>
              </a:rPr>
              <a:t> </a:t>
            </a:r>
            <a:r>
              <a:rPr sz="2200" dirty="0">
                <a:solidFill>
                  <a:srgbClr val="FFFFFF"/>
                </a:solidFill>
                <a:latin typeface="Calibri"/>
                <a:cs typeface="Calibri"/>
              </a:rPr>
              <a:t>connect,</a:t>
            </a:r>
            <a:r>
              <a:rPr sz="2200" spc="-30" dirty="0">
                <a:solidFill>
                  <a:srgbClr val="FFFFFF"/>
                </a:solidFill>
                <a:latin typeface="Calibri"/>
                <a:cs typeface="Calibri"/>
              </a:rPr>
              <a:t> </a:t>
            </a:r>
            <a:r>
              <a:rPr sz="2200" dirty="0">
                <a:solidFill>
                  <a:srgbClr val="FFFFFF"/>
                </a:solidFill>
                <a:latin typeface="Calibri"/>
                <a:cs typeface="Calibri"/>
              </a:rPr>
              <a:t>interact</a:t>
            </a:r>
            <a:r>
              <a:rPr sz="2200" spc="-35" dirty="0">
                <a:solidFill>
                  <a:srgbClr val="FFFFFF"/>
                </a:solidFill>
                <a:latin typeface="Calibri"/>
                <a:cs typeface="Calibri"/>
              </a:rPr>
              <a:t> </a:t>
            </a:r>
            <a:r>
              <a:rPr sz="2200" dirty="0">
                <a:solidFill>
                  <a:srgbClr val="FFFFFF"/>
                </a:solidFill>
                <a:latin typeface="Calibri"/>
                <a:cs typeface="Calibri"/>
              </a:rPr>
              <a:t>and</a:t>
            </a:r>
            <a:r>
              <a:rPr sz="2200" spc="-50" dirty="0">
                <a:solidFill>
                  <a:srgbClr val="FFFFFF"/>
                </a:solidFill>
                <a:latin typeface="Calibri"/>
                <a:cs typeface="Calibri"/>
              </a:rPr>
              <a:t> </a:t>
            </a:r>
            <a:r>
              <a:rPr sz="2200" spc="-10" dirty="0">
                <a:solidFill>
                  <a:srgbClr val="FFFFFF"/>
                </a:solidFill>
                <a:latin typeface="Calibri"/>
                <a:cs typeface="Calibri"/>
              </a:rPr>
              <a:t>exchange data.</a:t>
            </a:r>
            <a:endParaRPr sz="2200" dirty="0">
              <a:latin typeface="Calibri"/>
              <a:cs typeface="Calibri"/>
            </a:endParaRPr>
          </a:p>
        </p:txBody>
      </p:sp>
      <p:sp>
        <p:nvSpPr>
          <p:cNvPr id="11" name="object 11"/>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grpSp>
        <p:nvGrpSpPr>
          <p:cNvPr id="12" name="object 12"/>
          <p:cNvGrpSpPr/>
          <p:nvPr/>
        </p:nvGrpSpPr>
        <p:grpSpPr>
          <a:xfrm>
            <a:off x="2857498" y="0"/>
            <a:ext cx="9334500" cy="963930"/>
            <a:chOff x="2857498" y="0"/>
            <a:chExt cx="9334500" cy="963930"/>
          </a:xfrm>
        </p:grpSpPr>
        <p:pic>
          <p:nvPicPr>
            <p:cNvPr id="13" name="object 13"/>
            <p:cNvPicPr/>
            <p:nvPr/>
          </p:nvPicPr>
          <p:blipFill>
            <a:blip r:embed="rId2" cstate="print"/>
            <a:stretch>
              <a:fillRect/>
            </a:stretch>
          </p:blipFill>
          <p:spPr>
            <a:xfrm>
              <a:off x="2857498" y="0"/>
              <a:ext cx="9334501" cy="963309"/>
            </a:xfrm>
            <a:prstGeom prst="rect">
              <a:avLst/>
            </a:prstGeom>
          </p:spPr>
        </p:pic>
        <p:pic>
          <p:nvPicPr>
            <p:cNvPr id="14" name="object 14"/>
            <p:cNvPicPr/>
            <p:nvPr/>
          </p:nvPicPr>
          <p:blipFill>
            <a:blip r:embed="rId3" cstate="print"/>
            <a:stretch>
              <a:fillRect/>
            </a:stretch>
          </p:blipFill>
          <p:spPr>
            <a:xfrm>
              <a:off x="6722364" y="111252"/>
              <a:ext cx="1636776" cy="827532"/>
            </a:xfrm>
            <a:prstGeom prst="rect">
              <a:avLst/>
            </a:prstGeom>
          </p:spPr>
        </p:pic>
        <p:pic>
          <p:nvPicPr>
            <p:cNvPr id="15" name="object 15"/>
            <p:cNvPicPr/>
            <p:nvPr/>
          </p:nvPicPr>
          <p:blipFill>
            <a:blip r:embed="rId4" cstate="print"/>
            <a:stretch>
              <a:fillRect/>
            </a:stretch>
          </p:blipFill>
          <p:spPr>
            <a:xfrm>
              <a:off x="2895599" y="25"/>
              <a:ext cx="9296400" cy="909040"/>
            </a:xfrm>
            <a:prstGeom prst="rect">
              <a:avLst/>
            </a:prstGeom>
          </p:spPr>
        </p:pic>
      </p:grpSp>
      <p:sp>
        <p:nvSpPr>
          <p:cNvPr id="16" name="object 16"/>
          <p:cNvSpPr txBox="1">
            <a:spLocks noGrp="1"/>
          </p:cNvSpPr>
          <p:nvPr>
            <p:ph type="title"/>
          </p:nvPr>
        </p:nvSpPr>
        <p:spPr>
          <a:xfrm>
            <a:off x="0" y="0"/>
            <a:ext cx="12192000" cy="897039"/>
          </a:xfrm>
          <a:prstGeom prst="rect">
            <a:avLst/>
          </a:prstGeom>
          <a:ln w="9525">
            <a:solidFill>
              <a:srgbClr val="46AAC5"/>
            </a:solidFill>
          </a:ln>
        </p:spPr>
        <p:txBody>
          <a:bodyPr vert="horz" wrap="square" lIns="0" tIns="217804" rIns="0" bIns="0" rtlCol="0">
            <a:spAutoFit/>
          </a:bodyPr>
          <a:lstStyle/>
          <a:p>
            <a:pPr algn="l">
              <a:spcBef>
                <a:spcPts val="750"/>
              </a:spcBef>
              <a:spcAft>
                <a:spcPts val="750"/>
              </a:spcAft>
            </a:pPr>
            <a:r>
              <a:rPr lang="en-IN" sz="2000" b="0" i="0" dirty="0">
                <a:solidFill>
                  <a:srgbClr val="000000"/>
                </a:solidFill>
                <a:effectLst/>
                <a:latin typeface="Segoe UI" panose="020B0502040204020203" pitchFamily="34" charset="0"/>
              </a:rPr>
              <a:t>Adjacency List Graph                          </a:t>
            </a:r>
            <a:r>
              <a:rPr lang="en-IN" b="0" i="0" dirty="0">
                <a:solidFill>
                  <a:srgbClr val="000000"/>
                </a:solidFill>
                <a:effectLst/>
                <a:latin typeface="Segoe UI" panose="020B0502040204020203" pitchFamily="34" charset="0"/>
              </a:rPr>
              <a:t>Adjacency List Graph Representation</a:t>
            </a:r>
            <a:br>
              <a:rPr lang="en-IN" sz="1600" b="0" i="0" dirty="0">
                <a:solidFill>
                  <a:srgbClr val="000000"/>
                </a:solidFill>
                <a:effectLst/>
                <a:latin typeface="Segoe UI" panose="020B0502040204020203" pitchFamily="34" charset="0"/>
              </a:rPr>
            </a:br>
            <a:endParaRPr lang="en-IN" sz="2000" b="0" i="0" dirty="0">
              <a:solidFill>
                <a:srgbClr val="000000"/>
              </a:solidFill>
              <a:effectLst/>
              <a:latin typeface="Segoe UI" panose="020B0502040204020203" pitchFamily="34" charset="0"/>
            </a:endParaRPr>
          </a:p>
        </p:txBody>
      </p:sp>
      <p:sp>
        <p:nvSpPr>
          <p:cNvPr id="24" name="Text Placeholder 23">
            <a:extLst>
              <a:ext uri="{FF2B5EF4-FFF2-40B4-BE49-F238E27FC236}">
                <a16:creationId xmlns:a16="http://schemas.microsoft.com/office/drawing/2014/main" id="{D1CED6D8-001D-912A-117F-BA4313E25718}"/>
              </a:ext>
            </a:extLst>
          </p:cNvPr>
          <p:cNvSpPr>
            <a:spLocks noGrp="1"/>
          </p:cNvSpPr>
          <p:nvPr>
            <p:ph type="body" idx="1"/>
          </p:nvPr>
        </p:nvSpPr>
        <p:spPr>
          <a:xfrm>
            <a:off x="762000" y="1138020"/>
            <a:ext cx="10896600" cy="3108543"/>
          </a:xfrm>
        </p:spPr>
        <p:txBody>
          <a:bodyPr/>
          <a:lstStyle/>
          <a:p>
            <a:pPr marL="285750" indent="-285750" algn="l">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A 'sparse' Graph is a Graph where each vertex only has edges to a small portion of the other vertices in the Graph.</a:t>
            </a:r>
          </a:p>
          <a:p>
            <a:pPr marL="285750" indent="-285750" algn="l">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An Adjacency List has an array that contains all the vertices in the Graph, and each vertex has a Linked List (or Array) with the vertex's edges.</a:t>
            </a:r>
          </a:p>
          <a:p>
            <a:pPr marL="285750" indent="-285750">
              <a:buFont typeface="Arial" panose="020B0604020202020204" pitchFamily="34" charset="0"/>
              <a:buChar char="•"/>
            </a:pPr>
            <a:r>
              <a:rPr lang="en-US" sz="1800" dirty="0">
                <a:latin typeface="Times New Roman" pitchFamily="18" charset="0"/>
                <a:cs typeface="Times New Roman" pitchFamily="18" charset="0"/>
              </a:rPr>
              <a:t>An array of linked lists is used. </a:t>
            </a:r>
          </a:p>
          <a:p>
            <a:pPr marL="285750" indent="-285750">
              <a:buFont typeface="Arial" panose="020B0604020202020204" pitchFamily="34" charset="0"/>
              <a:buChar char="•"/>
            </a:pPr>
            <a:r>
              <a:rPr lang="en-US" sz="1800" dirty="0">
                <a:latin typeface="Times New Roman" pitchFamily="18" charset="0"/>
                <a:cs typeface="Times New Roman" pitchFamily="18" charset="0"/>
              </a:rPr>
              <a:t>Size of the array is equal to number of vertices. </a:t>
            </a:r>
          </a:p>
          <a:p>
            <a:pPr marL="285750" indent="-285750">
              <a:buFont typeface="Arial" panose="020B0604020202020204" pitchFamily="34" charset="0"/>
              <a:buChar char="•"/>
            </a:pPr>
            <a:r>
              <a:rPr lang="en-US" sz="1800" dirty="0">
                <a:latin typeface="Times New Roman" pitchFamily="18" charset="0"/>
                <a:cs typeface="Times New Roman" pitchFamily="18" charset="0"/>
              </a:rPr>
              <a:t>Let the array be array[]. An entry array[</a:t>
            </a:r>
            <a:r>
              <a:rPr lang="en-US" sz="1800" dirty="0" err="1">
                <a:latin typeface="Times New Roman" panose="02020603050405020304" pitchFamily="18" charset="0"/>
                <a:cs typeface="Times New Roman" pitchFamily="18" charset="0"/>
              </a:rPr>
              <a:t>i</a:t>
            </a:r>
            <a:r>
              <a:rPr lang="en-US" sz="1800" dirty="0">
                <a:latin typeface="Times New Roman" panose="02020603050405020304" pitchFamily="18" charset="0"/>
                <a:cs typeface="Times New Roman" pitchFamily="18" charset="0"/>
              </a:rPr>
              <a:t>] represents the linked list of vertices adjacent to the </a:t>
            </a:r>
            <a:r>
              <a:rPr lang="en-US" sz="1800" dirty="0" err="1">
                <a:latin typeface="Times New Roman" panose="02020603050405020304" pitchFamily="18" charset="0"/>
                <a:cs typeface="Times New Roman" pitchFamily="18" charset="0"/>
              </a:rPr>
              <a:t>ith</a:t>
            </a:r>
            <a:r>
              <a:rPr lang="en-US" sz="1800" dirty="0">
                <a:latin typeface="Times New Roman" pitchFamily="18" charset="0"/>
                <a:cs typeface="Times New Roman" pitchFamily="18" charset="0"/>
              </a:rPr>
              <a:t> vertex. </a:t>
            </a:r>
          </a:p>
          <a:p>
            <a:pPr marL="285750" indent="-285750">
              <a:buFont typeface="Arial" panose="020B0604020202020204" pitchFamily="34" charset="0"/>
              <a:buChar char="•"/>
            </a:pPr>
            <a:r>
              <a:rPr lang="en-US" sz="1800" dirty="0">
                <a:latin typeface="Times New Roman" pitchFamily="18" charset="0"/>
                <a:cs typeface="Times New Roman" pitchFamily="18" charset="0"/>
              </a:rPr>
              <a:t>This representation can also be used to represent a weighted graph. </a:t>
            </a:r>
          </a:p>
          <a:p>
            <a:pPr marL="285750" indent="-285750">
              <a:buFont typeface="Arial" panose="020B0604020202020204" pitchFamily="34" charset="0"/>
              <a:buChar char="•"/>
            </a:pPr>
            <a:r>
              <a:rPr lang="en-US" sz="1800" dirty="0">
                <a:latin typeface="Times New Roman" pitchFamily="18" charset="0"/>
                <a:cs typeface="Times New Roman" pitchFamily="18" charset="0"/>
              </a:rPr>
              <a:t>The weights of edges can be stored in nodes of linked lists.</a:t>
            </a:r>
          </a:p>
          <a:p>
            <a:pPr marL="285750" indent="-285750">
              <a:buFont typeface="Arial" panose="020B0604020202020204" pitchFamily="34" charset="0"/>
              <a:buChar char="•"/>
            </a:pPr>
            <a:r>
              <a:rPr lang="en-US" sz="1800" dirty="0">
                <a:latin typeface="Times New Roman" pitchFamily="18" charset="0"/>
                <a:cs typeface="Times New Roman" pitchFamily="18" charset="0"/>
              </a:rPr>
              <a:t> Following is adjacency list representation of the above graph</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l"/>
            <a:endParaRPr lang="en-US" sz="1800" b="0" i="0" dirty="0">
              <a:solidFill>
                <a:srgbClr val="000000"/>
              </a:solidFill>
              <a:effectLst/>
              <a:latin typeface="Verdana" panose="020B0604030504040204" pitchFamily="34" charset="0"/>
            </a:endParaRPr>
          </a:p>
          <a:p>
            <a:endParaRPr lang="en-IN" dirty="0"/>
          </a:p>
        </p:txBody>
      </p:sp>
      <p:pic>
        <p:nvPicPr>
          <p:cNvPr id="17" name="object 17"/>
          <p:cNvPicPr/>
          <p:nvPr/>
        </p:nvPicPr>
        <p:blipFill>
          <a:blip r:embed="rId5" cstate="print"/>
          <a:stretch>
            <a:fillRect/>
          </a:stretch>
        </p:blipFill>
        <p:spPr>
          <a:xfrm>
            <a:off x="76200" y="25"/>
            <a:ext cx="2514600" cy="947267"/>
          </a:xfrm>
          <a:prstGeom prst="rect">
            <a:avLst/>
          </a:prstGeom>
        </p:spPr>
      </p:pic>
      <p:pic>
        <p:nvPicPr>
          <p:cNvPr id="30" name="Picture 29">
            <a:extLst>
              <a:ext uri="{FF2B5EF4-FFF2-40B4-BE49-F238E27FC236}">
                <a16:creationId xmlns:a16="http://schemas.microsoft.com/office/drawing/2014/main" id="{82DA46C9-7636-5E83-5ACC-970FFB217B55}"/>
              </a:ext>
            </a:extLst>
          </p:cNvPr>
          <p:cNvPicPr>
            <a:picLocks noChangeAspect="1"/>
          </p:cNvPicPr>
          <p:nvPr/>
        </p:nvPicPr>
        <p:blipFill>
          <a:blip r:embed="rId6"/>
          <a:stretch>
            <a:fillRect/>
          </a:stretch>
        </p:blipFill>
        <p:spPr>
          <a:xfrm>
            <a:off x="3886200" y="3657600"/>
            <a:ext cx="4159045" cy="2819400"/>
          </a:xfrm>
          <a:prstGeom prst="rect">
            <a:avLst/>
          </a:prstGeom>
        </p:spPr>
      </p:pic>
      <p:sp>
        <p:nvSpPr>
          <p:cNvPr id="2" name="Date Placeholder 1">
            <a:extLst>
              <a:ext uri="{FF2B5EF4-FFF2-40B4-BE49-F238E27FC236}">
                <a16:creationId xmlns:a16="http://schemas.microsoft.com/office/drawing/2014/main" id="{4D4D8135-9BF6-4B13-9F27-5EB4986670AD}"/>
              </a:ext>
            </a:extLst>
          </p:cNvPr>
          <p:cNvSpPr>
            <a:spLocks noGrp="1"/>
          </p:cNvSpPr>
          <p:nvPr>
            <p:ph type="dt" sz="half" idx="6"/>
          </p:nvPr>
        </p:nvSpPr>
        <p:spPr/>
        <p:txBody>
          <a:bodyPr/>
          <a:lstStyle/>
          <a:p>
            <a:pPr marL="12700">
              <a:lnSpc>
                <a:spcPts val="1240"/>
              </a:lnSpc>
            </a:pPr>
            <a:fld id="{FD2D3933-29B4-4E60-9CB9-7537F81127CC}" type="datetime1">
              <a:rPr lang="en-US" spc="-25" smtClean="0"/>
              <a:t>7/8/2026</a:t>
            </a:fld>
            <a:endParaRPr lang="en-IN" spc="-25" dirty="0"/>
          </a:p>
        </p:txBody>
      </p:sp>
      <p:sp>
        <p:nvSpPr>
          <p:cNvPr id="3" name="Footer Placeholder 2">
            <a:extLst>
              <a:ext uri="{FF2B5EF4-FFF2-40B4-BE49-F238E27FC236}">
                <a16:creationId xmlns:a16="http://schemas.microsoft.com/office/drawing/2014/main" id="{A9151C80-DB8F-4DEE-A67C-26FC303854C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71806C-99EE-1214-25E6-C055D37FD543}"/>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D13B5781-41CC-B4BB-3B7C-37924D694E96}"/>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pic>
        <p:nvPicPr>
          <p:cNvPr id="17" name="object 17">
            <a:extLst>
              <a:ext uri="{FF2B5EF4-FFF2-40B4-BE49-F238E27FC236}">
                <a16:creationId xmlns:a16="http://schemas.microsoft.com/office/drawing/2014/main" id="{3663DE9D-ECC0-D42A-6079-69CE5943A9D0}"/>
              </a:ext>
            </a:extLst>
          </p:cNvPr>
          <p:cNvPicPr/>
          <p:nvPr/>
        </p:nvPicPr>
        <p:blipFill>
          <a:blip r:embed="rId3" cstate="print"/>
          <a:stretch>
            <a:fillRect/>
          </a:stretch>
        </p:blipFill>
        <p:spPr>
          <a:xfrm>
            <a:off x="76200" y="25"/>
            <a:ext cx="2514600" cy="947267"/>
          </a:xfrm>
          <a:prstGeom prst="rect">
            <a:avLst/>
          </a:prstGeom>
        </p:spPr>
      </p:pic>
      <p:sp>
        <p:nvSpPr>
          <p:cNvPr id="3" name="Text Placeholder 2">
            <a:extLst>
              <a:ext uri="{FF2B5EF4-FFF2-40B4-BE49-F238E27FC236}">
                <a16:creationId xmlns:a16="http://schemas.microsoft.com/office/drawing/2014/main" id="{2413C86B-AA4E-ADB3-6DB6-52C34973795E}"/>
              </a:ext>
            </a:extLst>
          </p:cNvPr>
          <p:cNvSpPr>
            <a:spLocks noGrp="1"/>
          </p:cNvSpPr>
          <p:nvPr>
            <p:ph type="body" idx="1"/>
          </p:nvPr>
        </p:nvSpPr>
        <p:spPr>
          <a:xfrm>
            <a:off x="2715895" y="1371600"/>
            <a:ext cx="7294880" cy="4278094"/>
          </a:xfrm>
        </p:spPr>
        <p:txBody>
          <a:bodyPr/>
          <a:lstStyle/>
          <a:p>
            <a:r>
              <a:rPr lang="en-US" sz="2000" dirty="0">
                <a:latin typeface="Times New Roman" panose="02020603050405020304" pitchFamily="18" charset="0"/>
                <a:cs typeface="Times New Roman" panose="02020603050405020304" pitchFamily="18" charset="0"/>
              </a:rPr>
              <a:t>#include &lt;</a:t>
            </a:r>
            <a:r>
              <a:rPr lang="en-US" sz="2000" dirty="0" err="1">
                <a:latin typeface="Times New Roman" panose="02020603050405020304" pitchFamily="18" charset="0"/>
                <a:cs typeface="Times New Roman" panose="02020603050405020304" pitchFamily="18" charset="0"/>
              </a:rPr>
              <a:t>stdio.h</a:t>
            </a:r>
            <a:r>
              <a:rPr lang="en-US" sz="2000" dirty="0">
                <a:latin typeface="Times New Roman" panose="02020603050405020304" pitchFamily="18" charset="0"/>
                <a:cs typeface="Times New Roman" panose="02020603050405020304" pitchFamily="18" charset="0"/>
              </a:rPr>
              <a:t>&gt;</a:t>
            </a:r>
          </a:p>
          <a:p>
            <a:r>
              <a:rPr lang="en-US" sz="2000" dirty="0">
                <a:latin typeface="Times New Roman" panose="02020603050405020304" pitchFamily="18" charset="0"/>
                <a:cs typeface="Times New Roman" panose="02020603050405020304" pitchFamily="18" charset="0"/>
              </a:rPr>
              <a:t>#include &lt;</a:t>
            </a:r>
            <a:r>
              <a:rPr lang="en-US" sz="2000" dirty="0" err="1">
                <a:latin typeface="Times New Roman" panose="02020603050405020304" pitchFamily="18" charset="0"/>
                <a:cs typeface="Times New Roman" panose="02020603050405020304" pitchFamily="18" charset="0"/>
              </a:rPr>
              <a:t>stdlib.h</a:t>
            </a:r>
            <a:r>
              <a:rPr lang="en-US" sz="2000" dirty="0">
                <a:latin typeface="Times New Roman" panose="02020603050405020304" pitchFamily="18" charset="0"/>
                <a:cs typeface="Times New Roman" panose="02020603050405020304" pitchFamily="18" charset="0"/>
              </a:rPr>
              <a:t>&gt;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struct node {</a:t>
            </a:r>
          </a:p>
          <a:p>
            <a:r>
              <a:rPr lang="en-US" sz="2000" dirty="0">
                <a:latin typeface="Times New Roman" panose="02020603050405020304" pitchFamily="18" charset="0"/>
                <a:cs typeface="Times New Roman" panose="02020603050405020304" pitchFamily="18" charset="0"/>
              </a:rPr>
              <a:t>  int vertex;</a:t>
            </a:r>
          </a:p>
          <a:p>
            <a:r>
              <a:rPr lang="en-US" sz="2000" dirty="0">
                <a:latin typeface="Times New Roman" panose="02020603050405020304" pitchFamily="18" charset="0"/>
                <a:cs typeface="Times New Roman" panose="02020603050405020304" pitchFamily="18" charset="0"/>
              </a:rPr>
              <a:t>  struct node* next;</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struct node* </a:t>
            </a:r>
            <a:r>
              <a:rPr lang="en-US" sz="2000" dirty="0" err="1">
                <a:latin typeface="Times New Roman" panose="02020603050405020304" pitchFamily="18" charset="0"/>
                <a:cs typeface="Times New Roman" panose="02020603050405020304" pitchFamily="18" charset="0"/>
              </a:rPr>
              <a:t>createNode</a:t>
            </a:r>
            <a:r>
              <a:rPr lang="en-US" sz="2000" dirty="0">
                <a:latin typeface="Times New Roman" panose="02020603050405020304" pitchFamily="18" charset="0"/>
                <a:cs typeface="Times New Roman" panose="02020603050405020304" pitchFamily="18" charset="0"/>
              </a:rPr>
              <a:t>(int);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struct Graph {</a:t>
            </a:r>
          </a:p>
          <a:p>
            <a:r>
              <a:rPr lang="en-US" sz="2000" dirty="0">
                <a:latin typeface="Times New Roman" panose="02020603050405020304" pitchFamily="18" charset="0"/>
                <a:cs typeface="Times New Roman" panose="02020603050405020304" pitchFamily="18" charset="0"/>
              </a:rPr>
              <a:t>  int </a:t>
            </a:r>
            <a:r>
              <a:rPr lang="en-US" sz="2000" dirty="0" err="1">
                <a:latin typeface="Times New Roman" panose="02020603050405020304" pitchFamily="18" charset="0"/>
                <a:cs typeface="Times New Roman" panose="02020603050405020304" pitchFamily="18" charset="0"/>
              </a:rPr>
              <a:t>numVertices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struct node** </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a:p>
            <a:endParaRPr lang="en-US" sz="1800" dirty="0"/>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2715895" y="-18829"/>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LIST GRAPH REPRESENTATION</a:t>
            </a:r>
          </a:p>
        </p:txBody>
      </p:sp>
      <p:sp>
        <p:nvSpPr>
          <p:cNvPr id="2" name="Date Placeholder 1">
            <a:extLst>
              <a:ext uri="{FF2B5EF4-FFF2-40B4-BE49-F238E27FC236}">
                <a16:creationId xmlns:a16="http://schemas.microsoft.com/office/drawing/2014/main" id="{BBA2CBDA-8399-4884-9204-4C6275270770}"/>
              </a:ext>
            </a:extLst>
          </p:cNvPr>
          <p:cNvSpPr>
            <a:spLocks noGrp="1"/>
          </p:cNvSpPr>
          <p:nvPr>
            <p:ph type="dt" sz="half" idx="6"/>
          </p:nvPr>
        </p:nvSpPr>
        <p:spPr/>
        <p:txBody>
          <a:bodyPr/>
          <a:lstStyle/>
          <a:p>
            <a:pPr marL="12700">
              <a:lnSpc>
                <a:spcPts val="1240"/>
              </a:lnSpc>
            </a:pPr>
            <a:fld id="{22BAB424-7EE8-4C89-828C-D34A30B167F1}" type="datetime1">
              <a:rPr lang="en-US" spc="-25" smtClean="0"/>
              <a:t>7/8/2026</a:t>
            </a:fld>
            <a:endParaRPr lang="en-IN" spc="-25" dirty="0"/>
          </a:p>
        </p:txBody>
      </p:sp>
      <p:sp>
        <p:nvSpPr>
          <p:cNvPr id="4" name="Footer Placeholder 3">
            <a:extLst>
              <a:ext uri="{FF2B5EF4-FFF2-40B4-BE49-F238E27FC236}">
                <a16:creationId xmlns:a16="http://schemas.microsoft.com/office/drawing/2014/main" id="{4425CB75-E35E-4EE5-87B4-9DF433E398E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953724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806C-99EE-1214-25E6-C055D37FD543}"/>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D13B5781-41CC-B4BB-3B7C-37924D694E96}"/>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pic>
        <p:nvPicPr>
          <p:cNvPr id="17" name="object 17">
            <a:extLst>
              <a:ext uri="{FF2B5EF4-FFF2-40B4-BE49-F238E27FC236}">
                <a16:creationId xmlns:a16="http://schemas.microsoft.com/office/drawing/2014/main" id="{3663DE9D-ECC0-D42A-6079-69CE5943A9D0}"/>
              </a:ext>
            </a:extLst>
          </p:cNvPr>
          <p:cNvPicPr/>
          <p:nvPr/>
        </p:nvPicPr>
        <p:blipFill>
          <a:blip r:embed="rId2" cstate="print"/>
          <a:stretch>
            <a:fillRect/>
          </a:stretch>
        </p:blipFill>
        <p:spPr>
          <a:xfrm>
            <a:off x="76200" y="25"/>
            <a:ext cx="2514600" cy="947267"/>
          </a:xfrm>
          <a:prstGeom prst="rect">
            <a:avLst/>
          </a:prstGeom>
        </p:spPr>
      </p:pic>
      <p:sp>
        <p:nvSpPr>
          <p:cNvPr id="3" name="Text Placeholder 2">
            <a:extLst>
              <a:ext uri="{FF2B5EF4-FFF2-40B4-BE49-F238E27FC236}">
                <a16:creationId xmlns:a16="http://schemas.microsoft.com/office/drawing/2014/main" id="{2413C86B-AA4E-ADB3-6DB6-52C34973795E}"/>
              </a:ext>
            </a:extLst>
          </p:cNvPr>
          <p:cNvSpPr>
            <a:spLocks noGrp="1"/>
          </p:cNvSpPr>
          <p:nvPr>
            <p:ph type="body" idx="1"/>
          </p:nvPr>
        </p:nvSpPr>
        <p:spPr>
          <a:xfrm>
            <a:off x="2715895" y="1066800"/>
            <a:ext cx="7294880" cy="2739211"/>
          </a:xfrm>
        </p:spPr>
        <p:txBody>
          <a:bodyPr/>
          <a:lstStyle/>
          <a:p>
            <a:endParaRPr lang="en-US" sz="1800" dirty="0"/>
          </a:p>
          <a:p>
            <a:r>
              <a:rPr lang="en-US" sz="2000" dirty="0">
                <a:latin typeface="Times New Roman" panose="02020603050405020304" pitchFamily="18" charset="0"/>
                <a:cs typeface="Times New Roman" panose="02020603050405020304" pitchFamily="18" charset="0"/>
              </a:rPr>
              <a:t>// Create a node</a:t>
            </a:r>
          </a:p>
          <a:p>
            <a:r>
              <a:rPr lang="en-US" sz="2000" dirty="0">
                <a:latin typeface="Times New Roman" panose="02020603050405020304" pitchFamily="18" charset="0"/>
                <a:cs typeface="Times New Roman" panose="02020603050405020304" pitchFamily="18" charset="0"/>
              </a:rPr>
              <a:t>struct node* </a:t>
            </a:r>
            <a:r>
              <a:rPr lang="en-US" sz="2000" dirty="0" err="1">
                <a:latin typeface="Times New Roman" panose="02020603050405020304" pitchFamily="18" charset="0"/>
                <a:cs typeface="Times New Roman" panose="02020603050405020304" pitchFamily="18" charset="0"/>
              </a:rPr>
              <a:t>createNode</a:t>
            </a:r>
            <a:r>
              <a:rPr lang="en-US" sz="2000" dirty="0">
                <a:latin typeface="Times New Roman" panose="02020603050405020304" pitchFamily="18" charset="0"/>
                <a:cs typeface="Times New Roman" panose="02020603050405020304" pitchFamily="18" charset="0"/>
              </a:rPr>
              <a:t>(int v) {</a:t>
            </a:r>
          </a:p>
          <a:p>
            <a:r>
              <a:rPr lang="en-US" sz="2000" dirty="0">
                <a:latin typeface="Times New Roman" panose="02020603050405020304" pitchFamily="18" charset="0"/>
                <a:cs typeface="Times New Roman" panose="02020603050405020304" pitchFamily="18" charset="0"/>
              </a:rPr>
              <a:t>  struct node*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 = malloc(</a:t>
            </a:r>
            <a:r>
              <a:rPr lang="en-US" sz="2000" dirty="0" err="1">
                <a:latin typeface="Times New Roman" panose="02020603050405020304" pitchFamily="18" charset="0"/>
                <a:cs typeface="Times New Roman" panose="02020603050405020304" pitchFamily="18" charset="0"/>
              </a:rPr>
              <a:t>sizeof</a:t>
            </a:r>
            <a:r>
              <a:rPr lang="en-US" sz="2000" dirty="0">
                <a:latin typeface="Times New Roman" panose="02020603050405020304" pitchFamily="18" charset="0"/>
                <a:cs typeface="Times New Roman" panose="02020603050405020304" pitchFamily="18" charset="0"/>
              </a:rPr>
              <a:t>(struct node));</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-&gt;vertex = v;</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-&gt;next = NULL;</a:t>
            </a:r>
          </a:p>
          <a:p>
            <a:r>
              <a:rPr lang="en-US" sz="2000" dirty="0">
                <a:latin typeface="Times New Roman" panose="02020603050405020304" pitchFamily="18" charset="0"/>
                <a:cs typeface="Times New Roman" panose="02020603050405020304" pitchFamily="18" charset="0"/>
              </a:rPr>
              <a:t>  return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2715895" y="-18829"/>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LIST GRAPH REPRESENTATION</a:t>
            </a:r>
          </a:p>
        </p:txBody>
      </p:sp>
      <p:sp>
        <p:nvSpPr>
          <p:cNvPr id="2" name="Date Placeholder 1">
            <a:extLst>
              <a:ext uri="{FF2B5EF4-FFF2-40B4-BE49-F238E27FC236}">
                <a16:creationId xmlns:a16="http://schemas.microsoft.com/office/drawing/2014/main" id="{4335E5DD-743F-4A83-A22D-9E85708C5768}"/>
              </a:ext>
            </a:extLst>
          </p:cNvPr>
          <p:cNvSpPr>
            <a:spLocks noGrp="1"/>
          </p:cNvSpPr>
          <p:nvPr>
            <p:ph type="dt" sz="half" idx="6"/>
          </p:nvPr>
        </p:nvSpPr>
        <p:spPr/>
        <p:txBody>
          <a:bodyPr/>
          <a:lstStyle/>
          <a:p>
            <a:pPr marL="12700">
              <a:lnSpc>
                <a:spcPts val="1240"/>
              </a:lnSpc>
            </a:pPr>
            <a:fld id="{939F2E27-9496-4FDE-984E-894BCEDECF96}" type="datetime1">
              <a:rPr lang="en-US" spc="-25" smtClean="0"/>
              <a:t>7/8/2026</a:t>
            </a:fld>
            <a:endParaRPr lang="en-IN" spc="-25" dirty="0"/>
          </a:p>
        </p:txBody>
      </p:sp>
      <p:sp>
        <p:nvSpPr>
          <p:cNvPr id="4" name="Footer Placeholder 3">
            <a:extLst>
              <a:ext uri="{FF2B5EF4-FFF2-40B4-BE49-F238E27FC236}">
                <a16:creationId xmlns:a16="http://schemas.microsoft.com/office/drawing/2014/main" id="{B1DF2AE0-5063-4C4A-B563-D6690F7FC57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545925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6126-5D46-9D50-6352-83E36690B86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434519B1-2042-8983-2A87-706106B25E49}"/>
              </a:ext>
            </a:extLst>
          </p:cNvPr>
          <p:cNvSpPr txBox="1"/>
          <p:nvPr/>
        </p:nvSpPr>
        <p:spPr>
          <a:xfrm>
            <a:off x="2750947" y="1384554"/>
            <a:ext cx="6256655" cy="1286378"/>
          </a:xfrm>
          <a:prstGeom prst="rect">
            <a:avLst/>
          </a:prstGeom>
        </p:spPr>
        <p:txBody>
          <a:bodyPr vert="horz" wrap="square" lIns="0" tIns="40005" rIns="0" bIns="0" rtlCol="0">
            <a:spAutoFit/>
          </a:bodyPr>
          <a:lstStyle/>
          <a:p>
            <a:pPr marL="12700" marR="5080">
              <a:lnSpc>
                <a:spcPct val="91600"/>
              </a:lnSpc>
              <a:spcBef>
                <a:spcPts val="315"/>
              </a:spcBef>
            </a:pPr>
            <a:r>
              <a:rPr sz="2200" dirty="0">
                <a:solidFill>
                  <a:srgbClr val="FFFFFF"/>
                </a:solidFill>
                <a:latin typeface="Calibri"/>
                <a:cs typeface="Calibri"/>
              </a:rPr>
              <a:t>)</a:t>
            </a:r>
            <a:r>
              <a:rPr sz="2200" spc="-30" dirty="0">
                <a:solidFill>
                  <a:srgbClr val="FFFFFF"/>
                </a:solidFill>
                <a:latin typeface="Calibri"/>
                <a:cs typeface="Calibri"/>
              </a:rPr>
              <a:t> </a:t>
            </a:r>
            <a:r>
              <a:rPr sz="2200" dirty="0">
                <a:solidFill>
                  <a:srgbClr val="FFFFFF"/>
                </a:solidFill>
                <a:latin typeface="Calibri"/>
                <a:cs typeface="Calibri"/>
              </a:rPr>
              <a:t>is</a:t>
            </a:r>
            <a:r>
              <a:rPr sz="2200" spc="-40" dirty="0">
                <a:solidFill>
                  <a:srgbClr val="FFFFFF"/>
                </a:solidFill>
                <a:latin typeface="Calibri"/>
                <a:cs typeface="Calibri"/>
              </a:rPr>
              <a:t> </a:t>
            </a:r>
            <a:r>
              <a:rPr sz="2200" dirty="0">
                <a:solidFill>
                  <a:srgbClr val="FFFFFF"/>
                </a:solidFill>
                <a:latin typeface="Calibri"/>
                <a:cs typeface="Calibri"/>
              </a:rPr>
              <a:t>the</a:t>
            </a:r>
            <a:r>
              <a:rPr sz="2200" spc="-30" dirty="0">
                <a:solidFill>
                  <a:srgbClr val="FFFFFF"/>
                </a:solidFill>
                <a:latin typeface="Calibri"/>
                <a:cs typeface="Calibri"/>
              </a:rPr>
              <a:t> </a:t>
            </a:r>
            <a:r>
              <a:rPr sz="2200" dirty="0">
                <a:solidFill>
                  <a:srgbClr val="FFFFFF"/>
                </a:solidFill>
                <a:latin typeface="Calibri"/>
                <a:cs typeface="Calibri"/>
              </a:rPr>
              <a:t>network</a:t>
            </a:r>
            <a:r>
              <a:rPr sz="2200" spc="-45" dirty="0">
                <a:solidFill>
                  <a:srgbClr val="FFFFFF"/>
                </a:solidFill>
                <a:latin typeface="Calibri"/>
                <a:cs typeface="Calibri"/>
              </a:rPr>
              <a:t> </a:t>
            </a:r>
            <a:r>
              <a:rPr sz="2200" dirty="0">
                <a:solidFill>
                  <a:srgbClr val="FFFFFF"/>
                </a:solidFill>
                <a:latin typeface="Calibri"/>
                <a:cs typeface="Calibri"/>
              </a:rPr>
              <a:t>of</a:t>
            </a:r>
            <a:r>
              <a:rPr sz="2200" spc="-40" dirty="0">
                <a:solidFill>
                  <a:srgbClr val="FFFFFF"/>
                </a:solidFill>
                <a:latin typeface="Calibri"/>
                <a:cs typeface="Calibri"/>
              </a:rPr>
              <a:t> </a:t>
            </a:r>
            <a:r>
              <a:rPr sz="2200" spc="-10" dirty="0">
                <a:solidFill>
                  <a:srgbClr val="FFFFFF"/>
                </a:solidFill>
                <a:latin typeface="Calibri"/>
                <a:cs typeface="Calibri"/>
              </a:rPr>
              <a:t>devices </a:t>
            </a:r>
            <a:r>
              <a:rPr sz="2200" dirty="0">
                <a:solidFill>
                  <a:srgbClr val="FFFFFF"/>
                </a:solidFill>
                <a:latin typeface="Calibri"/>
                <a:cs typeface="Calibri"/>
              </a:rPr>
              <a:t>such</a:t>
            </a:r>
            <a:r>
              <a:rPr sz="2200" spc="-40" dirty="0">
                <a:solidFill>
                  <a:srgbClr val="FFFFFF"/>
                </a:solidFill>
                <a:latin typeface="Calibri"/>
                <a:cs typeface="Calibri"/>
              </a:rPr>
              <a:t> </a:t>
            </a:r>
            <a:r>
              <a:rPr sz="2200" dirty="0">
                <a:solidFill>
                  <a:srgbClr val="FFFFFF"/>
                </a:solidFill>
                <a:latin typeface="Calibri"/>
                <a:cs typeface="Calibri"/>
              </a:rPr>
              <a:t>as</a:t>
            </a:r>
            <a:r>
              <a:rPr sz="2200" spc="-35" dirty="0">
                <a:solidFill>
                  <a:srgbClr val="FFFFFF"/>
                </a:solidFill>
                <a:latin typeface="Calibri"/>
                <a:cs typeface="Calibri"/>
              </a:rPr>
              <a:t> </a:t>
            </a:r>
            <a:r>
              <a:rPr sz="2200" dirty="0">
                <a:solidFill>
                  <a:srgbClr val="FFFFFF"/>
                </a:solidFill>
                <a:latin typeface="Calibri"/>
                <a:cs typeface="Calibri"/>
              </a:rPr>
              <a:t>vehicles,</a:t>
            </a:r>
            <a:r>
              <a:rPr sz="2200" spc="-10" dirty="0">
                <a:solidFill>
                  <a:srgbClr val="FFFFFF"/>
                </a:solidFill>
                <a:latin typeface="Calibri"/>
                <a:cs typeface="Calibri"/>
              </a:rPr>
              <a:t> </a:t>
            </a:r>
            <a:r>
              <a:rPr sz="2200" dirty="0">
                <a:solidFill>
                  <a:srgbClr val="FFFFFF"/>
                </a:solidFill>
                <a:latin typeface="Calibri"/>
                <a:cs typeface="Calibri"/>
              </a:rPr>
              <a:t>and</a:t>
            </a:r>
            <a:r>
              <a:rPr sz="2200" spc="-25" dirty="0">
                <a:solidFill>
                  <a:srgbClr val="FFFFFF"/>
                </a:solidFill>
                <a:latin typeface="Calibri"/>
                <a:cs typeface="Calibri"/>
              </a:rPr>
              <a:t> </a:t>
            </a:r>
            <a:r>
              <a:rPr sz="2200" dirty="0">
                <a:solidFill>
                  <a:srgbClr val="FFFFFF"/>
                </a:solidFill>
                <a:latin typeface="Calibri"/>
                <a:cs typeface="Calibri"/>
              </a:rPr>
              <a:t>home</a:t>
            </a:r>
            <a:r>
              <a:rPr sz="2200" spc="-30" dirty="0">
                <a:solidFill>
                  <a:srgbClr val="FFFFFF"/>
                </a:solidFill>
                <a:latin typeface="Calibri"/>
                <a:cs typeface="Calibri"/>
              </a:rPr>
              <a:t> </a:t>
            </a:r>
            <a:r>
              <a:rPr sz="2200" dirty="0">
                <a:solidFill>
                  <a:srgbClr val="FFFFFF"/>
                </a:solidFill>
                <a:latin typeface="Calibri"/>
                <a:cs typeface="Calibri"/>
              </a:rPr>
              <a:t>appliances</a:t>
            </a:r>
            <a:r>
              <a:rPr sz="2200" spc="-15" dirty="0">
                <a:solidFill>
                  <a:srgbClr val="FFFFFF"/>
                </a:solidFill>
                <a:latin typeface="Calibri"/>
                <a:cs typeface="Calibri"/>
              </a:rPr>
              <a:t> </a:t>
            </a:r>
            <a:r>
              <a:rPr sz="2200" dirty="0">
                <a:solidFill>
                  <a:srgbClr val="FFFFFF"/>
                </a:solidFill>
                <a:latin typeface="Calibri"/>
                <a:cs typeface="Calibri"/>
              </a:rPr>
              <a:t>that</a:t>
            </a:r>
            <a:r>
              <a:rPr sz="2200" spc="-35" dirty="0">
                <a:solidFill>
                  <a:srgbClr val="FFFFFF"/>
                </a:solidFill>
                <a:latin typeface="Calibri"/>
                <a:cs typeface="Calibri"/>
              </a:rPr>
              <a:t> </a:t>
            </a:r>
            <a:r>
              <a:rPr sz="2200" spc="-10" dirty="0">
                <a:solidFill>
                  <a:srgbClr val="FFFFFF"/>
                </a:solidFill>
                <a:latin typeface="Calibri"/>
                <a:cs typeface="Calibri"/>
              </a:rPr>
              <a:t>contain </a:t>
            </a:r>
            <a:r>
              <a:rPr sz="2200" dirty="0">
                <a:solidFill>
                  <a:srgbClr val="FFFFFF"/>
                </a:solidFill>
                <a:latin typeface="Calibri"/>
                <a:cs typeface="Calibri"/>
              </a:rPr>
              <a:t>electronics,</a:t>
            </a:r>
            <a:r>
              <a:rPr sz="2200" spc="-50" dirty="0">
                <a:solidFill>
                  <a:srgbClr val="FFFFFF"/>
                </a:solidFill>
                <a:latin typeface="Calibri"/>
                <a:cs typeface="Calibri"/>
              </a:rPr>
              <a:t> </a:t>
            </a:r>
            <a:r>
              <a:rPr sz="2200" spc="-10" dirty="0">
                <a:solidFill>
                  <a:srgbClr val="FFFFFF"/>
                </a:solidFill>
                <a:latin typeface="Calibri"/>
                <a:cs typeface="Calibri"/>
              </a:rPr>
              <a:t>software,</a:t>
            </a:r>
            <a:r>
              <a:rPr sz="2200" spc="-80" dirty="0">
                <a:solidFill>
                  <a:srgbClr val="FFFFFF"/>
                </a:solidFill>
                <a:latin typeface="Calibri"/>
                <a:cs typeface="Calibri"/>
              </a:rPr>
              <a:t> </a:t>
            </a:r>
            <a:r>
              <a:rPr sz="2200" dirty="0">
                <a:solidFill>
                  <a:srgbClr val="FFFFFF"/>
                </a:solidFill>
                <a:latin typeface="Calibri"/>
                <a:cs typeface="Calibri"/>
              </a:rPr>
              <a:t>actuators</a:t>
            </a:r>
            <a:r>
              <a:rPr sz="2200" spc="-45" dirty="0">
                <a:solidFill>
                  <a:srgbClr val="FFFFFF"/>
                </a:solidFill>
                <a:latin typeface="Calibri"/>
                <a:cs typeface="Calibri"/>
              </a:rPr>
              <a:t> </a:t>
            </a:r>
            <a:r>
              <a:rPr sz="2200" dirty="0">
                <a:solidFill>
                  <a:srgbClr val="FFFFFF"/>
                </a:solidFill>
                <a:latin typeface="Calibri"/>
                <a:cs typeface="Calibri"/>
              </a:rPr>
              <a:t>and</a:t>
            </a:r>
            <a:r>
              <a:rPr sz="2200" spc="-60" dirty="0">
                <a:solidFill>
                  <a:srgbClr val="FFFFFF"/>
                </a:solidFill>
                <a:latin typeface="Calibri"/>
                <a:cs typeface="Calibri"/>
              </a:rPr>
              <a:t> </a:t>
            </a:r>
            <a:r>
              <a:rPr sz="2200" dirty="0">
                <a:solidFill>
                  <a:srgbClr val="FFFFFF"/>
                </a:solidFill>
                <a:latin typeface="Calibri"/>
                <a:cs typeface="Calibri"/>
              </a:rPr>
              <a:t>connectivity</a:t>
            </a:r>
            <a:r>
              <a:rPr sz="2200" spc="-45" dirty="0">
                <a:solidFill>
                  <a:srgbClr val="FFFFFF"/>
                </a:solidFill>
                <a:latin typeface="Calibri"/>
                <a:cs typeface="Calibri"/>
              </a:rPr>
              <a:t> </a:t>
            </a:r>
            <a:r>
              <a:rPr sz="2200" spc="-10" dirty="0">
                <a:solidFill>
                  <a:srgbClr val="FFFFFF"/>
                </a:solidFill>
                <a:latin typeface="Calibri"/>
                <a:cs typeface="Calibri"/>
              </a:rPr>
              <a:t>which </a:t>
            </a:r>
            <a:r>
              <a:rPr sz="2200" dirty="0">
                <a:solidFill>
                  <a:srgbClr val="FFFFFF"/>
                </a:solidFill>
                <a:latin typeface="Calibri"/>
                <a:cs typeface="Calibri"/>
              </a:rPr>
              <a:t>allows</a:t>
            </a:r>
            <a:r>
              <a:rPr sz="2200" spc="-50" dirty="0">
                <a:solidFill>
                  <a:srgbClr val="FFFFFF"/>
                </a:solidFill>
                <a:latin typeface="Calibri"/>
                <a:cs typeface="Calibri"/>
              </a:rPr>
              <a:t> </a:t>
            </a:r>
            <a:r>
              <a:rPr sz="2200" dirty="0">
                <a:solidFill>
                  <a:srgbClr val="FFFFFF"/>
                </a:solidFill>
                <a:latin typeface="Calibri"/>
                <a:cs typeface="Calibri"/>
              </a:rPr>
              <a:t>these</a:t>
            </a:r>
            <a:r>
              <a:rPr sz="2200" spc="-60" dirty="0">
                <a:solidFill>
                  <a:srgbClr val="FFFFFF"/>
                </a:solidFill>
                <a:latin typeface="Calibri"/>
                <a:cs typeface="Calibri"/>
              </a:rPr>
              <a:t> </a:t>
            </a:r>
            <a:r>
              <a:rPr sz="2200" dirty="0">
                <a:solidFill>
                  <a:srgbClr val="FFFFFF"/>
                </a:solidFill>
                <a:latin typeface="Calibri"/>
                <a:cs typeface="Calibri"/>
              </a:rPr>
              <a:t>things</a:t>
            </a:r>
            <a:r>
              <a:rPr sz="2200" spc="-40" dirty="0">
                <a:solidFill>
                  <a:srgbClr val="FFFFFF"/>
                </a:solidFill>
                <a:latin typeface="Calibri"/>
                <a:cs typeface="Calibri"/>
              </a:rPr>
              <a:t> </a:t>
            </a:r>
            <a:r>
              <a:rPr sz="2200" dirty="0">
                <a:solidFill>
                  <a:srgbClr val="FFFFFF"/>
                </a:solidFill>
                <a:latin typeface="Calibri"/>
                <a:cs typeface="Calibri"/>
              </a:rPr>
              <a:t>to</a:t>
            </a:r>
            <a:r>
              <a:rPr sz="2200" spc="-55" dirty="0">
                <a:solidFill>
                  <a:srgbClr val="FFFFFF"/>
                </a:solidFill>
                <a:latin typeface="Calibri"/>
                <a:cs typeface="Calibri"/>
              </a:rPr>
              <a:t> </a:t>
            </a:r>
            <a:r>
              <a:rPr sz="2200" dirty="0">
                <a:solidFill>
                  <a:srgbClr val="FFFFFF"/>
                </a:solidFill>
                <a:latin typeface="Calibri"/>
                <a:cs typeface="Calibri"/>
              </a:rPr>
              <a:t>connect,</a:t>
            </a:r>
            <a:r>
              <a:rPr sz="2200" spc="-30" dirty="0">
                <a:solidFill>
                  <a:srgbClr val="FFFFFF"/>
                </a:solidFill>
                <a:latin typeface="Calibri"/>
                <a:cs typeface="Calibri"/>
              </a:rPr>
              <a:t> </a:t>
            </a:r>
            <a:r>
              <a:rPr sz="2200" dirty="0">
                <a:solidFill>
                  <a:srgbClr val="FFFFFF"/>
                </a:solidFill>
                <a:latin typeface="Calibri"/>
                <a:cs typeface="Calibri"/>
              </a:rPr>
              <a:t>interact</a:t>
            </a:r>
            <a:r>
              <a:rPr sz="2200" spc="-35" dirty="0">
                <a:solidFill>
                  <a:srgbClr val="FFFFFF"/>
                </a:solidFill>
                <a:latin typeface="Calibri"/>
                <a:cs typeface="Calibri"/>
              </a:rPr>
              <a:t> </a:t>
            </a:r>
            <a:r>
              <a:rPr sz="2200" dirty="0">
                <a:solidFill>
                  <a:srgbClr val="FFFFFF"/>
                </a:solidFill>
                <a:latin typeface="Calibri"/>
                <a:cs typeface="Calibri"/>
              </a:rPr>
              <a:t>and</a:t>
            </a:r>
            <a:r>
              <a:rPr sz="2200" spc="-50" dirty="0">
                <a:solidFill>
                  <a:srgbClr val="FFFFFF"/>
                </a:solidFill>
                <a:latin typeface="Calibri"/>
                <a:cs typeface="Calibri"/>
              </a:rPr>
              <a:t> </a:t>
            </a:r>
            <a:r>
              <a:rPr sz="2200" spc="-10" dirty="0">
                <a:solidFill>
                  <a:srgbClr val="FFFFFF"/>
                </a:solidFill>
                <a:latin typeface="Calibri"/>
                <a:cs typeface="Calibri"/>
              </a:rPr>
              <a:t>exchange data.</a:t>
            </a:r>
            <a:endParaRPr sz="2200" dirty="0">
              <a:latin typeface="Calibri"/>
              <a:cs typeface="Calibri"/>
            </a:endParaRPr>
          </a:p>
        </p:txBody>
      </p:sp>
      <p:sp>
        <p:nvSpPr>
          <p:cNvPr id="11" name="object 11">
            <a:extLst>
              <a:ext uri="{FF2B5EF4-FFF2-40B4-BE49-F238E27FC236}">
                <a16:creationId xmlns:a16="http://schemas.microsoft.com/office/drawing/2014/main" id="{C2C01ECB-EEED-890D-F9E6-C83CA7359844}"/>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pic>
        <p:nvPicPr>
          <p:cNvPr id="17" name="object 17">
            <a:extLst>
              <a:ext uri="{FF2B5EF4-FFF2-40B4-BE49-F238E27FC236}">
                <a16:creationId xmlns:a16="http://schemas.microsoft.com/office/drawing/2014/main" id="{A89F47F8-C9E8-5E21-613F-9E8D8E16F860}"/>
              </a:ext>
            </a:extLst>
          </p:cNvPr>
          <p:cNvPicPr/>
          <p:nvPr/>
        </p:nvPicPr>
        <p:blipFill>
          <a:blip r:embed="rId2" cstate="print"/>
          <a:stretch>
            <a:fillRect/>
          </a:stretch>
        </p:blipFill>
        <p:spPr>
          <a:xfrm>
            <a:off x="76200" y="25"/>
            <a:ext cx="2514600" cy="947267"/>
          </a:xfrm>
          <a:prstGeom prst="rect">
            <a:avLst/>
          </a:prstGeom>
        </p:spPr>
      </p:pic>
      <p:sp>
        <p:nvSpPr>
          <p:cNvPr id="3" name="Text Placeholder 2">
            <a:extLst>
              <a:ext uri="{FF2B5EF4-FFF2-40B4-BE49-F238E27FC236}">
                <a16:creationId xmlns:a16="http://schemas.microsoft.com/office/drawing/2014/main" id="{FEEDBDCC-9460-8106-5F3B-3185D51806E4}"/>
              </a:ext>
            </a:extLst>
          </p:cNvPr>
          <p:cNvSpPr>
            <a:spLocks noGrp="1"/>
          </p:cNvSpPr>
          <p:nvPr>
            <p:ph type="body" idx="1"/>
          </p:nvPr>
        </p:nvSpPr>
        <p:spPr>
          <a:xfrm>
            <a:off x="1237360" y="1352927"/>
            <a:ext cx="9283827" cy="3385542"/>
          </a:xfrm>
        </p:spPr>
        <p:txBody>
          <a:bodyPr/>
          <a:lstStyle/>
          <a:p>
            <a:r>
              <a:rPr lang="en-US" sz="2000" dirty="0">
                <a:latin typeface="Times New Roman" panose="02020603050405020304" pitchFamily="18" charset="0"/>
                <a:cs typeface="Times New Roman" panose="02020603050405020304" pitchFamily="18" charset="0"/>
              </a:rPr>
              <a:t>// Create a graph</a:t>
            </a:r>
          </a:p>
          <a:p>
            <a:r>
              <a:rPr lang="en-US" sz="2000" dirty="0">
                <a:latin typeface="Times New Roman" panose="02020603050405020304" pitchFamily="18" charset="0"/>
                <a:cs typeface="Times New Roman" panose="02020603050405020304" pitchFamily="18" charset="0"/>
              </a:rPr>
              <a:t>struct Graph* </a:t>
            </a:r>
            <a:r>
              <a:rPr lang="en-US" sz="2000" dirty="0" err="1">
                <a:latin typeface="Times New Roman" panose="02020603050405020304" pitchFamily="18" charset="0"/>
                <a:cs typeface="Times New Roman" panose="02020603050405020304" pitchFamily="18" charset="0"/>
              </a:rPr>
              <a:t>createAGraph</a:t>
            </a:r>
            <a:r>
              <a:rPr lang="en-US" sz="2000" dirty="0">
                <a:latin typeface="Times New Roman" panose="02020603050405020304" pitchFamily="18" charset="0"/>
                <a:cs typeface="Times New Roman" panose="02020603050405020304" pitchFamily="18" charset="0"/>
              </a:rPr>
              <a:t>(int vertices) {</a:t>
            </a:r>
          </a:p>
          <a:p>
            <a:r>
              <a:rPr lang="en-US" sz="2000" dirty="0">
                <a:latin typeface="Times New Roman" panose="02020603050405020304" pitchFamily="18" charset="0"/>
                <a:cs typeface="Times New Roman" panose="02020603050405020304" pitchFamily="18" charset="0"/>
              </a:rPr>
              <a:t>  struct Graph* graph = malloc(</a:t>
            </a:r>
            <a:r>
              <a:rPr lang="en-US" sz="2000" dirty="0" err="1">
                <a:latin typeface="Times New Roman" panose="02020603050405020304" pitchFamily="18" charset="0"/>
                <a:cs typeface="Times New Roman" panose="02020603050405020304" pitchFamily="18" charset="0"/>
              </a:rPr>
              <a:t>sizeof</a:t>
            </a:r>
            <a:r>
              <a:rPr lang="en-US" sz="2000" dirty="0">
                <a:latin typeface="Times New Roman" panose="02020603050405020304" pitchFamily="18" charset="0"/>
                <a:cs typeface="Times New Roman" panose="02020603050405020304" pitchFamily="18" charset="0"/>
              </a:rPr>
              <a:t>(struct Graph));</a:t>
            </a:r>
          </a:p>
          <a:p>
            <a:r>
              <a:rPr lang="en-US" sz="2000" dirty="0">
                <a:latin typeface="Times New Roman" panose="02020603050405020304" pitchFamily="18" charset="0"/>
                <a:cs typeface="Times New Roman" panose="02020603050405020304" pitchFamily="18" charset="0"/>
              </a:rPr>
              <a:t>  graph-&gt;</a:t>
            </a:r>
            <a:r>
              <a:rPr lang="en-US" sz="2000" dirty="0" err="1">
                <a:latin typeface="Times New Roman" panose="02020603050405020304" pitchFamily="18" charset="0"/>
                <a:cs typeface="Times New Roman" panose="02020603050405020304" pitchFamily="18" charset="0"/>
              </a:rPr>
              <a:t>numVertices</a:t>
            </a:r>
            <a:r>
              <a:rPr lang="en-US" sz="2000" dirty="0">
                <a:latin typeface="Times New Roman" panose="02020603050405020304" pitchFamily="18" charset="0"/>
                <a:cs typeface="Times New Roman" panose="02020603050405020304" pitchFamily="18" charset="0"/>
              </a:rPr>
              <a:t> = vertices;</a:t>
            </a:r>
          </a:p>
          <a:p>
            <a:r>
              <a:rPr lang="en-US" sz="2000" dirty="0">
                <a:latin typeface="Times New Roman" panose="02020603050405020304" pitchFamily="18" charset="0"/>
                <a:cs typeface="Times New Roman" panose="02020603050405020304" pitchFamily="18" charset="0"/>
              </a:rPr>
              <a:t>  graph-&gt;</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 = malloc(vertices * </a:t>
            </a:r>
            <a:r>
              <a:rPr lang="en-US" sz="2000" dirty="0" err="1">
                <a:latin typeface="Times New Roman" panose="02020603050405020304" pitchFamily="18" charset="0"/>
                <a:cs typeface="Times New Roman" panose="02020603050405020304" pitchFamily="18" charset="0"/>
              </a:rPr>
              <a:t>sizeof</a:t>
            </a:r>
            <a:r>
              <a:rPr lang="en-US" sz="2000" dirty="0">
                <a:latin typeface="Times New Roman" panose="02020603050405020304" pitchFamily="18" charset="0"/>
                <a:cs typeface="Times New Roman" panose="02020603050405020304" pitchFamily="18" charset="0"/>
              </a:rPr>
              <a:t>(struct node*));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int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0;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&lt; vertices;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graph-&gt;</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NULL;</a:t>
            </a:r>
          </a:p>
          <a:p>
            <a:r>
              <a:rPr lang="en-US" sz="2000" dirty="0">
                <a:latin typeface="Times New Roman" panose="02020603050405020304" pitchFamily="18" charset="0"/>
                <a:cs typeface="Times New Roman" panose="02020603050405020304" pitchFamily="18" charset="0"/>
              </a:rPr>
              <a:t>  return graph;</a:t>
            </a:r>
          </a:p>
          <a:p>
            <a:r>
              <a:rPr lang="en-US" sz="2000" dirty="0">
                <a:latin typeface="Times New Roman" panose="02020603050405020304" pitchFamily="18" charset="0"/>
                <a:cs typeface="Times New Roman" panose="02020603050405020304" pitchFamily="18" charset="0"/>
              </a:rPr>
              <a:t>}</a:t>
            </a:r>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2715895" y="-18829"/>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LIST GRAPH REPRESENTATION</a:t>
            </a:r>
          </a:p>
        </p:txBody>
      </p:sp>
      <p:sp>
        <p:nvSpPr>
          <p:cNvPr id="2" name="Date Placeholder 1">
            <a:extLst>
              <a:ext uri="{FF2B5EF4-FFF2-40B4-BE49-F238E27FC236}">
                <a16:creationId xmlns:a16="http://schemas.microsoft.com/office/drawing/2014/main" id="{3ACE6A1C-C4EE-4368-81B4-FC174F99800C}"/>
              </a:ext>
            </a:extLst>
          </p:cNvPr>
          <p:cNvSpPr>
            <a:spLocks noGrp="1"/>
          </p:cNvSpPr>
          <p:nvPr>
            <p:ph type="dt" sz="half" idx="6"/>
          </p:nvPr>
        </p:nvSpPr>
        <p:spPr/>
        <p:txBody>
          <a:bodyPr/>
          <a:lstStyle/>
          <a:p>
            <a:pPr marL="12700">
              <a:lnSpc>
                <a:spcPts val="1240"/>
              </a:lnSpc>
            </a:pPr>
            <a:fld id="{FC1EEE13-7DD8-4169-8E69-CC3248A44E82}" type="datetime1">
              <a:rPr lang="en-US" spc="-25" smtClean="0"/>
              <a:t>7/8/2026</a:t>
            </a:fld>
            <a:endParaRPr lang="en-IN" spc="-25" dirty="0"/>
          </a:p>
        </p:txBody>
      </p:sp>
      <p:sp>
        <p:nvSpPr>
          <p:cNvPr id="4" name="Footer Placeholder 3">
            <a:extLst>
              <a:ext uri="{FF2B5EF4-FFF2-40B4-BE49-F238E27FC236}">
                <a16:creationId xmlns:a16="http://schemas.microsoft.com/office/drawing/2014/main" id="{DDF9410F-F318-4A40-A919-80DB8B79B77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578154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C66126-5D46-9D50-6352-83E36690B86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434519B1-2042-8983-2A87-706106B25E49}"/>
              </a:ext>
            </a:extLst>
          </p:cNvPr>
          <p:cNvSpPr txBox="1"/>
          <p:nvPr/>
        </p:nvSpPr>
        <p:spPr>
          <a:xfrm>
            <a:off x="2750947" y="1384554"/>
            <a:ext cx="6256655" cy="1286378"/>
          </a:xfrm>
          <a:prstGeom prst="rect">
            <a:avLst/>
          </a:prstGeom>
        </p:spPr>
        <p:txBody>
          <a:bodyPr vert="horz" wrap="square" lIns="0" tIns="40005" rIns="0" bIns="0" rtlCol="0">
            <a:spAutoFit/>
          </a:bodyPr>
          <a:lstStyle/>
          <a:p>
            <a:pPr marL="12700" marR="5080">
              <a:lnSpc>
                <a:spcPct val="91600"/>
              </a:lnSpc>
              <a:spcBef>
                <a:spcPts val="315"/>
              </a:spcBef>
            </a:pPr>
            <a:r>
              <a:rPr sz="2200" dirty="0">
                <a:solidFill>
                  <a:srgbClr val="FFFFFF"/>
                </a:solidFill>
                <a:latin typeface="Calibri"/>
                <a:cs typeface="Calibri"/>
              </a:rPr>
              <a:t>)</a:t>
            </a:r>
            <a:r>
              <a:rPr sz="2200" spc="-30" dirty="0">
                <a:solidFill>
                  <a:srgbClr val="FFFFFF"/>
                </a:solidFill>
                <a:latin typeface="Calibri"/>
                <a:cs typeface="Calibri"/>
              </a:rPr>
              <a:t> </a:t>
            </a:r>
            <a:r>
              <a:rPr sz="2200" dirty="0">
                <a:solidFill>
                  <a:srgbClr val="FFFFFF"/>
                </a:solidFill>
                <a:latin typeface="Calibri"/>
                <a:cs typeface="Calibri"/>
              </a:rPr>
              <a:t>is</a:t>
            </a:r>
            <a:r>
              <a:rPr sz="2200" spc="-40" dirty="0">
                <a:solidFill>
                  <a:srgbClr val="FFFFFF"/>
                </a:solidFill>
                <a:latin typeface="Calibri"/>
                <a:cs typeface="Calibri"/>
              </a:rPr>
              <a:t> </a:t>
            </a:r>
            <a:r>
              <a:rPr sz="2200" dirty="0">
                <a:solidFill>
                  <a:srgbClr val="FFFFFF"/>
                </a:solidFill>
                <a:latin typeface="Calibri"/>
                <a:cs typeface="Calibri"/>
              </a:rPr>
              <a:t>the</a:t>
            </a:r>
            <a:r>
              <a:rPr sz="2200" spc="-30" dirty="0">
                <a:solidFill>
                  <a:srgbClr val="FFFFFF"/>
                </a:solidFill>
                <a:latin typeface="Calibri"/>
                <a:cs typeface="Calibri"/>
              </a:rPr>
              <a:t> </a:t>
            </a:r>
            <a:r>
              <a:rPr sz="2200" dirty="0">
                <a:solidFill>
                  <a:srgbClr val="FFFFFF"/>
                </a:solidFill>
                <a:latin typeface="Calibri"/>
                <a:cs typeface="Calibri"/>
              </a:rPr>
              <a:t>network</a:t>
            </a:r>
            <a:r>
              <a:rPr sz="2200" spc="-45" dirty="0">
                <a:solidFill>
                  <a:srgbClr val="FFFFFF"/>
                </a:solidFill>
                <a:latin typeface="Calibri"/>
                <a:cs typeface="Calibri"/>
              </a:rPr>
              <a:t> </a:t>
            </a:r>
            <a:r>
              <a:rPr sz="2200" dirty="0">
                <a:solidFill>
                  <a:srgbClr val="FFFFFF"/>
                </a:solidFill>
                <a:latin typeface="Calibri"/>
                <a:cs typeface="Calibri"/>
              </a:rPr>
              <a:t>of</a:t>
            </a:r>
            <a:r>
              <a:rPr sz="2200" spc="-40" dirty="0">
                <a:solidFill>
                  <a:srgbClr val="FFFFFF"/>
                </a:solidFill>
                <a:latin typeface="Calibri"/>
                <a:cs typeface="Calibri"/>
              </a:rPr>
              <a:t> </a:t>
            </a:r>
            <a:r>
              <a:rPr sz="2200" spc="-10" dirty="0">
                <a:solidFill>
                  <a:srgbClr val="FFFFFF"/>
                </a:solidFill>
                <a:latin typeface="Calibri"/>
                <a:cs typeface="Calibri"/>
              </a:rPr>
              <a:t>devices </a:t>
            </a:r>
            <a:r>
              <a:rPr sz="2200" dirty="0">
                <a:solidFill>
                  <a:srgbClr val="FFFFFF"/>
                </a:solidFill>
                <a:latin typeface="Calibri"/>
                <a:cs typeface="Calibri"/>
              </a:rPr>
              <a:t>such</a:t>
            </a:r>
            <a:r>
              <a:rPr sz="2200" spc="-40" dirty="0">
                <a:solidFill>
                  <a:srgbClr val="FFFFFF"/>
                </a:solidFill>
                <a:latin typeface="Calibri"/>
                <a:cs typeface="Calibri"/>
              </a:rPr>
              <a:t> </a:t>
            </a:r>
            <a:r>
              <a:rPr sz="2200" dirty="0">
                <a:solidFill>
                  <a:srgbClr val="FFFFFF"/>
                </a:solidFill>
                <a:latin typeface="Calibri"/>
                <a:cs typeface="Calibri"/>
              </a:rPr>
              <a:t>as</a:t>
            </a:r>
            <a:r>
              <a:rPr sz="2200" spc="-35" dirty="0">
                <a:solidFill>
                  <a:srgbClr val="FFFFFF"/>
                </a:solidFill>
                <a:latin typeface="Calibri"/>
                <a:cs typeface="Calibri"/>
              </a:rPr>
              <a:t> </a:t>
            </a:r>
            <a:r>
              <a:rPr sz="2200" dirty="0">
                <a:solidFill>
                  <a:srgbClr val="FFFFFF"/>
                </a:solidFill>
                <a:latin typeface="Calibri"/>
                <a:cs typeface="Calibri"/>
              </a:rPr>
              <a:t>vehicles,</a:t>
            </a:r>
            <a:r>
              <a:rPr sz="2200" spc="-10" dirty="0">
                <a:solidFill>
                  <a:srgbClr val="FFFFFF"/>
                </a:solidFill>
                <a:latin typeface="Calibri"/>
                <a:cs typeface="Calibri"/>
              </a:rPr>
              <a:t> </a:t>
            </a:r>
            <a:r>
              <a:rPr sz="2200" dirty="0">
                <a:solidFill>
                  <a:srgbClr val="FFFFFF"/>
                </a:solidFill>
                <a:latin typeface="Calibri"/>
                <a:cs typeface="Calibri"/>
              </a:rPr>
              <a:t>and</a:t>
            </a:r>
            <a:r>
              <a:rPr sz="2200" spc="-25" dirty="0">
                <a:solidFill>
                  <a:srgbClr val="FFFFFF"/>
                </a:solidFill>
                <a:latin typeface="Calibri"/>
                <a:cs typeface="Calibri"/>
              </a:rPr>
              <a:t> </a:t>
            </a:r>
            <a:r>
              <a:rPr sz="2200" dirty="0">
                <a:solidFill>
                  <a:srgbClr val="FFFFFF"/>
                </a:solidFill>
                <a:latin typeface="Calibri"/>
                <a:cs typeface="Calibri"/>
              </a:rPr>
              <a:t>home</a:t>
            </a:r>
            <a:r>
              <a:rPr sz="2200" spc="-30" dirty="0">
                <a:solidFill>
                  <a:srgbClr val="FFFFFF"/>
                </a:solidFill>
                <a:latin typeface="Calibri"/>
                <a:cs typeface="Calibri"/>
              </a:rPr>
              <a:t> </a:t>
            </a:r>
            <a:r>
              <a:rPr sz="2200" dirty="0">
                <a:solidFill>
                  <a:srgbClr val="FFFFFF"/>
                </a:solidFill>
                <a:latin typeface="Calibri"/>
                <a:cs typeface="Calibri"/>
              </a:rPr>
              <a:t>appliances</a:t>
            </a:r>
            <a:r>
              <a:rPr sz="2200" spc="-15" dirty="0">
                <a:solidFill>
                  <a:srgbClr val="FFFFFF"/>
                </a:solidFill>
                <a:latin typeface="Calibri"/>
                <a:cs typeface="Calibri"/>
              </a:rPr>
              <a:t> </a:t>
            </a:r>
            <a:r>
              <a:rPr sz="2200" dirty="0">
                <a:solidFill>
                  <a:srgbClr val="FFFFFF"/>
                </a:solidFill>
                <a:latin typeface="Calibri"/>
                <a:cs typeface="Calibri"/>
              </a:rPr>
              <a:t>that</a:t>
            </a:r>
            <a:r>
              <a:rPr sz="2200" spc="-35" dirty="0">
                <a:solidFill>
                  <a:srgbClr val="FFFFFF"/>
                </a:solidFill>
                <a:latin typeface="Calibri"/>
                <a:cs typeface="Calibri"/>
              </a:rPr>
              <a:t> </a:t>
            </a:r>
            <a:r>
              <a:rPr sz="2200" spc="-10" dirty="0">
                <a:solidFill>
                  <a:srgbClr val="FFFFFF"/>
                </a:solidFill>
                <a:latin typeface="Calibri"/>
                <a:cs typeface="Calibri"/>
              </a:rPr>
              <a:t>contain </a:t>
            </a:r>
            <a:r>
              <a:rPr sz="2200" dirty="0">
                <a:solidFill>
                  <a:srgbClr val="FFFFFF"/>
                </a:solidFill>
                <a:latin typeface="Calibri"/>
                <a:cs typeface="Calibri"/>
              </a:rPr>
              <a:t>electronics,</a:t>
            </a:r>
            <a:r>
              <a:rPr sz="2200" spc="-50" dirty="0">
                <a:solidFill>
                  <a:srgbClr val="FFFFFF"/>
                </a:solidFill>
                <a:latin typeface="Calibri"/>
                <a:cs typeface="Calibri"/>
              </a:rPr>
              <a:t> </a:t>
            </a:r>
            <a:r>
              <a:rPr sz="2200" spc="-10" dirty="0">
                <a:solidFill>
                  <a:srgbClr val="FFFFFF"/>
                </a:solidFill>
                <a:latin typeface="Calibri"/>
                <a:cs typeface="Calibri"/>
              </a:rPr>
              <a:t>software,</a:t>
            </a:r>
            <a:r>
              <a:rPr sz="2200" spc="-80" dirty="0">
                <a:solidFill>
                  <a:srgbClr val="FFFFFF"/>
                </a:solidFill>
                <a:latin typeface="Calibri"/>
                <a:cs typeface="Calibri"/>
              </a:rPr>
              <a:t> </a:t>
            </a:r>
            <a:r>
              <a:rPr sz="2200" dirty="0">
                <a:solidFill>
                  <a:srgbClr val="FFFFFF"/>
                </a:solidFill>
                <a:latin typeface="Calibri"/>
                <a:cs typeface="Calibri"/>
              </a:rPr>
              <a:t>actuators</a:t>
            </a:r>
            <a:r>
              <a:rPr sz="2200" spc="-45" dirty="0">
                <a:solidFill>
                  <a:srgbClr val="FFFFFF"/>
                </a:solidFill>
                <a:latin typeface="Calibri"/>
                <a:cs typeface="Calibri"/>
              </a:rPr>
              <a:t> </a:t>
            </a:r>
            <a:r>
              <a:rPr sz="2200" dirty="0">
                <a:solidFill>
                  <a:srgbClr val="FFFFFF"/>
                </a:solidFill>
                <a:latin typeface="Calibri"/>
                <a:cs typeface="Calibri"/>
              </a:rPr>
              <a:t>and</a:t>
            </a:r>
            <a:r>
              <a:rPr sz="2200" spc="-60" dirty="0">
                <a:solidFill>
                  <a:srgbClr val="FFFFFF"/>
                </a:solidFill>
                <a:latin typeface="Calibri"/>
                <a:cs typeface="Calibri"/>
              </a:rPr>
              <a:t> </a:t>
            </a:r>
            <a:r>
              <a:rPr sz="2200" dirty="0">
                <a:solidFill>
                  <a:srgbClr val="FFFFFF"/>
                </a:solidFill>
                <a:latin typeface="Calibri"/>
                <a:cs typeface="Calibri"/>
              </a:rPr>
              <a:t>connectivity</a:t>
            </a:r>
            <a:r>
              <a:rPr sz="2200" spc="-45" dirty="0">
                <a:solidFill>
                  <a:srgbClr val="FFFFFF"/>
                </a:solidFill>
                <a:latin typeface="Calibri"/>
                <a:cs typeface="Calibri"/>
              </a:rPr>
              <a:t> </a:t>
            </a:r>
            <a:r>
              <a:rPr sz="2200" spc="-10" dirty="0">
                <a:solidFill>
                  <a:srgbClr val="FFFFFF"/>
                </a:solidFill>
                <a:latin typeface="Calibri"/>
                <a:cs typeface="Calibri"/>
              </a:rPr>
              <a:t>which </a:t>
            </a:r>
            <a:r>
              <a:rPr sz="2200" dirty="0">
                <a:solidFill>
                  <a:srgbClr val="FFFFFF"/>
                </a:solidFill>
                <a:latin typeface="Calibri"/>
                <a:cs typeface="Calibri"/>
              </a:rPr>
              <a:t>allows</a:t>
            </a:r>
            <a:r>
              <a:rPr sz="2200" spc="-50" dirty="0">
                <a:solidFill>
                  <a:srgbClr val="FFFFFF"/>
                </a:solidFill>
                <a:latin typeface="Calibri"/>
                <a:cs typeface="Calibri"/>
              </a:rPr>
              <a:t> </a:t>
            </a:r>
            <a:r>
              <a:rPr sz="2200" dirty="0">
                <a:solidFill>
                  <a:srgbClr val="FFFFFF"/>
                </a:solidFill>
                <a:latin typeface="Calibri"/>
                <a:cs typeface="Calibri"/>
              </a:rPr>
              <a:t>these</a:t>
            </a:r>
            <a:r>
              <a:rPr sz="2200" spc="-60" dirty="0">
                <a:solidFill>
                  <a:srgbClr val="FFFFFF"/>
                </a:solidFill>
                <a:latin typeface="Calibri"/>
                <a:cs typeface="Calibri"/>
              </a:rPr>
              <a:t> </a:t>
            </a:r>
            <a:r>
              <a:rPr sz="2200" dirty="0">
                <a:solidFill>
                  <a:srgbClr val="FFFFFF"/>
                </a:solidFill>
                <a:latin typeface="Calibri"/>
                <a:cs typeface="Calibri"/>
              </a:rPr>
              <a:t>things</a:t>
            </a:r>
            <a:r>
              <a:rPr sz="2200" spc="-40" dirty="0">
                <a:solidFill>
                  <a:srgbClr val="FFFFFF"/>
                </a:solidFill>
                <a:latin typeface="Calibri"/>
                <a:cs typeface="Calibri"/>
              </a:rPr>
              <a:t> </a:t>
            </a:r>
            <a:r>
              <a:rPr sz="2200" dirty="0">
                <a:solidFill>
                  <a:srgbClr val="FFFFFF"/>
                </a:solidFill>
                <a:latin typeface="Calibri"/>
                <a:cs typeface="Calibri"/>
              </a:rPr>
              <a:t>to</a:t>
            </a:r>
            <a:r>
              <a:rPr sz="2200" spc="-55" dirty="0">
                <a:solidFill>
                  <a:srgbClr val="FFFFFF"/>
                </a:solidFill>
                <a:latin typeface="Calibri"/>
                <a:cs typeface="Calibri"/>
              </a:rPr>
              <a:t> </a:t>
            </a:r>
            <a:r>
              <a:rPr sz="2200" dirty="0">
                <a:solidFill>
                  <a:srgbClr val="FFFFFF"/>
                </a:solidFill>
                <a:latin typeface="Calibri"/>
                <a:cs typeface="Calibri"/>
              </a:rPr>
              <a:t>connect,</a:t>
            </a:r>
            <a:r>
              <a:rPr sz="2200" spc="-30" dirty="0">
                <a:solidFill>
                  <a:srgbClr val="FFFFFF"/>
                </a:solidFill>
                <a:latin typeface="Calibri"/>
                <a:cs typeface="Calibri"/>
              </a:rPr>
              <a:t> </a:t>
            </a:r>
            <a:r>
              <a:rPr sz="2200" dirty="0">
                <a:solidFill>
                  <a:srgbClr val="FFFFFF"/>
                </a:solidFill>
                <a:latin typeface="Calibri"/>
                <a:cs typeface="Calibri"/>
              </a:rPr>
              <a:t>interact</a:t>
            </a:r>
            <a:r>
              <a:rPr sz="2200" spc="-35" dirty="0">
                <a:solidFill>
                  <a:srgbClr val="FFFFFF"/>
                </a:solidFill>
                <a:latin typeface="Calibri"/>
                <a:cs typeface="Calibri"/>
              </a:rPr>
              <a:t> </a:t>
            </a:r>
            <a:r>
              <a:rPr sz="2200" dirty="0">
                <a:solidFill>
                  <a:srgbClr val="FFFFFF"/>
                </a:solidFill>
                <a:latin typeface="Calibri"/>
                <a:cs typeface="Calibri"/>
              </a:rPr>
              <a:t>and</a:t>
            </a:r>
            <a:r>
              <a:rPr sz="2200" spc="-50" dirty="0">
                <a:solidFill>
                  <a:srgbClr val="FFFFFF"/>
                </a:solidFill>
                <a:latin typeface="Calibri"/>
                <a:cs typeface="Calibri"/>
              </a:rPr>
              <a:t> </a:t>
            </a:r>
            <a:r>
              <a:rPr sz="2200" spc="-10" dirty="0">
                <a:solidFill>
                  <a:srgbClr val="FFFFFF"/>
                </a:solidFill>
                <a:latin typeface="Calibri"/>
                <a:cs typeface="Calibri"/>
              </a:rPr>
              <a:t>exchange data.</a:t>
            </a:r>
            <a:endParaRPr sz="2200" dirty="0">
              <a:latin typeface="Calibri"/>
              <a:cs typeface="Calibri"/>
            </a:endParaRPr>
          </a:p>
        </p:txBody>
      </p:sp>
      <p:sp>
        <p:nvSpPr>
          <p:cNvPr id="11" name="object 11">
            <a:extLst>
              <a:ext uri="{FF2B5EF4-FFF2-40B4-BE49-F238E27FC236}">
                <a16:creationId xmlns:a16="http://schemas.microsoft.com/office/drawing/2014/main" id="{C2C01ECB-EEED-890D-F9E6-C83CA7359844}"/>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pic>
        <p:nvPicPr>
          <p:cNvPr id="17" name="object 17">
            <a:extLst>
              <a:ext uri="{FF2B5EF4-FFF2-40B4-BE49-F238E27FC236}">
                <a16:creationId xmlns:a16="http://schemas.microsoft.com/office/drawing/2014/main" id="{A89F47F8-C9E8-5E21-613F-9E8D8E16F860}"/>
              </a:ext>
            </a:extLst>
          </p:cNvPr>
          <p:cNvPicPr/>
          <p:nvPr/>
        </p:nvPicPr>
        <p:blipFill>
          <a:blip r:embed="rId2" cstate="print"/>
          <a:stretch>
            <a:fillRect/>
          </a:stretch>
        </p:blipFill>
        <p:spPr>
          <a:xfrm>
            <a:off x="76200" y="25"/>
            <a:ext cx="2514600" cy="947267"/>
          </a:xfrm>
          <a:prstGeom prst="rect">
            <a:avLst/>
          </a:prstGeom>
        </p:spPr>
      </p:pic>
      <p:sp>
        <p:nvSpPr>
          <p:cNvPr id="3" name="Text Placeholder 2">
            <a:extLst>
              <a:ext uri="{FF2B5EF4-FFF2-40B4-BE49-F238E27FC236}">
                <a16:creationId xmlns:a16="http://schemas.microsoft.com/office/drawing/2014/main" id="{FEEDBDCC-9460-8106-5F3B-3185D51806E4}"/>
              </a:ext>
            </a:extLst>
          </p:cNvPr>
          <p:cNvSpPr>
            <a:spLocks noGrp="1"/>
          </p:cNvSpPr>
          <p:nvPr>
            <p:ph type="body" idx="1"/>
          </p:nvPr>
        </p:nvSpPr>
        <p:spPr>
          <a:xfrm>
            <a:off x="1454086" y="1384554"/>
            <a:ext cx="9283827" cy="3385542"/>
          </a:xfrm>
        </p:spPr>
        <p:txBody>
          <a:bodyPr/>
          <a:lstStyle/>
          <a:p>
            <a:r>
              <a:rPr lang="en-US" sz="2000" dirty="0">
                <a:latin typeface="Times New Roman" panose="02020603050405020304" pitchFamily="18" charset="0"/>
                <a:cs typeface="Times New Roman" panose="02020603050405020304" pitchFamily="18" charset="0"/>
              </a:rPr>
              <a:t>// Add edge</a:t>
            </a:r>
          </a:p>
          <a:p>
            <a:r>
              <a:rPr lang="en-US" sz="2000" dirty="0">
                <a:latin typeface="Times New Roman" panose="02020603050405020304" pitchFamily="18" charset="0"/>
                <a:cs typeface="Times New Roman" panose="02020603050405020304" pitchFamily="18" charset="0"/>
              </a:rPr>
              <a:t>void </a:t>
            </a:r>
            <a:r>
              <a:rPr lang="en-US" sz="2000" dirty="0" err="1">
                <a:latin typeface="Times New Roman" panose="02020603050405020304" pitchFamily="18" charset="0"/>
                <a:cs typeface="Times New Roman" panose="02020603050405020304" pitchFamily="18" charset="0"/>
              </a:rPr>
              <a:t>addEdge</a:t>
            </a:r>
            <a:r>
              <a:rPr lang="en-US" sz="2000" dirty="0">
                <a:latin typeface="Times New Roman" panose="02020603050405020304" pitchFamily="18" charset="0"/>
                <a:cs typeface="Times New Roman" panose="02020603050405020304" pitchFamily="18" charset="0"/>
              </a:rPr>
              <a:t>(struct Graph* graph, int s, int d) {</a:t>
            </a:r>
          </a:p>
          <a:p>
            <a:r>
              <a:rPr lang="en-US" sz="2000" dirty="0">
                <a:latin typeface="Times New Roman" panose="02020603050405020304" pitchFamily="18" charset="0"/>
                <a:cs typeface="Times New Roman" panose="02020603050405020304" pitchFamily="18" charset="0"/>
              </a:rPr>
              <a:t>  // Add edge from s to d</a:t>
            </a:r>
          </a:p>
          <a:p>
            <a:r>
              <a:rPr lang="en-US" sz="2000" dirty="0">
                <a:latin typeface="Times New Roman" panose="02020603050405020304" pitchFamily="18" charset="0"/>
                <a:cs typeface="Times New Roman" panose="02020603050405020304" pitchFamily="18" charset="0"/>
              </a:rPr>
              <a:t>  struct node*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createNode</a:t>
            </a:r>
            <a:r>
              <a:rPr lang="en-US" sz="2000" dirty="0">
                <a:latin typeface="Times New Roman" panose="02020603050405020304" pitchFamily="18" charset="0"/>
                <a:cs typeface="Times New Roman" panose="02020603050405020304" pitchFamily="18" charset="0"/>
              </a:rPr>
              <a:t>(d);</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-&gt;next = graph-&gt;</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[s];</a:t>
            </a:r>
          </a:p>
          <a:p>
            <a:r>
              <a:rPr lang="en-US" sz="2000" dirty="0">
                <a:latin typeface="Times New Roman" panose="02020603050405020304" pitchFamily="18" charset="0"/>
                <a:cs typeface="Times New Roman" panose="02020603050405020304" pitchFamily="18" charset="0"/>
              </a:rPr>
              <a:t>  graph-&gt;</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[s] =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Add edge from d to s</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createNode</a:t>
            </a:r>
            <a:r>
              <a:rPr lang="en-US" sz="2000" dirty="0">
                <a:latin typeface="Times New Roman" panose="02020603050405020304" pitchFamily="18" charset="0"/>
                <a:cs typeface="Times New Roman" panose="02020603050405020304" pitchFamily="18" charset="0"/>
              </a:rPr>
              <a:t>(s);</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-&gt;next = graph-&gt;</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[d];</a:t>
            </a:r>
          </a:p>
          <a:p>
            <a:r>
              <a:rPr lang="en-US" sz="2000" dirty="0">
                <a:latin typeface="Times New Roman" panose="02020603050405020304" pitchFamily="18" charset="0"/>
                <a:cs typeface="Times New Roman" panose="02020603050405020304" pitchFamily="18" charset="0"/>
              </a:rPr>
              <a:t>  graph-&gt;</a:t>
            </a:r>
            <a:r>
              <a:rPr lang="en-US" sz="2000" dirty="0" err="1">
                <a:latin typeface="Times New Roman" panose="02020603050405020304" pitchFamily="18" charset="0"/>
                <a:cs typeface="Times New Roman" panose="02020603050405020304" pitchFamily="18" charset="0"/>
              </a:rPr>
              <a:t>adjLists</a:t>
            </a:r>
            <a:r>
              <a:rPr lang="en-US" sz="2000" dirty="0">
                <a:latin typeface="Times New Roman" panose="02020603050405020304" pitchFamily="18" charset="0"/>
                <a:cs typeface="Times New Roman" panose="02020603050405020304" pitchFamily="18" charset="0"/>
              </a:rPr>
              <a:t>[d] = </a:t>
            </a:r>
            <a:r>
              <a:rPr lang="en-US" sz="2000" dirty="0" err="1">
                <a:latin typeface="Times New Roman" panose="02020603050405020304" pitchFamily="18" charset="0"/>
                <a:cs typeface="Times New Roman" panose="02020603050405020304" pitchFamily="18" charset="0"/>
              </a:rPr>
              <a:t>newNode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2715895" y="-18829"/>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LIST GRAPH REPRESENTATION</a:t>
            </a:r>
          </a:p>
        </p:txBody>
      </p:sp>
      <p:sp>
        <p:nvSpPr>
          <p:cNvPr id="2" name="Date Placeholder 1">
            <a:extLst>
              <a:ext uri="{FF2B5EF4-FFF2-40B4-BE49-F238E27FC236}">
                <a16:creationId xmlns:a16="http://schemas.microsoft.com/office/drawing/2014/main" id="{9306E519-83EF-412E-8948-82337899F0DE}"/>
              </a:ext>
            </a:extLst>
          </p:cNvPr>
          <p:cNvSpPr>
            <a:spLocks noGrp="1"/>
          </p:cNvSpPr>
          <p:nvPr>
            <p:ph type="dt" sz="half" idx="6"/>
          </p:nvPr>
        </p:nvSpPr>
        <p:spPr/>
        <p:txBody>
          <a:bodyPr/>
          <a:lstStyle/>
          <a:p>
            <a:pPr marL="12700">
              <a:lnSpc>
                <a:spcPts val="1240"/>
              </a:lnSpc>
            </a:pPr>
            <a:fld id="{12BE1ED2-04EE-4E98-B0B9-83A4EC2F535C}" type="datetime1">
              <a:rPr lang="en-US" spc="-25" smtClean="0"/>
              <a:t>7/8/2026</a:t>
            </a:fld>
            <a:endParaRPr lang="en-IN" spc="-25" dirty="0"/>
          </a:p>
        </p:txBody>
      </p:sp>
      <p:sp>
        <p:nvSpPr>
          <p:cNvPr id="4" name="Footer Placeholder 3">
            <a:extLst>
              <a:ext uri="{FF2B5EF4-FFF2-40B4-BE49-F238E27FC236}">
                <a16:creationId xmlns:a16="http://schemas.microsoft.com/office/drawing/2014/main" id="{FD90AEDC-95F6-45BC-B474-F7D5B7E7207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431595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09DAF40-222B-CAFA-E9A5-0CDFB84F2D4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2C9EBDB7-C403-352A-ED24-7D332EA61A02}"/>
              </a:ext>
            </a:extLst>
          </p:cNvPr>
          <p:cNvSpPr txBox="1"/>
          <p:nvPr/>
        </p:nvSpPr>
        <p:spPr>
          <a:xfrm>
            <a:off x="2750947" y="1384554"/>
            <a:ext cx="6256655" cy="1286378"/>
          </a:xfrm>
          <a:prstGeom prst="rect">
            <a:avLst/>
          </a:prstGeom>
        </p:spPr>
        <p:txBody>
          <a:bodyPr vert="horz" wrap="square" lIns="0" tIns="40005" rIns="0" bIns="0" rtlCol="0">
            <a:spAutoFit/>
          </a:bodyPr>
          <a:lstStyle/>
          <a:p>
            <a:pPr marL="12700" marR="5080">
              <a:lnSpc>
                <a:spcPct val="91600"/>
              </a:lnSpc>
              <a:spcBef>
                <a:spcPts val="315"/>
              </a:spcBef>
            </a:pPr>
            <a:r>
              <a:rPr sz="2200" dirty="0">
                <a:solidFill>
                  <a:srgbClr val="FFFFFF"/>
                </a:solidFill>
                <a:latin typeface="Calibri"/>
                <a:cs typeface="Calibri"/>
              </a:rPr>
              <a:t>)</a:t>
            </a:r>
            <a:r>
              <a:rPr sz="2200" spc="-30" dirty="0">
                <a:solidFill>
                  <a:srgbClr val="FFFFFF"/>
                </a:solidFill>
                <a:latin typeface="Calibri"/>
                <a:cs typeface="Calibri"/>
              </a:rPr>
              <a:t> </a:t>
            </a:r>
            <a:r>
              <a:rPr sz="2200" dirty="0">
                <a:solidFill>
                  <a:srgbClr val="FFFFFF"/>
                </a:solidFill>
                <a:latin typeface="Calibri"/>
                <a:cs typeface="Calibri"/>
              </a:rPr>
              <a:t>is</a:t>
            </a:r>
            <a:r>
              <a:rPr sz="2200" spc="-40" dirty="0">
                <a:solidFill>
                  <a:srgbClr val="FFFFFF"/>
                </a:solidFill>
                <a:latin typeface="Calibri"/>
                <a:cs typeface="Calibri"/>
              </a:rPr>
              <a:t> </a:t>
            </a:r>
            <a:r>
              <a:rPr sz="2200" dirty="0">
                <a:solidFill>
                  <a:srgbClr val="FFFFFF"/>
                </a:solidFill>
                <a:latin typeface="Calibri"/>
                <a:cs typeface="Calibri"/>
              </a:rPr>
              <a:t>the</a:t>
            </a:r>
            <a:r>
              <a:rPr sz="2200" spc="-30" dirty="0">
                <a:solidFill>
                  <a:srgbClr val="FFFFFF"/>
                </a:solidFill>
                <a:latin typeface="Calibri"/>
                <a:cs typeface="Calibri"/>
              </a:rPr>
              <a:t> </a:t>
            </a:r>
            <a:r>
              <a:rPr sz="2200" dirty="0">
                <a:solidFill>
                  <a:srgbClr val="FFFFFF"/>
                </a:solidFill>
                <a:latin typeface="Calibri"/>
                <a:cs typeface="Calibri"/>
              </a:rPr>
              <a:t>network</a:t>
            </a:r>
            <a:r>
              <a:rPr sz="2200" spc="-45" dirty="0">
                <a:solidFill>
                  <a:srgbClr val="FFFFFF"/>
                </a:solidFill>
                <a:latin typeface="Calibri"/>
                <a:cs typeface="Calibri"/>
              </a:rPr>
              <a:t> </a:t>
            </a:r>
            <a:r>
              <a:rPr sz="2200" dirty="0">
                <a:solidFill>
                  <a:srgbClr val="FFFFFF"/>
                </a:solidFill>
                <a:latin typeface="Calibri"/>
                <a:cs typeface="Calibri"/>
              </a:rPr>
              <a:t>of</a:t>
            </a:r>
            <a:r>
              <a:rPr sz="2200" spc="-40" dirty="0">
                <a:solidFill>
                  <a:srgbClr val="FFFFFF"/>
                </a:solidFill>
                <a:latin typeface="Calibri"/>
                <a:cs typeface="Calibri"/>
              </a:rPr>
              <a:t> </a:t>
            </a:r>
            <a:r>
              <a:rPr sz="2200" spc="-10" dirty="0">
                <a:solidFill>
                  <a:srgbClr val="FFFFFF"/>
                </a:solidFill>
                <a:latin typeface="Calibri"/>
                <a:cs typeface="Calibri"/>
              </a:rPr>
              <a:t>devices </a:t>
            </a:r>
            <a:r>
              <a:rPr sz="2200" dirty="0">
                <a:solidFill>
                  <a:srgbClr val="FFFFFF"/>
                </a:solidFill>
                <a:latin typeface="Calibri"/>
                <a:cs typeface="Calibri"/>
              </a:rPr>
              <a:t>such</a:t>
            </a:r>
            <a:r>
              <a:rPr sz="2200" spc="-40" dirty="0">
                <a:solidFill>
                  <a:srgbClr val="FFFFFF"/>
                </a:solidFill>
                <a:latin typeface="Calibri"/>
                <a:cs typeface="Calibri"/>
              </a:rPr>
              <a:t> </a:t>
            </a:r>
            <a:r>
              <a:rPr sz="2200" dirty="0">
                <a:solidFill>
                  <a:srgbClr val="FFFFFF"/>
                </a:solidFill>
                <a:latin typeface="Calibri"/>
                <a:cs typeface="Calibri"/>
              </a:rPr>
              <a:t>as</a:t>
            </a:r>
            <a:r>
              <a:rPr sz="2200" spc="-35" dirty="0">
                <a:solidFill>
                  <a:srgbClr val="FFFFFF"/>
                </a:solidFill>
                <a:latin typeface="Calibri"/>
                <a:cs typeface="Calibri"/>
              </a:rPr>
              <a:t> </a:t>
            </a:r>
            <a:r>
              <a:rPr sz="2200" dirty="0">
                <a:solidFill>
                  <a:srgbClr val="FFFFFF"/>
                </a:solidFill>
                <a:latin typeface="Calibri"/>
                <a:cs typeface="Calibri"/>
              </a:rPr>
              <a:t>vehicles,</a:t>
            </a:r>
            <a:r>
              <a:rPr sz="2200" spc="-10" dirty="0">
                <a:solidFill>
                  <a:srgbClr val="FFFFFF"/>
                </a:solidFill>
                <a:latin typeface="Calibri"/>
                <a:cs typeface="Calibri"/>
              </a:rPr>
              <a:t> </a:t>
            </a:r>
            <a:r>
              <a:rPr sz="2200" dirty="0">
                <a:solidFill>
                  <a:srgbClr val="FFFFFF"/>
                </a:solidFill>
                <a:latin typeface="Calibri"/>
                <a:cs typeface="Calibri"/>
              </a:rPr>
              <a:t>and</a:t>
            </a:r>
            <a:r>
              <a:rPr sz="2200" spc="-25" dirty="0">
                <a:solidFill>
                  <a:srgbClr val="FFFFFF"/>
                </a:solidFill>
                <a:latin typeface="Calibri"/>
                <a:cs typeface="Calibri"/>
              </a:rPr>
              <a:t> </a:t>
            </a:r>
            <a:r>
              <a:rPr sz="2200" dirty="0">
                <a:solidFill>
                  <a:srgbClr val="FFFFFF"/>
                </a:solidFill>
                <a:latin typeface="Calibri"/>
                <a:cs typeface="Calibri"/>
              </a:rPr>
              <a:t>home</a:t>
            </a:r>
            <a:r>
              <a:rPr sz="2200" spc="-30" dirty="0">
                <a:solidFill>
                  <a:srgbClr val="FFFFFF"/>
                </a:solidFill>
                <a:latin typeface="Calibri"/>
                <a:cs typeface="Calibri"/>
              </a:rPr>
              <a:t> </a:t>
            </a:r>
            <a:r>
              <a:rPr sz="2200" dirty="0">
                <a:solidFill>
                  <a:srgbClr val="FFFFFF"/>
                </a:solidFill>
                <a:latin typeface="Calibri"/>
                <a:cs typeface="Calibri"/>
              </a:rPr>
              <a:t>appliances</a:t>
            </a:r>
            <a:r>
              <a:rPr sz="2200" spc="-15" dirty="0">
                <a:solidFill>
                  <a:srgbClr val="FFFFFF"/>
                </a:solidFill>
                <a:latin typeface="Calibri"/>
                <a:cs typeface="Calibri"/>
              </a:rPr>
              <a:t> </a:t>
            </a:r>
            <a:r>
              <a:rPr sz="2200" dirty="0">
                <a:solidFill>
                  <a:srgbClr val="FFFFFF"/>
                </a:solidFill>
                <a:latin typeface="Calibri"/>
                <a:cs typeface="Calibri"/>
              </a:rPr>
              <a:t>that</a:t>
            </a:r>
            <a:r>
              <a:rPr sz="2200" spc="-35" dirty="0">
                <a:solidFill>
                  <a:srgbClr val="FFFFFF"/>
                </a:solidFill>
                <a:latin typeface="Calibri"/>
                <a:cs typeface="Calibri"/>
              </a:rPr>
              <a:t> </a:t>
            </a:r>
            <a:r>
              <a:rPr sz="2200" spc="-10" dirty="0">
                <a:solidFill>
                  <a:srgbClr val="FFFFFF"/>
                </a:solidFill>
                <a:latin typeface="Calibri"/>
                <a:cs typeface="Calibri"/>
              </a:rPr>
              <a:t>contain </a:t>
            </a:r>
            <a:r>
              <a:rPr sz="2200" dirty="0">
                <a:solidFill>
                  <a:srgbClr val="FFFFFF"/>
                </a:solidFill>
                <a:latin typeface="Calibri"/>
                <a:cs typeface="Calibri"/>
              </a:rPr>
              <a:t>electronics,</a:t>
            </a:r>
            <a:r>
              <a:rPr sz="2200" spc="-50" dirty="0">
                <a:solidFill>
                  <a:srgbClr val="FFFFFF"/>
                </a:solidFill>
                <a:latin typeface="Calibri"/>
                <a:cs typeface="Calibri"/>
              </a:rPr>
              <a:t> </a:t>
            </a:r>
            <a:r>
              <a:rPr sz="2200" spc="-10" dirty="0">
                <a:solidFill>
                  <a:srgbClr val="FFFFFF"/>
                </a:solidFill>
                <a:latin typeface="Calibri"/>
                <a:cs typeface="Calibri"/>
              </a:rPr>
              <a:t>software,</a:t>
            </a:r>
            <a:r>
              <a:rPr sz="2200" spc="-80" dirty="0">
                <a:solidFill>
                  <a:srgbClr val="FFFFFF"/>
                </a:solidFill>
                <a:latin typeface="Calibri"/>
                <a:cs typeface="Calibri"/>
              </a:rPr>
              <a:t> </a:t>
            </a:r>
            <a:r>
              <a:rPr sz="2200" dirty="0">
                <a:solidFill>
                  <a:srgbClr val="FFFFFF"/>
                </a:solidFill>
                <a:latin typeface="Calibri"/>
                <a:cs typeface="Calibri"/>
              </a:rPr>
              <a:t>actuators</a:t>
            </a:r>
            <a:r>
              <a:rPr sz="2200" spc="-45" dirty="0">
                <a:solidFill>
                  <a:srgbClr val="FFFFFF"/>
                </a:solidFill>
                <a:latin typeface="Calibri"/>
                <a:cs typeface="Calibri"/>
              </a:rPr>
              <a:t> </a:t>
            </a:r>
            <a:r>
              <a:rPr sz="2200" dirty="0">
                <a:solidFill>
                  <a:srgbClr val="FFFFFF"/>
                </a:solidFill>
                <a:latin typeface="Calibri"/>
                <a:cs typeface="Calibri"/>
              </a:rPr>
              <a:t>and</a:t>
            </a:r>
            <a:r>
              <a:rPr sz="2200" spc="-60" dirty="0">
                <a:solidFill>
                  <a:srgbClr val="FFFFFF"/>
                </a:solidFill>
                <a:latin typeface="Calibri"/>
                <a:cs typeface="Calibri"/>
              </a:rPr>
              <a:t> </a:t>
            </a:r>
            <a:r>
              <a:rPr sz="2200" dirty="0">
                <a:solidFill>
                  <a:srgbClr val="FFFFFF"/>
                </a:solidFill>
                <a:latin typeface="Calibri"/>
                <a:cs typeface="Calibri"/>
              </a:rPr>
              <a:t>connectivity</a:t>
            </a:r>
            <a:r>
              <a:rPr sz="2200" spc="-45" dirty="0">
                <a:solidFill>
                  <a:srgbClr val="FFFFFF"/>
                </a:solidFill>
                <a:latin typeface="Calibri"/>
                <a:cs typeface="Calibri"/>
              </a:rPr>
              <a:t> </a:t>
            </a:r>
            <a:r>
              <a:rPr sz="2200" spc="-10" dirty="0">
                <a:solidFill>
                  <a:srgbClr val="FFFFFF"/>
                </a:solidFill>
                <a:latin typeface="Calibri"/>
                <a:cs typeface="Calibri"/>
              </a:rPr>
              <a:t>which </a:t>
            </a:r>
            <a:r>
              <a:rPr sz="2200" dirty="0">
                <a:solidFill>
                  <a:srgbClr val="FFFFFF"/>
                </a:solidFill>
                <a:latin typeface="Calibri"/>
                <a:cs typeface="Calibri"/>
              </a:rPr>
              <a:t>allows</a:t>
            </a:r>
            <a:r>
              <a:rPr sz="2200" spc="-50" dirty="0">
                <a:solidFill>
                  <a:srgbClr val="FFFFFF"/>
                </a:solidFill>
                <a:latin typeface="Calibri"/>
                <a:cs typeface="Calibri"/>
              </a:rPr>
              <a:t> </a:t>
            </a:r>
            <a:r>
              <a:rPr sz="2200" dirty="0">
                <a:solidFill>
                  <a:srgbClr val="FFFFFF"/>
                </a:solidFill>
                <a:latin typeface="Calibri"/>
                <a:cs typeface="Calibri"/>
              </a:rPr>
              <a:t>these</a:t>
            </a:r>
            <a:r>
              <a:rPr sz="2200" spc="-60" dirty="0">
                <a:solidFill>
                  <a:srgbClr val="FFFFFF"/>
                </a:solidFill>
                <a:latin typeface="Calibri"/>
                <a:cs typeface="Calibri"/>
              </a:rPr>
              <a:t> </a:t>
            </a:r>
            <a:r>
              <a:rPr sz="2200" dirty="0">
                <a:solidFill>
                  <a:srgbClr val="FFFFFF"/>
                </a:solidFill>
                <a:latin typeface="Calibri"/>
                <a:cs typeface="Calibri"/>
              </a:rPr>
              <a:t>things</a:t>
            </a:r>
            <a:r>
              <a:rPr sz="2200" spc="-40" dirty="0">
                <a:solidFill>
                  <a:srgbClr val="FFFFFF"/>
                </a:solidFill>
                <a:latin typeface="Calibri"/>
                <a:cs typeface="Calibri"/>
              </a:rPr>
              <a:t> </a:t>
            </a:r>
            <a:r>
              <a:rPr sz="2200" dirty="0">
                <a:solidFill>
                  <a:srgbClr val="FFFFFF"/>
                </a:solidFill>
                <a:latin typeface="Calibri"/>
                <a:cs typeface="Calibri"/>
              </a:rPr>
              <a:t>to</a:t>
            </a:r>
            <a:r>
              <a:rPr sz="2200" spc="-55" dirty="0">
                <a:solidFill>
                  <a:srgbClr val="FFFFFF"/>
                </a:solidFill>
                <a:latin typeface="Calibri"/>
                <a:cs typeface="Calibri"/>
              </a:rPr>
              <a:t> </a:t>
            </a:r>
            <a:r>
              <a:rPr sz="2200" dirty="0">
                <a:solidFill>
                  <a:srgbClr val="FFFFFF"/>
                </a:solidFill>
                <a:latin typeface="Calibri"/>
                <a:cs typeface="Calibri"/>
              </a:rPr>
              <a:t>connect,</a:t>
            </a:r>
            <a:r>
              <a:rPr sz="2200" spc="-30" dirty="0">
                <a:solidFill>
                  <a:srgbClr val="FFFFFF"/>
                </a:solidFill>
                <a:latin typeface="Calibri"/>
                <a:cs typeface="Calibri"/>
              </a:rPr>
              <a:t> </a:t>
            </a:r>
            <a:r>
              <a:rPr sz="2200" dirty="0">
                <a:solidFill>
                  <a:srgbClr val="FFFFFF"/>
                </a:solidFill>
                <a:latin typeface="Calibri"/>
                <a:cs typeface="Calibri"/>
              </a:rPr>
              <a:t>interact</a:t>
            </a:r>
            <a:r>
              <a:rPr sz="2200" spc="-35" dirty="0">
                <a:solidFill>
                  <a:srgbClr val="FFFFFF"/>
                </a:solidFill>
                <a:latin typeface="Calibri"/>
                <a:cs typeface="Calibri"/>
              </a:rPr>
              <a:t> </a:t>
            </a:r>
            <a:r>
              <a:rPr sz="2200" dirty="0">
                <a:solidFill>
                  <a:srgbClr val="FFFFFF"/>
                </a:solidFill>
                <a:latin typeface="Calibri"/>
                <a:cs typeface="Calibri"/>
              </a:rPr>
              <a:t>and</a:t>
            </a:r>
            <a:r>
              <a:rPr sz="2200" spc="-50" dirty="0">
                <a:solidFill>
                  <a:srgbClr val="FFFFFF"/>
                </a:solidFill>
                <a:latin typeface="Calibri"/>
                <a:cs typeface="Calibri"/>
              </a:rPr>
              <a:t> </a:t>
            </a:r>
            <a:r>
              <a:rPr sz="2200" spc="-10" dirty="0">
                <a:solidFill>
                  <a:srgbClr val="FFFFFF"/>
                </a:solidFill>
                <a:latin typeface="Calibri"/>
                <a:cs typeface="Calibri"/>
              </a:rPr>
              <a:t>exchange data.</a:t>
            </a:r>
            <a:endParaRPr sz="2200" dirty="0">
              <a:latin typeface="Calibri"/>
              <a:cs typeface="Calibri"/>
            </a:endParaRPr>
          </a:p>
        </p:txBody>
      </p:sp>
      <p:sp>
        <p:nvSpPr>
          <p:cNvPr id="11" name="object 11">
            <a:extLst>
              <a:ext uri="{FF2B5EF4-FFF2-40B4-BE49-F238E27FC236}">
                <a16:creationId xmlns:a16="http://schemas.microsoft.com/office/drawing/2014/main" id="{470BFDB4-C93A-30B0-3E7D-0CCAE872E7FC}"/>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pic>
        <p:nvPicPr>
          <p:cNvPr id="17" name="object 17">
            <a:extLst>
              <a:ext uri="{FF2B5EF4-FFF2-40B4-BE49-F238E27FC236}">
                <a16:creationId xmlns:a16="http://schemas.microsoft.com/office/drawing/2014/main" id="{67C4E1A0-2C0D-B300-17D6-F6402B4DDF8E}"/>
              </a:ext>
            </a:extLst>
          </p:cNvPr>
          <p:cNvPicPr/>
          <p:nvPr/>
        </p:nvPicPr>
        <p:blipFill>
          <a:blip r:embed="rId2" cstate="print"/>
          <a:stretch>
            <a:fillRect/>
          </a:stretch>
        </p:blipFill>
        <p:spPr>
          <a:xfrm>
            <a:off x="76200" y="25"/>
            <a:ext cx="2514600" cy="947267"/>
          </a:xfrm>
          <a:prstGeom prst="rect">
            <a:avLst/>
          </a:prstGeom>
        </p:spPr>
      </p:pic>
      <p:sp>
        <p:nvSpPr>
          <p:cNvPr id="3" name="Text Placeholder 2">
            <a:extLst>
              <a:ext uri="{FF2B5EF4-FFF2-40B4-BE49-F238E27FC236}">
                <a16:creationId xmlns:a16="http://schemas.microsoft.com/office/drawing/2014/main" id="{FF234FB3-A0A7-42B1-9DDB-225091025369}"/>
              </a:ext>
            </a:extLst>
          </p:cNvPr>
          <p:cNvSpPr>
            <a:spLocks noGrp="1"/>
          </p:cNvSpPr>
          <p:nvPr>
            <p:ph type="body" idx="1"/>
          </p:nvPr>
        </p:nvSpPr>
        <p:spPr>
          <a:xfrm>
            <a:off x="1722149" y="1219200"/>
            <a:ext cx="7294880" cy="3693319"/>
          </a:xfrm>
        </p:spPr>
        <p:txBody>
          <a:bodyPr/>
          <a:lstStyle/>
          <a:p>
            <a:r>
              <a:rPr lang="en-US" sz="2000" dirty="0"/>
              <a:t>// Print the graph</a:t>
            </a:r>
          </a:p>
          <a:p>
            <a:r>
              <a:rPr lang="en-US" sz="2000" dirty="0"/>
              <a:t>void </a:t>
            </a:r>
            <a:r>
              <a:rPr lang="en-US" sz="2000" dirty="0" err="1"/>
              <a:t>printGraph</a:t>
            </a:r>
            <a:r>
              <a:rPr lang="en-US" sz="2000" dirty="0"/>
              <a:t>(struct Graph* graph) {</a:t>
            </a:r>
          </a:p>
          <a:p>
            <a:r>
              <a:rPr lang="en-US" sz="2000" dirty="0"/>
              <a:t>  int v;</a:t>
            </a:r>
          </a:p>
          <a:p>
            <a:r>
              <a:rPr lang="en-US" sz="2000" dirty="0"/>
              <a:t>  for (v = 0; v &lt; graph-&gt;</a:t>
            </a:r>
            <a:r>
              <a:rPr lang="en-US" sz="2000" dirty="0" err="1"/>
              <a:t>numVertices</a:t>
            </a:r>
            <a:r>
              <a:rPr lang="en-US" sz="2000" dirty="0"/>
              <a:t>; v++) {</a:t>
            </a:r>
          </a:p>
          <a:p>
            <a:r>
              <a:rPr lang="en-US" sz="2000" dirty="0"/>
              <a:t>    struct node* temp = graph-&gt;</a:t>
            </a:r>
            <a:r>
              <a:rPr lang="en-US" sz="2000" dirty="0" err="1"/>
              <a:t>adjLists</a:t>
            </a:r>
            <a:r>
              <a:rPr lang="en-US" sz="2000" dirty="0"/>
              <a:t>[v];</a:t>
            </a:r>
          </a:p>
          <a:p>
            <a:r>
              <a:rPr lang="en-US" sz="2000" dirty="0"/>
              <a:t>    </a:t>
            </a:r>
            <a:r>
              <a:rPr lang="en-US" sz="2000" dirty="0" err="1"/>
              <a:t>printf</a:t>
            </a:r>
            <a:r>
              <a:rPr lang="en-US" sz="2000" dirty="0"/>
              <a:t>("\n Vertex %d\n: ", v);</a:t>
            </a:r>
          </a:p>
          <a:p>
            <a:r>
              <a:rPr lang="en-US" sz="2000" dirty="0"/>
              <a:t>    while (temp) {</a:t>
            </a:r>
          </a:p>
          <a:p>
            <a:r>
              <a:rPr lang="en-US" sz="2000" dirty="0"/>
              <a:t>      </a:t>
            </a:r>
            <a:r>
              <a:rPr lang="en-US" sz="2000" dirty="0" err="1"/>
              <a:t>printf</a:t>
            </a:r>
            <a:r>
              <a:rPr lang="en-US" sz="2000" dirty="0"/>
              <a:t>("%d -&gt; ", temp-&gt;vertex);</a:t>
            </a:r>
          </a:p>
          <a:p>
            <a:r>
              <a:rPr lang="en-US" sz="2000" dirty="0"/>
              <a:t>      temp = temp-&gt;next;</a:t>
            </a:r>
          </a:p>
          <a:p>
            <a:r>
              <a:rPr lang="en-US" sz="2000" dirty="0"/>
              <a:t>    }</a:t>
            </a:r>
          </a:p>
          <a:p>
            <a:r>
              <a:rPr lang="en-US" sz="2000" dirty="0"/>
              <a:t>    </a:t>
            </a:r>
            <a:r>
              <a:rPr lang="en-US" sz="2000" dirty="0" err="1"/>
              <a:t>printf</a:t>
            </a:r>
            <a:r>
              <a:rPr lang="en-US" sz="2000" dirty="0"/>
              <a:t>("\n");</a:t>
            </a:r>
          </a:p>
          <a:p>
            <a:r>
              <a:rPr lang="en-US" sz="2000" dirty="0"/>
              <a:t>  } }</a:t>
            </a:r>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2715895" y="-18829"/>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LIST GRAPH REPRESENTATION</a:t>
            </a:r>
          </a:p>
        </p:txBody>
      </p:sp>
      <p:sp>
        <p:nvSpPr>
          <p:cNvPr id="2" name="Date Placeholder 1">
            <a:extLst>
              <a:ext uri="{FF2B5EF4-FFF2-40B4-BE49-F238E27FC236}">
                <a16:creationId xmlns:a16="http://schemas.microsoft.com/office/drawing/2014/main" id="{8F10C2DE-4122-4124-A172-8FDF759AB558}"/>
              </a:ext>
            </a:extLst>
          </p:cNvPr>
          <p:cNvSpPr>
            <a:spLocks noGrp="1"/>
          </p:cNvSpPr>
          <p:nvPr>
            <p:ph type="dt" sz="half" idx="6"/>
          </p:nvPr>
        </p:nvSpPr>
        <p:spPr/>
        <p:txBody>
          <a:bodyPr/>
          <a:lstStyle/>
          <a:p>
            <a:pPr marL="12700">
              <a:lnSpc>
                <a:spcPts val="1240"/>
              </a:lnSpc>
            </a:pPr>
            <a:fld id="{DB73F68A-E22B-4099-97A2-F5777938EB1F}" type="datetime1">
              <a:rPr lang="en-US" spc="-25" smtClean="0"/>
              <a:t>7/8/2026</a:t>
            </a:fld>
            <a:endParaRPr lang="en-IN" spc="-25" dirty="0"/>
          </a:p>
        </p:txBody>
      </p:sp>
      <p:sp>
        <p:nvSpPr>
          <p:cNvPr id="4" name="Footer Placeholder 3">
            <a:extLst>
              <a:ext uri="{FF2B5EF4-FFF2-40B4-BE49-F238E27FC236}">
                <a16:creationId xmlns:a16="http://schemas.microsoft.com/office/drawing/2014/main" id="{A1E7F138-36B6-49D0-B010-91A70C2201B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912728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AF40-222B-CAFA-E9A5-0CDFB84F2D4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2C9EBDB7-C403-352A-ED24-7D332EA61A02}"/>
              </a:ext>
            </a:extLst>
          </p:cNvPr>
          <p:cNvSpPr txBox="1"/>
          <p:nvPr/>
        </p:nvSpPr>
        <p:spPr>
          <a:xfrm>
            <a:off x="2750947" y="1384554"/>
            <a:ext cx="6256655" cy="1286378"/>
          </a:xfrm>
          <a:prstGeom prst="rect">
            <a:avLst/>
          </a:prstGeom>
        </p:spPr>
        <p:txBody>
          <a:bodyPr vert="horz" wrap="square" lIns="0" tIns="40005" rIns="0" bIns="0" rtlCol="0">
            <a:spAutoFit/>
          </a:bodyPr>
          <a:lstStyle/>
          <a:p>
            <a:pPr marL="12700" marR="5080">
              <a:lnSpc>
                <a:spcPct val="91600"/>
              </a:lnSpc>
              <a:spcBef>
                <a:spcPts val="315"/>
              </a:spcBef>
            </a:pPr>
            <a:r>
              <a:rPr sz="2200" dirty="0">
                <a:solidFill>
                  <a:srgbClr val="FFFFFF"/>
                </a:solidFill>
                <a:latin typeface="Calibri"/>
                <a:cs typeface="Calibri"/>
              </a:rPr>
              <a:t>)</a:t>
            </a:r>
            <a:r>
              <a:rPr sz="2200" spc="-30" dirty="0">
                <a:solidFill>
                  <a:srgbClr val="FFFFFF"/>
                </a:solidFill>
                <a:latin typeface="Calibri"/>
                <a:cs typeface="Calibri"/>
              </a:rPr>
              <a:t> </a:t>
            </a:r>
            <a:r>
              <a:rPr sz="2200" dirty="0">
                <a:solidFill>
                  <a:srgbClr val="FFFFFF"/>
                </a:solidFill>
                <a:latin typeface="Calibri"/>
                <a:cs typeface="Calibri"/>
              </a:rPr>
              <a:t>is</a:t>
            </a:r>
            <a:r>
              <a:rPr sz="2200" spc="-40" dirty="0">
                <a:solidFill>
                  <a:srgbClr val="FFFFFF"/>
                </a:solidFill>
                <a:latin typeface="Calibri"/>
                <a:cs typeface="Calibri"/>
              </a:rPr>
              <a:t> </a:t>
            </a:r>
            <a:r>
              <a:rPr sz="2200" dirty="0">
                <a:solidFill>
                  <a:srgbClr val="FFFFFF"/>
                </a:solidFill>
                <a:latin typeface="Calibri"/>
                <a:cs typeface="Calibri"/>
              </a:rPr>
              <a:t>the</a:t>
            </a:r>
            <a:r>
              <a:rPr sz="2200" spc="-30" dirty="0">
                <a:solidFill>
                  <a:srgbClr val="FFFFFF"/>
                </a:solidFill>
                <a:latin typeface="Calibri"/>
                <a:cs typeface="Calibri"/>
              </a:rPr>
              <a:t> </a:t>
            </a:r>
            <a:r>
              <a:rPr sz="2200" dirty="0">
                <a:solidFill>
                  <a:srgbClr val="FFFFFF"/>
                </a:solidFill>
                <a:latin typeface="Calibri"/>
                <a:cs typeface="Calibri"/>
              </a:rPr>
              <a:t>network</a:t>
            </a:r>
            <a:r>
              <a:rPr sz="2200" spc="-45" dirty="0">
                <a:solidFill>
                  <a:srgbClr val="FFFFFF"/>
                </a:solidFill>
                <a:latin typeface="Calibri"/>
                <a:cs typeface="Calibri"/>
              </a:rPr>
              <a:t> </a:t>
            </a:r>
            <a:r>
              <a:rPr sz="2200" dirty="0">
                <a:solidFill>
                  <a:srgbClr val="FFFFFF"/>
                </a:solidFill>
                <a:latin typeface="Calibri"/>
                <a:cs typeface="Calibri"/>
              </a:rPr>
              <a:t>of</a:t>
            </a:r>
            <a:r>
              <a:rPr sz="2200" spc="-40" dirty="0">
                <a:solidFill>
                  <a:srgbClr val="FFFFFF"/>
                </a:solidFill>
                <a:latin typeface="Calibri"/>
                <a:cs typeface="Calibri"/>
              </a:rPr>
              <a:t> </a:t>
            </a:r>
            <a:r>
              <a:rPr sz="2200" spc="-10" dirty="0">
                <a:solidFill>
                  <a:srgbClr val="FFFFFF"/>
                </a:solidFill>
                <a:latin typeface="Calibri"/>
                <a:cs typeface="Calibri"/>
              </a:rPr>
              <a:t>devices </a:t>
            </a:r>
            <a:r>
              <a:rPr sz="2200" dirty="0">
                <a:solidFill>
                  <a:srgbClr val="FFFFFF"/>
                </a:solidFill>
                <a:latin typeface="Calibri"/>
                <a:cs typeface="Calibri"/>
              </a:rPr>
              <a:t>such</a:t>
            </a:r>
            <a:r>
              <a:rPr sz="2200" spc="-40" dirty="0">
                <a:solidFill>
                  <a:srgbClr val="FFFFFF"/>
                </a:solidFill>
                <a:latin typeface="Calibri"/>
                <a:cs typeface="Calibri"/>
              </a:rPr>
              <a:t> </a:t>
            </a:r>
            <a:r>
              <a:rPr sz="2200" dirty="0">
                <a:solidFill>
                  <a:srgbClr val="FFFFFF"/>
                </a:solidFill>
                <a:latin typeface="Calibri"/>
                <a:cs typeface="Calibri"/>
              </a:rPr>
              <a:t>as</a:t>
            </a:r>
            <a:r>
              <a:rPr sz="2200" spc="-35" dirty="0">
                <a:solidFill>
                  <a:srgbClr val="FFFFFF"/>
                </a:solidFill>
                <a:latin typeface="Calibri"/>
                <a:cs typeface="Calibri"/>
              </a:rPr>
              <a:t> </a:t>
            </a:r>
            <a:r>
              <a:rPr sz="2200" dirty="0">
                <a:solidFill>
                  <a:srgbClr val="FFFFFF"/>
                </a:solidFill>
                <a:latin typeface="Calibri"/>
                <a:cs typeface="Calibri"/>
              </a:rPr>
              <a:t>vehicles,</a:t>
            </a:r>
            <a:r>
              <a:rPr sz="2200" spc="-10" dirty="0">
                <a:solidFill>
                  <a:srgbClr val="FFFFFF"/>
                </a:solidFill>
                <a:latin typeface="Calibri"/>
                <a:cs typeface="Calibri"/>
              </a:rPr>
              <a:t> </a:t>
            </a:r>
            <a:r>
              <a:rPr sz="2200" dirty="0">
                <a:solidFill>
                  <a:srgbClr val="FFFFFF"/>
                </a:solidFill>
                <a:latin typeface="Calibri"/>
                <a:cs typeface="Calibri"/>
              </a:rPr>
              <a:t>and</a:t>
            </a:r>
            <a:r>
              <a:rPr sz="2200" spc="-25" dirty="0">
                <a:solidFill>
                  <a:srgbClr val="FFFFFF"/>
                </a:solidFill>
                <a:latin typeface="Calibri"/>
                <a:cs typeface="Calibri"/>
              </a:rPr>
              <a:t> </a:t>
            </a:r>
            <a:r>
              <a:rPr sz="2200" dirty="0">
                <a:solidFill>
                  <a:srgbClr val="FFFFFF"/>
                </a:solidFill>
                <a:latin typeface="Calibri"/>
                <a:cs typeface="Calibri"/>
              </a:rPr>
              <a:t>home</a:t>
            </a:r>
            <a:r>
              <a:rPr sz="2200" spc="-30" dirty="0">
                <a:solidFill>
                  <a:srgbClr val="FFFFFF"/>
                </a:solidFill>
                <a:latin typeface="Calibri"/>
                <a:cs typeface="Calibri"/>
              </a:rPr>
              <a:t> </a:t>
            </a:r>
            <a:r>
              <a:rPr sz="2200" dirty="0">
                <a:solidFill>
                  <a:srgbClr val="FFFFFF"/>
                </a:solidFill>
                <a:latin typeface="Calibri"/>
                <a:cs typeface="Calibri"/>
              </a:rPr>
              <a:t>appliances</a:t>
            </a:r>
            <a:r>
              <a:rPr sz="2200" spc="-15" dirty="0">
                <a:solidFill>
                  <a:srgbClr val="FFFFFF"/>
                </a:solidFill>
                <a:latin typeface="Calibri"/>
                <a:cs typeface="Calibri"/>
              </a:rPr>
              <a:t> </a:t>
            </a:r>
            <a:r>
              <a:rPr sz="2200" dirty="0">
                <a:solidFill>
                  <a:srgbClr val="FFFFFF"/>
                </a:solidFill>
                <a:latin typeface="Calibri"/>
                <a:cs typeface="Calibri"/>
              </a:rPr>
              <a:t>that</a:t>
            </a:r>
            <a:r>
              <a:rPr sz="2200" spc="-35" dirty="0">
                <a:solidFill>
                  <a:srgbClr val="FFFFFF"/>
                </a:solidFill>
                <a:latin typeface="Calibri"/>
                <a:cs typeface="Calibri"/>
              </a:rPr>
              <a:t> </a:t>
            </a:r>
            <a:r>
              <a:rPr sz="2200" spc="-10" dirty="0">
                <a:solidFill>
                  <a:srgbClr val="FFFFFF"/>
                </a:solidFill>
                <a:latin typeface="Calibri"/>
                <a:cs typeface="Calibri"/>
              </a:rPr>
              <a:t>contain </a:t>
            </a:r>
            <a:r>
              <a:rPr sz="2200" dirty="0">
                <a:solidFill>
                  <a:srgbClr val="FFFFFF"/>
                </a:solidFill>
                <a:latin typeface="Calibri"/>
                <a:cs typeface="Calibri"/>
              </a:rPr>
              <a:t>electronics,</a:t>
            </a:r>
            <a:r>
              <a:rPr sz="2200" spc="-50" dirty="0">
                <a:solidFill>
                  <a:srgbClr val="FFFFFF"/>
                </a:solidFill>
                <a:latin typeface="Calibri"/>
                <a:cs typeface="Calibri"/>
              </a:rPr>
              <a:t> </a:t>
            </a:r>
            <a:r>
              <a:rPr sz="2200" spc="-10" dirty="0">
                <a:solidFill>
                  <a:srgbClr val="FFFFFF"/>
                </a:solidFill>
                <a:latin typeface="Calibri"/>
                <a:cs typeface="Calibri"/>
              </a:rPr>
              <a:t>software,</a:t>
            </a:r>
            <a:r>
              <a:rPr sz="2200" spc="-80" dirty="0">
                <a:solidFill>
                  <a:srgbClr val="FFFFFF"/>
                </a:solidFill>
                <a:latin typeface="Calibri"/>
                <a:cs typeface="Calibri"/>
              </a:rPr>
              <a:t> </a:t>
            </a:r>
            <a:r>
              <a:rPr sz="2200" dirty="0">
                <a:solidFill>
                  <a:srgbClr val="FFFFFF"/>
                </a:solidFill>
                <a:latin typeface="Calibri"/>
                <a:cs typeface="Calibri"/>
              </a:rPr>
              <a:t>actuators</a:t>
            </a:r>
            <a:r>
              <a:rPr sz="2200" spc="-45" dirty="0">
                <a:solidFill>
                  <a:srgbClr val="FFFFFF"/>
                </a:solidFill>
                <a:latin typeface="Calibri"/>
                <a:cs typeface="Calibri"/>
              </a:rPr>
              <a:t> </a:t>
            </a:r>
            <a:r>
              <a:rPr sz="2200" dirty="0">
                <a:solidFill>
                  <a:srgbClr val="FFFFFF"/>
                </a:solidFill>
                <a:latin typeface="Calibri"/>
                <a:cs typeface="Calibri"/>
              </a:rPr>
              <a:t>and</a:t>
            </a:r>
            <a:r>
              <a:rPr sz="2200" spc="-60" dirty="0">
                <a:solidFill>
                  <a:srgbClr val="FFFFFF"/>
                </a:solidFill>
                <a:latin typeface="Calibri"/>
                <a:cs typeface="Calibri"/>
              </a:rPr>
              <a:t> </a:t>
            </a:r>
            <a:r>
              <a:rPr sz="2200" dirty="0">
                <a:solidFill>
                  <a:srgbClr val="FFFFFF"/>
                </a:solidFill>
                <a:latin typeface="Calibri"/>
                <a:cs typeface="Calibri"/>
              </a:rPr>
              <a:t>connectivity</a:t>
            </a:r>
            <a:r>
              <a:rPr sz="2200" spc="-45" dirty="0">
                <a:solidFill>
                  <a:srgbClr val="FFFFFF"/>
                </a:solidFill>
                <a:latin typeface="Calibri"/>
                <a:cs typeface="Calibri"/>
              </a:rPr>
              <a:t> </a:t>
            </a:r>
            <a:r>
              <a:rPr sz="2200" spc="-10" dirty="0">
                <a:solidFill>
                  <a:srgbClr val="FFFFFF"/>
                </a:solidFill>
                <a:latin typeface="Calibri"/>
                <a:cs typeface="Calibri"/>
              </a:rPr>
              <a:t>which </a:t>
            </a:r>
            <a:r>
              <a:rPr sz="2200" dirty="0">
                <a:solidFill>
                  <a:srgbClr val="FFFFFF"/>
                </a:solidFill>
                <a:latin typeface="Calibri"/>
                <a:cs typeface="Calibri"/>
              </a:rPr>
              <a:t>allows</a:t>
            </a:r>
            <a:r>
              <a:rPr sz="2200" spc="-50" dirty="0">
                <a:solidFill>
                  <a:srgbClr val="FFFFFF"/>
                </a:solidFill>
                <a:latin typeface="Calibri"/>
                <a:cs typeface="Calibri"/>
              </a:rPr>
              <a:t> </a:t>
            </a:r>
            <a:r>
              <a:rPr sz="2200" dirty="0">
                <a:solidFill>
                  <a:srgbClr val="FFFFFF"/>
                </a:solidFill>
                <a:latin typeface="Calibri"/>
                <a:cs typeface="Calibri"/>
              </a:rPr>
              <a:t>these</a:t>
            </a:r>
            <a:r>
              <a:rPr sz="2200" spc="-60" dirty="0">
                <a:solidFill>
                  <a:srgbClr val="FFFFFF"/>
                </a:solidFill>
                <a:latin typeface="Calibri"/>
                <a:cs typeface="Calibri"/>
              </a:rPr>
              <a:t> </a:t>
            </a:r>
            <a:r>
              <a:rPr sz="2200" dirty="0">
                <a:solidFill>
                  <a:srgbClr val="FFFFFF"/>
                </a:solidFill>
                <a:latin typeface="Calibri"/>
                <a:cs typeface="Calibri"/>
              </a:rPr>
              <a:t>things</a:t>
            </a:r>
            <a:r>
              <a:rPr sz="2200" spc="-40" dirty="0">
                <a:solidFill>
                  <a:srgbClr val="FFFFFF"/>
                </a:solidFill>
                <a:latin typeface="Calibri"/>
                <a:cs typeface="Calibri"/>
              </a:rPr>
              <a:t> </a:t>
            </a:r>
            <a:r>
              <a:rPr sz="2200" dirty="0">
                <a:solidFill>
                  <a:srgbClr val="FFFFFF"/>
                </a:solidFill>
                <a:latin typeface="Calibri"/>
                <a:cs typeface="Calibri"/>
              </a:rPr>
              <a:t>to</a:t>
            </a:r>
            <a:r>
              <a:rPr sz="2200" spc="-55" dirty="0">
                <a:solidFill>
                  <a:srgbClr val="FFFFFF"/>
                </a:solidFill>
                <a:latin typeface="Calibri"/>
                <a:cs typeface="Calibri"/>
              </a:rPr>
              <a:t> </a:t>
            </a:r>
            <a:r>
              <a:rPr sz="2200" dirty="0">
                <a:solidFill>
                  <a:srgbClr val="FFFFFF"/>
                </a:solidFill>
                <a:latin typeface="Calibri"/>
                <a:cs typeface="Calibri"/>
              </a:rPr>
              <a:t>connect,</a:t>
            </a:r>
            <a:r>
              <a:rPr sz="2200" spc="-30" dirty="0">
                <a:solidFill>
                  <a:srgbClr val="FFFFFF"/>
                </a:solidFill>
                <a:latin typeface="Calibri"/>
                <a:cs typeface="Calibri"/>
              </a:rPr>
              <a:t> </a:t>
            </a:r>
            <a:r>
              <a:rPr sz="2200" dirty="0">
                <a:solidFill>
                  <a:srgbClr val="FFFFFF"/>
                </a:solidFill>
                <a:latin typeface="Calibri"/>
                <a:cs typeface="Calibri"/>
              </a:rPr>
              <a:t>interact</a:t>
            </a:r>
            <a:r>
              <a:rPr sz="2200" spc="-35" dirty="0">
                <a:solidFill>
                  <a:srgbClr val="FFFFFF"/>
                </a:solidFill>
                <a:latin typeface="Calibri"/>
                <a:cs typeface="Calibri"/>
              </a:rPr>
              <a:t> </a:t>
            </a:r>
            <a:r>
              <a:rPr sz="2200" dirty="0">
                <a:solidFill>
                  <a:srgbClr val="FFFFFF"/>
                </a:solidFill>
                <a:latin typeface="Calibri"/>
                <a:cs typeface="Calibri"/>
              </a:rPr>
              <a:t>and</a:t>
            </a:r>
            <a:r>
              <a:rPr sz="2200" spc="-50" dirty="0">
                <a:solidFill>
                  <a:srgbClr val="FFFFFF"/>
                </a:solidFill>
                <a:latin typeface="Calibri"/>
                <a:cs typeface="Calibri"/>
              </a:rPr>
              <a:t> </a:t>
            </a:r>
            <a:r>
              <a:rPr sz="2200" spc="-10" dirty="0">
                <a:solidFill>
                  <a:srgbClr val="FFFFFF"/>
                </a:solidFill>
                <a:latin typeface="Calibri"/>
                <a:cs typeface="Calibri"/>
              </a:rPr>
              <a:t>exchange data.</a:t>
            </a:r>
            <a:endParaRPr sz="2200" dirty="0">
              <a:latin typeface="Calibri"/>
              <a:cs typeface="Calibri"/>
            </a:endParaRPr>
          </a:p>
        </p:txBody>
      </p:sp>
      <p:sp>
        <p:nvSpPr>
          <p:cNvPr id="11" name="object 11">
            <a:extLst>
              <a:ext uri="{FF2B5EF4-FFF2-40B4-BE49-F238E27FC236}">
                <a16:creationId xmlns:a16="http://schemas.microsoft.com/office/drawing/2014/main" id="{470BFDB4-C93A-30B0-3E7D-0CCAE872E7FC}"/>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pic>
        <p:nvPicPr>
          <p:cNvPr id="17" name="object 17">
            <a:extLst>
              <a:ext uri="{FF2B5EF4-FFF2-40B4-BE49-F238E27FC236}">
                <a16:creationId xmlns:a16="http://schemas.microsoft.com/office/drawing/2014/main" id="{67C4E1A0-2C0D-B300-17D6-F6402B4DDF8E}"/>
              </a:ext>
            </a:extLst>
          </p:cNvPr>
          <p:cNvPicPr/>
          <p:nvPr/>
        </p:nvPicPr>
        <p:blipFill>
          <a:blip r:embed="rId2" cstate="print"/>
          <a:stretch>
            <a:fillRect/>
          </a:stretch>
        </p:blipFill>
        <p:spPr>
          <a:xfrm>
            <a:off x="76200" y="25"/>
            <a:ext cx="2514600" cy="947267"/>
          </a:xfrm>
          <a:prstGeom prst="rect">
            <a:avLst/>
          </a:prstGeom>
        </p:spPr>
      </p:pic>
      <p:sp>
        <p:nvSpPr>
          <p:cNvPr id="3" name="Text Placeholder 2">
            <a:extLst>
              <a:ext uri="{FF2B5EF4-FFF2-40B4-BE49-F238E27FC236}">
                <a16:creationId xmlns:a16="http://schemas.microsoft.com/office/drawing/2014/main" id="{FF234FB3-A0A7-42B1-9DDB-225091025369}"/>
              </a:ext>
            </a:extLst>
          </p:cNvPr>
          <p:cNvSpPr>
            <a:spLocks noGrp="1"/>
          </p:cNvSpPr>
          <p:nvPr>
            <p:ph type="body" idx="1"/>
          </p:nvPr>
        </p:nvSpPr>
        <p:spPr>
          <a:xfrm>
            <a:off x="2448560" y="1372402"/>
            <a:ext cx="7294880" cy="3077766"/>
          </a:xfrm>
        </p:spPr>
        <p:txBody>
          <a:bodyPr/>
          <a:lstStyle/>
          <a:p>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main() {</a:t>
            </a:r>
          </a:p>
          <a:p>
            <a:r>
              <a:rPr lang="en-US" sz="2000" dirty="0">
                <a:latin typeface="Times New Roman" panose="02020603050405020304" pitchFamily="18" charset="0"/>
                <a:cs typeface="Times New Roman" panose="02020603050405020304" pitchFamily="18" charset="0"/>
              </a:rPr>
              <a:t>  struct Graph* graph = </a:t>
            </a:r>
            <a:r>
              <a:rPr lang="en-US" sz="2000" dirty="0" err="1">
                <a:latin typeface="Times New Roman" panose="02020603050405020304" pitchFamily="18" charset="0"/>
                <a:cs typeface="Times New Roman" panose="02020603050405020304" pitchFamily="18" charset="0"/>
              </a:rPr>
              <a:t>createAGraph</a:t>
            </a:r>
            <a:r>
              <a:rPr lang="en-US" sz="2000" dirty="0">
                <a:latin typeface="Times New Roman" panose="02020603050405020304" pitchFamily="18" charset="0"/>
                <a:cs typeface="Times New Roman" panose="02020603050405020304" pitchFamily="18" charset="0"/>
              </a:rPr>
              <a:t>(4);</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addEdge</a:t>
            </a:r>
            <a:r>
              <a:rPr lang="en-US" sz="2000" dirty="0">
                <a:latin typeface="Times New Roman" panose="02020603050405020304" pitchFamily="18" charset="0"/>
                <a:cs typeface="Times New Roman" panose="02020603050405020304" pitchFamily="18" charset="0"/>
              </a:rPr>
              <a:t>(graph, 0, 1);</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addEdge</a:t>
            </a:r>
            <a:r>
              <a:rPr lang="en-US" sz="2000" dirty="0">
                <a:latin typeface="Times New Roman" panose="02020603050405020304" pitchFamily="18" charset="0"/>
                <a:cs typeface="Times New Roman" panose="02020603050405020304" pitchFamily="18" charset="0"/>
              </a:rPr>
              <a:t>(graph, 0, 2);</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addEdge</a:t>
            </a:r>
            <a:r>
              <a:rPr lang="en-US" sz="2000" dirty="0">
                <a:latin typeface="Times New Roman" panose="02020603050405020304" pitchFamily="18" charset="0"/>
                <a:cs typeface="Times New Roman" panose="02020603050405020304" pitchFamily="18" charset="0"/>
              </a:rPr>
              <a:t>(graph, 0, 3);</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addEdge</a:t>
            </a:r>
            <a:r>
              <a:rPr lang="en-US" sz="2000" dirty="0">
                <a:latin typeface="Times New Roman" panose="02020603050405020304" pitchFamily="18" charset="0"/>
                <a:cs typeface="Times New Roman" panose="02020603050405020304" pitchFamily="18" charset="0"/>
              </a:rPr>
              <a:t>(graph, 1, 2);</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printGraph</a:t>
            </a:r>
            <a:r>
              <a:rPr lang="en-US" sz="2000" dirty="0">
                <a:latin typeface="Times New Roman" panose="02020603050405020304" pitchFamily="18" charset="0"/>
                <a:cs typeface="Times New Roman" panose="02020603050405020304" pitchFamily="18" charset="0"/>
              </a:rPr>
              <a:t>(graph);</a:t>
            </a:r>
          </a:p>
          <a:p>
            <a:r>
              <a:rPr lang="en-US" sz="2000" dirty="0">
                <a:latin typeface="Times New Roman" panose="02020603050405020304" pitchFamily="18" charset="0"/>
                <a:cs typeface="Times New Roman" panose="02020603050405020304" pitchFamily="18" charset="0"/>
              </a:rPr>
              <a:t>  return 0;</a:t>
            </a:r>
          </a:p>
          <a:p>
            <a:r>
              <a:rPr lang="en-US" sz="2000" dirty="0">
                <a:latin typeface="Times New Roman" panose="02020603050405020304" pitchFamily="18" charset="0"/>
                <a:cs typeface="Times New Roman" panose="02020603050405020304" pitchFamily="18" charset="0"/>
              </a:rPr>
              <a:t>}</a:t>
            </a:r>
          </a:p>
        </p:txBody>
      </p:sp>
      <p:sp>
        <p:nvSpPr>
          <p:cNvPr id="10" name="Title 1">
            <a:extLst>
              <a:ext uri="{FF2B5EF4-FFF2-40B4-BE49-F238E27FC236}">
                <a16:creationId xmlns:a16="http://schemas.microsoft.com/office/drawing/2014/main" id="{1C7BBAA3-263A-8FE5-5AA3-E40EF73A5AE9}"/>
              </a:ext>
            </a:extLst>
          </p:cNvPr>
          <p:cNvSpPr txBox="1">
            <a:spLocks/>
          </p:cNvSpPr>
          <p:nvPr/>
        </p:nvSpPr>
        <p:spPr>
          <a:xfrm>
            <a:off x="2715895" y="-18829"/>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ADJACENCY LIST GRAPH REPRESENTATION</a:t>
            </a:r>
          </a:p>
        </p:txBody>
      </p:sp>
      <p:sp>
        <p:nvSpPr>
          <p:cNvPr id="2" name="Date Placeholder 1">
            <a:extLst>
              <a:ext uri="{FF2B5EF4-FFF2-40B4-BE49-F238E27FC236}">
                <a16:creationId xmlns:a16="http://schemas.microsoft.com/office/drawing/2014/main" id="{E38EE76B-7F4F-41B4-B224-360E5FA049E4}"/>
              </a:ext>
            </a:extLst>
          </p:cNvPr>
          <p:cNvSpPr>
            <a:spLocks noGrp="1"/>
          </p:cNvSpPr>
          <p:nvPr>
            <p:ph type="dt" sz="half" idx="6"/>
          </p:nvPr>
        </p:nvSpPr>
        <p:spPr/>
        <p:txBody>
          <a:bodyPr/>
          <a:lstStyle/>
          <a:p>
            <a:pPr marL="12700">
              <a:lnSpc>
                <a:spcPts val="1240"/>
              </a:lnSpc>
            </a:pPr>
            <a:fld id="{63646FC8-D571-4FFE-93D9-F0AD83D93C06}" type="datetime1">
              <a:rPr lang="en-US" spc="-25" smtClean="0"/>
              <a:t>7/8/2026</a:t>
            </a:fld>
            <a:endParaRPr lang="en-IN" spc="-25" dirty="0"/>
          </a:p>
        </p:txBody>
      </p:sp>
      <p:sp>
        <p:nvSpPr>
          <p:cNvPr id="4" name="Footer Placeholder 3">
            <a:extLst>
              <a:ext uri="{FF2B5EF4-FFF2-40B4-BE49-F238E27FC236}">
                <a16:creationId xmlns:a16="http://schemas.microsoft.com/office/drawing/2014/main" id="{F1203312-7B4E-4BBC-BC4E-6D76F68D585B}"/>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4147839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4F9901-D076-2160-2E28-B6D192DAD84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77D027B2-A699-45BF-8BEC-C4E1EA11F84D}"/>
              </a:ext>
            </a:extLst>
          </p:cNvPr>
          <p:cNvSpPr txBox="1"/>
          <p:nvPr/>
        </p:nvSpPr>
        <p:spPr>
          <a:xfrm>
            <a:off x="2750947" y="1384554"/>
            <a:ext cx="6256655" cy="1286378"/>
          </a:xfrm>
          <a:prstGeom prst="rect">
            <a:avLst/>
          </a:prstGeom>
        </p:spPr>
        <p:txBody>
          <a:bodyPr vert="horz" wrap="square" lIns="0" tIns="40005" rIns="0" bIns="0" rtlCol="0">
            <a:spAutoFit/>
          </a:bodyPr>
          <a:lstStyle/>
          <a:p>
            <a:pPr marL="12700" marR="5080">
              <a:lnSpc>
                <a:spcPct val="91600"/>
              </a:lnSpc>
              <a:spcBef>
                <a:spcPts val="315"/>
              </a:spcBef>
            </a:pPr>
            <a:r>
              <a:rPr sz="2200" dirty="0">
                <a:solidFill>
                  <a:srgbClr val="FFFFFF"/>
                </a:solidFill>
                <a:latin typeface="Calibri"/>
                <a:cs typeface="Calibri"/>
              </a:rPr>
              <a:t>)</a:t>
            </a:r>
            <a:r>
              <a:rPr sz="2200" spc="-30" dirty="0">
                <a:solidFill>
                  <a:srgbClr val="FFFFFF"/>
                </a:solidFill>
                <a:latin typeface="Calibri"/>
                <a:cs typeface="Calibri"/>
              </a:rPr>
              <a:t> </a:t>
            </a:r>
            <a:r>
              <a:rPr sz="2200" dirty="0">
                <a:solidFill>
                  <a:srgbClr val="FFFFFF"/>
                </a:solidFill>
                <a:latin typeface="Calibri"/>
                <a:cs typeface="Calibri"/>
              </a:rPr>
              <a:t>is</a:t>
            </a:r>
            <a:r>
              <a:rPr sz="2200" spc="-40" dirty="0">
                <a:solidFill>
                  <a:srgbClr val="FFFFFF"/>
                </a:solidFill>
                <a:latin typeface="Calibri"/>
                <a:cs typeface="Calibri"/>
              </a:rPr>
              <a:t> </a:t>
            </a:r>
            <a:r>
              <a:rPr sz="2200" dirty="0">
                <a:solidFill>
                  <a:srgbClr val="FFFFFF"/>
                </a:solidFill>
                <a:latin typeface="Calibri"/>
                <a:cs typeface="Calibri"/>
              </a:rPr>
              <a:t>the</a:t>
            </a:r>
            <a:r>
              <a:rPr sz="2200" spc="-30" dirty="0">
                <a:solidFill>
                  <a:srgbClr val="FFFFFF"/>
                </a:solidFill>
                <a:latin typeface="Calibri"/>
                <a:cs typeface="Calibri"/>
              </a:rPr>
              <a:t> </a:t>
            </a:r>
            <a:r>
              <a:rPr sz="2200" dirty="0">
                <a:solidFill>
                  <a:srgbClr val="FFFFFF"/>
                </a:solidFill>
                <a:latin typeface="Calibri"/>
                <a:cs typeface="Calibri"/>
              </a:rPr>
              <a:t>network</a:t>
            </a:r>
            <a:r>
              <a:rPr sz="2200" spc="-45" dirty="0">
                <a:solidFill>
                  <a:srgbClr val="FFFFFF"/>
                </a:solidFill>
                <a:latin typeface="Calibri"/>
                <a:cs typeface="Calibri"/>
              </a:rPr>
              <a:t> </a:t>
            </a:r>
            <a:r>
              <a:rPr sz="2200" dirty="0">
                <a:solidFill>
                  <a:srgbClr val="FFFFFF"/>
                </a:solidFill>
                <a:latin typeface="Calibri"/>
                <a:cs typeface="Calibri"/>
              </a:rPr>
              <a:t>of</a:t>
            </a:r>
            <a:r>
              <a:rPr sz="2200" spc="-40" dirty="0">
                <a:solidFill>
                  <a:srgbClr val="FFFFFF"/>
                </a:solidFill>
                <a:latin typeface="Calibri"/>
                <a:cs typeface="Calibri"/>
              </a:rPr>
              <a:t> </a:t>
            </a:r>
            <a:r>
              <a:rPr sz="2200" spc="-10" dirty="0">
                <a:solidFill>
                  <a:srgbClr val="FFFFFF"/>
                </a:solidFill>
                <a:latin typeface="Calibri"/>
                <a:cs typeface="Calibri"/>
              </a:rPr>
              <a:t>devices </a:t>
            </a:r>
            <a:r>
              <a:rPr sz="2200" dirty="0">
                <a:solidFill>
                  <a:srgbClr val="FFFFFF"/>
                </a:solidFill>
                <a:latin typeface="Calibri"/>
                <a:cs typeface="Calibri"/>
              </a:rPr>
              <a:t>such</a:t>
            </a:r>
            <a:r>
              <a:rPr sz="2200" spc="-40" dirty="0">
                <a:solidFill>
                  <a:srgbClr val="FFFFFF"/>
                </a:solidFill>
                <a:latin typeface="Calibri"/>
                <a:cs typeface="Calibri"/>
              </a:rPr>
              <a:t> </a:t>
            </a:r>
            <a:r>
              <a:rPr sz="2200" dirty="0">
                <a:solidFill>
                  <a:srgbClr val="FFFFFF"/>
                </a:solidFill>
                <a:latin typeface="Calibri"/>
                <a:cs typeface="Calibri"/>
              </a:rPr>
              <a:t>as</a:t>
            </a:r>
            <a:r>
              <a:rPr sz="2200" spc="-35" dirty="0">
                <a:solidFill>
                  <a:srgbClr val="FFFFFF"/>
                </a:solidFill>
                <a:latin typeface="Calibri"/>
                <a:cs typeface="Calibri"/>
              </a:rPr>
              <a:t> </a:t>
            </a:r>
            <a:r>
              <a:rPr sz="2200" dirty="0">
                <a:solidFill>
                  <a:srgbClr val="FFFFFF"/>
                </a:solidFill>
                <a:latin typeface="Calibri"/>
                <a:cs typeface="Calibri"/>
              </a:rPr>
              <a:t>vehicles,</a:t>
            </a:r>
            <a:r>
              <a:rPr sz="2200" spc="-10" dirty="0">
                <a:solidFill>
                  <a:srgbClr val="FFFFFF"/>
                </a:solidFill>
                <a:latin typeface="Calibri"/>
                <a:cs typeface="Calibri"/>
              </a:rPr>
              <a:t> </a:t>
            </a:r>
            <a:r>
              <a:rPr sz="2200" dirty="0">
                <a:solidFill>
                  <a:srgbClr val="FFFFFF"/>
                </a:solidFill>
                <a:latin typeface="Calibri"/>
                <a:cs typeface="Calibri"/>
              </a:rPr>
              <a:t>and</a:t>
            </a:r>
            <a:r>
              <a:rPr sz="2200" spc="-25" dirty="0">
                <a:solidFill>
                  <a:srgbClr val="FFFFFF"/>
                </a:solidFill>
                <a:latin typeface="Calibri"/>
                <a:cs typeface="Calibri"/>
              </a:rPr>
              <a:t> </a:t>
            </a:r>
            <a:r>
              <a:rPr sz="2200" dirty="0">
                <a:solidFill>
                  <a:srgbClr val="FFFFFF"/>
                </a:solidFill>
                <a:latin typeface="Calibri"/>
                <a:cs typeface="Calibri"/>
              </a:rPr>
              <a:t>home</a:t>
            </a:r>
            <a:r>
              <a:rPr sz="2200" spc="-30" dirty="0">
                <a:solidFill>
                  <a:srgbClr val="FFFFFF"/>
                </a:solidFill>
                <a:latin typeface="Calibri"/>
                <a:cs typeface="Calibri"/>
              </a:rPr>
              <a:t> </a:t>
            </a:r>
            <a:r>
              <a:rPr sz="2200" dirty="0">
                <a:solidFill>
                  <a:srgbClr val="FFFFFF"/>
                </a:solidFill>
                <a:latin typeface="Calibri"/>
                <a:cs typeface="Calibri"/>
              </a:rPr>
              <a:t>appliances</a:t>
            </a:r>
            <a:r>
              <a:rPr sz="2200" spc="-15" dirty="0">
                <a:solidFill>
                  <a:srgbClr val="FFFFFF"/>
                </a:solidFill>
                <a:latin typeface="Calibri"/>
                <a:cs typeface="Calibri"/>
              </a:rPr>
              <a:t> </a:t>
            </a:r>
            <a:r>
              <a:rPr sz="2200" dirty="0">
                <a:solidFill>
                  <a:srgbClr val="FFFFFF"/>
                </a:solidFill>
                <a:latin typeface="Calibri"/>
                <a:cs typeface="Calibri"/>
              </a:rPr>
              <a:t>that</a:t>
            </a:r>
            <a:r>
              <a:rPr sz="2200" spc="-35" dirty="0">
                <a:solidFill>
                  <a:srgbClr val="FFFFFF"/>
                </a:solidFill>
                <a:latin typeface="Calibri"/>
                <a:cs typeface="Calibri"/>
              </a:rPr>
              <a:t> </a:t>
            </a:r>
            <a:r>
              <a:rPr sz="2200" spc="-10" dirty="0">
                <a:solidFill>
                  <a:srgbClr val="FFFFFF"/>
                </a:solidFill>
                <a:latin typeface="Calibri"/>
                <a:cs typeface="Calibri"/>
              </a:rPr>
              <a:t>contain </a:t>
            </a:r>
            <a:r>
              <a:rPr sz="2200" dirty="0">
                <a:solidFill>
                  <a:srgbClr val="FFFFFF"/>
                </a:solidFill>
                <a:latin typeface="Calibri"/>
                <a:cs typeface="Calibri"/>
              </a:rPr>
              <a:t>electronics,</a:t>
            </a:r>
            <a:r>
              <a:rPr sz="2200" spc="-50" dirty="0">
                <a:solidFill>
                  <a:srgbClr val="FFFFFF"/>
                </a:solidFill>
                <a:latin typeface="Calibri"/>
                <a:cs typeface="Calibri"/>
              </a:rPr>
              <a:t> </a:t>
            </a:r>
            <a:r>
              <a:rPr sz="2200" spc="-10" dirty="0">
                <a:solidFill>
                  <a:srgbClr val="FFFFFF"/>
                </a:solidFill>
                <a:latin typeface="Calibri"/>
                <a:cs typeface="Calibri"/>
              </a:rPr>
              <a:t>software,</a:t>
            </a:r>
            <a:r>
              <a:rPr sz="2200" spc="-80" dirty="0">
                <a:solidFill>
                  <a:srgbClr val="FFFFFF"/>
                </a:solidFill>
                <a:latin typeface="Calibri"/>
                <a:cs typeface="Calibri"/>
              </a:rPr>
              <a:t> </a:t>
            </a:r>
            <a:r>
              <a:rPr sz="2200" dirty="0">
                <a:solidFill>
                  <a:srgbClr val="FFFFFF"/>
                </a:solidFill>
                <a:latin typeface="Calibri"/>
                <a:cs typeface="Calibri"/>
              </a:rPr>
              <a:t>actuators</a:t>
            </a:r>
            <a:r>
              <a:rPr sz="2200" spc="-45" dirty="0">
                <a:solidFill>
                  <a:srgbClr val="FFFFFF"/>
                </a:solidFill>
                <a:latin typeface="Calibri"/>
                <a:cs typeface="Calibri"/>
              </a:rPr>
              <a:t> </a:t>
            </a:r>
            <a:r>
              <a:rPr sz="2200" dirty="0">
                <a:solidFill>
                  <a:srgbClr val="FFFFFF"/>
                </a:solidFill>
                <a:latin typeface="Calibri"/>
                <a:cs typeface="Calibri"/>
              </a:rPr>
              <a:t>and</a:t>
            </a:r>
            <a:r>
              <a:rPr sz="2200" spc="-60" dirty="0">
                <a:solidFill>
                  <a:srgbClr val="FFFFFF"/>
                </a:solidFill>
                <a:latin typeface="Calibri"/>
                <a:cs typeface="Calibri"/>
              </a:rPr>
              <a:t> </a:t>
            </a:r>
            <a:r>
              <a:rPr sz="2200" dirty="0">
                <a:solidFill>
                  <a:srgbClr val="FFFFFF"/>
                </a:solidFill>
                <a:latin typeface="Calibri"/>
                <a:cs typeface="Calibri"/>
              </a:rPr>
              <a:t>connectivity</a:t>
            </a:r>
            <a:r>
              <a:rPr sz="2200" spc="-45" dirty="0">
                <a:solidFill>
                  <a:srgbClr val="FFFFFF"/>
                </a:solidFill>
                <a:latin typeface="Calibri"/>
                <a:cs typeface="Calibri"/>
              </a:rPr>
              <a:t> </a:t>
            </a:r>
            <a:r>
              <a:rPr sz="2200" spc="-10" dirty="0">
                <a:solidFill>
                  <a:srgbClr val="FFFFFF"/>
                </a:solidFill>
                <a:latin typeface="Calibri"/>
                <a:cs typeface="Calibri"/>
              </a:rPr>
              <a:t>which </a:t>
            </a:r>
            <a:r>
              <a:rPr sz="2200" dirty="0">
                <a:solidFill>
                  <a:srgbClr val="FFFFFF"/>
                </a:solidFill>
                <a:latin typeface="Calibri"/>
                <a:cs typeface="Calibri"/>
              </a:rPr>
              <a:t>allows</a:t>
            </a:r>
            <a:r>
              <a:rPr sz="2200" spc="-50" dirty="0">
                <a:solidFill>
                  <a:srgbClr val="FFFFFF"/>
                </a:solidFill>
                <a:latin typeface="Calibri"/>
                <a:cs typeface="Calibri"/>
              </a:rPr>
              <a:t> </a:t>
            </a:r>
            <a:r>
              <a:rPr sz="2200" dirty="0">
                <a:solidFill>
                  <a:srgbClr val="FFFFFF"/>
                </a:solidFill>
                <a:latin typeface="Calibri"/>
                <a:cs typeface="Calibri"/>
              </a:rPr>
              <a:t>these</a:t>
            </a:r>
            <a:r>
              <a:rPr sz="2200" spc="-60" dirty="0">
                <a:solidFill>
                  <a:srgbClr val="FFFFFF"/>
                </a:solidFill>
                <a:latin typeface="Calibri"/>
                <a:cs typeface="Calibri"/>
              </a:rPr>
              <a:t> </a:t>
            </a:r>
            <a:r>
              <a:rPr sz="2200" dirty="0">
                <a:solidFill>
                  <a:srgbClr val="FFFFFF"/>
                </a:solidFill>
                <a:latin typeface="Calibri"/>
                <a:cs typeface="Calibri"/>
              </a:rPr>
              <a:t>things</a:t>
            </a:r>
            <a:r>
              <a:rPr sz="2200" spc="-40" dirty="0">
                <a:solidFill>
                  <a:srgbClr val="FFFFFF"/>
                </a:solidFill>
                <a:latin typeface="Calibri"/>
                <a:cs typeface="Calibri"/>
              </a:rPr>
              <a:t> </a:t>
            </a:r>
            <a:r>
              <a:rPr sz="2200" dirty="0">
                <a:solidFill>
                  <a:srgbClr val="FFFFFF"/>
                </a:solidFill>
                <a:latin typeface="Calibri"/>
                <a:cs typeface="Calibri"/>
              </a:rPr>
              <a:t>to</a:t>
            </a:r>
            <a:r>
              <a:rPr sz="2200" spc="-55" dirty="0">
                <a:solidFill>
                  <a:srgbClr val="FFFFFF"/>
                </a:solidFill>
                <a:latin typeface="Calibri"/>
                <a:cs typeface="Calibri"/>
              </a:rPr>
              <a:t> </a:t>
            </a:r>
            <a:r>
              <a:rPr sz="2200" dirty="0">
                <a:solidFill>
                  <a:srgbClr val="FFFFFF"/>
                </a:solidFill>
                <a:latin typeface="Calibri"/>
                <a:cs typeface="Calibri"/>
              </a:rPr>
              <a:t>connect,</a:t>
            </a:r>
            <a:r>
              <a:rPr sz="2200" spc="-30" dirty="0">
                <a:solidFill>
                  <a:srgbClr val="FFFFFF"/>
                </a:solidFill>
                <a:latin typeface="Calibri"/>
                <a:cs typeface="Calibri"/>
              </a:rPr>
              <a:t> </a:t>
            </a:r>
            <a:r>
              <a:rPr sz="2200" dirty="0">
                <a:solidFill>
                  <a:srgbClr val="FFFFFF"/>
                </a:solidFill>
                <a:latin typeface="Calibri"/>
                <a:cs typeface="Calibri"/>
              </a:rPr>
              <a:t>interact</a:t>
            </a:r>
            <a:r>
              <a:rPr sz="2200" spc="-35" dirty="0">
                <a:solidFill>
                  <a:srgbClr val="FFFFFF"/>
                </a:solidFill>
                <a:latin typeface="Calibri"/>
                <a:cs typeface="Calibri"/>
              </a:rPr>
              <a:t> </a:t>
            </a:r>
            <a:r>
              <a:rPr sz="2200" dirty="0">
                <a:solidFill>
                  <a:srgbClr val="FFFFFF"/>
                </a:solidFill>
                <a:latin typeface="Calibri"/>
                <a:cs typeface="Calibri"/>
              </a:rPr>
              <a:t>and</a:t>
            </a:r>
            <a:r>
              <a:rPr sz="2200" spc="-50" dirty="0">
                <a:solidFill>
                  <a:srgbClr val="FFFFFF"/>
                </a:solidFill>
                <a:latin typeface="Calibri"/>
                <a:cs typeface="Calibri"/>
              </a:rPr>
              <a:t> </a:t>
            </a:r>
            <a:r>
              <a:rPr sz="2200" spc="-10" dirty="0">
                <a:solidFill>
                  <a:srgbClr val="FFFFFF"/>
                </a:solidFill>
                <a:latin typeface="Calibri"/>
                <a:cs typeface="Calibri"/>
              </a:rPr>
              <a:t>exchange data.</a:t>
            </a:r>
            <a:endParaRPr sz="2200" dirty="0">
              <a:latin typeface="Calibri"/>
              <a:cs typeface="Calibri"/>
            </a:endParaRPr>
          </a:p>
        </p:txBody>
      </p:sp>
      <p:sp>
        <p:nvSpPr>
          <p:cNvPr id="11" name="object 11">
            <a:extLst>
              <a:ext uri="{FF2B5EF4-FFF2-40B4-BE49-F238E27FC236}">
                <a16:creationId xmlns:a16="http://schemas.microsoft.com/office/drawing/2014/main" id="{A6D529B2-7A51-C198-AFC8-ABF1F16494C5}"/>
              </a:ext>
            </a:extLst>
          </p:cNvPr>
          <p:cNvSpPr txBox="1"/>
          <p:nvPr/>
        </p:nvSpPr>
        <p:spPr>
          <a:xfrm>
            <a:off x="2715895" y="4399915"/>
            <a:ext cx="609854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FFFFFF"/>
                </a:solidFill>
                <a:latin typeface="Calibri"/>
                <a:cs typeface="Calibri"/>
              </a:rPr>
              <a:t>Things</a:t>
            </a:r>
            <a:r>
              <a:rPr sz="2200" spc="-25" dirty="0">
                <a:solidFill>
                  <a:srgbClr val="FFFFFF"/>
                </a:solidFill>
                <a:latin typeface="Calibri"/>
                <a:cs typeface="Calibri"/>
              </a:rPr>
              <a:t> </a:t>
            </a:r>
            <a:r>
              <a:rPr sz="2200" dirty="0">
                <a:solidFill>
                  <a:srgbClr val="FFFFFF"/>
                </a:solidFill>
                <a:latin typeface="Calibri"/>
                <a:cs typeface="Calibri"/>
              </a:rPr>
              <a:t>becoming</a:t>
            </a:r>
            <a:r>
              <a:rPr sz="2200" spc="-30" dirty="0">
                <a:solidFill>
                  <a:srgbClr val="FFFFFF"/>
                </a:solidFill>
                <a:latin typeface="Calibri"/>
                <a:cs typeface="Calibri"/>
              </a:rPr>
              <a:t> </a:t>
            </a:r>
            <a:r>
              <a:rPr sz="2200" spc="-10" dirty="0">
                <a:solidFill>
                  <a:srgbClr val="FFFFFF"/>
                </a:solidFill>
                <a:latin typeface="Calibri"/>
                <a:cs typeface="Calibri"/>
              </a:rPr>
              <a:t>intelligent</a:t>
            </a:r>
            <a:r>
              <a:rPr sz="2200" spc="-5" dirty="0">
                <a:solidFill>
                  <a:srgbClr val="FFFFFF"/>
                </a:solidFill>
                <a:latin typeface="Calibri"/>
                <a:cs typeface="Calibri"/>
              </a:rPr>
              <a:t> </a:t>
            </a:r>
            <a:r>
              <a:rPr sz="2200" dirty="0">
                <a:solidFill>
                  <a:srgbClr val="FFFFFF"/>
                </a:solidFill>
                <a:latin typeface="Calibri"/>
                <a:cs typeface="Calibri"/>
              </a:rPr>
              <a:t>mart</a:t>
            </a:r>
            <a:r>
              <a:rPr sz="2200" spc="-45" dirty="0">
                <a:solidFill>
                  <a:srgbClr val="FFFFFF"/>
                </a:solidFill>
                <a:latin typeface="Calibri"/>
                <a:cs typeface="Calibri"/>
              </a:rPr>
              <a:t> </a:t>
            </a:r>
            <a:r>
              <a:rPr sz="2200" dirty="0">
                <a:solidFill>
                  <a:srgbClr val="FFFFFF"/>
                </a:solidFill>
                <a:latin typeface="Calibri"/>
                <a:cs typeface="Calibri"/>
              </a:rPr>
              <a:t>and</a:t>
            </a:r>
            <a:r>
              <a:rPr sz="2200" spc="-40" dirty="0">
                <a:solidFill>
                  <a:srgbClr val="FFFFFF"/>
                </a:solidFill>
                <a:latin typeface="Calibri"/>
                <a:cs typeface="Calibri"/>
              </a:rPr>
              <a:t> </a:t>
            </a:r>
            <a:r>
              <a:rPr sz="2200" dirty="0">
                <a:solidFill>
                  <a:srgbClr val="FFFFFF"/>
                </a:solidFill>
                <a:latin typeface="Calibri"/>
                <a:cs typeface="Calibri"/>
              </a:rPr>
              <a:t>behaving</a:t>
            </a:r>
            <a:r>
              <a:rPr sz="2200" spc="-25" dirty="0">
                <a:solidFill>
                  <a:srgbClr val="FFFFFF"/>
                </a:solidFill>
                <a:latin typeface="Calibri"/>
                <a:cs typeface="Calibri"/>
              </a:rPr>
              <a:t> </a:t>
            </a:r>
            <a:r>
              <a:rPr sz="2200" spc="-10" dirty="0">
                <a:solidFill>
                  <a:srgbClr val="FFFFFF"/>
                </a:solidFill>
                <a:latin typeface="Calibri"/>
                <a:cs typeface="Calibri"/>
              </a:rPr>
              <a:t>alive.</a:t>
            </a:r>
            <a:endParaRPr sz="2200" dirty="0">
              <a:latin typeface="Calibri"/>
              <a:cs typeface="Calibri"/>
            </a:endParaRPr>
          </a:p>
        </p:txBody>
      </p:sp>
      <p:sp>
        <p:nvSpPr>
          <p:cNvPr id="24" name="Text Placeholder 23">
            <a:extLst>
              <a:ext uri="{FF2B5EF4-FFF2-40B4-BE49-F238E27FC236}">
                <a16:creationId xmlns:a16="http://schemas.microsoft.com/office/drawing/2014/main" id="{9338543D-E01F-C8E8-667B-042927CCF804}"/>
              </a:ext>
            </a:extLst>
          </p:cNvPr>
          <p:cNvSpPr>
            <a:spLocks noGrp="1"/>
          </p:cNvSpPr>
          <p:nvPr>
            <p:ph type="body" idx="1"/>
          </p:nvPr>
        </p:nvSpPr>
        <p:spPr>
          <a:xfrm>
            <a:off x="430974" y="1198010"/>
            <a:ext cx="10896600" cy="2523768"/>
          </a:xfrm>
        </p:spPr>
        <p:txBody>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GRAPHS &amp; BASIC TERMINOLOGY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GRAPH TYPES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GRAPH REPRESENTATION</a:t>
            </a:r>
          </a:p>
          <a:p>
            <a:r>
              <a:rPr lang="en-US" sz="2000" b="1" dirty="0">
                <a:latin typeface="Times New Roman" pitchFamily="18" charset="0"/>
                <a:cs typeface="Times New Roman" pitchFamily="18" charset="0"/>
              </a:rPr>
              <a:t>      1.</a:t>
            </a:r>
            <a:r>
              <a:rPr lang="en-US" sz="2000" dirty="0">
                <a:latin typeface="Times New Roman" pitchFamily="18" charset="0"/>
                <a:cs typeface="Times New Roman" pitchFamily="18" charset="0"/>
              </a:rPr>
              <a:t> Adjacency Matrix</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2.</a:t>
            </a:r>
            <a:r>
              <a:rPr lang="en-US" sz="2000" dirty="0">
                <a:latin typeface="Times New Roman" pitchFamily="18" charset="0"/>
                <a:cs typeface="Times New Roman" pitchFamily="18" charset="0"/>
              </a:rPr>
              <a:t> Adjacency List</a:t>
            </a:r>
          </a:p>
          <a:p>
            <a:endParaRPr lang="en-US" sz="2000" dirty="0">
              <a:latin typeface="Times New Roman" pitchFamily="18" charset="0"/>
              <a:cs typeface="Times New Roman" pitchFamily="18" charset="0"/>
            </a:endParaRPr>
          </a:p>
          <a:p>
            <a:pPr marL="342900" indent="-342900">
              <a:buFont typeface="Wingdings" panose="05000000000000000000" pitchFamily="2" charset="2"/>
              <a:buChar char="§"/>
            </a:pPr>
            <a:endParaRPr lang="en-US" dirty="0"/>
          </a:p>
          <a:p>
            <a:pPr marL="342900" indent="-342900">
              <a:buFont typeface="Arial" panose="020B0604020202020204" pitchFamily="34" charset="0"/>
              <a:buChar char="•"/>
            </a:pPr>
            <a:endParaRPr lang="en-IN" dirty="0"/>
          </a:p>
        </p:txBody>
      </p:sp>
      <p:pic>
        <p:nvPicPr>
          <p:cNvPr id="17" name="object 17">
            <a:extLst>
              <a:ext uri="{FF2B5EF4-FFF2-40B4-BE49-F238E27FC236}">
                <a16:creationId xmlns:a16="http://schemas.microsoft.com/office/drawing/2014/main" id="{FFC8A1FA-F7F8-6ACB-924B-D39D4BFA6E98}"/>
              </a:ext>
            </a:extLst>
          </p:cNvPr>
          <p:cNvPicPr/>
          <p:nvPr/>
        </p:nvPicPr>
        <p:blipFill>
          <a:blip r:embed="rId2" cstate="print"/>
          <a:stretch>
            <a:fillRect/>
          </a:stretch>
        </p:blipFill>
        <p:spPr>
          <a:xfrm>
            <a:off x="76200" y="25"/>
            <a:ext cx="2514600" cy="94726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2715895" y="7783"/>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RECAP</a:t>
            </a:r>
          </a:p>
        </p:txBody>
      </p:sp>
      <p:sp>
        <p:nvSpPr>
          <p:cNvPr id="2" name="Date Placeholder 1">
            <a:extLst>
              <a:ext uri="{FF2B5EF4-FFF2-40B4-BE49-F238E27FC236}">
                <a16:creationId xmlns:a16="http://schemas.microsoft.com/office/drawing/2014/main" id="{15DE0EF0-2E6E-49B8-A166-E6C642D828FF}"/>
              </a:ext>
            </a:extLst>
          </p:cNvPr>
          <p:cNvSpPr>
            <a:spLocks noGrp="1"/>
          </p:cNvSpPr>
          <p:nvPr>
            <p:ph type="dt" sz="half" idx="6"/>
          </p:nvPr>
        </p:nvSpPr>
        <p:spPr/>
        <p:txBody>
          <a:bodyPr/>
          <a:lstStyle/>
          <a:p>
            <a:pPr marL="12700">
              <a:lnSpc>
                <a:spcPts val="1240"/>
              </a:lnSpc>
            </a:pPr>
            <a:fld id="{A87FB571-94EC-4FFB-9AF1-184E1E7639BF}" type="datetime1">
              <a:rPr lang="en-US" spc="-25" smtClean="0"/>
              <a:t>7/8/2026</a:t>
            </a:fld>
            <a:endParaRPr lang="en-IN" spc="-25" dirty="0"/>
          </a:p>
        </p:txBody>
      </p:sp>
      <p:sp>
        <p:nvSpPr>
          <p:cNvPr id="3" name="Footer Placeholder 2">
            <a:extLst>
              <a:ext uri="{FF2B5EF4-FFF2-40B4-BE49-F238E27FC236}">
                <a16:creationId xmlns:a16="http://schemas.microsoft.com/office/drawing/2014/main" id="{8ACF68F3-0682-4A2A-B187-CBC0A72D286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556217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8"/>
          <p:cNvPicPr/>
          <p:nvPr/>
        </p:nvPicPr>
        <p:blipFill>
          <a:blip r:embed="rId2" cstate="print"/>
          <a:stretch>
            <a:fillRect/>
          </a:stretch>
        </p:blipFill>
        <p:spPr>
          <a:xfrm>
            <a:off x="110836" y="25"/>
            <a:ext cx="2327563" cy="947267"/>
          </a:xfrm>
          <a:prstGeom prst="rect">
            <a:avLst/>
          </a:prstGeom>
        </p:spPr>
      </p:pic>
      <p:sp>
        <p:nvSpPr>
          <p:cNvPr id="9" name="object 9"/>
          <p:cNvSpPr txBox="1"/>
          <p:nvPr/>
        </p:nvSpPr>
        <p:spPr>
          <a:xfrm>
            <a:off x="2060194" y="1098428"/>
            <a:ext cx="8073390" cy="1266372"/>
          </a:xfrm>
          <a:prstGeom prst="rect">
            <a:avLst/>
          </a:prstGeom>
        </p:spPr>
        <p:txBody>
          <a:bodyPr vert="horz" wrap="square" lIns="0" tIns="156845" rIns="0" bIns="0" rtlCol="0">
            <a:spAutoFit/>
          </a:bodyPr>
          <a:lstStyle/>
          <a:p>
            <a:r>
              <a:rPr lang="en-US" sz="2400" dirty="0">
                <a:latin typeface="Times New Roman" pitchFamily="18" charset="0"/>
                <a:cs typeface="Times New Roman" pitchFamily="18" charset="0"/>
              </a:rPr>
              <a:t>There are two possible traversal methods for a graph:</a:t>
            </a:r>
          </a:p>
          <a:p>
            <a:pPr marL="914400" lvl="1" indent="-457200">
              <a:buFont typeface="+mj-lt"/>
              <a:buAutoNum type="arabicPeriod"/>
            </a:pPr>
            <a:r>
              <a:rPr lang="en-US" sz="2400" dirty="0">
                <a:latin typeface="Times New Roman" pitchFamily="18" charset="0"/>
                <a:cs typeface="Times New Roman" pitchFamily="18" charset="0"/>
              </a:rPr>
              <a:t>Depth-First Traversal</a:t>
            </a:r>
          </a:p>
          <a:p>
            <a:pPr marL="914400" lvl="1" indent="-457200">
              <a:buFont typeface="+mj-lt"/>
              <a:buAutoNum type="arabicPeriod"/>
            </a:pPr>
            <a:r>
              <a:rPr lang="en-US" sz="2400" dirty="0">
                <a:latin typeface="Times New Roman" pitchFamily="18" charset="0"/>
                <a:cs typeface="Times New Roman" pitchFamily="18" charset="0"/>
              </a:rPr>
              <a:t>Breadth-First Traversal</a:t>
            </a:r>
          </a:p>
        </p:txBody>
      </p:sp>
      <p:sp>
        <p:nvSpPr>
          <p:cNvPr id="13" name="Title 1">
            <a:extLst>
              <a:ext uri="{FF2B5EF4-FFF2-40B4-BE49-F238E27FC236}">
                <a16:creationId xmlns:a16="http://schemas.microsoft.com/office/drawing/2014/main" id="{1C7BBAA3-263A-8FE5-5AA3-E40EF73A5AE9}"/>
              </a:ext>
            </a:extLst>
          </p:cNvPr>
          <p:cNvSpPr txBox="1">
            <a:spLocks/>
          </p:cNvSpPr>
          <p:nvPr/>
        </p:nvSpPr>
        <p:spPr>
          <a:xfrm>
            <a:off x="2667000" y="3156"/>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Graph Traversals</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F4A0795D-87B4-4964-A097-8B2CD88E1B82}"/>
              </a:ext>
            </a:extLst>
          </p:cNvPr>
          <p:cNvSpPr>
            <a:spLocks noGrp="1"/>
          </p:cNvSpPr>
          <p:nvPr>
            <p:ph type="dt" sz="half" idx="6"/>
          </p:nvPr>
        </p:nvSpPr>
        <p:spPr/>
        <p:txBody>
          <a:bodyPr/>
          <a:lstStyle/>
          <a:p>
            <a:pPr marL="12700">
              <a:lnSpc>
                <a:spcPts val="1240"/>
              </a:lnSpc>
            </a:pPr>
            <a:fld id="{431B9E93-72EC-4D87-B660-868E8E73F0B4}" type="datetime1">
              <a:rPr lang="en-US" spc="-25" smtClean="0"/>
              <a:t>7/8/2026</a:t>
            </a:fld>
            <a:endParaRPr lang="en-IN" spc="-25" dirty="0"/>
          </a:p>
        </p:txBody>
      </p:sp>
      <p:sp>
        <p:nvSpPr>
          <p:cNvPr id="3" name="Footer Placeholder 2">
            <a:extLst>
              <a:ext uri="{FF2B5EF4-FFF2-40B4-BE49-F238E27FC236}">
                <a16:creationId xmlns:a16="http://schemas.microsoft.com/office/drawing/2014/main" id="{62248C51-1004-47CE-A65D-2DB56EC6F67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8"/>
          <p:cNvPicPr/>
          <p:nvPr/>
        </p:nvPicPr>
        <p:blipFill>
          <a:blip r:embed="rId2" cstate="print"/>
          <a:stretch>
            <a:fillRect/>
          </a:stretch>
        </p:blipFill>
        <p:spPr>
          <a:xfrm>
            <a:off x="117763" y="25"/>
            <a:ext cx="2473036" cy="947267"/>
          </a:xfrm>
          <a:prstGeom prst="rect">
            <a:avLst/>
          </a:prstGeom>
        </p:spPr>
      </p:pic>
      <p:sp>
        <p:nvSpPr>
          <p:cNvPr id="9" name="object 9"/>
          <p:cNvSpPr txBox="1"/>
          <p:nvPr/>
        </p:nvSpPr>
        <p:spPr>
          <a:xfrm>
            <a:off x="1143000" y="1243329"/>
            <a:ext cx="10210800" cy="2966838"/>
          </a:xfrm>
          <a:prstGeom prst="rect">
            <a:avLst/>
          </a:prstGeom>
        </p:spPr>
        <p:txBody>
          <a:bodyPr vert="horz" wrap="square" lIns="0" tIns="12065" rIns="0" bIns="0" rtlCol="0">
            <a:spAutoFit/>
          </a:bodyPr>
          <a:lstStyle/>
          <a:p>
            <a:r>
              <a:rPr lang="en-US" sz="2400" dirty="0">
                <a:latin typeface="Times New Roman" pitchFamily="18" charset="0"/>
                <a:cs typeface="Times New Roman" pitchFamily="18" charset="0"/>
              </a:rPr>
              <a:t>Depth First Search algorithm(DFS) traverses a graph in a depth ward motion and uses a stack to remember to get the next vertex to start a search when a dead end occurs in any iteration.</a:t>
            </a:r>
          </a:p>
          <a:p>
            <a:r>
              <a:rPr lang="en-US" sz="2400" dirty="0">
                <a:latin typeface="Times New Roman" pitchFamily="18" charset="0"/>
                <a:cs typeface="Times New Roman" pitchFamily="18" charset="0"/>
              </a:rPr>
              <a:t>Algorithm</a:t>
            </a:r>
          </a:p>
          <a:p>
            <a:pPr marL="914400" lvl="1" indent="-457200">
              <a:buFont typeface="+mj-lt"/>
              <a:buAutoNum type="arabicPeriod"/>
            </a:pPr>
            <a:r>
              <a:rPr lang="en-US" sz="2400" dirty="0">
                <a:latin typeface="Times New Roman" pitchFamily="18" charset="0"/>
                <a:cs typeface="Times New Roman" pitchFamily="18" charset="0"/>
              </a:rPr>
              <a:t>Visit adjacent unvisited vertex. Mark it visited. Display it. Push it in a stack.</a:t>
            </a:r>
          </a:p>
          <a:p>
            <a:pPr marL="914400" lvl="1" indent="-457200">
              <a:buFont typeface="+mj-lt"/>
              <a:buAutoNum type="arabicPeriod"/>
            </a:pPr>
            <a:r>
              <a:rPr lang="en-US" sz="2400" dirty="0">
                <a:latin typeface="Times New Roman" pitchFamily="18" charset="0"/>
                <a:cs typeface="Times New Roman" pitchFamily="18" charset="0"/>
              </a:rPr>
              <a:t>If no adjacent vertex found, pop up a vertex from stack. (It will pop up all the vertices from the stack which do not have adjacent vertices.)</a:t>
            </a:r>
          </a:p>
          <a:p>
            <a:pPr marL="914400" lvl="1" indent="-457200">
              <a:buFont typeface="+mj-lt"/>
              <a:buAutoNum type="arabicPeriod"/>
            </a:pPr>
            <a:r>
              <a:rPr lang="en-US" sz="2400" dirty="0">
                <a:latin typeface="Times New Roman" pitchFamily="18" charset="0"/>
                <a:cs typeface="Times New Roman" pitchFamily="18" charset="0"/>
              </a:rPr>
              <a:t>Repeat step 1 and 2 until stack is empty.</a:t>
            </a:r>
            <a:endParaRPr sz="1900" dirty="0">
              <a:latin typeface="Calibri"/>
              <a:cs typeface="Calibri"/>
            </a:endParaRPr>
          </a:p>
        </p:txBody>
      </p:sp>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266273D0-4275-49C4-996D-6C662642D6CF}"/>
              </a:ext>
            </a:extLst>
          </p:cNvPr>
          <p:cNvSpPr>
            <a:spLocks noGrp="1"/>
          </p:cNvSpPr>
          <p:nvPr>
            <p:ph type="dt" sz="half" idx="6"/>
          </p:nvPr>
        </p:nvSpPr>
        <p:spPr/>
        <p:txBody>
          <a:bodyPr/>
          <a:lstStyle/>
          <a:p>
            <a:pPr marL="12700">
              <a:lnSpc>
                <a:spcPts val="1240"/>
              </a:lnSpc>
            </a:pPr>
            <a:fld id="{A74721F5-8B62-4E32-A45A-97D54FDF06D6}" type="datetime1">
              <a:rPr lang="en-US" spc="-25" smtClean="0"/>
              <a:t>7/8/2026</a:t>
            </a:fld>
            <a:endParaRPr lang="en-IN" spc="-25" dirty="0"/>
          </a:p>
        </p:txBody>
      </p:sp>
      <p:sp>
        <p:nvSpPr>
          <p:cNvPr id="3" name="Footer Placeholder 2">
            <a:extLst>
              <a:ext uri="{FF2B5EF4-FFF2-40B4-BE49-F238E27FC236}">
                <a16:creationId xmlns:a16="http://schemas.microsoft.com/office/drawing/2014/main" id="{D3541C2E-E174-499E-9F15-FCBF0EB9612F}"/>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1DA02-27DE-402E-B42E-1245E4E14D56}"/>
              </a:ext>
            </a:extLst>
          </p:cNvPr>
          <p:cNvSpPr>
            <a:spLocks noGrp="1"/>
          </p:cNvSpPr>
          <p:nvPr>
            <p:ph type="body" idx="1"/>
          </p:nvPr>
        </p:nvSpPr>
        <p:spPr>
          <a:xfrm>
            <a:off x="2149094" y="1433829"/>
            <a:ext cx="7294880" cy="369332"/>
          </a:xfrm>
        </p:spPr>
        <p:txBody>
          <a:bodyPr/>
          <a:lstStyle/>
          <a:p>
            <a:r>
              <a:rPr lang="en-US" sz="2000" dirty="0">
                <a:latin typeface="Times New Roman" pitchFamily="18" charset="0"/>
                <a:cs typeface="Times New Roman" pitchFamily="18" charset="0"/>
              </a:rPr>
              <a:t>1.  </a:t>
            </a:r>
            <a:r>
              <a:rPr lang="en-US" sz="2400" dirty="0">
                <a:latin typeface="Times New Roman" pitchFamily="18" charset="0"/>
                <a:cs typeface="Times New Roman" pitchFamily="18" charset="0"/>
              </a:rPr>
              <a:t>Initialize</a:t>
            </a:r>
            <a:r>
              <a:rPr lang="en-US" sz="2000" dirty="0">
                <a:latin typeface="Times New Roman" pitchFamily="18" charset="0"/>
                <a:cs typeface="Times New Roman" pitchFamily="18" charset="0"/>
              </a:rPr>
              <a:t> the stack</a:t>
            </a:r>
            <a:endParaRPr lang="en-IN" dirty="0"/>
          </a:p>
        </p:txBody>
      </p:sp>
      <p:pic>
        <p:nvPicPr>
          <p:cNvPr id="5" name="object 8">
            <a:extLst>
              <a:ext uri="{FF2B5EF4-FFF2-40B4-BE49-F238E27FC236}">
                <a16:creationId xmlns:a16="http://schemas.microsoft.com/office/drawing/2014/main" id="{13AC08B4-5096-172C-AAF8-D2FF479DD701}"/>
              </a:ext>
            </a:extLst>
          </p:cNvPr>
          <p:cNvPicPr/>
          <p:nvPr/>
        </p:nvPicPr>
        <p:blipFill>
          <a:blip r:embed="rId2" cstate="print"/>
          <a:stretch>
            <a:fillRect/>
          </a:stretch>
        </p:blipFill>
        <p:spPr>
          <a:xfrm>
            <a:off x="110836" y="25"/>
            <a:ext cx="2327563" cy="947267"/>
          </a:xfrm>
          <a:prstGeom prst="rect">
            <a:avLst/>
          </a:prstGeom>
        </p:spPr>
      </p:pic>
      <p:pic>
        <p:nvPicPr>
          <p:cNvPr id="13" name="Picture 2">
            <a:extLst>
              <a:ext uri="{FF2B5EF4-FFF2-40B4-BE49-F238E27FC236}">
                <a16:creationId xmlns:a16="http://schemas.microsoft.com/office/drawing/2014/main" id="{8F9C3DF5-8D41-4E5F-565F-4C6DC78A4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057400"/>
            <a:ext cx="5334001" cy="3044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728201" y="845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BF409087-07E9-47F1-B49B-5257C197CC45}"/>
              </a:ext>
            </a:extLst>
          </p:cNvPr>
          <p:cNvSpPr>
            <a:spLocks noGrp="1"/>
          </p:cNvSpPr>
          <p:nvPr>
            <p:ph type="dt" sz="half" idx="6"/>
          </p:nvPr>
        </p:nvSpPr>
        <p:spPr/>
        <p:txBody>
          <a:bodyPr/>
          <a:lstStyle/>
          <a:p>
            <a:pPr marL="12700">
              <a:lnSpc>
                <a:spcPts val="1240"/>
              </a:lnSpc>
            </a:pPr>
            <a:fld id="{3E65E422-D9DB-4FF0-A9FE-B67C4CFBEDAE}" type="datetime1">
              <a:rPr lang="en-US" spc="-25" smtClean="0"/>
              <a:t>7/8/2026</a:t>
            </a:fld>
            <a:endParaRPr lang="en-IN" spc="-25" dirty="0"/>
          </a:p>
        </p:txBody>
      </p:sp>
      <p:sp>
        <p:nvSpPr>
          <p:cNvPr id="4" name="Footer Placeholder 3">
            <a:extLst>
              <a:ext uri="{FF2B5EF4-FFF2-40B4-BE49-F238E27FC236}">
                <a16:creationId xmlns:a16="http://schemas.microsoft.com/office/drawing/2014/main" id="{1F3E5A78-F94E-41FD-9BF6-B578158BD1A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4186214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8EF2D8-FF5B-881C-2968-4FF19FCCC0F8}"/>
              </a:ext>
            </a:extLst>
          </p:cNvPr>
          <p:cNvSpPr>
            <a:spLocks noGrp="1"/>
          </p:cNvSpPr>
          <p:nvPr>
            <p:ph type="body" idx="1"/>
          </p:nvPr>
        </p:nvSpPr>
        <p:spPr>
          <a:xfrm>
            <a:off x="2149094" y="1433829"/>
            <a:ext cx="7294880" cy="3293209"/>
          </a:xfrm>
        </p:spPr>
        <p:txBody>
          <a:bodyPr/>
          <a:lstStyle/>
          <a:p>
            <a:r>
              <a:rPr lang="en-US" sz="2400" dirty="0">
                <a:latin typeface="Times New Roman" pitchFamily="18" charset="0"/>
                <a:cs typeface="Times New Roman" pitchFamily="18" charset="0"/>
              </a:rPr>
              <a:t>2. Mark S as visited and put it onto the stack. </a:t>
            </a:r>
          </a:p>
          <a:p>
            <a:pPr marL="800100" lvl="1" indent="-342900">
              <a:buFont typeface="Arial" pitchFamily="34" charset="0"/>
              <a:buChar char="•"/>
            </a:pPr>
            <a:r>
              <a:rPr lang="en-US" sz="2400" dirty="0">
                <a:latin typeface="Times New Roman" pitchFamily="18" charset="0"/>
                <a:cs typeface="Times New Roman" pitchFamily="18" charset="0"/>
              </a:rPr>
              <a:t>	Explore any unvisited adjacent node from S. </a:t>
            </a:r>
          </a:p>
          <a:p>
            <a:pPr marL="800100" lvl="1" indent="-342900">
              <a:buFont typeface="Arial" pitchFamily="34" charset="0"/>
              <a:buChar char="•"/>
            </a:pPr>
            <a:r>
              <a:rPr lang="en-US" sz="2400" dirty="0">
                <a:latin typeface="Times New Roman" pitchFamily="18" charset="0"/>
                <a:cs typeface="Times New Roman" pitchFamily="18" charset="0"/>
              </a:rPr>
              <a:t>	We have three nodes and we can pick any of 	them. </a:t>
            </a:r>
          </a:p>
          <a:p>
            <a:pPr marL="1714500" lvl="3" indent="-342900">
              <a:buFont typeface="Arial" pitchFamily="34" charset="0"/>
              <a:buChar char="•"/>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For this example, we shall take the node 	in alphabetical order.</a:t>
            </a:r>
          </a:p>
          <a:p>
            <a:pPr marL="1714500" lvl="3" indent="-342900">
              <a:buFont typeface="Arial" pitchFamily="34" charset="0"/>
              <a:buChar char="•"/>
            </a:pPr>
            <a:endParaRPr lang="en-US" sz="2400" i="1" dirty="0">
              <a:latin typeface="Times New Roman" pitchFamily="18" charset="0"/>
              <a:cs typeface="Times New Roman" pitchFamily="18" charset="0"/>
            </a:endParaRPr>
          </a:p>
          <a:p>
            <a:pPr marL="1714500" lvl="3" indent="-342900">
              <a:buFont typeface="Arial" pitchFamily="34" charset="0"/>
              <a:buChar char="•"/>
            </a:pPr>
            <a:r>
              <a:rPr lang="en-US" sz="2400" b="1" dirty="0">
                <a:latin typeface="Times New Roman" panose="02020603050405020304" pitchFamily="18" charset="0"/>
                <a:cs typeface="Times New Roman" panose="02020603050405020304" pitchFamily="18" charset="0"/>
              </a:rPr>
              <a:t>Output - S</a:t>
            </a:r>
          </a:p>
          <a:p>
            <a:endParaRPr lang="en-IN" dirty="0"/>
          </a:p>
        </p:txBody>
      </p:sp>
      <p:pic>
        <p:nvPicPr>
          <p:cNvPr id="5" name="object 8">
            <a:extLst>
              <a:ext uri="{FF2B5EF4-FFF2-40B4-BE49-F238E27FC236}">
                <a16:creationId xmlns:a16="http://schemas.microsoft.com/office/drawing/2014/main" id="{BBD0CB86-E6C8-67D0-6973-4245F22FD483}"/>
              </a:ext>
            </a:extLst>
          </p:cNvPr>
          <p:cNvPicPr/>
          <p:nvPr/>
        </p:nvPicPr>
        <p:blipFill>
          <a:blip r:embed="rId2" cstate="print"/>
          <a:stretch>
            <a:fillRect/>
          </a:stretch>
        </p:blipFill>
        <p:spPr>
          <a:xfrm>
            <a:off x="110836" y="25"/>
            <a:ext cx="2327563" cy="947267"/>
          </a:xfrm>
          <a:prstGeom prst="rect">
            <a:avLst/>
          </a:prstGeom>
        </p:spPr>
      </p:pic>
      <p:pic>
        <p:nvPicPr>
          <p:cNvPr id="14" name="Picture 3">
            <a:extLst>
              <a:ext uri="{FF2B5EF4-FFF2-40B4-BE49-F238E27FC236}">
                <a16:creationId xmlns:a16="http://schemas.microsoft.com/office/drawing/2014/main" id="{2C80DA08-941C-2A61-A7D5-62AEED7B2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810000"/>
            <a:ext cx="4495801" cy="2488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2728201" y="845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E83FB34E-4807-441C-8916-ADDAD99A6914}"/>
              </a:ext>
            </a:extLst>
          </p:cNvPr>
          <p:cNvSpPr>
            <a:spLocks noGrp="1"/>
          </p:cNvSpPr>
          <p:nvPr>
            <p:ph type="dt" sz="half" idx="6"/>
          </p:nvPr>
        </p:nvSpPr>
        <p:spPr/>
        <p:txBody>
          <a:bodyPr/>
          <a:lstStyle/>
          <a:p>
            <a:pPr marL="12700">
              <a:lnSpc>
                <a:spcPts val="1240"/>
              </a:lnSpc>
            </a:pPr>
            <a:fld id="{C769140A-7C75-49ED-8644-C4166897890D}" type="datetime1">
              <a:rPr lang="en-US" spc="-25" smtClean="0"/>
              <a:t>7/8/2026</a:t>
            </a:fld>
            <a:endParaRPr lang="en-IN" spc="-25" dirty="0"/>
          </a:p>
        </p:txBody>
      </p:sp>
      <p:sp>
        <p:nvSpPr>
          <p:cNvPr id="4" name="Footer Placeholder 3">
            <a:extLst>
              <a:ext uri="{FF2B5EF4-FFF2-40B4-BE49-F238E27FC236}">
                <a16:creationId xmlns:a16="http://schemas.microsoft.com/office/drawing/2014/main" id="{54D25DB2-2233-41B0-BF5B-B5F77758610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626420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25F9B1-BE7D-49F6-CCD9-1FFC0A771843}"/>
              </a:ext>
            </a:extLst>
          </p:cNvPr>
          <p:cNvSpPr>
            <a:spLocks noGrp="1"/>
          </p:cNvSpPr>
          <p:nvPr>
            <p:ph type="body" idx="1"/>
          </p:nvPr>
        </p:nvSpPr>
        <p:spPr>
          <a:xfrm>
            <a:off x="2149094" y="1433829"/>
            <a:ext cx="7294880" cy="2400657"/>
          </a:xfrm>
        </p:spPr>
        <p:txBody>
          <a:bodyPr/>
          <a:lstStyle/>
          <a:p>
            <a:r>
              <a:rPr lang="en-US" sz="2400" dirty="0">
                <a:latin typeface="Times New Roman" pitchFamily="18" charset="0"/>
                <a:cs typeface="Times New Roman" pitchFamily="18" charset="0"/>
              </a:rPr>
              <a:t>3. Mark A as visited and put it onto the stack. </a:t>
            </a:r>
          </a:p>
          <a:p>
            <a:pPr marL="800100" lvl="1" indent="-342900">
              <a:buFont typeface="Arial" pitchFamily="34" charset="0"/>
              <a:buChar char="•"/>
            </a:pPr>
            <a:r>
              <a:rPr lang="en-US" sz="2400" dirty="0">
                <a:latin typeface="Times New Roman" pitchFamily="18" charset="0"/>
                <a:cs typeface="Times New Roman" pitchFamily="18" charset="0"/>
              </a:rPr>
              <a:t>	Explore any unvisited adjacent node from A. </a:t>
            </a:r>
          </a:p>
          <a:p>
            <a:pPr marL="800100" lvl="1" indent="-342900">
              <a:buFont typeface="Arial" pitchFamily="34" charset="0"/>
              <a:buChar char="•"/>
            </a:pPr>
            <a:r>
              <a:rPr lang="en-US" sz="2400" dirty="0">
                <a:latin typeface="Times New Roman" pitchFamily="18" charset="0"/>
                <a:cs typeface="Times New Roman" pitchFamily="18" charset="0"/>
              </a:rPr>
              <a:t>	Both S and D are adjacent to A but we are concerned for 	unvisited nodes only</a:t>
            </a:r>
          </a:p>
          <a:p>
            <a:pPr marL="800100" lvl="1" indent="-342900">
              <a:buFont typeface="Arial" pitchFamily="34" charset="0"/>
              <a:buChar char="•"/>
            </a:pPr>
            <a:endParaRPr lang="en-US" sz="2400" dirty="0">
              <a:latin typeface="Times New Roman" pitchFamily="18" charset="0"/>
              <a:cs typeface="Times New Roman" pitchFamily="18" charset="0"/>
            </a:endParaRPr>
          </a:p>
          <a:p>
            <a:pPr marL="800100" lvl="1" indent="-342900">
              <a:buFont typeface="Arial" pitchFamily="34" charset="0"/>
              <a:buChar char="•"/>
            </a:pPr>
            <a:r>
              <a:rPr lang="en-US" sz="1800" b="1" dirty="0">
                <a:latin typeface="Times New Roman" panose="02020603050405020304" pitchFamily="18" charset="0"/>
                <a:cs typeface="Times New Roman" panose="02020603050405020304" pitchFamily="18" charset="0"/>
              </a:rPr>
              <a:t>Output – S-A</a:t>
            </a:r>
          </a:p>
          <a:p>
            <a:pPr marL="800100" lvl="1" indent="-342900">
              <a:buFont typeface="Arial" pitchFamily="34" charset="0"/>
              <a:buChar char="•"/>
            </a:pPr>
            <a:endParaRPr lang="en-IN" dirty="0"/>
          </a:p>
        </p:txBody>
      </p:sp>
      <p:pic>
        <p:nvPicPr>
          <p:cNvPr id="5" name="object 8">
            <a:extLst>
              <a:ext uri="{FF2B5EF4-FFF2-40B4-BE49-F238E27FC236}">
                <a16:creationId xmlns:a16="http://schemas.microsoft.com/office/drawing/2014/main" id="{94815839-222E-7ACF-30DB-A5982E8A2D1F}"/>
              </a:ext>
            </a:extLst>
          </p:cNvPr>
          <p:cNvPicPr/>
          <p:nvPr/>
        </p:nvPicPr>
        <p:blipFill>
          <a:blip r:embed="rId2" cstate="print"/>
          <a:stretch>
            <a:fillRect/>
          </a:stretch>
        </p:blipFill>
        <p:spPr>
          <a:xfrm>
            <a:off x="110836" y="25"/>
            <a:ext cx="2327563" cy="947267"/>
          </a:xfrm>
          <a:prstGeom prst="rect">
            <a:avLst/>
          </a:prstGeom>
        </p:spPr>
      </p:pic>
      <p:pic>
        <p:nvPicPr>
          <p:cNvPr id="13" name="Picture 2">
            <a:extLst>
              <a:ext uri="{FF2B5EF4-FFF2-40B4-BE49-F238E27FC236}">
                <a16:creationId xmlns:a16="http://schemas.microsoft.com/office/drawing/2014/main" id="{1D536C02-F41C-CA3F-6FF2-592928CE7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038856"/>
            <a:ext cx="5029200" cy="328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720346"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70D9850B-DFE8-498A-A0F9-5E50B823D4FF}"/>
              </a:ext>
            </a:extLst>
          </p:cNvPr>
          <p:cNvSpPr>
            <a:spLocks noGrp="1"/>
          </p:cNvSpPr>
          <p:nvPr>
            <p:ph type="dt" sz="half" idx="6"/>
          </p:nvPr>
        </p:nvSpPr>
        <p:spPr/>
        <p:txBody>
          <a:bodyPr/>
          <a:lstStyle/>
          <a:p>
            <a:pPr marL="12700">
              <a:lnSpc>
                <a:spcPts val="1240"/>
              </a:lnSpc>
            </a:pPr>
            <a:fld id="{2C12EFC3-18E0-4C1E-B0C9-868958761B6F}" type="datetime1">
              <a:rPr lang="en-US" spc="-25" smtClean="0"/>
              <a:t>7/8/2026</a:t>
            </a:fld>
            <a:endParaRPr lang="en-IN" spc="-25" dirty="0"/>
          </a:p>
        </p:txBody>
      </p:sp>
      <p:sp>
        <p:nvSpPr>
          <p:cNvPr id="4" name="Footer Placeholder 3">
            <a:extLst>
              <a:ext uri="{FF2B5EF4-FFF2-40B4-BE49-F238E27FC236}">
                <a16:creationId xmlns:a16="http://schemas.microsoft.com/office/drawing/2014/main" id="{73DBD0DF-F66F-452D-9463-EF672118663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35018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654B-6935-8B32-E8BC-6617E272140B}"/>
              </a:ext>
            </a:extLst>
          </p:cNvPr>
          <p:cNvSpPr>
            <a:spLocks noGrp="1"/>
          </p:cNvSpPr>
          <p:nvPr>
            <p:ph type="title"/>
          </p:nvPr>
        </p:nvSpPr>
        <p:spPr>
          <a:xfrm>
            <a:off x="0" y="0"/>
            <a:ext cx="12192000" cy="369332"/>
          </a:xfrm>
        </p:spPr>
        <p:txBody>
          <a:bodyPr/>
          <a:lstStyle/>
          <a:p>
            <a:r>
              <a:rPr lang="en-US" dirty="0"/>
              <a:t>V</a:t>
            </a:r>
            <a:endParaRPr lang="en-IN" dirty="0"/>
          </a:p>
        </p:txBody>
      </p:sp>
      <p:sp>
        <p:nvSpPr>
          <p:cNvPr id="3" name="Text Placeholder 2">
            <a:extLst>
              <a:ext uri="{FF2B5EF4-FFF2-40B4-BE49-F238E27FC236}">
                <a16:creationId xmlns:a16="http://schemas.microsoft.com/office/drawing/2014/main" id="{5BD22D7D-60B2-5454-3D74-E0FCF9701306}"/>
              </a:ext>
            </a:extLst>
          </p:cNvPr>
          <p:cNvSpPr>
            <a:spLocks noGrp="1"/>
          </p:cNvSpPr>
          <p:nvPr>
            <p:ph type="body" idx="1"/>
          </p:nvPr>
        </p:nvSpPr>
        <p:spPr>
          <a:xfrm>
            <a:off x="2149094" y="1433829"/>
            <a:ext cx="7294880" cy="1815882"/>
          </a:xfrm>
        </p:spPr>
        <p:txBody>
          <a:bodyPr/>
          <a:lstStyle/>
          <a:p>
            <a:r>
              <a:rPr lang="en-US" sz="2400" dirty="0">
                <a:latin typeface="Times New Roman" pitchFamily="18" charset="0"/>
                <a:cs typeface="Times New Roman" pitchFamily="18" charset="0"/>
              </a:rPr>
              <a:t>4. Visit D and mark it visited and put onto the stack. </a:t>
            </a:r>
          </a:p>
          <a:p>
            <a:pPr marL="800100" lvl="1" indent="-342900">
              <a:buFont typeface="Arial" pitchFamily="34" charset="0"/>
              <a:buChar char="•"/>
            </a:pPr>
            <a:r>
              <a:rPr lang="en-US" sz="2400" dirty="0">
                <a:latin typeface="Times New Roman" pitchFamily="18" charset="0"/>
                <a:cs typeface="Times New Roman" pitchFamily="18" charset="0"/>
              </a:rPr>
              <a:t>	Here we have B and C nodes which are adjacent 	to D and both are unvisited. </a:t>
            </a:r>
          </a:p>
          <a:p>
            <a:pPr marL="800100" lvl="1" indent="-342900">
              <a:buFont typeface="Arial" pitchFamily="34" charset="0"/>
              <a:buChar char="•"/>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But we shall again choose in alphabetical order.</a:t>
            </a:r>
          </a:p>
          <a:p>
            <a:endParaRPr lang="en-IN" dirty="0"/>
          </a:p>
        </p:txBody>
      </p:sp>
      <p:pic>
        <p:nvPicPr>
          <p:cNvPr id="5" name="object 8">
            <a:extLst>
              <a:ext uri="{FF2B5EF4-FFF2-40B4-BE49-F238E27FC236}">
                <a16:creationId xmlns:a16="http://schemas.microsoft.com/office/drawing/2014/main" id="{0667C099-7F84-3C38-F550-6D09C00CA1A6}"/>
              </a:ext>
            </a:extLst>
          </p:cNvPr>
          <p:cNvPicPr/>
          <p:nvPr/>
        </p:nvPicPr>
        <p:blipFill>
          <a:blip r:embed="rId2" cstate="print"/>
          <a:stretch>
            <a:fillRect/>
          </a:stretch>
        </p:blipFill>
        <p:spPr>
          <a:xfrm>
            <a:off x="110836" y="25"/>
            <a:ext cx="2327563" cy="947267"/>
          </a:xfrm>
          <a:prstGeom prst="rect">
            <a:avLst/>
          </a:prstGeom>
        </p:spPr>
      </p:pic>
      <p:pic>
        <p:nvPicPr>
          <p:cNvPr id="13" name="Picture 12">
            <a:extLst>
              <a:ext uri="{FF2B5EF4-FFF2-40B4-BE49-F238E27FC236}">
                <a16:creationId xmlns:a16="http://schemas.microsoft.com/office/drawing/2014/main" id="{FA7F5361-168C-F44E-3F24-201B708766F6}"/>
              </a:ext>
            </a:extLst>
          </p:cNvPr>
          <p:cNvPicPr>
            <a:picLocks noChangeAspect="1"/>
          </p:cNvPicPr>
          <p:nvPr/>
        </p:nvPicPr>
        <p:blipFill>
          <a:blip r:embed="rId3"/>
          <a:stretch>
            <a:fillRect/>
          </a:stretch>
        </p:blipFill>
        <p:spPr>
          <a:xfrm>
            <a:off x="2590800" y="3589478"/>
            <a:ext cx="6172200" cy="2720576"/>
          </a:xfrm>
          <a:prstGeom prst="rect">
            <a:avLst/>
          </a:prstGeom>
        </p:spPr>
      </p:pic>
      <p:sp>
        <p:nvSpPr>
          <p:cNvPr id="17" name="Title 1">
            <a:extLst>
              <a:ext uri="{FF2B5EF4-FFF2-40B4-BE49-F238E27FC236}">
                <a16:creationId xmlns:a16="http://schemas.microsoft.com/office/drawing/2014/main" id="{1C7BBAA3-263A-8FE5-5AA3-E40EF73A5AE9}"/>
              </a:ext>
            </a:extLst>
          </p:cNvPr>
          <p:cNvSpPr txBox="1">
            <a:spLocks/>
          </p:cNvSpPr>
          <p:nvPr/>
        </p:nvSpPr>
        <p:spPr>
          <a:xfrm>
            <a:off x="2720346"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4" name="Date Placeholder 3">
            <a:extLst>
              <a:ext uri="{FF2B5EF4-FFF2-40B4-BE49-F238E27FC236}">
                <a16:creationId xmlns:a16="http://schemas.microsoft.com/office/drawing/2014/main" id="{EB131FD6-1D8E-443D-8075-0F4AB1AB88EB}"/>
              </a:ext>
            </a:extLst>
          </p:cNvPr>
          <p:cNvSpPr>
            <a:spLocks noGrp="1"/>
          </p:cNvSpPr>
          <p:nvPr>
            <p:ph type="dt" sz="half" idx="6"/>
          </p:nvPr>
        </p:nvSpPr>
        <p:spPr/>
        <p:txBody>
          <a:bodyPr/>
          <a:lstStyle/>
          <a:p>
            <a:pPr marL="12700">
              <a:lnSpc>
                <a:spcPts val="1240"/>
              </a:lnSpc>
            </a:pPr>
            <a:fld id="{2CE6E30B-36F0-479A-94BA-F536D187D1DC}" type="datetime1">
              <a:rPr lang="en-US" spc="-25" smtClean="0"/>
              <a:t>7/8/2026</a:t>
            </a:fld>
            <a:endParaRPr lang="en-IN" spc="-25" dirty="0"/>
          </a:p>
        </p:txBody>
      </p:sp>
      <p:sp>
        <p:nvSpPr>
          <p:cNvPr id="6" name="Footer Placeholder 5">
            <a:extLst>
              <a:ext uri="{FF2B5EF4-FFF2-40B4-BE49-F238E27FC236}">
                <a16:creationId xmlns:a16="http://schemas.microsoft.com/office/drawing/2014/main" id="{7DE65A0B-F1A4-4F66-B0A4-A00CD7BD305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802372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C0A4-E834-7144-3A93-EC0152857B8C}"/>
              </a:ext>
            </a:extLst>
          </p:cNvPr>
          <p:cNvSpPr>
            <a:spLocks noGrp="1"/>
          </p:cNvSpPr>
          <p:nvPr>
            <p:ph type="body" idx="1"/>
          </p:nvPr>
        </p:nvSpPr>
        <p:spPr>
          <a:xfrm>
            <a:off x="2149094" y="1433829"/>
            <a:ext cx="7294880" cy="1446550"/>
          </a:xfrm>
        </p:spPr>
        <p:txBody>
          <a:bodyPr/>
          <a:lstStyle/>
          <a:p>
            <a:r>
              <a:rPr lang="en-US" sz="2400" dirty="0">
                <a:latin typeface="Times New Roman" pitchFamily="18" charset="0"/>
                <a:cs typeface="Times New Roman" pitchFamily="18" charset="0"/>
              </a:rPr>
              <a:t>5. We choose B, mark it visited and put onto stack. </a:t>
            </a:r>
          </a:p>
          <a:p>
            <a:pPr marL="800100" lvl="1" indent="-342900">
              <a:buFont typeface="Arial" pitchFamily="34" charset="0"/>
              <a:buChar char="•"/>
            </a:pPr>
            <a:r>
              <a:rPr lang="en-US" sz="2400" dirty="0">
                <a:latin typeface="Times New Roman" pitchFamily="18" charset="0"/>
                <a:cs typeface="Times New Roman" pitchFamily="18" charset="0"/>
              </a:rPr>
              <a:t>	Here B does not have any unvisited adjacent node. 	So we pop B from the stack.</a:t>
            </a:r>
          </a:p>
          <a:p>
            <a:endParaRPr lang="en-IN" dirty="0"/>
          </a:p>
        </p:txBody>
      </p:sp>
      <p:pic>
        <p:nvPicPr>
          <p:cNvPr id="6" name="Picture 5">
            <a:extLst>
              <a:ext uri="{FF2B5EF4-FFF2-40B4-BE49-F238E27FC236}">
                <a16:creationId xmlns:a16="http://schemas.microsoft.com/office/drawing/2014/main" id="{6D502831-296B-DAD0-18EF-98D983BEFC16}"/>
              </a:ext>
            </a:extLst>
          </p:cNvPr>
          <p:cNvPicPr>
            <a:picLocks noChangeAspect="1"/>
          </p:cNvPicPr>
          <p:nvPr/>
        </p:nvPicPr>
        <p:blipFill>
          <a:blip r:embed="rId2"/>
          <a:stretch>
            <a:fillRect/>
          </a:stretch>
        </p:blipFill>
        <p:spPr>
          <a:xfrm>
            <a:off x="2362200" y="2971800"/>
            <a:ext cx="6248942" cy="2987299"/>
          </a:xfrm>
          <a:prstGeom prst="rect">
            <a:avLst/>
          </a:prstGeom>
        </p:spPr>
      </p:pic>
      <p:pic>
        <p:nvPicPr>
          <p:cNvPr id="7" name="object 8">
            <a:extLst>
              <a:ext uri="{FF2B5EF4-FFF2-40B4-BE49-F238E27FC236}">
                <a16:creationId xmlns:a16="http://schemas.microsoft.com/office/drawing/2014/main" id="{A00181F8-F692-72C3-8799-BF0D1E3F770B}"/>
              </a:ext>
            </a:extLst>
          </p:cNvPr>
          <p:cNvPicPr/>
          <p:nvPr/>
        </p:nvPicPr>
        <p:blipFill>
          <a:blip r:embed="rId3" cstate="print"/>
          <a:stretch>
            <a:fillRect/>
          </a:stretch>
        </p:blipFill>
        <p:spPr>
          <a:xfrm>
            <a:off x="110836" y="25"/>
            <a:ext cx="2327563" cy="94726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720346"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242328D3-4C5E-4BA9-A25B-13736C966E64}"/>
              </a:ext>
            </a:extLst>
          </p:cNvPr>
          <p:cNvSpPr>
            <a:spLocks noGrp="1"/>
          </p:cNvSpPr>
          <p:nvPr>
            <p:ph type="dt" sz="half" idx="6"/>
          </p:nvPr>
        </p:nvSpPr>
        <p:spPr/>
        <p:txBody>
          <a:bodyPr/>
          <a:lstStyle/>
          <a:p>
            <a:pPr marL="12700">
              <a:lnSpc>
                <a:spcPts val="1240"/>
              </a:lnSpc>
            </a:pPr>
            <a:fld id="{54CC872E-F503-4E03-82A1-39FE05CF4291}" type="datetime1">
              <a:rPr lang="en-US" spc="-25" smtClean="0"/>
              <a:t>7/8/2026</a:t>
            </a:fld>
            <a:endParaRPr lang="en-IN" spc="-25" dirty="0"/>
          </a:p>
        </p:txBody>
      </p:sp>
      <p:sp>
        <p:nvSpPr>
          <p:cNvPr id="4" name="Footer Placeholder 3">
            <a:extLst>
              <a:ext uri="{FF2B5EF4-FFF2-40B4-BE49-F238E27FC236}">
                <a16:creationId xmlns:a16="http://schemas.microsoft.com/office/drawing/2014/main" id="{90D9D76D-64E1-4581-A62E-0F30AB72F20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720700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812ED2-343C-EC33-69A0-3548396CFAD3}"/>
              </a:ext>
            </a:extLst>
          </p:cNvPr>
          <p:cNvSpPr>
            <a:spLocks noGrp="1"/>
          </p:cNvSpPr>
          <p:nvPr>
            <p:ph type="body" idx="1"/>
          </p:nvPr>
        </p:nvSpPr>
        <p:spPr>
          <a:xfrm>
            <a:off x="2149094" y="1433828"/>
            <a:ext cx="7294880" cy="1586739"/>
          </a:xfrm>
        </p:spPr>
        <p:txBody>
          <a:bodyPr/>
          <a:lstStyle/>
          <a:p>
            <a:r>
              <a:rPr lang="en-US" sz="2400" dirty="0">
                <a:latin typeface="Times New Roman" pitchFamily="18" charset="0"/>
                <a:cs typeface="Times New Roman" pitchFamily="18" charset="0"/>
              </a:rPr>
              <a:t>6. We check stack top for return to previous node and 	check if it has any unvisited nodes. </a:t>
            </a:r>
          </a:p>
          <a:p>
            <a:pPr marL="800100" lvl="1" indent="-342900">
              <a:buFont typeface="Arial" pitchFamily="34" charset="0"/>
              <a:buChar char="•"/>
            </a:pP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Here, we find D to be on the top of stack.</a:t>
            </a:r>
          </a:p>
          <a:p>
            <a:endParaRPr lang="en-IN" dirty="0"/>
          </a:p>
        </p:txBody>
      </p:sp>
      <p:pic>
        <p:nvPicPr>
          <p:cNvPr id="6" name="Picture 5">
            <a:extLst>
              <a:ext uri="{FF2B5EF4-FFF2-40B4-BE49-F238E27FC236}">
                <a16:creationId xmlns:a16="http://schemas.microsoft.com/office/drawing/2014/main" id="{50DF1D63-716D-C923-39A4-F43970D83786}"/>
              </a:ext>
            </a:extLst>
          </p:cNvPr>
          <p:cNvPicPr>
            <a:picLocks noChangeAspect="1"/>
          </p:cNvPicPr>
          <p:nvPr/>
        </p:nvPicPr>
        <p:blipFill>
          <a:blip r:embed="rId2"/>
          <a:stretch>
            <a:fillRect/>
          </a:stretch>
        </p:blipFill>
        <p:spPr>
          <a:xfrm>
            <a:off x="2397719" y="2971800"/>
            <a:ext cx="6797629" cy="3322608"/>
          </a:xfrm>
          <a:prstGeom prst="rect">
            <a:avLst/>
          </a:prstGeom>
        </p:spPr>
      </p:pic>
      <p:pic>
        <p:nvPicPr>
          <p:cNvPr id="7" name="object 8">
            <a:extLst>
              <a:ext uri="{FF2B5EF4-FFF2-40B4-BE49-F238E27FC236}">
                <a16:creationId xmlns:a16="http://schemas.microsoft.com/office/drawing/2014/main" id="{3057758E-C063-BC03-BB74-C5602E5D249B}"/>
              </a:ext>
            </a:extLst>
          </p:cNvPr>
          <p:cNvPicPr/>
          <p:nvPr/>
        </p:nvPicPr>
        <p:blipFill>
          <a:blip r:embed="rId3" cstate="print"/>
          <a:stretch>
            <a:fillRect/>
          </a:stretch>
        </p:blipFill>
        <p:spPr>
          <a:xfrm>
            <a:off x="110836" y="25"/>
            <a:ext cx="2327563" cy="94726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20346"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51A6D55C-6CDA-471A-BA4B-9157507C04A6}"/>
              </a:ext>
            </a:extLst>
          </p:cNvPr>
          <p:cNvSpPr>
            <a:spLocks noGrp="1"/>
          </p:cNvSpPr>
          <p:nvPr>
            <p:ph type="dt" sz="half" idx="6"/>
          </p:nvPr>
        </p:nvSpPr>
        <p:spPr/>
        <p:txBody>
          <a:bodyPr/>
          <a:lstStyle/>
          <a:p>
            <a:pPr marL="12700">
              <a:lnSpc>
                <a:spcPts val="1240"/>
              </a:lnSpc>
            </a:pPr>
            <a:fld id="{0BEDB0FB-4FCF-4833-B805-C7DA4B3613DA}" type="datetime1">
              <a:rPr lang="en-US" spc="-25" smtClean="0"/>
              <a:t>7/8/2026</a:t>
            </a:fld>
            <a:endParaRPr lang="en-IN" spc="-25" dirty="0"/>
          </a:p>
        </p:txBody>
      </p:sp>
      <p:sp>
        <p:nvSpPr>
          <p:cNvPr id="4" name="Footer Placeholder 3">
            <a:extLst>
              <a:ext uri="{FF2B5EF4-FFF2-40B4-BE49-F238E27FC236}">
                <a16:creationId xmlns:a16="http://schemas.microsoft.com/office/drawing/2014/main" id="{94BBD215-1A16-46CB-A8F6-D596A75787E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193173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A1DD411-6B46-C9BE-AB4C-79E610B79B9E}"/>
              </a:ext>
            </a:extLst>
          </p:cNvPr>
          <p:cNvSpPr>
            <a:spLocks noGrp="1"/>
          </p:cNvSpPr>
          <p:nvPr>
            <p:ph type="body" idx="1"/>
          </p:nvPr>
        </p:nvSpPr>
        <p:spPr>
          <a:xfrm>
            <a:off x="914400" y="1066800"/>
            <a:ext cx="10515600" cy="6614893"/>
          </a:xfrm>
        </p:spPr>
        <p:txBody>
          <a:bodyPr/>
          <a:lstStyle/>
          <a:p>
            <a:r>
              <a:rPr lang="en-US" sz="2000" dirty="0">
                <a:latin typeface="Times New Roman" pitchFamily="18" charset="0"/>
                <a:cs typeface="Times New Roman" pitchFamily="18" charset="0"/>
              </a:rPr>
              <a:t>7. </a:t>
            </a:r>
            <a:r>
              <a:rPr lang="en-US" sz="2400" dirty="0">
                <a:latin typeface="Times New Roman" pitchFamily="18" charset="0"/>
                <a:cs typeface="Times New Roman" pitchFamily="18" charset="0"/>
              </a:rPr>
              <a:t>Only unvisited adjacent node is from D is C now. </a:t>
            </a:r>
          </a:p>
          <a:p>
            <a:r>
              <a:rPr lang="en-US" sz="2400" dirty="0">
                <a:latin typeface="Times New Roman" pitchFamily="18" charset="0"/>
                <a:cs typeface="Times New Roman" pitchFamily="18" charset="0"/>
              </a:rPr>
              <a:t>	So we visit C, mark it visited and put it onto the stack.</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8. As C does not have any unvisited adjacent node so we keep popping the stack until we find a node which has unvisited adjacent node. </a:t>
            </a:r>
          </a:p>
          <a:p>
            <a:pPr marL="342900" indent="-342900">
              <a:buFont typeface="Arial" pitchFamily="34" charset="0"/>
              <a:buChar char="•"/>
            </a:pPr>
            <a:r>
              <a:rPr lang="en-US" sz="2400" i="1" dirty="0">
                <a:latin typeface="Times New Roman" pitchFamily="18" charset="0"/>
                <a:cs typeface="Times New Roman" pitchFamily="18" charset="0"/>
              </a:rPr>
              <a:t>In this case, there's none and we keep popping until stack is empty.</a:t>
            </a:r>
          </a:p>
          <a:p>
            <a:endParaRPr lang="en-US" sz="2400" dirty="0">
              <a:latin typeface="Times New Roman" pitchFamily="18" charset="0"/>
              <a:cs typeface="Times New Roman" pitchFamily="18" charset="0"/>
            </a:endParaRPr>
          </a:p>
          <a:p>
            <a:endParaRPr lang="en-IN" dirty="0"/>
          </a:p>
        </p:txBody>
      </p:sp>
      <p:pic>
        <p:nvPicPr>
          <p:cNvPr id="6" name="Picture 5">
            <a:extLst>
              <a:ext uri="{FF2B5EF4-FFF2-40B4-BE49-F238E27FC236}">
                <a16:creationId xmlns:a16="http://schemas.microsoft.com/office/drawing/2014/main" id="{175688FD-D707-687E-4A15-FBC5B7C8AD18}"/>
              </a:ext>
            </a:extLst>
          </p:cNvPr>
          <p:cNvPicPr>
            <a:picLocks noChangeAspect="1"/>
          </p:cNvPicPr>
          <p:nvPr/>
        </p:nvPicPr>
        <p:blipFill>
          <a:blip r:embed="rId2"/>
          <a:stretch>
            <a:fillRect/>
          </a:stretch>
        </p:blipFill>
        <p:spPr>
          <a:xfrm>
            <a:off x="3043919" y="1981200"/>
            <a:ext cx="6256562" cy="2286198"/>
          </a:xfrm>
          <a:prstGeom prst="rect">
            <a:avLst/>
          </a:prstGeom>
        </p:spPr>
      </p:pic>
      <p:pic>
        <p:nvPicPr>
          <p:cNvPr id="7" name="object 8">
            <a:extLst>
              <a:ext uri="{FF2B5EF4-FFF2-40B4-BE49-F238E27FC236}">
                <a16:creationId xmlns:a16="http://schemas.microsoft.com/office/drawing/2014/main" id="{219996AC-91D5-E3CB-61DE-327B111256D2}"/>
              </a:ext>
            </a:extLst>
          </p:cNvPr>
          <p:cNvPicPr/>
          <p:nvPr/>
        </p:nvPicPr>
        <p:blipFill>
          <a:blip r:embed="rId3" cstate="print"/>
          <a:stretch>
            <a:fillRect/>
          </a:stretch>
        </p:blipFill>
        <p:spPr>
          <a:xfrm>
            <a:off x="110836" y="25"/>
            <a:ext cx="2327563" cy="94726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720346" y="17301"/>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itchFamily="18" charset="0"/>
                <a:cs typeface="Times New Roman" pitchFamily="18" charset="0"/>
              </a:rPr>
              <a:t>Depth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07951D5B-09F8-4F2E-B878-A9A28E523556}"/>
              </a:ext>
            </a:extLst>
          </p:cNvPr>
          <p:cNvSpPr>
            <a:spLocks noGrp="1"/>
          </p:cNvSpPr>
          <p:nvPr>
            <p:ph type="dt" sz="half" idx="6"/>
          </p:nvPr>
        </p:nvSpPr>
        <p:spPr/>
        <p:txBody>
          <a:bodyPr/>
          <a:lstStyle/>
          <a:p>
            <a:pPr marL="12700">
              <a:lnSpc>
                <a:spcPts val="1240"/>
              </a:lnSpc>
            </a:pPr>
            <a:fld id="{941A710A-A657-456A-A786-35C6FB1A396C}" type="datetime1">
              <a:rPr lang="en-US" spc="-25" smtClean="0"/>
              <a:t>7/8/2026</a:t>
            </a:fld>
            <a:endParaRPr lang="en-IN" spc="-25" dirty="0"/>
          </a:p>
        </p:txBody>
      </p:sp>
      <p:sp>
        <p:nvSpPr>
          <p:cNvPr id="4" name="Footer Placeholder 3">
            <a:extLst>
              <a:ext uri="{FF2B5EF4-FFF2-40B4-BE49-F238E27FC236}">
                <a16:creationId xmlns:a16="http://schemas.microsoft.com/office/drawing/2014/main" id="{77FBAF5E-769A-4287-80C7-13E8440BABB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333859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468649-9A00-E4C1-470B-32780A4D7E39}"/>
              </a:ext>
            </a:extLst>
          </p:cNvPr>
          <p:cNvSpPr>
            <a:spLocks noGrp="1"/>
          </p:cNvSpPr>
          <p:nvPr>
            <p:ph type="body" idx="1"/>
          </p:nvPr>
        </p:nvSpPr>
        <p:spPr>
          <a:xfrm>
            <a:off x="1066800" y="1146277"/>
            <a:ext cx="10515600" cy="3939540"/>
          </a:xfrm>
        </p:spPr>
        <p:txBody>
          <a:bodyPr/>
          <a:lstStyle/>
          <a:p>
            <a:r>
              <a:rPr lang="en-US" sz="1800" dirty="0">
                <a:latin typeface="Times New Roman" panose="02020603050405020304" pitchFamily="18" charset="0"/>
                <a:cs typeface="Times New Roman" panose="02020603050405020304" pitchFamily="18" charset="0"/>
              </a:rPr>
              <a:t>#include &lt;</a:t>
            </a:r>
            <a:r>
              <a:rPr lang="en-US" sz="1800" dirty="0" err="1">
                <a:latin typeface="Times New Roman" panose="02020603050405020304" pitchFamily="18" charset="0"/>
                <a:cs typeface="Times New Roman" panose="02020603050405020304" pitchFamily="18" charset="0"/>
              </a:rPr>
              <a:t>stdio.h</a:t>
            </a:r>
            <a:r>
              <a:rPr lang="en-US" sz="1800" dirty="0">
                <a:latin typeface="Times New Roman" panose="02020603050405020304" pitchFamily="18" charset="0"/>
                <a:cs typeface="Times New Roman" panose="02020603050405020304" pitchFamily="18" charset="0"/>
              </a:rPr>
              <a:t>&gt;</a:t>
            </a:r>
          </a:p>
          <a:p>
            <a:r>
              <a:rPr lang="en-US" sz="1800" dirty="0">
                <a:latin typeface="Times New Roman" panose="02020603050405020304" pitchFamily="18" charset="0"/>
                <a:cs typeface="Times New Roman" panose="02020603050405020304" pitchFamily="18" charset="0"/>
              </a:rPr>
              <a:t>#include &lt;</a:t>
            </a:r>
            <a:r>
              <a:rPr lang="en-US" sz="1800" dirty="0" err="1">
                <a:latin typeface="Times New Roman" panose="02020603050405020304" pitchFamily="18" charset="0"/>
                <a:cs typeface="Times New Roman" panose="02020603050405020304" pitchFamily="18" charset="0"/>
              </a:rPr>
              <a:t>stdlib.h</a:t>
            </a:r>
            <a:r>
              <a:rPr lang="en-US" sz="1800" dirty="0">
                <a:latin typeface="Times New Roman" panose="02020603050405020304" pitchFamily="18" charset="0"/>
                <a:cs typeface="Times New Roman" panose="02020603050405020304" pitchFamily="18" charset="0"/>
              </a:rPr>
              <a:t>&gt;</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Node structure for adjacency list</a:t>
            </a:r>
          </a:p>
          <a:p>
            <a:r>
              <a:rPr lang="en-US" sz="1800" dirty="0">
                <a:latin typeface="Times New Roman" panose="02020603050405020304" pitchFamily="18" charset="0"/>
                <a:cs typeface="Times New Roman" panose="02020603050405020304" pitchFamily="18" charset="0"/>
              </a:rPr>
              <a:t>struct Node {</a:t>
            </a:r>
          </a:p>
          <a:p>
            <a:r>
              <a:rPr lang="en-US" sz="1800" dirty="0">
                <a:latin typeface="Times New Roman" panose="02020603050405020304" pitchFamily="18" charset="0"/>
                <a:cs typeface="Times New Roman" panose="02020603050405020304" pitchFamily="18" charset="0"/>
              </a:rPr>
              <a:t>    int </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struct Node* next;</a:t>
            </a:r>
          </a:p>
          <a:p>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Structure to represent an adjacency list</a:t>
            </a:r>
          </a:p>
          <a:p>
            <a:r>
              <a:rPr lang="en-US" sz="1800" dirty="0">
                <a:latin typeface="Times New Roman" panose="02020603050405020304" pitchFamily="18" charset="0"/>
                <a:cs typeface="Times New Roman" panose="02020603050405020304" pitchFamily="18" charset="0"/>
              </a:rPr>
              <a:t>struct </a:t>
            </a:r>
            <a:r>
              <a:rPr lang="en-US" sz="1800" dirty="0" err="1">
                <a:latin typeface="Times New Roman" panose="02020603050405020304" pitchFamily="18" charset="0"/>
                <a:cs typeface="Times New Roman" panose="02020603050405020304" pitchFamily="18" charset="0"/>
              </a:rPr>
              <a:t>AdjList</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struct Node* head;</a:t>
            </a:r>
          </a:p>
          <a:p>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US" dirty="0"/>
          </a:p>
        </p:txBody>
      </p:sp>
      <p:pic>
        <p:nvPicPr>
          <p:cNvPr id="4" name="object 8">
            <a:extLst>
              <a:ext uri="{FF2B5EF4-FFF2-40B4-BE49-F238E27FC236}">
                <a16:creationId xmlns:a16="http://schemas.microsoft.com/office/drawing/2014/main" id="{29E00192-3FCA-FECE-7B2F-EE543B5692C5}"/>
              </a:ext>
            </a:extLst>
          </p:cNvPr>
          <p:cNvPicPr/>
          <p:nvPr/>
        </p:nvPicPr>
        <p:blipFill>
          <a:blip r:embed="rId2" cstate="print"/>
          <a:stretch>
            <a:fillRect/>
          </a:stretch>
        </p:blipFill>
        <p:spPr>
          <a:xfrm>
            <a:off x="110836" y="25"/>
            <a:ext cx="2327563" cy="94726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667000" y="0"/>
            <a:ext cx="95250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C PROGRAM FOR DFS</a:t>
            </a:r>
          </a:p>
        </p:txBody>
      </p:sp>
      <p:sp>
        <p:nvSpPr>
          <p:cNvPr id="2" name="Date Placeholder 1">
            <a:extLst>
              <a:ext uri="{FF2B5EF4-FFF2-40B4-BE49-F238E27FC236}">
                <a16:creationId xmlns:a16="http://schemas.microsoft.com/office/drawing/2014/main" id="{681905E1-05D3-4468-A153-624C0EC0D309}"/>
              </a:ext>
            </a:extLst>
          </p:cNvPr>
          <p:cNvSpPr>
            <a:spLocks noGrp="1"/>
          </p:cNvSpPr>
          <p:nvPr>
            <p:ph type="dt" sz="half" idx="6"/>
          </p:nvPr>
        </p:nvSpPr>
        <p:spPr/>
        <p:txBody>
          <a:bodyPr/>
          <a:lstStyle/>
          <a:p>
            <a:pPr marL="12700">
              <a:lnSpc>
                <a:spcPts val="1240"/>
              </a:lnSpc>
            </a:pPr>
            <a:fld id="{B0DDE476-6142-4C0B-B59B-DE17571DD477}" type="datetime1">
              <a:rPr lang="en-US" spc="-25" smtClean="0"/>
              <a:t>7/8/2026</a:t>
            </a:fld>
            <a:endParaRPr lang="en-IN" spc="-25" dirty="0"/>
          </a:p>
        </p:txBody>
      </p:sp>
      <p:sp>
        <p:nvSpPr>
          <p:cNvPr id="5" name="Footer Placeholder 4">
            <a:extLst>
              <a:ext uri="{FF2B5EF4-FFF2-40B4-BE49-F238E27FC236}">
                <a16:creationId xmlns:a16="http://schemas.microsoft.com/office/drawing/2014/main" id="{097AE284-B0E6-420D-8F1C-6CD6CE30789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82048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6468649-9A00-E4C1-470B-32780A4D7E39}"/>
              </a:ext>
            </a:extLst>
          </p:cNvPr>
          <p:cNvSpPr>
            <a:spLocks noGrp="1"/>
          </p:cNvSpPr>
          <p:nvPr>
            <p:ph type="body" idx="1"/>
          </p:nvPr>
        </p:nvSpPr>
        <p:spPr>
          <a:xfrm>
            <a:off x="762000" y="1146277"/>
            <a:ext cx="10820400" cy="2554545"/>
          </a:xfrm>
        </p:spPr>
        <p:txBody>
          <a:bodyPr/>
          <a:lstStyle/>
          <a:p>
            <a:r>
              <a:rPr lang="en-US" sz="1800" dirty="0">
                <a:latin typeface="Times New Roman" panose="02020603050405020304" pitchFamily="18" charset="0"/>
                <a:cs typeface="Times New Roman" panose="02020603050405020304" pitchFamily="18" charset="0"/>
              </a:rPr>
              <a:t>// Function to create a new adjacency list node</a:t>
            </a:r>
          </a:p>
          <a:p>
            <a:r>
              <a:rPr lang="en-US" sz="1800" dirty="0">
                <a:latin typeface="Times New Roman" panose="02020603050405020304" pitchFamily="18" charset="0"/>
                <a:cs typeface="Times New Roman" panose="02020603050405020304" pitchFamily="18" charset="0"/>
              </a:rPr>
              <a:t>struct Node* </a:t>
            </a:r>
            <a:r>
              <a:rPr lang="en-US" sz="1800" dirty="0" err="1">
                <a:latin typeface="Times New Roman" panose="02020603050405020304" pitchFamily="18" charset="0"/>
                <a:cs typeface="Times New Roman" panose="02020603050405020304" pitchFamily="18" charset="0"/>
              </a:rPr>
              <a:t>createNode</a:t>
            </a:r>
            <a:r>
              <a:rPr lang="en-US" sz="1800" dirty="0">
                <a:latin typeface="Times New Roman" panose="02020603050405020304" pitchFamily="18" charset="0"/>
                <a:cs typeface="Times New Roman" panose="02020603050405020304" pitchFamily="18" charset="0"/>
              </a:rPr>
              <a:t>(int </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struct Node*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 = (struct Node*)malloc(</a:t>
            </a:r>
            <a:r>
              <a:rPr lang="en-US" sz="1800" dirty="0" err="1">
                <a:latin typeface="Times New Roman" panose="02020603050405020304" pitchFamily="18" charset="0"/>
                <a:cs typeface="Times New Roman" panose="02020603050405020304" pitchFamily="18" charset="0"/>
              </a:rPr>
              <a:t>sizeof</a:t>
            </a:r>
            <a:r>
              <a:rPr lang="en-US" sz="1800" dirty="0">
                <a:latin typeface="Times New Roman" panose="02020603050405020304" pitchFamily="18" charset="0"/>
                <a:cs typeface="Times New Roman" panose="02020603050405020304" pitchFamily="18" charset="0"/>
              </a:rPr>
              <a:t>(struct Node));</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-&gt;</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-&gt;next = NULL;</a:t>
            </a:r>
          </a:p>
          <a:p>
            <a:r>
              <a:rPr lang="en-US" sz="1800" dirty="0">
                <a:latin typeface="Times New Roman" panose="02020603050405020304" pitchFamily="18" charset="0"/>
                <a:cs typeface="Times New Roman" panose="02020603050405020304" pitchFamily="18" charset="0"/>
              </a:rPr>
              <a:t>    return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US" dirty="0"/>
          </a:p>
        </p:txBody>
      </p:sp>
      <p:pic>
        <p:nvPicPr>
          <p:cNvPr id="4" name="object 8">
            <a:extLst>
              <a:ext uri="{FF2B5EF4-FFF2-40B4-BE49-F238E27FC236}">
                <a16:creationId xmlns:a16="http://schemas.microsoft.com/office/drawing/2014/main" id="{29E00192-3FCA-FECE-7B2F-EE543B5692C5}"/>
              </a:ext>
            </a:extLst>
          </p:cNvPr>
          <p:cNvPicPr/>
          <p:nvPr/>
        </p:nvPicPr>
        <p:blipFill>
          <a:blip r:embed="rId2" cstate="print"/>
          <a:stretch>
            <a:fillRect/>
          </a:stretch>
        </p:blipFill>
        <p:spPr>
          <a:xfrm>
            <a:off x="110836" y="25"/>
            <a:ext cx="2327563" cy="94726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667000" y="0"/>
            <a:ext cx="95250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C PROGRAM FOR DFS</a:t>
            </a:r>
          </a:p>
        </p:txBody>
      </p:sp>
      <p:sp>
        <p:nvSpPr>
          <p:cNvPr id="2" name="Date Placeholder 1">
            <a:extLst>
              <a:ext uri="{FF2B5EF4-FFF2-40B4-BE49-F238E27FC236}">
                <a16:creationId xmlns:a16="http://schemas.microsoft.com/office/drawing/2014/main" id="{4D049942-9075-40DD-9E51-C0BDE6F959BE}"/>
              </a:ext>
            </a:extLst>
          </p:cNvPr>
          <p:cNvSpPr>
            <a:spLocks noGrp="1"/>
          </p:cNvSpPr>
          <p:nvPr>
            <p:ph type="dt" sz="half" idx="6"/>
          </p:nvPr>
        </p:nvSpPr>
        <p:spPr/>
        <p:txBody>
          <a:bodyPr/>
          <a:lstStyle/>
          <a:p>
            <a:pPr marL="12700">
              <a:lnSpc>
                <a:spcPts val="1240"/>
              </a:lnSpc>
            </a:pPr>
            <a:fld id="{C2D31B86-9411-4971-8FF7-658CE60C671F}" type="datetime1">
              <a:rPr lang="en-US" spc="-25" smtClean="0"/>
              <a:t>7/8/2026</a:t>
            </a:fld>
            <a:endParaRPr lang="en-IN" spc="-25" dirty="0"/>
          </a:p>
        </p:txBody>
      </p:sp>
      <p:sp>
        <p:nvSpPr>
          <p:cNvPr id="5" name="Footer Placeholder 4">
            <a:extLst>
              <a:ext uri="{FF2B5EF4-FFF2-40B4-BE49-F238E27FC236}">
                <a16:creationId xmlns:a16="http://schemas.microsoft.com/office/drawing/2014/main" id="{A4671805-A4E8-40EA-81FE-1C05BE69943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873407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8">
            <a:extLst>
              <a:ext uri="{FF2B5EF4-FFF2-40B4-BE49-F238E27FC236}">
                <a16:creationId xmlns:a16="http://schemas.microsoft.com/office/drawing/2014/main" id="{29E00192-3FCA-FECE-7B2F-EE543B5692C5}"/>
              </a:ext>
            </a:extLst>
          </p:cNvPr>
          <p:cNvPicPr/>
          <p:nvPr/>
        </p:nvPicPr>
        <p:blipFill>
          <a:blip r:embed="rId2" cstate="print"/>
          <a:stretch>
            <a:fillRect/>
          </a:stretch>
        </p:blipFill>
        <p:spPr>
          <a:xfrm>
            <a:off x="110836" y="25"/>
            <a:ext cx="2327563" cy="947267"/>
          </a:xfrm>
          <a:prstGeom prst="rect">
            <a:avLst/>
          </a:prstGeom>
        </p:spPr>
      </p:pic>
      <p:sp>
        <p:nvSpPr>
          <p:cNvPr id="5" name="Title 1">
            <a:extLst>
              <a:ext uri="{FF2B5EF4-FFF2-40B4-BE49-F238E27FC236}">
                <a16:creationId xmlns:a16="http://schemas.microsoft.com/office/drawing/2014/main" id="{1C7BBAA3-263A-8FE5-5AA3-E40EF73A5AE9}"/>
              </a:ext>
            </a:extLst>
          </p:cNvPr>
          <p:cNvSpPr txBox="1">
            <a:spLocks/>
          </p:cNvSpPr>
          <p:nvPr/>
        </p:nvSpPr>
        <p:spPr>
          <a:xfrm>
            <a:off x="2667000" y="0"/>
            <a:ext cx="95250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C PROGRAM FOR DFS</a:t>
            </a:r>
          </a:p>
        </p:txBody>
      </p:sp>
      <p:sp>
        <p:nvSpPr>
          <p:cNvPr id="6" name="Rectangle 5"/>
          <p:cNvSpPr/>
          <p:nvPr/>
        </p:nvSpPr>
        <p:spPr>
          <a:xfrm>
            <a:off x="914400" y="889844"/>
            <a:ext cx="10668000" cy="5078313"/>
          </a:xfrm>
          <a:prstGeom prst="rect">
            <a:avLst/>
          </a:prstGeom>
        </p:spPr>
        <p:txBody>
          <a:bodyPr wrap="square">
            <a:spAutoFit/>
          </a:bodyPr>
          <a:lstStyle/>
          <a:p>
            <a:r>
              <a:rPr lang="en-US" sz="1800" dirty="0">
                <a:latin typeface="Times New Roman" panose="02020603050405020304" pitchFamily="18" charset="0"/>
                <a:cs typeface="Times New Roman" panose="02020603050405020304" pitchFamily="18" charset="0"/>
              </a:rPr>
              <a:t>// Function to add an edge to the adjacency list</a:t>
            </a:r>
          </a:p>
          <a:p>
            <a:r>
              <a:rPr lang="en-US" sz="1800" dirty="0">
                <a:latin typeface="Times New Roman" panose="02020603050405020304" pitchFamily="18" charset="0"/>
                <a:cs typeface="Times New Roman" panose="02020603050405020304" pitchFamily="18" charset="0"/>
              </a:rPr>
              <a:t>void </a:t>
            </a:r>
            <a:r>
              <a:rPr lang="en-US" sz="1800" dirty="0" err="1">
                <a:latin typeface="Times New Roman" panose="02020603050405020304" pitchFamily="18" charset="0"/>
                <a:cs typeface="Times New Roman" panose="02020603050405020304" pitchFamily="18" charset="0"/>
              </a:rPr>
              <a:t>addEdge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struct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AdjList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s, </a:t>
            </a:r>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t) {</a:t>
            </a:r>
          </a:p>
          <a:p>
            <a:r>
              <a:rPr lang="en-US" sz="1800" dirty="0">
                <a:latin typeface="Times New Roman" panose="02020603050405020304" pitchFamily="18" charset="0"/>
                <a:cs typeface="Times New Roman" panose="02020603050405020304" pitchFamily="18" charset="0"/>
              </a:rPr>
              <a:t>    // Add edge from s to t</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struct</a:t>
            </a:r>
            <a:r>
              <a:rPr lang="en-US" sz="1800" dirty="0">
                <a:latin typeface="Times New Roman" panose="02020603050405020304" pitchFamily="18" charset="0"/>
                <a:cs typeface="Times New Roman" panose="02020603050405020304" pitchFamily="18" charset="0"/>
              </a:rPr>
              <a:t> Node*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createNode</a:t>
            </a:r>
            <a:r>
              <a:rPr lang="en-US" sz="1800" dirty="0">
                <a:latin typeface="Times New Roman" panose="02020603050405020304" pitchFamily="18" charset="0"/>
                <a:cs typeface="Times New Roman" panose="02020603050405020304" pitchFamily="18" charset="0"/>
              </a:rPr>
              <a:t>(t);</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-&gt;next =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[s].head;</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[s].head =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Due to undirected Graph</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createNode</a:t>
            </a:r>
            <a:r>
              <a:rPr lang="en-US" sz="1800" dirty="0">
                <a:latin typeface="Times New Roman" panose="02020603050405020304" pitchFamily="18" charset="0"/>
                <a:cs typeface="Times New Roman" panose="02020603050405020304" pitchFamily="18" charset="0"/>
              </a:rPr>
              <a:t>(s);</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-&gt;next =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[t].head;</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[t].head = </a:t>
            </a:r>
            <a:r>
              <a:rPr lang="en-US" sz="1800" dirty="0" err="1">
                <a:latin typeface="Times New Roman" panose="02020603050405020304" pitchFamily="18" charset="0"/>
                <a:cs typeface="Times New Roman" panose="02020603050405020304" pitchFamily="18" charset="0"/>
              </a:rPr>
              <a:t>newNode</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main() {</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V = 5;</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Create an array of adjacency lists</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struct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AdjList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[V];</a:t>
            </a:r>
          </a:p>
        </p:txBody>
      </p:sp>
      <p:sp>
        <p:nvSpPr>
          <p:cNvPr id="2" name="Date Placeholder 1">
            <a:extLst>
              <a:ext uri="{FF2B5EF4-FFF2-40B4-BE49-F238E27FC236}">
                <a16:creationId xmlns:a16="http://schemas.microsoft.com/office/drawing/2014/main" id="{3C658609-27C3-4752-8F05-8F83226E2FA8}"/>
              </a:ext>
            </a:extLst>
          </p:cNvPr>
          <p:cNvSpPr>
            <a:spLocks noGrp="1"/>
          </p:cNvSpPr>
          <p:nvPr>
            <p:ph type="dt" sz="half" idx="6"/>
          </p:nvPr>
        </p:nvSpPr>
        <p:spPr/>
        <p:txBody>
          <a:bodyPr/>
          <a:lstStyle/>
          <a:p>
            <a:pPr marL="12700">
              <a:lnSpc>
                <a:spcPts val="1240"/>
              </a:lnSpc>
            </a:pPr>
            <a:fld id="{DD63294A-2504-49E6-95B6-C44F7256F3CE}" type="datetime1">
              <a:rPr lang="en-US" spc="-25" smtClean="0"/>
              <a:t>7/8/2026</a:t>
            </a:fld>
            <a:endParaRPr lang="en-IN" spc="-25" dirty="0"/>
          </a:p>
        </p:txBody>
      </p:sp>
      <p:sp>
        <p:nvSpPr>
          <p:cNvPr id="3" name="Footer Placeholder 2">
            <a:extLst>
              <a:ext uri="{FF2B5EF4-FFF2-40B4-BE49-F238E27FC236}">
                <a16:creationId xmlns:a16="http://schemas.microsoft.com/office/drawing/2014/main" id="{05C597BE-A26D-46F1-AE38-0C62D3BD4F5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671573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8">
            <a:extLst>
              <a:ext uri="{FF2B5EF4-FFF2-40B4-BE49-F238E27FC236}">
                <a16:creationId xmlns:a16="http://schemas.microsoft.com/office/drawing/2014/main" id="{29E00192-3FCA-FECE-7B2F-EE543B5692C5}"/>
              </a:ext>
            </a:extLst>
          </p:cNvPr>
          <p:cNvPicPr/>
          <p:nvPr/>
        </p:nvPicPr>
        <p:blipFill>
          <a:blip r:embed="rId2" cstate="print"/>
          <a:stretch>
            <a:fillRect/>
          </a:stretch>
        </p:blipFill>
        <p:spPr>
          <a:xfrm>
            <a:off x="110836" y="25"/>
            <a:ext cx="2327563" cy="947267"/>
          </a:xfrm>
          <a:prstGeom prst="rect">
            <a:avLst/>
          </a:prstGeom>
        </p:spPr>
      </p:pic>
      <p:sp>
        <p:nvSpPr>
          <p:cNvPr id="5" name="Title 1">
            <a:extLst>
              <a:ext uri="{FF2B5EF4-FFF2-40B4-BE49-F238E27FC236}">
                <a16:creationId xmlns:a16="http://schemas.microsoft.com/office/drawing/2014/main" id="{1C7BBAA3-263A-8FE5-5AA3-E40EF73A5AE9}"/>
              </a:ext>
            </a:extLst>
          </p:cNvPr>
          <p:cNvSpPr txBox="1">
            <a:spLocks/>
          </p:cNvSpPr>
          <p:nvPr/>
        </p:nvSpPr>
        <p:spPr>
          <a:xfrm>
            <a:off x="2667000" y="0"/>
            <a:ext cx="95250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C PROGRAM FOR DFS</a:t>
            </a:r>
          </a:p>
        </p:txBody>
      </p:sp>
      <p:sp>
        <p:nvSpPr>
          <p:cNvPr id="6" name="Text Placeholder 2">
            <a:extLst>
              <a:ext uri="{FF2B5EF4-FFF2-40B4-BE49-F238E27FC236}">
                <a16:creationId xmlns:a16="http://schemas.microsoft.com/office/drawing/2014/main" id="{326AD7A4-BC7A-3136-6C09-9EA93EB60CD0}"/>
              </a:ext>
            </a:extLst>
          </p:cNvPr>
          <p:cNvSpPr>
            <a:spLocks noGrp="1"/>
          </p:cNvSpPr>
          <p:nvPr>
            <p:ph type="body" idx="1"/>
          </p:nvPr>
        </p:nvSpPr>
        <p:spPr>
          <a:xfrm>
            <a:off x="762000" y="685800"/>
            <a:ext cx="10820400" cy="5704553"/>
          </a:xfrm>
        </p:spPr>
        <p:txBody>
          <a:bodyPr/>
          <a:lstStyle/>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Initialize each adjacency list as empty</a:t>
            </a:r>
          </a:p>
          <a:p>
            <a:r>
              <a:rPr lang="en-US" sz="1800" dirty="0">
                <a:latin typeface="Times New Roman" panose="02020603050405020304" pitchFamily="18" charset="0"/>
                <a:cs typeface="Times New Roman" panose="02020603050405020304" pitchFamily="18" charset="0"/>
              </a:rPr>
              <a:t>    for (int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0;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&lt; V;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adj[</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].head = NULL;</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int E = 5;</a:t>
            </a:r>
          </a:p>
          <a:p>
            <a:r>
              <a:rPr lang="en-US" sz="1800" dirty="0">
                <a:latin typeface="Times New Roman" panose="02020603050405020304" pitchFamily="18" charset="0"/>
                <a:cs typeface="Times New Roman" panose="02020603050405020304" pitchFamily="18" charset="0"/>
              </a:rPr>
              <a:t>    // Define the edges of the graph</a:t>
            </a:r>
          </a:p>
          <a:p>
            <a:r>
              <a:rPr lang="en-US" sz="1800" dirty="0">
                <a:latin typeface="Times New Roman" panose="02020603050405020304" pitchFamily="18" charset="0"/>
                <a:cs typeface="Times New Roman" panose="02020603050405020304" pitchFamily="18" charset="0"/>
              </a:rPr>
              <a:t>    int edges[][2] = {{1, 2}, {1, 0}, {2, 0}, {2, 3}, {2, 4}};</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Populate the adjacency list with edges</a:t>
            </a:r>
          </a:p>
          <a:p>
            <a:r>
              <a:rPr lang="en-US" sz="1800" dirty="0">
                <a:latin typeface="Times New Roman" panose="02020603050405020304" pitchFamily="18" charset="0"/>
                <a:cs typeface="Times New Roman" panose="02020603050405020304" pitchFamily="18" charset="0"/>
              </a:rPr>
              <a:t>    for (int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0;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&lt; E;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addEdge</a:t>
            </a:r>
            <a:r>
              <a:rPr lang="en-US" sz="1800" dirty="0">
                <a:latin typeface="Times New Roman" panose="02020603050405020304" pitchFamily="18" charset="0"/>
                <a:cs typeface="Times New Roman" panose="02020603050405020304" pitchFamily="18" charset="0"/>
              </a:rPr>
              <a:t>(adj, edges[</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][0], edges[</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][1]);</a:t>
            </a:r>
          </a:p>
          <a:p>
            <a:r>
              <a:rPr lang="en-US" sz="1800" dirty="0">
                <a:latin typeface="Times New Roman" panose="02020603050405020304" pitchFamily="18" charset="0"/>
                <a:cs typeface="Times New Roman" panose="02020603050405020304" pitchFamily="18" charset="0"/>
              </a:rPr>
              <a:t>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int source = 1; </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("DFS from source: %d\n", source);</a:t>
            </a:r>
          </a:p>
          <a:p>
            <a:r>
              <a:rPr lang="en-US" sz="1800" dirty="0">
                <a:latin typeface="Times New Roman" panose="02020603050405020304" pitchFamily="18" charset="0"/>
                <a:cs typeface="Times New Roman" panose="02020603050405020304" pitchFamily="18" charset="0"/>
              </a:rPr>
              <a:t>    DFS(adj, V, source);</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return 0;</a:t>
            </a:r>
          </a:p>
          <a:p>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US" dirty="0"/>
          </a:p>
        </p:txBody>
      </p:sp>
      <p:sp>
        <p:nvSpPr>
          <p:cNvPr id="2" name="Date Placeholder 1">
            <a:extLst>
              <a:ext uri="{FF2B5EF4-FFF2-40B4-BE49-F238E27FC236}">
                <a16:creationId xmlns:a16="http://schemas.microsoft.com/office/drawing/2014/main" id="{226EE5E2-F69A-4828-8BD1-F3754C4506A3}"/>
              </a:ext>
            </a:extLst>
          </p:cNvPr>
          <p:cNvSpPr>
            <a:spLocks noGrp="1"/>
          </p:cNvSpPr>
          <p:nvPr>
            <p:ph type="dt" sz="half" idx="6"/>
          </p:nvPr>
        </p:nvSpPr>
        <p:spPr/>
        <p:txBody>
          <a:bodyPr/>
          <a:lstStyle/>
          <a:p>
            <a:pPr marL="12700">
              <a:lnSpc>
                <a:spcPts val="1240"/>
              </a:lnSpc>
            </a:pPr>
            <a:fld id="{8F11187B-47C0-406E-B661-6B524DE42835}" type="datetime1">
              <a:rPr lang="en-US" spc="-25" smtClean="0"/>
              <a:t>7/8/2026</a:t>
            </a:fld>
            <a:endParaRPr lang="en-IN" spc="-25" dirty="0"/>
          </a:p>
        </p:txBody>
      </p:sp>
      <p:sp>
        <p:nvSpPr>
          <p:cNvPr id="3" name="Footer Placeholder 2">
            <a:extLst>
              <a:ext uri="{FF2B5EF4-FFF2-40B4-BE49-F238E27FC236}">
                <a16:creationId xmlns:a16="http://schemas.microsoft.com/office/drawing/2014/main" id="{CE88FA06-3B8D-48F6-BC7E-0490C76DDAD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213702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8">
            <a:extLst>
              <a:ext uri="{FF2B5EF4-FFF2-40B4-BE49-F238E27FC236}">
                <a16:creationId xmlns:a16="http://schemas.microsoft.com/office/drawing/2014/main" id="{29E00192-3FCA-FECE-7B2F-EE543B5692C5}"/>
              </a:ext>
            </a:extLst>
          </p:cNvPr>
          <p:cNvPicPr/>
          <p:nvPr/>
        </p:nvPicPr>
        <p:blipFill>
          <a:blip r:embed="rId2" cstate="print"/>
          <a:stretch>
            <a:fillRect/>
          </a:stretch>
        </p:blipFill>
        <p:spPr>
          <a:xfrm>
            <a:off x="110836" y="25"/>
            <a:ext cx="2327563" cy="947267"/>
          </a:xfrm>
          <a:prstGeom prst="rect">
            <a:avLst/>
          </a:prstGeom>
        </p:spPr>
      </p:pic>
      <p:sp>
        <p:nvSpPr>
          <p:cNvPr id="5" name="Title 1">
            <a:extLst>
              <a:ext uri="{FF2B5EF4-FFF2-40B4-BE49-F238E27FC236}">
                <a16:creationId xmlns:a16="http://schemas.microsoft.com/office/drawing/2014/main" id="{1C7BBAA3-263A-8FE5-5AA3-E40EF73A5AE9}"/>
              </a:ext>
            </a:extLst>
          </p:cNvPr>
          <p:cNvSpPr txBox="1">
            <a:spLocks/>
          </p:cNvSpPr>
          <p:nvPr/>
        </p:nvSpPr>
        <p:spPr>
          <a:xfrm>
            <a:off x="2667000" y="0"/>
            <a:ext cx="95250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C PROGRAM FOR DFS</a:t>
            </a:r>
          </a:p>
        </p:txBody>
      </p:sp>
      <p:sp>
        <p:nvSpPr>
          <p:cNvPr id="2" name="Rectangle 1"/>
          <p:cNvSpPr/>
          <p:nvPr/>
        </p:nvSpPr>
        <p:spPr>
          <a:xfrm>
            <a:off x="1143000" y="1028343"/>
            <a:ext cx="10058400" cy="4801314"/>
          </a:xfrm>
          <a:prstGeom prst="rect">
            <a:avLst/>
          </a:prstGeom>
        </p:spPr>
        <p:txBody>
          <a:bodyPr wrap="square">
            <a:spAutoFit/>
          </a:bodyPr>
          <a:lstStyle/>
          <a:p>
            <a:r>
              <a:rPr lang="en-US" sz="1800" dirty="0">
                <a:latin typeface="Times New Roman" panose="02020603050405020304" pitchFamily="18" charset="0"/>
                <a:cs typeface="Times New Roman" panose="02020603050405020304" pitchFamily="18" charset="0"/>
              </a:rPr>
              <a:t>// Recursive function for DFS traversal</a:t>
            </a:r>
          </a:p>
          <a:p>
            <a:r>
              <a:rPr lang="en-US" sz="1800" dirty="0">
                <a:latin typeface="Times New Roman" panose="02020603050405020304" pitchFamily="18" charset="0"/>
                <a:cs typeface="Times New Roman" panose="02020603050405020304" pitchFamily="18" charset="0"/>
              </a:rPr>
              <a:t>void </a:t>
            </a:r>
            <a:r>
              <a:rPr lang="en-US" sz="1800" dirty="0" err="1">
                <a:latin typeface="Times New Roman" panose="02020603050405020304" pitchFamily="18" charset="0"/>
                <a:cs typeface="Times New Roman" panose="02020603050405020304" pitchFamily="18" charset="0"/>
              </a:rPr>
              <a:t>DFSRec</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struct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AdjList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visited[], </a:t>
            </a:r>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s) {</a:t>
            </a:r>
          </a:p>
          <a:p>
            <a:r>
              <a:rPr lang="en-US" sz="1800" dirty="0">
                <a:latin typeface="Times New Roman" panose="02020603050405020304" pitchFamily="18" charset="0"/>
                <a:cs typeface="Times New Roman" panose="02020603050405020304" pitchFamily="18" charset="0"/>
              </a:rPr>
              <a:t>    // Mark the current vertex as visited</a:t>
            </a:r>
          </a:p>
          <a:p>
            <a:r>
              <a:rPr lang="en-US" sz="1800" dirty="0">
                <a:latin typeface="Times New Roman" panose="02020603050405020304" pitchFamily="18" charset="0"/>
                <a:cs typeface="Times New Roman" panose="02020603050405020304" pitchFamily="18" charset="0"/>
              </a:rPr>
              <a:t>    visited[s] = 1;</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Print the current vertex</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("%d ", 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Traverse all adjacent vertices that are not visited yet</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struct</a:t>
            </a:r>
            <a:r>
              <a:rPr lang="en-US" sz="1800" dirty="0">
                <a:latin typeface="Times New Roman" panose="02020603050405020304" pitchFamily="18" charset="0"/>
                <a:cs typeface="Times New Roman" panose="02020603050405020304" pitchFamily="18" charset="0"/>
              </a:rPr>
              <a:t> Node* current = </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[s].head;</a:t>
            </a:r>
          </a:p>
          <a:p>
            <a:r>
              <a:rPr lang="en-US" sz="1800" dirty="0">
                <a:latin typeface="Times New Roman" panose="02020603050405020304" pitchFamily="18" charset="0"/>
                <a:cs typeface="Times New Roman" panose="02020603050405020304" pitchFamily="18" charset="0"/>
              </a:rPr>
              <a:t>    while (current != NULL) {</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int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 = current-&gt;</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if (!visited[</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DFSRec</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adj</a:t>
            </a:r>
            <a:r>
              <a:rPr lang="en-US" sz="1800" dirty="0">
                <a:latin typeface="Times New Roman" panose="02020603050405020304" pitchFamily="18" charset="0"/>
                <a:cs typeface="Times New Roman" panose="02020603050405020304" pitchFamily="18" charset="0"/>
              </a:rPr>
              <a:t>, visited, </a:t>
            </a:r>
            <a:r>
              <a:rPr lang="en-US" sz="1800" dirty="0" err="1">
                <a:latin typeface="Times New Roman" panose="02020603050405020304" pitchFamily="18" charset="0"/>
                <a:cs typeface="Times New Roman" panose="02020603050405020304" pitchFamily="18" charset="0"/>
              </a:rPr>
              <a:t>dest</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current = current-&gt;next;</a:t>
            </a:r>
          </a:p>
          <a:p>
            <a:r>
              <a:rPr lang="en-US" sz="1800" dirty="0">
                <a:latin typeface="Times New Roman" panose="02020603050405020304" pitchFamily="18" charset="0"/>
                <a:cs typeface="Times New Roman" panose="02020603050405020304" pitchFamily="18" charset="0"/>
              </a:rPr>
              <a:t>    }}</a:t>
            </a:r>
          </a:p>
        </p:txBody>
      </p:sp>
      <p:sp>
        <p:nvSpPr>
          <p:cNvPr id="3" name="Date Placeholder 2">
            <a:extLst>
              <a:ext uri="{FF2B5EF4-FFF2-40B4-BE49-F238E27FC236}">
                <a16:creationId xmlns:a16="http://schemas.microsoft.com/office/drawing/2014/main" id="{CEF8F531-1908-4A0F-B376-7B8FCD239E18}"/>
              </a:ext>
            </a:extLst>
          </p:cNvPr>
          <p:cNvSpPr>
            <a:spLocks noGrp="1"/>
          </p:cNvSpPr>
          <p:nvPr>
            <p:ph type="dt" sz="half" idx="6"/>
          </p:nvPr>
        </p:nvSpPr>
        <p:spPr/>
        <p:txBody>
          <a:bodyPr/>
          <a:lstStyle/>
          <a:p>
            <a:pPr marL="12700">
              <a:lnSpc>
                <a:spcPts val="1240"/>
              </a:lnSpc>
            </a:pPr>
            <a:fld id="{8831D289-B5FB-4A68-9CA4-3EC3057787FC}" type="datetime1">
              <a:rPr lang="en-US" spc="-25" smtClean="0"/>
              <a:t>7/8/2026</a:t>
            </a:fld>
            <a:endParaRPr lang="en-IN" spc="-25" dirty="0"/>
          </a:p>
        </p:txBody>
      </p:sp>
      <p:sp>
        <p:nvSpPr>
          <p:cNvPr id="6" name="Footer Placeholder 5">
            <a:extLst>
              <a:ext uri="{FF2B5EF4-FFF2-40B4-BE49-F238E27FC236}">
                <a16:creationId xmlns:a16="http://schemas.microsoft.com/office/drawing/2014/main" id="{7B7DC09D-A694-4CE6-B749-99D36E43083B}"/>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660787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06A1-CC69-CCDA-9AE1-AA2886E974F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157A3D4-FC24-4BE7-07E4-8B4493B1CFED}"/>
              </a:ext>
            </a:extLst>
          </p:cNvPr>
          <p:cNvSpPr>
            <a:spLocks noGrp="1"/>
          </p:cNvSpPr>
          <p:nvPr>
            <p:ph type="body" idx="1"/>
          </p:nvPr>
        </p:nvSpPr>
        <p:spPr>
          <a:xfrm>
            <a:off x="762000" y="947292"/>
            <a:ext cx="10820400" cy="3108543"/>
          </a:xfrm>
        </p:spPr>
        <p:txBody>
          <a:bodyPr/>
          <a:lstStyle/>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Main DFS function that initializes the visited array</a:t>
            </a:r>
          </a:p>
          <a:p>
            <a:r>
              <a:rPr lang="en-US" sz="1800" dirty="0">
                <a:latin typeface="Times New Roman" panose="02020603050405020304" pitchFamily="18" charset="0"/>
                <a:cs typeface="Times New Roman" panose="02020603050405020304" pitchFamily="18" charset="0"/>
              </a:rPr>
              <a:t>// and calls </a:t>
            </a:r>
            <a:r>
              <a:rPr lang="en-US" sz="1800" dirty="0" err="1">
                <a:latin typeface="Times New Roman" panose="02020603050405020304" pitchFamily="18" charset="0"/>
                <a:cs typeface="Times New Roman" panose="02020603050405020304" pitchFamily="18" charset="0"/>
              </a:rPr>
              <a:t>DFSRec</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void DFS(struct </a:t>
            </a:r>
            <a:r>
              <a:rPr lang="en-US" sz="1800" dirty="0" err="1">
                <a:latin typeface="Times New Roman" panose="02020603050405020304" pitchFamily="18" charset="0"/>
                <a:cs typeface="Times New Roman" panose="02020603050405020304" pitchFamily="18" charset="0"/>
              </a:rPr>
              <a:t>AdjList</a:t>
            </a:r>
            <a:r>
              <a:rPr lang="en-US" sz="1800" dirty="0">
                <a:latin typeface="Times New Roman" panose="02020603050405020304" pitchFamily="18" charset="0"/>
                <a:cs typeface="Times New Roman" panose="02020603050405020304" pitchFamily="18" charset="0"/>
              </a:rPr>
              <a:t> adj[], int V, int s) {</a:t>
            </a:r>
          </a:p>
          <a:p>
            <a:r>
              <a:rPr lang="en-US" sz="1800" dirty="0">
                <a:latin typeface="Times New Roman" panose="02020603050405020304" pitchFamily="18" charset="0"/>
                <a:cs typeface="Times New Roman" panose="02020603050405020304" pitchFamily="18" charset="0"/>
              </a:rPr>
              <a:t>    // Initialize visited array to false</a:t>
            </a:r>
          </a:p>
          <a:p>
            <a:r>
              <a:rPr lang="en-US" sz="1800" dirty="0">
                <a:latin typeface="Times New Roman" panose="02020603050405020304" pitchFamily="18" charset="0"/>
                <a:cs typeface="Times New Roman" panose="02020603050405020304" pitchFamily="18" charset="0"/>
              </a:rPr>
              <a:t>    int visited[5] = {0}; </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DFSRec</a:t>
            </a:r>
            <a:r>
              <a:rPr lang="en-US" sz="1800" dirty="0">
                <a:latin typeface="Times New Roman" panose="02020603050405020304" pitchFamily="18" charset="0"/>
                <a:cs typeface="Times New Roman" panose="02020603050405020304" pitchFamily="18" charset="0"/>
              </a:rPr>
              <a:t>(adj, visited, s);</a:t>
            </a:r>
          </a:p>
          <a:p>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dirty="0"/>
          </a:p>
        </p:txBody>
      </p:sp>
      <p:pic>
        <p:nvPicPr>
          <p:cNvPr id="4" name="object 8">
            <a:extLst>
              <a:ext uri="{FF2B5EF4-FFF2-40B4-BE49-F238E27FC236}">
                <a16:creationId xmlns:a16="http://schemas.microsoft.com/office/drawing/2014/main" id="{D0EDCB88-AE7A-F237-5451-FFD83273FF6B}"/>
              </a:ext>
            </a:extLst>
          </p:cNvPr>
          <p:cNvPicPr/>
          <p:nvPr/>
        </p:nvPicPr>
        <p:blipFill>
          <a:blip r:embed="rId2" cstate="print"/>
          <a:stretch>
            <a:fillRect/>
          </a:stretch>
        </p:blipFill>
        <p:spPr>
          <a:xfrm>
            <a:off x="110836" y="25"/>
            <a:ext cx="2327563" cy="94726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667000" y="0"/>
            <a:ext cx="95250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C PROGRAM FOR DFS</a:t>
            </a:r>
          </a:p>
        </p:txBody>
      </p:sp>
      <p:sp>
        <p:nvSpPr>
          <p:cNvPr id="2" name="Date Placeholder 1">
            <a:extLst>
              <a:ext uri="{FF2B5EF4-FFF2-40B4-BE49-F238E27FC236}">
                <a16:creationId xmlns:a16="http://schemas.microsoft.com/office/drawing/2014/main" id="{A2E736BB-9979-4E72-8329-DA9A0ADC1C85}"/>
              </a:ext>
            </a:extLst>
          </p:cNvPr>
          <p:cNvSpPr>
            <a:spLocks noGrp="1"/>
          </p:cNvSpPr>
          <p:nvPr>
            <p:ph type="dt" sz="half" idx="6"/>
          </p:nvPr>
        </p:nvSpPr>
        <p:spPr/>
        <p:txBody>
          <a:bodyPr/>
          <a:lstStyle/>
          <a:p>
            <a:pPr marL="12700">
              <a:lnSpc>
                <a:spcPts val="1240"/>
              </a:lnSpc>
            </a:pPr>
            <a:fld id="{9885DEF5-16F5-4C55-A0C9-F427BE5035A3}" type="datetime1">
              <a:rPr lang="en-US" spc="-25" smtClean="0"/>
              <a:t>7/8/2026</a:t>
            </a:fld>
            <a:endParaRPr lang="en-IN" spc="-25" dirty="0"/>
          </a:p>
        </p:txBody>
      </p:sp>
      <p:sp>
        <p:nvSpPr>
          <p:cNvPr id="5" name="Footer Placeholder 4">
            <a:extLst>
              <a:ext uri="{FF2B5EF4-FFF2-40B4-BE49-F238E27FC236}">
                <a16:creationId xmlns:a16="http://schemas.microsoft.com/office/drawing/2014/main" id="{34C57A0A-8B03-4AE9-8770-7DB2DEBDFD7D}"/>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752923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07372" y="25"/>
            <a:ext cx="2254827" cy="947267"/>
          </a:xfrm>
          <a:prstGeom prst="rect">
            <a:avLst/>
          </a:prstGeom>
        </p:spPr>
      </p:pic>
      <p:sp>
        <p:nvSpPr>
          <p:cNvPr id="7" name="object 7"/>
          <p:cNvSpPr txBox="1"/>
          <p:nvPr/>
        </p:nvSpPr>
        <p:spPr>
          <a:xfrm>
            <a:off x="1066800" y="1060449"/>
            <a:ext cx="10210800" cy="3105978"/>
          </a:xfrm>
          <a:prstGeom prst="rect">
            <a:avLst/>
          </a:prstGeom>
        </p:spPr>
        <p:txBody>
          <a:bodyPr vert="horz" wrap="square" lIns="0" tIns="149860" rIns="0" bIns="0" rtlCol="0">
            <a:spAutoFit/>
          </a:bodyPr>
          <a:lstStyle/>
          <a:p>
            <a:r>
              <a:rPr lang="en-US" sz="2400" dirty="0">
                <a:latin typeface="Times New Roman" pitchFamily="18" charset="0"/>
                <a:cs typeface="Times New Roman" pitchFamily="18" charset="0"/>
              </a:rPr>
              <a:t>Breadth First Search algorithm(BFS) traverses a graph in a </a:t>
            </a:r>
            <a:r>
              <a:rPr lang="en-US" sz="2400" dirty="0" err="1">
                <a:latin typeface="Times New Roman" pitchFamily="18" charset="0"/>
                <a:cs typeface="Times New Roman" pitchFamily="18" charset="0"/>
              </a:rPr>
              <a:t>breadthwards</a:t>
            </a:r>
            <a:r>
              <a:rPr lang="en-US" sz="2400" dirty="0">
                <a:latin typeface="Times New Roman" pitchFamily="18" charset="0"/>
                <a:cs typeface="Times New Roman" pitchFamily="18" charset="0"/>
              </a:rPr>
              <a:t> motion and uses a queue to remember to get the next vertex to start a search when a dead end occurs in any iteration.</a:t>
            </a:r>
          </a:p>
          <a:p>
            <a:r>
              <a:rPr lang="en-US" sz="2400" dirty="0">
                <a:latin typeface="Times New Roman" pitchFamily="18" charset="0"/>
                <a:cs typeface="Times New Roman" pitchFamily="18" charset="0"/>
              </a:rPr>
              <a:t>Algorithm</a:t>
            </a:r>
          </a:p>
          <a:p>
            <a:pPr marL="914400" lvl="1" indent="-457200">
              <a:buFont typeface="+mj-lt"/>
              <a:buAutoNum type="arabicPeriod"/>
            </a:pPr>
            <a:r>
              <a:rPr lang="en-US" sz="2400" dirty="0">
                <a:latin typeface="Times New Roman" pitchFamily="18" charset="0"/>
                <a:cs typeface="Times New Roman" pitchFamily="18" charset="0"/>
              </a:rPr>
              <a:t>Visit adjacent unvisited vertex. Mark it visited. Display it. Insert it in a queue.</a:t>
            </a:r>
          </a:p>
          <a:p>
            <a:pPr marL="914400" lvl="1" indent="-457200">
              <a:buFont typeface="+mj-lt"/>
              <a:buAutoNum type="arabicPeriod"/>
            </a:pPr>
            <a:r>
              <a:rPr lang="en-US" sz="2400" dirty="0">
                <a:latin typeface="Times New Roman" pitchFamily="18" charset="0"/>
                <a:cs typeface="Times New Roman" pitchFamily="18" charset="0"/>
              </a:rPr>
              <a:t>If no adjacent vertex found, remove the first vertex from queue.</a:t>
            </a:r>
          </a:p>
          <a:p>
            <a:pPr marL="914400" lvl="1" indent="-457200">
              <a:buFont typeface="+mj-lt"/>
              <a:buAutoNum type="arabicPeriod"/>
            </a:pPr>
            <a:r>
              <a:rPr lang="en-US" sz="2400" dirty="0">
                <a:latin typeface="Times New Roman" pitchFamily="18" charset="0"/>
                <a:cs typeface="Times New Roman" pitchFamily="18" charset="0"/>
              </a:rPr>
              <a:t>Repeat step 1 and 2 until queue is empty.</a:t>
            </a:r>
          </a:p>
        </p:txBody>
      </p:sp>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Breadth First Search Traversal</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012B832A-0C58-4703-B499-C43D8EB45C0E}"/>
              </a:ext>
            </a:extLst>
          </p:cNvPr>
          <p:cNvSpPr>
            <a:spLocks noGrp="1"/>
          </p:cNvSpPr>
          <p:nvPr>
            <p:ph type="dt" sz="half" idx="6"/>
          </p:nvPr>
        </p:nvSpPr>
        <p:spPr/>
        <p:txBody>
          <a:bodyPr/>
          <a:lstStyle/>
          <a:p>
            <a:pPr marL="12700">
              <a:lnSpc>
                <a:spcPts val="1240"/>
              </a:lnSpc>
            </a:pPr>
            <a:fld id="{AC67AD10-B475-4C41-9168-9F8AF8D7F9B6}" type="datetime1">
              <a:rPr lang="en-US" spc="-25" smtClean="0"/>
              <a:t>7/8/2026</a:t>
            </a:fld>
            <a:endParaRPr lang="en-IN" spc="-25" dirty="0"/>
          </a:p>
        </p:txBody>
      </p:sp>
      <p:sp>
        <p:nvSpPr>
          <p:cNvPr id="3" name="Footer Placeholder 2">
            <a:extLst>
              <a:ext uri="{FF2B5EF4-FFF2-40B4-BE49-F238E27FC236}">
                <a16:creationId xmlns:a16="http://schemas.microsoft.com/office/drawing/2014/main" id="{6CBF36D9-BDC7-4023-8584-27EF0E26271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83572" y="25"/>
            <a:ext cx="2254827" cy="947267"/>
          </a:xfrm>
          <a:prstGeom prst="rect">
            <a:avLst/>
          </a:prstGeom>
        </p:spPr>
      </p:pic>
      <p:sp>
        <p:nvSpPr>
          <p:cNvPr id="7" name="object 7"/>
          <p:cNvSpPr txBox="1"/>
          <p:nvPr/>
        </p:nvSpPr>
        <p:spPr>
          <a:xfrm>
            <a:off x="2060194" y="1243329"/>
            <a:ext cx="8074025" cy="640560"/>
          </a:xfrm>
          <a:prstGeom prst="rect">
            <a:avLst/>
          </a:prstGeom>
        </p:spPr>
        <p:txBody>
          <a:bodyPr vert="horz" wrap="square" lIns="0" tIns="12065" rIns="0" bIns="0" rtlCol="0">
            <a:spAutoFit/>
          </a:bodyPr>
          <a:lstStyle/>
          <a:p>
            <a:pPr marL="469900" indent="-457200">
              <a:lnSpc>
                <a:spcPct val="100000"/>
              </a:lnSpc>
              <a:spcBef>
                <a:spcPts val="95"/>
              </a:spcBef>
              <a:buAutoNum type="arabicPeriod"/>
            </a:pPr>
            <a:r>
              <a:rPr lang="en-US" sz="2000" dirty="0">
                <a:latin typeface="Times New Roman" pitchFamily="18" charset="0"/>
                <a:cs typeface="Times New Roman" pitchFamily="18" charset="0"/>
              </a:rPr>
              <a:t>Initialize the queue </a:t>
            </a:r>
          </a:p>
          <a:p>
            <a:pPr marL="12700">
              <a:lnSpc>
                <a:spcPct val="100000"/>
              </a:lnSpc>
              <a:spcBef>
                <a:spcPts val="95"/>
              </a:spcBef>
            </a:pPr>
            <a:endParaRPr lang="en-US" sz="20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8F5A27B8-3878-0233-49C9-44663CC36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438400"/>
            <a:ext cx="4915870" cy="290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EC1C8C85-E4C9-4EFA-8E87-DD1AAE162E95}"/>
              </a:ext>
            </a:extLst>
          </p:cNvPr>
          <p:cNvSpPr>
            <a:spLocks noGrp="1"/>
          </p:cNvSpPr>
          <p:nvPr>
            <p:ph type="dt" sz="half" idx="6"/>
          </p:nvPr>
        </p:nvSpPr>
        <p:spPr/>
        <p:txBody>
          <a:bodyPr/>
          <a:lstStyle/>
          <a:p>
            <a:pPr marL="12700">
              <a:lnSpc>
                <a:spcPts val="1240"/>
              </a:lnSpc>
            </a:pPr>
            <a:fld id="{BA5532C2-D6B7-4E5E-9EA0-C2A657D8A428}" type="datetime1">
              <a:rPr lang="en-US" spc="-25" smtClean="0"/>
              <a:t>7/8/2026</a:t>
            </a:fld>
            <a:endParaRPr lang="en-IN" spc="-25" dirty="0"/>
          </a:p>
        </p:txBody>
      </p:sp>
      <p:sp>
        <p:nvSpPr>
          <p:cNvPr id="3" name="Footer Placeholder 2">
            <a:extLst>
              <a:ext uri="{FF2B5EF4-FFF2-40B4-BE49-F238E27FC236}">
                <a16:creationId xmlns:a16="http://schemas.microsoft.com/office/drawing/2014/main" id="{D92BD23A-01CF-4855-8098-4F3EB99E2C6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95400" y="1077213"/>
            <a:ext cx="10820400" cy="1299715"/>
          </a:xfrm>
          <a:prstGeom prst="rect">
            <a:avLst/>
          </a:prstGeom>
        </p:spPr>
        <p:txBody>
          <a:bodyPr vert="horz" wrap="square" lIns="0" tIns="12065" rIns="0" bIns="0" rtlCol="0">
            <a:spAutoFit/>
          </a:bodyPr>
          <a:lstStyle/>
          <a:p>
            <a:r>
              <a:rPr lang="en-US" sz="2000" dirty="0">
                <a:latin typeface="Times New Roman" pitchFamily="18" charset="0"/>
                <a:cs typeface="Times New Roman" pitchFamily="18" charset="0"/>
              </a:rPr>
              <a:t>2. We start from visiting S (starting node), and mark it visited.</a:t>
            </a:r>
          </a:p>
          <a:p>
            <a:pPr>
              <a:spcBef>
                <a:spcPts val="1889"/>
              </a:spcBef>
            </a:pPr>
            <a:r>
              <a:rPr lang="en-US" sz="1600" b="1" dirty="0">
                <a:latin typeface="Times New Roman" panose="02020603050405020304" pitchFamily="18" charset="0"/>
                <a:cs typeface="Times New Roman" panose="02020603050405020304" pitchFamily="18" charset="0"/>
              </a:rPr>
              <a:t>Output – S </a:t>
            </a:r>
          </a:p>
          <a:p>
            <a:pPr>
              <a:lnSpc>
                <a:spcPct val="100000"/>
              </a:lnSpc>
              <a:spcBef>
                <a:spcPts val="1889"/>
              </a:spcBef>
            </a:pPr>
            <a:endParaRPr sz="1600" dirty="0">
              <a:latin typeface="Calibri"/>
              <a:cs typeface="Calibri"/>
            </a:endParaRPr>
          </a:p>
        </p:txBody>
      </p:sp>
      <p:pic>
        <p:nvPicPr>
          <p:cNvPr id="8" name="object 8"/>
          <p:cNvPicPr/>
          <p:nvPr/>
        </p:nvPicPr>
        <p:blipFill>
          <a:blip r:embed="rId2" cstate="print"/>
          <a:stretch>
            <a:fillRect/>
          </a:stretch>
        </p:blipFill>
        <p:spPr>
          <a:xfrm>
            <a:off x="107372" y="25"/>
            <a:ext cx="2254827" cy="947267"/>
          </a:xfrm>
          <a:prstGeom prst="rect">
            <a:avLst/>
          </a:prstGeom>
        </p:spPr>
      </p:pic>
      <p:pic>
        <p:nvPicPr>
          <p:cNvPr id="9" name="Picture 2">
            <a:extLst>
              <a:ext uri="{FF2B5EF4-FFF2-40B4-BE49-F238E27FC236}">
                <a16:creationId xmlns:a16="http://schemas.microsoft.com/office/drawing/2014/main" id="{1322E940-24F3-CDD4-97A0-3F4D3DC31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828800"/>
            <a:ext cx="5329166" cy="3144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6A4ACB0B-F2C4-43FF-84C3-E761AA5A2976}"/>
              </a:ext>
            </a:extLst>
          </p:cNvPr>
          <p:cNvSpPr>
            <a:spLocks noGrp="1"/>
          </p:cNvSpPr>
          <p:nvPr>
            <p:ph type="dt" sz="half" idx="6"/>
          </p:nvPr>
        </p:nvSpPr>
        <p:spPr/>
        <p:txBody>
          <a:bodyPr/>
          <a:lstStyle/>
          <a:p>
            <a:pPr marL="12700">
              <a:lnSpc>
                <a:spcPts val="1240"/>
              </a:lnSpc>
            </a:pPr>
            <a:fld id="{AE3A2DD5-BC38-4F13-A73D-963612343C85}" type="datetime1">
              <a:rPr lang="en-US" spc="-25" smtClean="0"/>
              <a:t>7/8/2026</a:t>
            </a:fld>
            <a:endParaRPr lang="en-IN" spc="-25" dirty="0"/>
          </a:p>
        </p:txBody>
      </p:sp>
      <p:sp>
        <p:nvSpPr>
          <p:cNvPr id="4" name="Footer Placeholder 3">
            <a:extLst>
              <a:ext uri="{FF2B5EF4-FFF2-40B4-BE49-F238E27FC236}">
                <a16:creationId xmlns:a16="http://schemas.microsoft.com/office/drawing/2014/main" id="{19254C5B-14B6-4809-B7FA-478F966AB55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C96089-F7C7-D378-CF75-41FD3C1E050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FAC6983-DD70-D50E-CF92-E247D2A94D51}"/>
              </a:ext>
            </a:extLst>
          </p:cNvPr>
          <p:cNvSpPr txBox="1"/>
          <p:nvPr/>
        </p:nvSpPr>
        <p:spPr>
          <a:xfrm>
            <a:off x="1447800" y="1077213"/>
            <a:ext cx="10668000" cy="2287165"/>
          </a:xfrm>
          <a:prstGeom prst="rect">
            <a:avLst/>
          </a:prstGeom>
        </p:spPr>
        <p:txBody>
          <a:bodyPr vert="horz" wrap="square" lIns="0" tIns="12065" rIns="0" bIns="0" rtlCol="0">
            <a:spAutoFit/>
          </a:bodyPr>
          <a:lstStyle/>
          <a:p>
            <a:r>
              <a:rPr lang="en-US" sz="2000" dirty="0">
                <a:latin typeface="Times New Roman" pitchFamily="18" charset="0"/>
                <a:cs typeface="Times New Roman" pitchFamily="18" charset="0"/>
              </a:rPr>
              <a:t>3. We then see unvisited adjacent node from S. </a:t>
            </a:r>
          </a:p>
          <a:p>
            <a:r>
              <a:rPr lang="en-US" sz="2000" dirty="0">
                <a:latin typeface="Times New Roman" pitchFamily="18" charset="0"/>
                <a:cs typeface="Times New Roman" pitchFamily="18" charset="0"/>
              </a:rPr>
              <a:t>	In this example, we have three nodes but 	</a:t>
            </a:r>
          </a:p>
          <a:p>
            <a:r>
              <a:rPr lang="en-US" sz="2000" dirty="0">
                <a:latin typeface="Times New Roman" pitchFamily="18" charset="0"/>
                <a:cs typeface="Times New Roman" pitchFamily="18" charset="0"/>
              </a:rPr>
              <a:t>              alphabetically we choose A mark it visited and enqueue it</a:t>
            </a:r>
          </a:p>
          <a:p>
            <a:r>
              <a:rPr lang="en-US" sz="2000" b="1" dirty="0">
                <a:latin typeface="Times New Roman" panose="02020603050405020304" pitchFamily="18" charset="0"/>
                <a:cs typeface="Times New Roman" panose="02020603050405020304" pitchFamily="18" charset="0"/>
              </a:rPr>
              <a:t>                         Output – S - A</a:t>
            </a:r>
          </a:p>
          <a:p>
            <a:r>
              <a:rPr lang="en-US" sz="1600" dirty="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E7F85388-F509-D79B-33DE-16E16430D678}"/>
              </a:ext>
            </a:extLst>
          </p:cNvPr>
          <p:cNvPicPr/>
          <p:nvPr/>
        </p:nvPicPr>
        <p:blipFill>
          <a:blip r:embed="rId2" cstate="print"/>
          <a:stretch>
            <a:fillRect/>
          </a:stretch>
        </p:blipFill>
        <p:spPr>
          <a:xfrm>
            <a:off x="107372" y="25"/>
            <a:ext cx="2254827" cy="947267"/>
          </a:xfrm>
          <a:prstGeom prst="rect">
            <a:avLst/>
          </a:prstGeom>
        </p:spPr>
      </p:pic>
      <p:pic>
        <p:nvPicPr>
          <p:cNvPr id="10" name="Picture 2">
            <a:extLst>
              <a:ext uri="{FF2B5EF4-FFF2-40B4-BE49-F238E27FC236}">
                <a16:creationId xmlns:a16="http://schemas.microsoft.com/office/drawing/2014/main" id="{77EAACE0-1AAD-57AF-CE82-C38B71346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590800"/>
            <a:ext cx="5638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5072C96D-2F6E-4788-B6E0-0B6E8AB7631D}"/>
              </a:ext>
            </a:extLst>
          </p:cNvPr>
          <p:cNvSpPr>
            <a:spLocks noGrp="1"/>
          </p:cNvSpPr>
          <p:nvPr>
            <p:ph type="dt" sz="half" idx="6"/>
          </p:nvPr>
        </p:nvSpPr>
        <p:spPr/>
        <p:txBody>
          <a:bodyPr/>
          <a:lstStyle/>
          <a:p>
            <a:pPr marL="12700">
              <a:lnSpc>
                <a:spcPts val="1240"/>
              </a:lnSpc>
            </a:pPr>
            <a:fld id="{0042AA8B-4942-433D-859F-601A4D2C36E3}" type="datetime1">
              <a:rPr lang="en-US" spc="-25" smtClean="0"/>
              <a:t>7/8/2026</a:t>
            </a:fld>
            <a:endParaRPr lang="en-IN" spc="-25" dirty="0"/>
          </a:p>
        </p:txBody>
      </p:sp>
      <p:sp>
        <p:nvSpPr>
          <p:cNvPr id="4" name="Footer Placeholder 3">
            <a:extLst>
              <a:ext uri="{FF2B5EF4-FFF2-40B4-BE49-F238E27FC236}">
                <a16:creationId xmlns:a16="http://schemas.microsoft.com/office/drawing/2014/main" id="{5D031EB8-E969-4D45-98DE-B112DF73027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170391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785A624-F546-0885-172F-292DFA8A503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9A6103-C0C9-813C-1E1E-4095E239815D}"/>
              </a:ext>
            </a:extLst>
          </p:cNvPr>
          <p:cNvSpPr txBox="1"/>
          <p:nvPr/>
        </p:nvSpPr>
        <p:spPr>
          <a:xfrm>
            <a:off x="1676400" y="1077213"/>
            <a:ext cx="10439400" cy="1979388"/>
          </a:xfrm>
          <a:prstGeom prst="rect">
            <a:avLst/>
          </a:prstGeom>
        </p:spPr>
        <p:txBody>
          <a:bodyPr vert="horz" wrap="square" lIns="0" tIns="12065" rIns="0" bIns="0" rtlCol="0">
            <a:spAutoFit/>
          </a:bodyPr>
          <a:lstStyle/>
          <a:p>
            <a:r>
              <a:rPr lang="en-US" sz="2000" dirty="0">
                <a:latin typeface="Times New Roman" pitchFamily="18" charset="0"/>
                <a:cs typeface="Times New Roman" pitchFamily="18" charset="0"/>
              </a:rPr>
              <a:t>4. Next unvisited adjacent node from S is B. </a:t>
            </a:r>
          </a:p>
          <a:p>
            <a:r>
              <a:rPr lang="en-US" sz="2000" dirty="0">
                <a:latin typeface="Times New Roman" pitchFamily="18" charset="0"/>
                <a:cs typeface="Times New Roman" pitchFamily="18" charset="0"/>
              </a:rPr>
              <a:t>	We mark it visited and enqueue it.</a:t>
            </a:r>
          </a:p>
          <a:p>
            <a:r>
              <a:rPr lang="en-US" sz="2000" b="1" dirty="0">
                <a:latin typeface="Times New Roman" panose="02020603050405020304" pitchFamily="18" charset="0"/>
                <a:cs typeface="Times New Roman" panose="02020603050405020304" pitchFamily="18" charset="0"/>
              </a:rPr>
              <a:t>                         Output – S – A – B </a:t>
            </a:r>
          </a:p>
          <a:p>
            <a:r>
              <a:rPr lang="en-US" sz="1600" dirty="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3B6F74B0-5224-95E6-1E71-055A7E5E280D}"/>
              </a:ext>
            </a:extLst>
          </p:cNvPr>
          <p:cNvPicPr/>
          <p:nvPr/>
        </p:nvPicPr>
        <p:blipFill>
          <a:blip r:embed="rId2" cstate="print"/>
          <a:stretch>
            <a:fillRect/>
          </a:stretch>
        </p:blipFill>
        <p:spPr>
          <a:xfrm>
            <a:off x="107372" y="25"/>
            <a:ext cx="2254827" cy="947267"/>
          </a:xfrm>
          <a:prstGeom prst="rect">
            <a:avLst/>
          </a:prstGeom>
        </p:spPr>
      </p:pic>
      <p:pic>
        <p:nvPicPr>
          <p:cNvPr id="9" name="Picture 2">
            <a:extLst>
              <a:ext uri="{FF2B5EF4-FFF2-40B4-BE49-F238E27FC236}">
                <a16:creationId xmlns:a16="http://schemas.microsoft.com/office/drawing/2014/main" id="{DEB24B87-55D0-0418-E231-77D5EB4D2C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438400"/>
            <a:ext cx="4800600" cy="2848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6FCC8E2F-2B4C-45F9-8460-65DC35CF200F}"/>
              </a:ext>
            </a:extLst>
          </p:cNvPr>
          <p:cNvSpPr>
            <a:spLocks noGrp="1"/>
          </p:cNvSpPr>
          <p:nvPr>
            <p:ph type="dt" sz="half" idx="6"/>
          </p:nvPr>
        </p:nvSpPr>
        <p:spPr/>
        <p:txBody>
          <a:bodyPr/>
          <a:lstStyle/>
          <a:p>
            <a:pPr marL="12700">
              <a:lnSpc>
                <a:spcPts val="1240"/>
              </a:lnSpc>
            </a:pPr>
            <a:fld id="{3A43A559-B8EF-4D93-AFCE-A88A52855E6E}" type="datetime1">
              <a:rPr lang="en-US" spc="-25" smtClean="0"/>
              <a:t>7/8/2026</a:t>
            </a:fld>
            <a:endParaRPr lang="en-IN" spc="-25" dirty="0"/>
          </a:p>
        </p:txBody>
      </p:sp>
      <p:sp>
        <p:nvSpPr>
          <p:cNvPr id="4" name="Footer Placeholder 3">
            <a:extLst>
              <a:ext uri="{FF2B5EF4-FFF2-40B4-BE49-F238E27FC236}">
                <a16:creationId xmlns:a16="http://schemas.microsoft.com/office/drawing/2014/main" id="{F5C88655-422E-430A-B6EA-1AA20AEFF16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373552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18FCC8-1E8F-E280-F09E-89E9F8192A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8AFD21C-72E5-EEFD-EBE2-07397C387ACA}"/>
              </a:ext>
            </a:extLst>
          </p:cNvPr>
          <p:cNvSpPr txBox="1"/>
          <p:nvPr/>
        </p:nvSpPr>
        <p:spPr>
          <a:xfrm>
            <a:off x="1752600" y="1077213"/>
            <a:ext cx="10363200" cy="2102499"/>
          </a:xfrm>
          <a:prstGeom prst="rect">
            <a:avLst/>
          </a:prstGeom>
        </p:spPr>
        <p:txBody>
          <a:bodyPr vert="horz" wrap="square" lIns="0" tIns="12065" rIns="0" bIns="0" rtlCol="0">
            <a:spAutoFit/>
          </a:bodyPr>
          <a:lstStyle/>
          <a:p>
            <a:r>
              <a:rPr lang="en-US" sz="2000" dirty="0">
                <a:latin typeface="Times New Roman" pitchFamily="18" charset="0"/>
                <a:cs typeface="Times New Roman" pitchFamily="18" charset="0"/>
              </a:rPr>
              <a:t>5. Next unvisited adjacent node from S is C. </a:t>
            </a:r>
          </a:p>
          <a:p>
            <a:r>
              <a:rPr lang="en-US" sz="2000" dirty="0">
                <a:latin typeface="Times New Roman" pitchFamily="18" charset="0"/>
                <a:cs typeface="Times New Roman" pitchFamily="18" charset="0"/>
              </a:rPr>
              <a:t>	We mark it visited and enqueue it.</a:t>
            </a:r>
          </a:p>
          <a:p>
            <a:r>
              <a:rPr lang="en-US" sz="2000" b="1" dirty="0">
                <a:latin typeface="Times New Roman" panose="02020603050405020304" pitchFamily="18" charset="0"/>
                <a:cs typeface="Times New Roman" panose="02020603050405020304" pitchFamily="18" charset="0"/>
              </a:rPr>
              <a:t>                         Output – S – A – B – C  </a:t>
            </a: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07D11A0F-5781-6141-EA10-2EB2B52F846C}"/>
              </a:ext>
            </a:extLst>
          </p:cNvPr>
          <p:cNvPicPr/>
          <p:nvPr/>
        </p:nvPicPr>
        <p:blipFill>
          <a:blip r:embed="rId2" cstate="print"/>
          <a:stretch>
            <a:fillRect/>
          </a:stretch>
        </p:blipFill>
        <p:spPr>
          <a:xfrm>
            <a:off x="107372" y="25"/>
            <a:ext cx="2254827" cy="947267"/>
          </a:xfrm>
          <a:prstGeom prst="rect">
            <a:avLst/>
          </a:prstGeom>
        </p:spPr>
      </p:pic>
      <p:pic>
        <p:nvPicPr>
          <p:cNvPr id="10" name="Picture 2">
            <a:extLst>
              <a:ext uri="{FF2B5EF4-FFF2-40B4-BE49-F238E27FC236}">
                <a16:creationId xmlns:a16="http://schemas.microsoft.com/office/drawing/2014/main" id="{0BACF266-18BE-0D4C-D042-BE4C4E415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667000"/>
            <a:ext cx="4864411" cy="2886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56EAD20D-8760-4BC0-B209-C9F3669AE3BC}"/>
              </a:ext>
            </a:extLst>
          </p:cNvPr>
          <p:cNvSpPr>
            <a:spLocks noGrp="1"/>
          </p:cNvSpPr>
          <p:nvPr>
            <p:ph type="dt" sz="half" idx="6"/>
          </p:nvPr>
        </p:nvSpPr>
        <p:spPr/>
        <p:txBody>
          <a:bodyPr/>
          <a:lstStyle/>
          <a:p>
            <a:pPr marL="12700">
              <a:lnSpc>
                <a:spcPts val="1240"/>
              </a:lnSpc>
            </a:pPr>
            <a:fld id="{3AA47F5F-8E6A-4EBD-914C-594B5D715EE6}" type="datetime1">
              <a:rPr lang="en-US" spc="-25" smtClean="0"/>
              <a:t>7/8/2026</a:t>
            </a:fld>
            <a:endParaRPr lang="en-IN" spc="-25" dirty="0"/>
          </a:p>
        </p:txBody>
      </p:sp>
      <p:sp>
        <p:nvSpPr>
          <p:cNvPr id="4" name="Footer Placeholder 3">
            <a:extLst>
              <a:ext uri="{FF2B5EF4-FFF2-40B4-BE49-F238E27FC236}">
                <a16:creationId xmlns:a16="http://schemas.microsoft.com/office/drawing/2014/main" id="{3F74DE3A-5316-414D-B67E-4996F211B65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2947282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8EED21F-97BE-8B80-BB4A-64FD6062C5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C44077-A3D7-2F56-9A6D-9BE05B36EB32}"/>
              </a:ext>
            </a:extLst>
          </p:cNvPr>
          <p:cNvSpPr txBox="1"/>
          <p:nvPr/>
        </p:nvSpPr>
        <p:spPr>
          <a:xfrm>
            <a:off x="1600200" y="1077213"/>
            <a:ext cx="10515600" cy="2040943"/>
          </a:xfrm>
          <a:prstGeom prst="rect">
            <a:avLst/>
          </a:prstGeom>
        </p:spPr>
        <p:txBody>
          <a:bodyPr vert="horz" wrap="square" lIns="0" tIns="12065" rIns="0" bIns="0" rtlCol="0">
            <a:spAutoFit/>
          </a:bodyPr>
          <a:lstStyle/>
          <a:p>
            <a:r>
              <a:rPr lang="en-US" sz="2000" dirty="0">
                <a:latin typeface="Times New Roman" pitchFamily="18" charset="0"/>
                <a:cs typeface="Times New Roman" pitchFamily="18" charset="0"/>
              </a:rPr>
              <a:t>6. Now </a:t>
            </a:r>
            <a:r>
              <a:rPr lang="en-US" sz="2000" b="1" dirty="0">
                <a:latin typeface="Times New Roman" pitchFamily="18" charset="0"/>
                <a:cs typeface="Times New Roman" pitchFamily="18" charset="0"/>
              </a:rPr>
              <a:t>S</a:t>
            </a:r>
            <a:r>
              <a:rPr lang="en-US" sz="2000" dirty="0">
                <a:latin typeface="Times New Roman" pitchFamily="18" charset="0"/>
                <a:cs typeface="Times New Roman" pitchFamily="18" charset="0"/>
              </a:rPr>
              <a:t> is left with no unvisited adjacent nodes. 	</a:t>
            </a:r>
          </a:p>
          <a:p>
            <a:r>
              <a:rPr lang="en-US" sz="2000" dirty="0">
                <a:latin typeface="Times New Roman" pitchFamily="18" charset="0"/>
                <a:cs typeface="Times New Roman" pitchFamily="18" charset="0"/>
              </a:rPr>
              <a:t>    So we dequeue and find </a:t>
            </a:r>
            <a:r>
              <a:rPr lang="en-US" sz="2000" b="1" dirty="0">
                <a:latin typeface="Times New Roman" pitchFamily="18" charset="0"/>
                <a:cs typeface="Times New Roman" pitchFamily="18" charset="0"/>
              </a:rPr>
              <a:t>A</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7CC870FD-CD79-98BF-E1AB-2F1EEE862142}"/>
              </a:ext>
            </a:extLst>
          </p:cNvPr>
          <p:cNvPicPr/>
          <p:nvPr/>
        </p:nvPicPr>
        <p:blipFill>
          <a:blip r:embed="rId2" cstate="print"/>
          <a:stretch>
            <a:fillRect/>
          </a:stretch>
        </p:blipFill>
        <p:spPr>
          <a:xfrm>
            <a:off x="107372" y="25"/>
            <a:ext cx="2254827" cy="947267"/>
          </a:xfrm>
          <a:prstGeom prst="rect">
            <a:avLst/>
          </a:prstGeom>
        </p:spPr>
      </p:pic>
      <p:pic>
        <p:nvPicPr>
          <p:cNvPr id="11" name="Picture 2">
            <a:extLst>
              <a:ext uri="{FF2B5EF4-FFF2-40B4-BE49-F238E27FC236}">
                <a16:creationId xmlns:a16="http://schemas.microsoft.com/office/drawing/2014/main" id="{84B1F3B5-0E24-EC18-DDD1-601379846D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2097684"/>
            <a:ext cx="4366517"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8259DF6F-1ECB-4266-B732-E84CFDA6500E}"/>
              </a:ext>
            </a:extLst>
          </p:cNvPr>
          <p:cNvSpPr>
            <a:spLocks noGrp="1"/>
          </p:cNvSpPr>
          <p:nvPr>
            <p:ph type="dt" sz="half" idx="6"/>
          </p:nvPr>
        </p:nvSpPr>
        <p:spPr/>
        <p:txBody>
          <a:bodyPr/>
          <a:lstStyle/>
          <a:p>
            <a:pPr marL="12700">
              <a:lnSpc>
                <a:spcPts val="1240"/>
              </a:lnSpc>
            </a:pPr>
            <a:fld id="{2E59FDBE-9253-49DA-8A50-CDECB2A44E60}" type="datetime1">
              <a:rPr lang="en-US" spc="-25" smtClean="0"/>
              <a:t>7/8/2026</a:t>
            </a:fld>
            <a:endParaRPr lang="en-IN" spc="-25" dirty="0"/>
          </a:p>
        </p:txBody>
      </p:sp>
      <p:sp>
        <p:nvSpPr>
          <p:cNvPr id="4" name="Footer Placeholder 3">
            <a:extLst>
              <a:ext uri="{FF2B5EF4-FFF2-40B4-BE49-F238E27FC236}">
                <a16:creationId xmlns:a16="http://schemas.microsoft.com/office/drawing/2014/main" id="{66836F21-A4EE-476D-ABAE-D2DBB26546CD}"/>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9877688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32BBFF-C588-5115-0C49-62AD739518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8BE740-74E9-1E74-41A0-B5981BC5B767}"/>
              </a:ext>
            </a:extLst>
          </p:cNvPr>
          <p:cNvSpPr txBox="1"/>
          <p:nvPr/>
        </p:nvSpPr>
        <p:spPr>
          <a:xfrm>
            <a:off x="1447800" y="1077213"/>
            <a:ext cx="9829800" cy="2040943"/>
          </a:xfrm>
          <a:prstGeom prst="rect">
            <a:avLst/>
          </a:prstGeom>
        </p:spPr>
        <p:txBody>
          <a:bodyPr vert="horz" wrap="square" lIns="0" tIns="12065" rIns="0" bIns="0" rtlCol="0">
            <a:spAutoFit/>
          </a:bodyPr>
          <a:lstStyle/>
          <a:p>
            <a:r>
              <a:rPr lang="en-US" sz="2000" dirty="0">
                <a:latin typeface="Times New Roman" pitchFamily="18" charset="0"/>
                <a:cs typeface="Times New Roman" pitchFamily="18" charset="0"/>
              </a:rPr>
              <a:t>6. Now </a:t>
            </a:r>
            <a:r>
              <a:rPr lang="en-US" sz="2000" b="1" dirty="0">
                <a:latin typeface="Times New Roman" pitchFamily="18" charset="0"/>
                <a:cs typeface="Times New Roman" pitchFamily="18" charset="0"/>
              </a:rPr>
              <a:t>S</a:t>
            </a:r>
            <a:r>
              <a:rPr lang="en-US" sz="2000" dirty="0">
                <a:latin typeface="Times New Roman" pitchFamily="18" charset="0"/>
                <a:cs typeface="Times New Roman" pitchFamily="18" charset="0"/>
              </a:rPr>
              <a:t> is left with no unvisited adjacent nodes. 	</a:t>
            </a:r>
          </a:p>
          <a:p>
            <a:r>
              <a:rPr lang="en-US" sz="2000" dirty="0">
                <a:latin typeface="Times New Roman" pitchFamily="18" charset="0"/>
                <a:cs typeface="Times New Roman" pitchFamily="18" charset="0"/>
              </a:rPr>
              <a:t>    So we dequeue and find </a:t>
            </a:r>
            <a:r>
              <a:rPr lang="en-US" sz="2000" b="1" dirty="0">
                <a:latin typeface="Times New Roman" pitchFamily="18" charset="0"/>
                <a:cs typeface="Times New Roman" pitchFamily="18" charset="0"/>
              </a:rPr>
              <a:t>A</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143C0323-674E-C0A2-0EA0-591BE9FC1A07}"/>
              </a:ext>
            </a:extLst>
          </p:cNvPr>
          <p:cNvPicPr/>
          <p:nvPr/>
        </p:nvPicPr>
        <p:blipFill>
          <a:blip r:embed="rId2" cstate="print"/>
          <a:stretch>
            <a:fillRect/>
          </a:stretch>
        </p:blipFill>
        <p:spPr>
          <a:xfrm>
            <a:off x="107372" y="25"/>
            <a:ext cx="2254827" cy="947267"/>
          </a:xfrm>
          <a:prstGeom prst="rect">
            <a:avLst/>
          </a:prstGeom>
        </p:spPr>
      </p:pic>
      <p:pic>
        <p:nvPicPr>
          <p:cNvPr id="11" name="Picture 2">
            <a:extLst>
              <a:ext uri="{FF2B5EF4-FFF2-40B4-BE49-F238E27FC236}">
                <a16:creationId xmlns:a16="http://schemas.microsoft.com/office/drawing/2014/main" id="{5242BAED-AE44-41E3-F64E-3086334528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127536"/>
            <a:ext cx="4366517"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C1D2A297-158C-4611-9B1C-F0EA2AB10530}"/>
              </a:ext>
            </a:extLst>
          </p:cNvPr>
          <p:cNvSpPr>
            <a:spLocks noGrp="1"/>
          </p:cNvSpPr>
          <p:nvPr>
            <p:ph type="dt" sz="half" idx="6"/>
          </p:nvPr>
        </p:nvSpPr>
        <p:spPr/>
        <p:txBody>
          <a:bodyPr/>
          <a:lstStyle/>
          <a:p>
            <a:pPr marL="12700">
              <a:lnSpc>
                <a:spcPts val="1240"/>
              </a:lnSpc>
            </a:pPr>
            <a:fld id="{937573C6-6A45-4F2C-B536-E1FF173F711F}" type="datetime1">
              <a:rPr lang="en-US" spc="-25" smtClean="0"/>
              <a:t>7/8/2026</a:t>
            </a:fld>
            <a:endParaRPr lang="en-IN" spc="-25" dirty="0"/>
          </a:p>
        </p:txBody>
      </p:sp>
      <p:sp>
        <p:nvSpPr>
          <p:cNvPr id="4" name="Footer Placeholder 3">
            <a:extLst>
              <a:ext uri="{FF2B5EF4-FFF2-40B4-BE49-F238E27FC236}">
                <a16:creationId xmlns:a16="http://schemas.microsoft.com/office/drawing/2014/main" id="{46882AE1-D8A1-48A4-A85E-01A8FB83B7ED}"/>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835726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2F10AE-BD4F-E0D9-D55D-D218B2AC07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2C24F1-6FA1-92DB-0BFF-7D1E5E87FBB1}"/>
              </a:ext>
            </a:extLst>
          </p:cNvPr>
          <p:cNvSpPr txBox="1"/>
          <p:nvPr/>
        </p:nvSpPr>
        <p:spPr>
          <a:xfrm>
            <a:off x="1752600" y="1077213"/>
            <a:ext cx="8839200" cy="6657592"/>
          </a:xfrm>
          <a:prstGeom prst="rect">
            <a:avLst/>
          </a:prstGeom>
        </p:spPr>
        <p:txBody>
          <a:bodyPr vert="horz" wrap="square" lIns="0" tIns="12065" rIns="0" bIns="0" rtlCol="0">
            <a:spAutoFit/>
          </a:bodyPr>
          <a:lstStyle/>
          <a:p>
            <a:pPr marL="457200" indent="-457200">
              <a:buAutoNum type="arabicPeriod" startAt="7"/>
            </a:pPr>
            <a:r>
              <a:rPr lang="en-US" sz="2000" dirty="0">
                <a:latin typeface="Times New Roman" pitchFamily="18" charset="0"/>
                <a:cs typeface="Times New Roman" pitchFamily="18" charset="0"/>
              </a:rPr>
              <a:t>From A we have D as unvisited adjacent node. 	</a:t>
            </a:r>
          </a:p>
          <a:p>
            <a:r>
              <a:rPr lang="en-US" sz="2000" dirty="0">
                <a:latin typeface="Times New Roman" pitchFamily="18" charset="0"/>
                <a:cs typeface="Times New Roman" pitchFamily="18" charset="0"/>
              </a:rPr>
              <a:t>          We mark it visited and enqueue it.</a:t>
            </a:r>
          </a:p>
          <a:p>
            <a:r>
              <a:rPr lang="en-US" sz="2000" dirty="0">
                <a:latin typeface="Times New Roman" pitchFamily="18" charset="0"/>
                <a:cs typeface="Times New Roman" pitchFamily="18" charset="0"/>
              </a:rPr>
              <a:t>  </a:t>
            </a:r>
          </a:p>
          <a:p>
            <a:r>
              <a:rPr lang="en-US" sz="2000" b="1" dirty="0">
                <a:latin typeface="Times New Roman" panose="02020603050405020304" pitchFamily="18" charset="0"/>
                <a:cs typeface="Times New Roman" panose="02020603050405020304" pitchFamily="18" charset="0"/>
              </a:rPr>
              <a:t>Output – S – A – B – C – D   </a:t>
            </a: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itchFamily="18" charset="0"/>
                <a:cs typeface="Times New Roman" pitchFamily="18" charset="0"/>
              </a:rPr>
              <a:t>8. At this stage we are left with no unmarked (unvisited) nodes. But as per algorithm we keep on dequeuing in order to get all unvisited nodes. </a:t>
            </a:r>
          </a:p>
          <a:p>
            <a:pPr marL="342900" indent="-342900">
              <a:buFont typeface="Arial" pitchFamily="34" charset="0"/>
              <a:buChar char="•"/>
            </a:pPr>
            <a:r>
              <a:rPr lang="en-US" sz="2000" i="1" dirty="0">
                <a:latin typeface="Times New Roman" pitchFamily="18" charset="0"/>
                <a:cs typeface="Times New Roman" pitchFamily="18" charset="0"/>
              </a:rPr>
              <a:t>When the queue gets emptied the program is over.</a:t>
            </a:r>
            <a:endParaRPr lang="en-US" sz="2000" b="1" dirty="0">
              <a:latin typeface="Times New Roman" panose="02020603050405020304" pitchFamily="18" charset="0"/>
              <a:cs typeface="Times New Roman" panose="02020603050405020304"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3DF93A75-2594-70F3-A066-D0231C2203E8}"/>
              </a:ext>
            </a:extLst>
          </p:cNvPr>
          <p:cNvPicPr/>
          <p:nvPr/>
        </p:nvPicPr>
        <p:blipFill>
          <a:blip r:embed="rId2" cstate="print"/>
          <a:stretch>
            <a:fillRect/>
          </a:stretch>
        </p:blipFill>
        <p:spPr>
          <a:xfrm>
            <a:off x="107372" y="25"/>
            <a:ext cx="2254827" cy="947267"/>
          </a:xfrm>
          <a:prstGeom prst="rect">
            <a:avLst/>
          </a:prstGeom>
        </p:spPr>
      </p:pic>
      <p:pic>
        <p:nvPicPr>
          <p:cNvPr id="9" name="Picture 2">
            <a:extLst>
              <a:ext uri="{FF2B5EF4-FFF2-40B4-BE49-F238E27FC236}">
                <a16:creationId xmlns:a16="http://schemas.microsoft.com/office/drawing/2014/main" id="{380B7995-51C6-B8D9-1D67-4CB0D813E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828800"/>
            <a:ext cx="488022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7E75D8FE-7DEB-4B88-B627-B93A3239199A}"/>
              </a:ext>
            </a:extLst>
          </p:cNvPr>
          <p:cNvSpPr>
            <a:spLocks noGrp="1"/>
          </p:cNvSpPr>
          <p:nvPr>
            <p:ph type="dt" sz="half" idx="6"/>
          </p:nvPr>
        </p:nvSpPr>
        <p:spPr/>
        <p:txBody>
          <a:bodyPr/>
          <a:lstStyle/>
          <a:p>
            <a:pPr marL="12700">
              <a:lnSpc>
                <a:spcPts val="1240"/>
              </a:lnSpc>
            </a:pPr>
            <a:fld id="{BA8FB2E7-3B69-43BE-BF4B-8FBCA1E54EE2}" type="datetime1">
              <a:rPr lang="en-US" spc="-25" smtClean="0"/>
              <a:t>7/8/2026</a:t>
            </a:fld>
            <a:endParaRPr lang="en-IN" spc="-25" dirty="0"/>
          </a:p>
        </p:txBody>
      </p:sp>
      <p:sp>
        <p:nvSpPr>
          <p:cNvPr id="4" name="Footer Placeholder 3">
            <a:extLst>
              <a:ext uri="{FF2B5EF4-FFF2-40B4-BE49-F238E27FC236}">
                <a16:creationId xmlns:a16="http://schemas.microsoft.com/office/drawing/2014/main" id="{FEF52D54-5035-43FA-BBFA-2765EE265B6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1658825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0FC280-6974-AF8C-262E-DFADC69AFE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64DE91-3F47-CA83-F49F-02E6F905CBF8}"/>
              </a:ext>
            </a:extLst>
          </p:cNvPr>
          <p:cNvSpPr txBox="1"/>
          <p:nvPr/>
        </p:nvSpPr>
        <p:spPr>
          <a:xfrm>
            <a:off x="1447800" y="1077213"/>
            <a:ext cx="8763000" cy="5362365"/>
          </a:xfrm>
          <a:prstGeom prst="rect">
            <a:avLst/>
          </a:prstGeom>
        </p:spPr>
        <p:txBody>
          <a:bodyPr vert="horz" wrap="square" lIns="0" tIns="12065" rIns="0" bIns="0" rtlCol="0">
            <a:spAutoFit/>
          </a:bodyPr>
          <a:lstStyle/>
          <a:p>
            <a:pPr algn="l">
              <a:spcBef>
                <a:spcPts val="750"/>
              </a:spcBef>
              <a:spcAft>
                <a:spcPts val="600"/>
              </a:spcAft>
            </a:pPr>
            <a:r>
              <a:rPr lang="en-US" sz="2000" b="1" i="0" dirty="0">
                <a:solidFill>
                  <a:srgbClr val="001D35"/>
                </a:solidFill>
                <a:effectLst/>
                <a:latin typeface="Times New Roman" panose="02020603050405020304" pitchFamily="18" charset="0"/>
                <a:cs typeface="Times New Roman" panose="02020603050405020304" pitchFamily="18" charset="0"/>
              </a:rPr>
              <a:t>Initialization:</a:t>
            </a:r>
            <a:endParaRPr lang="en-US" sz="2000" b="0" i="0" dirty="0">
              <a:solidFill>
                <a:srgbClr val="001D35"/>
              </a:solidFill>
              <a:effectLst/>
              <a:latin typeface="Times New Roman" panose="02020603050405020304" pitchFamily="18" charset="0"/>
              <a:cs typeface="Times New Roman" panose="02020603050405020304" pitchFamily="18" charset="0"/>
            </a:endParaRPr>
          </a:p>
          <a:p>
            <a:pPr marL="742950" lvl="1" indent="-285750" algn="l">
              <a:spcBef>
                <a:spcPts val="750"/>
              </a:spcBef>
              <a:spcAft>
                <a:spcPts val="6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Create a queue (FIFO) to store vertices to be visited.</a:t>
            </a:r>
          </a:p>
          <a:p>
            <a:pPr marL="742950" lvl="1" indent="-285750" algn="l" fontAlgn="ctr">
              <a:spcBef>
                <a:spcPts val="750"/>
              </a:spcBef>
              <a:spcAft>
                <a:spcPts val="15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Mark the starting vertex as visited and enqueue it. </a:t>
            </a:r>
          </a:p>
          <a:p>
            <a:pPr algn="l">
              <a:spcBef>
                <a:spcPts val="750"/>
              </a:spcBef>
              <a:spcAft>
                <a:spcPts val="1500"/>
              </a:spcAft>
            </a:pPr>
            <a:r>
              <a:rPr lang="en-US" sz="2000" b="1" i="0" dirty="0">
                <a:solidFill>
                  <a:srgbClr val="001D35"/>
                </a:solidFill>
                <a:effectLst/>
                <a:latin typeface="Times New Roman" panose="02020603050405020304" pitchFamily="18" charset="0"/>
                <a:cs typeface="Times New Roman" panose="02020603050405020304" pitchFamily="18" charset="0"/>
              </a:rPr>
              <a:t>Iteration:</a:t>
            </a:r>
            <a:endParaRPr lang="en-US" sz="2000" b="0" i="0" dirty="0">
              <a:solidFill>
                <a:srgbClr val="001D35"/>
              </a:solidFill>
              <a:effectLst/>
              <a:latin typeface="Times New Roman" panose="02020603050405020304" pitchFamily="18" charset="0"/>
              <a:cs typeface="Times New Roman" panose="02020603050405020304" pitchFamily="18" charset="0"/>
            </a:endParaRPr>
          </a:p>
          <a:p>
            <a:pPr marL="742950" lvl="1" indent="-285750" algn="l">
              <a:spcBef>
                <a:spcPts val="750"/>
              </a:spcBef>
              <a:spcAft>
                <a:spcPts val="15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While the queue is not empty:</a:t>
            </a:r>
          </a:p>
          <a:p>
            <a:pPr marL="1143000" lvl="2" indent="-228600" algn="l" fontAlgn="ctr">
              <a:spcBef>
                <a:spcPts val="750"/>
              </a:spcBef>
              <a:spcAft>
                <a:spcPts val="6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Dequeue a vertex (let's call it 'u'). </a:t>
            </a:r>
          </a:p>
          <a:p>
            <a:pPr marL="1143000" lvl="2" indent="-228600" algn="l">
              <a:spcBef>
                <a:spcPts val="750"/>
              </a:spcBef>
              <a:spcAft>
                <a:spcPts val="15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For each unvisited neighbor 'v' of 'u':</a:t>
            </a:r>
          </a:p>
          <a:p>
            <a:pPr marL="1600200" lvl="3" indent="-228600" algn="l" fontAlgn="ctr">
              <a:spcBef>
                <a:spcPts val="750"/>
              </a:spcBef>
              <a:spcAft>
                <a:spcPts val="6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Mark 'v' as visited.</a:t>
            </a:r>
          </a:p>
          <a:p>
            <a:pPr marL="1600200" lvl="3" indent="-228600" algn="l" fontAlgn="ctr">
              <a:spcBef>
                <a:spcPts val="750"/>
              </a:spcBef>
              <a:spcAft>
                <a:spcPts val="1500"/>
              </a:spcAft>
              <a:buFont typeface="Arial" panose="020B0604020202020204" pitchFamily="34" charset="0"/>
              <a:buChar char="•"/>
            </a:pPr>
            <a:r>
              <a:rPr lang="en-US" sz="2000" b="0" i="0" dirty="0">
                <a:solidFill>
                  <a:srgbClr val="001D35"/>
                </a:solidFill>
                <a:effectLst/>
                <a:latin typeface="Times New Roman" panose="02020603050405020304" pitchFamily="18" charset="0"/>
                <a:cs typeface="Times New Roman" panose="02020603050405020304" pitchFamily="18" charset="0"/>
              </a:rPr>
              <a:t>Enqueue 'v'.</a:t>
            </a:r>
            <a:endParaRPr lang="en-US" sz="2000" dirty="0">
              <a:latin typeface="Times New Roman" panose="02020603050405020304"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A7BBC5EF-06DC-1C6A-8CDB-3755C5811A53}"/>
              </a:ext>
            </a:extLst>
          </p:cNvPr>
          <p:cNvPicPr/>
          <p:nvPr/>
        </p:nvPicPr>
        <p:blipFill>
          <a:blip r:embed="rId2" cstate="print"/>
          <a:stretch>
            <a:fillRect/>
          </a:stretch>
        </p:blipFill>
        <p:spPr>
          <a:xfrm>
            <a:off x="107372" y="25"/>
            <a:ext cx="2254827" cy="94726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13008"/>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itchFamily="18" charset="0"/>
                <a:cs typeface="Times New Roman" pitchFamily="18" charset="0"/>
              </a:rPr>
              <a:t>BFS Example</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4C6EB55F-4BEF-4728-8B77-2E59DFC4EBD2}"/>
              </a:ext>
            </a:extLst>
          </p:cNvPr>
          <p:cNvSpPr>
            <a:spLocks noGrp="1"/>
          </p:cNvSpPr>
          <p:nvPr>
            <p:ph type="dt" sz="half" idx="6"/>
          </p:nvPr>
        </p:nvSpPr>
        <p:spPr/>
        <p:txBody>
          <a:bodyPr/>
          <a:lstStyle/>
          <a:p>
            <a:pPr marL="12700">
              <a:lnSpc>
                <a:spcPts val="1240"/>
              </a:lnSpc>
            </a:pPr>
            <a:fld id="{9874DA2C-AB75-470E-8DB0-AE3312B8E18E}" type="datetime1">
              <a:rPr lang="en-US" spc="-25" smtClean="0"/>
              <a:t>7/8/2026</a:t>
            </a:fld>
            <a:endParaRPr lang="en-IN" spc="-25" dirty="0"/>
          </a:p>
        </p:txBody>
      </p:sp>
      <p:sp>
        <p:nvSpPr>
          <p:cNvPr id="4" name="Footer Placeholder 3">
            <a:extLst>
              <a:ext uri="{FF2B5EF4-FFF2-40B4-BE49-F238E27FC236}">
                <a16:creationId xmlns:a16="http://schemas.microsoft.com/office/drawing/2014/main" id="{9BA578F0-35BF-496F-B081-46AB584B66A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0554256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605AB5-6E41-E5AE-0B89-B35858282B0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9566E53-1076-F749-942F-DD7DDA9B5308}"/>
              </a:ext>
            </a:extLst>
          </p:cNvPr>
          <p:cNvSpPr txBox="1"/>
          <p:nvPr/>
        </p:nvSpPr>
        <p:spPr>
          <a:xfrm>
            <a:off x="396876" y="1077213"/>
            <a:ext cx="11333356" cy="1733167"/>
          </a:xfrm>
          <a:prstGeom prst="rect">
            <a:avLst/>
          </a:prstGeom>
        </p:spPr>
        <p:txBody>
          <a:bodyPr vert="horz" wrap="square" lIns="0" tIns="12065" rIns="0" bIns="0" rtlCol="0">
            <a:spAutoFit/>
          </a:bodyPr>
          <a:lstStyle/>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sp>
        <p:nvSpPr>
          <p:cNvPr id="10" name="Text Placeholder 9">
            <a:extLst>
              <a:ext uri="{FF2B5EF4-FFF2-40B4-BE49-F238E27FC236}">
                <a16:creationId xmlns:a16="http://schemas.microsoft.com/office/drawing/2014/main" id="{2C7EB965-C223-269E-53F0-B7FF1D5A2EC9}"/>
              </a:ext>
            </a:extLst>
          </p:cNvPr>
          <p:cNvSpPr>
            <a:spLocks noGrp="1"/>
          </p:cNvSpPr>
          <p:nvPr>
            <p:ph type="body" idx="1"/>
          </p:nvPr>
        </p:nvSpPr>
        <p:spPr>
          <a:xfrm>
            <a:off x="2149093" y="1485171"/>
            <a:ext cx="6447035" cy="257117"/>
          </a:xfrm>
        </p:spPr>
        <p:txBody>
          <a:bodyPr/>
          <a:lstStyle/>
          <a:p>
            <a:endParaRPr lang="en-IN" dirty="0"/>
          </a:p>
        </p:txBody>
      </p:sp>
      <p:pic>
        <p:nvPicPr>
          <p:cNvPr id="8" name="object 8">
            <a:extLst>
              <a:ext uri="{FF2B5EF4-FFF2-40B4-BE49-F238E27FC236}">
                <a16:creationId xmlns:a16="http://schemas.microsoft.com/office/drawing/2014/main" id="{ED25F41A-93B4-4BF6-85B8-1D762C6BF63B}"/>
              </a:ext>
            </a:extLst>
          </p:cNvPr>
          <p:cNvPicPr/>
          <p:nvPr/>
        </p:nvPicPr>
        <p:blipFill>
          <a:blip r:embed="rId2" cstate="print"/>
          <a:stretch>
            <a:fillRect/>
          </a:stretch>
        </p:blipFill>
        <p:spPr>
          <a:xfrm>
            <a:off x="107372" y="25"/>
            <a:ext cx="2254827" cy="947267"/>
          </a:xfrm>
          <a:prstGeom prst="rect">
            <a:avLst/>
          </a:prstGeom>
        </p:spPr>
      </p:pic>
      <p:pic>
        <p:nvPicPr>
          <p:cNvPr id="1026" name="Picture 2">
            <a:extLst>
              <a:ext uri="{FF2B5EF4-FFF2-40B4-BE49-F238E27FC236}">
                <a16:creationId xmlns:a16="http://schemas.microsoft.com/office/drawing/2014/main" id="{A46C883E-E81A-323B-27D8-A87A324CD8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040036"/>
            <a:ext cx="10210800" cy="5360764"/>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739985" y="-14226"/>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solidFill>
                  <a:srgbClr val="273239"/>
                </a:solidFill>
                <a:latin typeface="Source Sans 3"/>
              </a:rPr>
              <a:t>Difference between   BFS and DFS</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31BD2583-7301-41E5-8395-A339CF4CA4B2}"/>
              </a:ext>
            </a:extLst>
          </p:cNvPr>
          <p:cNvSpPr>
            <a:spLocks noGrp="1"/>
          </p:cNvSpPr>
          <p:nvPr>
            <p:ph type="dt" sz="half" idx="6"/>
          </p:nvPr>
        </p:nvSpPr>
        <p:spPr/>
        <p:txBody>
          <a:bodyPr/>
          <a:lstStyle/>
          <a:p>
            <a:pPr marL="12700">
              <a:lnSpc>
                <a:spcPts val="1240"/>
              </a:lnSpc>
            </a:pPr>
            <a:fld id="{C642EB08-3657-4986-BA47-0E7B05F3BEBF}" type="datetime1">
              <a:rPr lang="en-US" spc="-25" smtClean="0"/>
              <a:t>7/8/2026</a:t>
            </a:fld>
            <a:endParaRPr lang="en-IN" spc="-25" dirty="0"/>
          </a:p>
        </p:txBody>
      </p:sp>
      <p:sp>
        <p:nvSpPr>
          <p:cNvPr id="4" name="Footer Placeholder 3">
            <a:extLst>
              <a:ext uri="{FF2B5EF4-FFF2-40B4-BE49-F238E27FC236}">
                <a16:creationId xmlns:a16="http://schemas.microsoft.com/office/drawing/2014/main" id="{973DA624-25E8-443A-807A-DF2F31C022B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3404516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D33A6C3-C006-FB6B-1BA9-DC886B58D4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09FAA75-300B-EE92-E5B3-1EA2D1EAC7F0}"/>
              </a:ext>
            </a:extLst>
          </p:cNvPr>
          <p:cNvSpPr txBox="1"/>
          <p:nvPr/>
        </p:nvSpPr>
        <p:spPr>
          <a:xfrm>
            <a:off x="396876" y="1077213"/>
            <a:ext cx="11333356" cy="1733167"/>
          </a:xfrm>
          <a:prstGeom prst="rect">
            <a:avLst/>
          </a:prstGeom>
        </p:spPr>
        <p:txBody>
          <a:bodyPr vert="horz" wrap="square" lIns="0" tIns="12065" rIns="0" bIns="0" rtlCol="0">
            <a:spAutoFit/>
          </a:bodyPr>
          <a:lstStyle/>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sp>
        <p:nvSpPr>
          <p:cNvPr id="10" name="Text Placeholder 9">
            <a:extLst>
              <a:ext uri="{FF2B5EF4-FFF2-40B4-BE49-F238E27FC236}">
                <a16:creationId xmlns:a16="http://schemas.microsoft.com/office/drawing/2014/main" id="{A477733A-9EE1-ACEC-D1C7-E6B658DC2E5C}"/>
              </a:ext>
            </a:extLst>
          </p:cNvPr>
          <p:cNvSpPr>
            <a:spLocks noGrp="1"/>
          </p:cNvSpPr>
          <p:nvPr>
            <p:ph type="body" idx="1"/>
          </p:nvPr>
        </p:nvSpPr>
        <p:spPr>
          <a:xfrm>
            <a:off x="990600" y="1485171"/>
            <a:ext cx="10515599" cy="2954655"/>
          </a:xfrm>
        </p:spPr>
        <p:txBody>
          <a:bodyPr/>
          <a:lstStyle/>
          <a:p>
            <a:r>
              <a:rPr lang="en-US" sz="2400" b="1" dirty="0">
                <a:latin typeface="Times New Roman" panose="02020603050405020304" pitchFamily="18" charset="0"/>
                <a:cs typeface="Times New Roman" panose="02020603050405020304" pitchFamily="18" charset="0"/>
              </a:rPr>
              <a:t>BFS</a:t>
            </a:r>
          </a:p>
          <a:p>
            <a:pPr>
              <a:buFont typeface="+mj-lt"/>
              <a:buAutoNum type="arabicPeriod"/>
            </a:pPr>
            <a:r>
              <a:rPr lang="en-US" sz="2400" dirty="0">
                <a:latin typeface="Times New Roman" panose="02020603050405020304" pitchFamily="18" charset="0"/>
                <a:cs typeface="Times New Roman" panose="02020603050405020304" pitchFamily="18" charset="0"/>
              </a:rPr>
              <a:t>Explores level by level using a </a:t>
            </a:r>
            <a:r>
              <a:rPr lang="en-US" sz="2400" b="1" dirty="0">
                <a:latin typeface="Times New Roman" panose="02020603050405020304" pitchFamily="18" charset="0"/>
                <a:cs typeface="Times New Roman" panose="02020603050405020304" pitchFamily="18" charset="0"/>
              </a:rPr>
              <a:t>queue</a:t>
            </a:r>
            <a:r>
              <a:rPr lang="en-US" sz="2400" dirty="0">
                <a:latin typeface="Times New Roman" panose="02020603050405020304" pitchFamily="18" charset="0"/>
                <a:cs typeface="Times New Roman" panose="02020603050405020304" pitchFamily="18" charset="0"/>
              </a:rPr>
              <a:t> (FIFO).</a:t>
            </a:r>
          </a:p>
          <a:p>
            <a:pPr>
              <a:buFont typeface="+mj-lt"/>
              <a:buAutoNum type="arabicPeriod"/>
            </a:pPr>
            <a:r>
              <a:rPr lang="en-US" sz="2400" dirty="0">
                <a:latin typeface="Times New Roman" panose="02020603050405020304" pitchFamily="18" charset="0"/>
                <a:cs typeface="Times New Roman" panose="02020603050405020304" pitchFamily="18" charset="0"/>
              </a:rPr>
              <a:t>Best for shortest paths in unweighted graphs.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DFS</a:t>
            </a:r>
          </a:p>
          <a:p>
            <a:pPr>
              <a:buFont typeface="+mj-lt"/>
              <a:buAutoNum type="arabicPeriod"/>
            </a:pPr>
            <a:r>
              <a:rPr lang="en-US" sz="2400" dirty="0">
                <a:latin typeface="Times New Roman" panose="02020603050405020304" pitchFamily="18" charset="0"/>
                <a:cs typeface="Times New Roman" panose="02020603050405020304" pitchFamily="18" charset="0"/>
              </a:rPr>
              <a:t>Explores depth-first using a </a:t>
            </a:r>
            <a:r>
              <a:rPr lang="en-US" sz="2400" b="1" dirty="0">
                <a:latin typeface="Times New Roman" panose="02020603050405020304" pitchFamily="18" charset="0"/>
                <a:cs typeface="Times New Roman" panose="02020603050405020304" pitchFamily="18" charset="0"/>
              </a:rPr>
              <a:t>stack</a:t>
            </a:r>
            <a:r>
              <a:rPr lang="en-US" sz="2400" dirty="0">
                <a:latin typeface="Times New Roman" panose="02020603050405020304" pitchFamily="18" charset="0"/>
                <a:cs typeface="Times New Roman" panose="02020603050405020304" pitchFamily="18" charset="0"/>
              </a:rPr>
              <a:t> or recursion.</a:t>
            </a:r>
          </a:p>
          <a:p>
            <a:pPr>
              <a:buFont typeface="+mj-lt"/>
              <a:buAutoNum type="arabicPeriod"/>
            </a:pPr>
            <a:r>
              <a:rPr lang="en-US" sz="2400" dirty="0">
                <a:latin typeface="Times New Roman" panose="02020603050405020304" pitchFamily="18" charset="0"/>
                <a:cs typeface="Times New Roman" panose="02020603050405020304" pitchFamily="18" charset="0"/>
              </a:rPr>
              <a:t>Useful for cycle detection and graph connectivity.</a:t>
            </a:r>
          </a:p>
          <a:p>
            <a:endParaRPr lang="en-IN" sz="2400" dirty="0">
              <a:latin typeface="Times New Roman" panose="02020603050405020304" pitchFamily="18" charset="0"/>
              <a:cs typeface="Times New Roman" panose="02020603050405020304" pitchFamily="18" charset="0"/>
            </a:endParaRPr>
          </a:p>
        </p:txBody>
      </p:sp>
      <p:pic>
        <p:nvPicPr>
          <p:cNvPr id="8" name="object 8">
            <a:extLst>
              <a:ext uri="{FF2B5EF4-FFF2-40B4-BE49-F238E27FC236}">
                <a16:creationId xmlns:a16="http://schemas.microsoft.com/office/drawing/2014/main" id="{B356BE24-67C0-53DD-DA8E-157699D8C0B4}"/>
              </a:ext>
            </a:extLst>
          </p:cNvPr>
          <p:cNvPicPr/>
          <p:nvPr/>
        </p:nvPicPr>
        <p:blipFill>
          <a:blip r:embed="rId2" cstate="print"/>
          <a:stretch>
            <a:fillRect/>
          </a:stretch>
        </p:blipFill>
        <p:spPr>
          <a:xfrm>
            <a:off x="107372" y="25"/>
            <a:ext cx="2254827" cy="94726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solidFill>
                  <a:srgbClr val="273239"/>
                </a:solidFill>
                <a:latin typeface="Source Sans 3"/>
              </a:rPr>
              <a:t>RECAP</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99FB76CC-E6CF-4933-A25A-9F29D786DF50}"/>
              </a:ext>
            </a:extLst>
          </p:cNvPr>
          <p:cNvSpPr>
            <a:spLocks noGrp="1"/>
          </p:cNvSpPr>
          <p:nvPr>
            <p:ph type="dt" sz="half" idx="6"/>
          </p:nvPr>
        </p:nvSpPr>
        <p:spPr/>
        <p:txBody>
          <a:bodyPr/>
          <a:lstStyle/>
          <a:p>
            <a:pPr marL="12700">
              <a:lnSpc>
                <a:spcPts val="1240"/>
              </a:lnSpc>
            </a:pPr>
            <a:fld id="{F87A835B-98FA-44A5-AC2F-7EBDBC02C73C}" type="datetime1">
              <a:rPr lang="en-US" spc="-25" smtClean="0"/>
              <a:t>7/8/2026</a:t>
            </a:fld>
            <a:endParaRPr lang="en-IN" spc="-25" dirty="0"/>
          </a:p>
        </p:txBody>
      </p:sp>
      <p:sp>
        <p:nvSpPr>
          <p:cNvPr id="4" name="Footer Placeholder 3">
            <a:extLst>
              <a:ext uri="{FF2B5EF4-FFF2-40B4-BE49-F238E27FC236}">
                <a16:creationId xmlns:a16="http://schemas.microsoft.com/office/drawing/2014/main" id="{45F38659-655B-46B4-84C9-10E5B369131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140198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3FA246-D78F-FB9F-78B7-270F6007E6F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386E8E-0F42-0741-C050-A582108800F2}"/>
              </a:ext>
            </a:extLst>
          </p:cNvPr>
          <p:cNvSpPr txBox="1"/>
          <p:nvPr/>
        </p:nvSpPr>
        <p:spPr>
          <a:xfrm>
            <a:off x="838199" y="1258188"/>
            <a:ext cx="10668001" cy="3087384"/>
          </a:xfrm>
          <a:prstGeom prst="rect">
            <a:avLst/>
          </a:prstGeom>
        </p:spPr>
        <p:txBody>
          <a:bodyPr vert="horz" wrap="square" lIns="0" tIns="12065" rIns="0" bIns="0" rtlCol="0">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A connected component or simply component of an undirected graph is a </a:t>
            </a:r>
            <a:r>
              <a:rPr lang="en-US" sz="2400" b="0" i="0" u="none" strike="noStrike" dirty="0">
                <a:solidFill>
                  <a:srgbClr val="2456B4"/>
                </a:solidFill>
                <a:effectLst/>
                <a:latin typeface="Times New Roman" panose="02020603050405020304" pitchFamily="18" charset="0"/>
                <a:cs typeface="Times New Roman" panose="02020603050405020304" pitchFamily="18" charset="0"/>
                <a:hlinkClick r:id="rId2"/>
              </a:rPr>
              <a:t>subgraph</a:t>
            </a:r>
            <a:r>
              <a:rPr lang="en-US" sz="2400" b="0" i="0" dirty="0">
                <a:solidFill>
                  <a:srgbClr val="000000"/>
                </a:solidFill>
                <a:effectLst/>
                <a:latin typeface="Times New Roman" panose="02020603050405020304" pitchFamily="18" charset="0"/>
                <a:cs typeface="Times New Roman" panose="02020603050405020304" pitchFamily="18" charset="0"/>
              </a:rPr>
              <a:t> in which each pair of nodes is connected with each other via a </a:t>
            </a:r>
            <a:r>
              <a:rPr lang="en-US" sz="2400" b="0" i="0" u="none" strike="noStrike" dirty="0">
                <a:solidFill>
                  <a:srgbClr val="2456B4"/>
                </a:solidFill>
                <a:effectLst/>
                <a:latin typeface="Times New Roman" panose="02020603050405020304" pitchFamily="18" charset="0"/>
                <a:cs typeface="Times New Roman" panose="02020603050405020304" pitchFamily="18" charset="0"/>
                <a:hlinkClick r:id="rId3"/>
              </a:rPr>
              <a:t>path</a:t>
            </a:r>
            <a:r>
              <a:rPr lang="en-US" sz="2400" b="0" i="0" dirty="0">
                <a:solidFill>
                  <a:srgbClr val="000000"/>
                </a:solidFill>
                <a:effectLst/>
                <a:latin typeface="Times New Roman" panose="02020603050405020304" pitchFamily="18" charset="0"/>
                <a:cs typeface="Times New Roman" panose="02020603050405020304" pitchFamily="18" charset="0"/>
              </a:rPr>
              <a:t>.</a:t>
            </a:r>
          </a:p>
          <a:p>
            <a:endParaRPr lang="en-US" sz="2000" b="0" i="1" dirty="0">
              <a:solidFill>
                <a:srgbClr val="000000"/>
              </a:solidFill>
              <a:effectLst/>
              <a:latin typeface="Times New Roman" pitchFamily="18" charset="0"/>
              <a:cs typeface="Times New Roman" pitchFamily="18" charset="0"/>
            </a:endParaRPr>
          </a:p>
          <a:p>
            <a:endParaRPr lang="en-US" sz="2000" b="1" dirty="0">
              <a:latin typeface="Times New Roman" panose="02020603050405020304" pitchFamily="18" charset="0"/>
              <a:cs typeface="Times New Roman" panose="02020603050405020304"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1600" dirty="0">
              <a:latin typeface="Times New Roman" pitchFamily="18" charset="0"/>
              <a:cs typeface="Times New Roman" pitchFamily="18" charset="0"/>
            </a:endParaRPr>
          </a:p>
          <a:p>
            <a:pPr>
              <a:lnSpc>
                <a:spcPct val="100000"/>
              </a:lnSpc>
              <a:spcBef>
                <a:spcPts val="1889"/>
              </a:spcBef>
            </a:pPr>
            <a:endParaRPr sz="1600" dirty="0">
              <a:latin typeface="Calibri"/>
              <a:cs typeface="Calibri"/>
            </a:endParaRPr>
          </a:p>
        </p:txBody>
      </p:sp>
      <p:pic>
        <p:nvPicPr>
          <p:cNvPr id="8" name="object 8">
            <a:extLst>
              <a:ext uri="{FF2B5EF4-FFF2-40B4-BE49-F238E27FC236}">
                <a16:creationId xmlns:a16="http://schemas.microsoft.com/office/drawing/2014/main" id="{F70A992C-511D-CA44-9210-69632624D71F}"/>
              </a:ext>
            </a:extLst>
          </p:cNvPr>
          <p:cNvPicPr/>
          <p:nvPr/>
        </p:nvPicPr>
        <p:blipFill>
          <a:blip r:embed="rId4" cstate="print"/>
          <a:stretch>
            <a:fillRect/>
          </a:stretch>
        </p:blipFill>
        <p:spPr>
          <a:xfrm>
            <a:off x="107372" y="25"/>
            <a:ext cx="2254827" cy="947267"/>
          </a:xfrm>
          <a:prstGeom prst="rect">
            <a:avLst/>
          </a:prstGeom>
        </p:spPr>
      </p:pic>
      <p:pic>
        <p:nvPicPr>
          <p:cNvPr id="2050" name="Picture 2" descr="1-component-1">
            <a:extLst>
              <a:ext uri="{FF2B5EF4-FFF2-40B4-BE49-F238E27FC236}">
                <a16:creationId xmlns:a16="http://schemas.microsoft.com/office/drawing/2014/main" id="{344654A9-6B35-4937-CCD1-1FC505305F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2133600"/>
            <a:ext cx="4438650" cy="388620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cs typeface="Calibri"/>
              </a:rPr>
              <a:t>CONNECTED COMPONENT IN GRAPH</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063E865A-C95C-469C-95CB-DDBDEFAAA220}"/>
              </a:ext>
            </a:extLst>
          </p:cNvPr>
          <p:cNvSpPr>
            <a:spLocks noGrp="1"/>
          </p:cNvSpPr>
          <p:nvPr>
            <p:ph type="dt" sz="half" idx="6"/>
          </p:nvPr>
        </p:nvSpPr>
        <p:spPr/>
        <p:txBody>
          <a:bodyPr/>
          <a:lstStyle/>
          <a:p>
            <a:pPr marL="12700">
              <a:lnSpc>
                <a:spcPts val="1240"/>
              </a:lnSpc>
            </a:pPr>
            <a:fld id="{C0C1474A-B79C-44A2-B660-0E4D332D1AC3}" type="datetime1">
              <a:rPr lang="en-US" spc="-25" smtClean="0"/>
              <a:t>7/8/2026</a:t>
            </a:fld>
            <a:endParaRPr lang="en-IN" spc="-25" dirty="0"/>
          </a:p>
        </p:txBody>
      </p:sp>
      <p:sp>
        <p:nvSpPr>
          <p:cNvPr id="4" name="Footer Placeholder 3">
            <a:extLst>
              <a:ext uri="{FF2B5EF4-FFF2-40B4-BE49-F238E27FC236}">
                <a16:creationId xmlns:a16="http://schemas.microsoft.com/office/drawing/2014/main" id="{957AF414-087A-4D29-BF33-142D59FC52D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8268765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982639E-5C8B-E46F-165B-17774EF3D9CB}"/>
              </a:ext>
            </a:extLst>
          </p:cNvPr>
          <p:cNvSpPr>
            <a:spLocks noGrp="1"/>
          </p:cNvSpPr>
          <p:nvPr>
            <p:ph type="body" idx="1"/>
          </p:nvPr>
        </p:nvSpPr>
        <p:spPr>
          <a:xfrm>
            <a:off x="838200" y="1433829"/>
            <a:ext cx="10744200" cy="4433571"/>
          </a:xfrm>
        </p:spPr>
        <p:txBody>
          <a:bodyPr/>
          <a:lstStyle/>
          <a:p>
            <a:r>
              <a:rPr lang="en-US" dirty="0"/>
              <a:t> </a:t>
            </a:r>
          </a:p>
          <a:p>
            <a:endParaRPr lang="en-US" dirty="0"/>
          </a:p>
          <a:p>
            <a:endParaRPr lang="en-IN" dirty="0"/>
          </a:p>
        </p:txBody>
      </p:sp>
      <p:pic>
        <p:nvPicPr>
          <p:cNvPr id="9" name="object 9"/>
          <p:cNvPicPr/>
          <p:nvPr/>
        </p:nvPicPr>
        <p:blipFill>
          <a:blip r:embed="rId2" cstate="print"/>
          <a:stretch>
            <a:fillRect/>
          </a:stretch>
        </p:blipFill>
        <p:spPr>
          <a:xfrm>
            <a:off x="107372" y="25"/>
            <a:ext cx="2254827" cy="947267"/>
          </a:xfrm>
          <a:prstGeom prst="rect">
            <a:avLst/>
          </a:prstGeom>
        </p:spPr>
      </p:pic>
      <p:sp>
        <p:nvSpPr>
          <p:cNvPr id="43" name="TextBox 42">
            <a:extLst>
              <a:ext uri="{FF2B5EF4-FFF2-40B4-BE49-F238E27FC236}">
                <a16:creationId xmlns:a16="http://schemas.microsoft.com/office/drawing/2014/main" id="{15D35028-624F-B0B2-00E2-5C967640805A}"/>
              </a:ext>
            </a:extLst>
          </p:cNvPr>
          <p:cNvSpPr txBox="1"/>
          <p:nvPr/>
        </p:nvSpPr>
        <p:spPr>
          <a:xfrm>
            <a:off x="1234785" y="1138763"/>
            <a:ext cx="9601200" cy="2523768"/>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Graph G1(V,E) is defined with a vertex set V={V1,V2,V3,V4,V5,V6} and an edge set E={E1,E2,E3,E4,E5,E6,E7}. </a:t>
            </a:r>
          </a:p>
          <a:p>
            <a:r>
              <a:rPr lang="en-IN" sz="2000" dirty="0">
                <a:latin typeface="Times New Roman" panose="02020603050405020304" pitchFamily="18" charset="0"/>
                <a:cs typeface="Times New Roman" panose="02020603050405020304" pitchFamily="18" charset="0"/>
              </a:rPr>
              <a:t>It has one connected component, C1, which includes all vertices in G1.</a:t>
            </a:r>
          </a:p>
          <a:p>
            <a:r>
              <a:rPr lang="en-IN" sz="2000" dirty="0">
                <a:latin typeface="Times New Roman" panose="02020603050405020304" pitchFamily="18" charset="0"/>
                <a:cs typeface="Times New Roman" panose="02020603050405020304" pitchFamily="18" charset="0"/>
              </a:rPr>
              <a:t>To verify C1 as a connected component: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Any two vertices in C1 should be reachable via a path.</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example, paths between V1and V6 are:</a:t>
            </a:r>
          </a:p>
          <a:p>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dirty="0"/>
          </a:p>
        </p:txBody>
      </p:sp>
      <p:pic>
        <p:nvPicPr>
          <p:cNvPr id="52" name="Picture 51">
            <a:extLst>
              <a:ext uri="{FF2B5EF4-FFF2-40B4-BE49-F238E27FC236}">
                <a16:creationId xmlns:a16="http://schemas.microsoft.com/office/drawing/2014/main" id="{A57161F4-C33B-6D92-13DB-8824E0D35AFB}"/>
              </a:ext>
            </a:extLst>
          </p:cNvPr>
          <p:cNvPicPr>
            <a:picLocks noChangeAspect="1"/>
          </p:cNvPicPr>
          <p:nvPr/>
        </p:nvPicPr>
        <p:blipFill>
          <a:blip r:embed="rId3"/>
          <a:stretch>
            <a:fillRect/>
          </a:stretch>
        </p:blipFill>
        <p:spPr>
          <a:xfrm>
            <a:off x="1295400" y="3124200"/>
            <a:ext cx="9677400" cy="190500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cs typeface="Calibri"/>
              </a:rPr>
              <a:t>CONNECTED COMPONENT IN GRAPH</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3E0DFE1F-EE5A-4DE4-9EF7-F307FD201576}"/>
              </a:ext>
            </a:extLst>
          </p:cNvPr>
          <p:cNvSpPr>
            <a:spLocks noGrp="1"/>
          </p:cNvSpPr>
          <p:nvPr>
            <p:ph type="dt" sz="half" idx="6"/>
          </p:nvPr>
        </p:nvSpPr>
        <p:spPr/>
        <p:txBody>
          <a:bodyPr/>
          <a:lstStyle/>
          <a:p>
            <a:pPr marL="12700">
              <a:lnSpc>
                <a:spcPts val="1240"/>
              </a:lnSpc>
            </a:pPr>
            <a:fld id="{6C73E310-AEB9-43DD-BE2E-380A2D4477A4}" type="datetime1">
              <a:rPr lang="en-US" spc="-25" smtClean="0"/>
              <a:t>7/8/2026</a:t>
            </a:fld>
            <a:endParaRPr lang="en-IN" spc="-25" dirty="0"/>
          </a:p>
        </p:txBody>
      </p:sp>
      <p:sp>
        <p:nvSpPr>
          <p:cNvPr id="3" name="Footer Placeholder 2">
            <a:extLst>
              <a:ext uri="{FF2B5EF4-FFF2-40B4-BE49-F238E27FC236}">
                <a16:creationId xmlns:a16="http://schemas.microsoft.com/office/drawing/2014/main" id="{0CB59EB7-52A3-4208-AD52-D9B4E0F2975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43E21-FF4C-A07C-AADA-DF77BE8CEC1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27290F2-16EE-4921-E235-7718C9990B55}"/>
              </a:ext>
            </a:extLst>
          </p:cNvPr>
          <p:cNvSpPr>
            <a:spLocks noGrp="1"/>
          </p:cNvSpPr>
          <p:nvPr>
            <p:ph type="body" idx="1"/>
          </p:nvPr>
        </p:nvSpPr>
        <p:spPr>
          <a:xfrm>
            <a:off x="838200" y="1433829"/>
            <a:ext cx="10744200" cy="4433571"/>
          </a:xfrm>
        </p:spPr>
        <p:txBody>
          <a:bodyPr/>
          <a:lstStyle/>
          <a:p>
            <a:r>
              <a:rPr lang="en-US" dirty="0"/>
              <a:t> </a:t>
            </a:r>
          </a:p>
          <a:p>
            <a:endParaRPr lang="en-US" dirty="0"/>
          </a:p>
          <a:p>
            <a:endParaRPr lang="en-IN" dirty="0"/>
          </a:p>
        </p:txBody>
      </p:sp>
      <p:pic>
        <p:nvPicPr>
          <p:cNvPr id="9" name="object 9">
            <a:extLst>
              <a:ext uri="{FF2B5EF4-FFF2-40B4-BE49-F238E27FC236}">
                <a16:creationId xmlns:a16="http://schemas.microsoft.com/office/drawing/2014/main" id="{3633F072-A0D7-698E-5C88-25E511DCDF94}"/>
              </a:ext>
            </a:extLst>
          </p:cNvPr>
          <p:cNvPicPr/>
          <p:nvPr/>
        </p:nvPicPr>
        <p:blipFill>
          <a:blip r:embed="rId2" cstate="print"/>
          <a:stretch>
            <a:fillRect/>
          </a:stretch>
        </p:blipFill>
        <p:spPr>
          <a:xfrm>
            <a:off x="107372" y="25"/>
            <a:ext cx="2254827" cy="947267"/>
          </a:xfrm>
          <a:prstGeom prst="rect">
            <a:avLst/>
          </a:prstGeom>
        </p:spPr>
      </p:pic>
      <p:sp>
        <p:nvSpPr>
          <p:cNvPr id="3" name="TextBox 2">
            <a:extLst>
              <a:ext uri="{FF2B5EF4-FFF2-40B4-BE49-F238E27FC236}">
                <a16:creationId xmlns:a16="http://schemas.microsoft.com/office/drawing/2014/main" id="{C5ADCF38-696D-AF1D-335A-C24F09A5E1FC}"/>
              </a:ext>
            </a:extLst>
          </p:cNvPr>
          <p:cNvSpPr txBox="1"/>
          <p:nvPr/>
        </p:nvSpPr>
        <p:spPr>
          <a:xfrm>
            <a:off x="1333500" y="1432142"/>
            <a:ext cx="9753600" cy="3693319"/>
          </a:xfrm>
          <a:prstGeom prst="rect">
            <a:avLst/>
          </a:prstGeom>
          <a:noFill/>
        </p:spPr>
        <p:txBody>
          <a:bodyPr wrap="square">
            <a:spAutoFit/>
          </a:bodyPr>
          <a:lstStyle/>
          <a:p>
            <a:r>
              <a:rPr lang="en-US" b="0" i="0" dirty="0">
                <a:solidFill>
                  <a:schemeClr val="tx1"/>
                </a:solidFill>
                <a:effectLst/>
                <a:latin typeface="Times New Roman" panose="02020603050405020304" pitchFamily="18" charset="0"/>
                <a:cs typeface="Times New Roman" panose="02020603050405020304" pitchFamily="18" charset="0"/>
              </a:rPr>
              <a:t>algorithm </a:t>
            </a:r>
            <a:r>
              <a:rPr lang="en-US" b="1" i="0" dirty="0" err="1">
                <a:solidFill>
                  <a:schemeClr val="tx1"/>
                </a:solidFill>
                <a:effectLst/>
                <a:latin typeface="Times New Roman" panose="02020603050405020304" pitchFamily="18" charset="0"/>
                <a:cs typeface="Times New Roman" panose="02020603050405020304" pitchFamily="18" charset="0"/>
              </a:rPr>
              <a:t>FindConnectedComponents</a:t>
            </a:r>
            <a:r>
              <a:rPr lang="en-US" b="0" i="0" dirty="0">
                <a:solidFill>
                  <a:schemeClr val="tx1"/>
                </a:solidFill>
                <a:effectLst/>
                <a:latin typeface="Times New Roman" panose="02020603050405020304" pitchFamily="18" charset="0"/>
                <a:cs typeface="Times New Roman" panose="02020603050405020304" pitchFamily="18" charset="0"/>
              </a:rPr>
              <a:t>(G): </a:t>
            </a:r>
          </a:p>
          <a:p>
            <a:r>
              <a:rPr lang="en-US" b="0" i="0" dirty="0">
                <a:solidFill>
                  <a:schemeClr val="tx1"/>
                </a:solidFill>
                <a:effectLst/>
                <a:latin typeface="Times New Roman" panose="02020603050405020304" pitchFamily="18" charset="0"/>
                <a:cs typeface="Times New Roman" panose="02020603050405020304" pitchFamily="18" charset="0"/>
              </a:rPr>
              <a:t>// INPUT // G = an undirected graph with vertices V and edges E // OUTPUT // The number of connected components in G </a:t>
            </a:r>
          </a:p>
          <a:p>
            <a:r>
              <a:rPr lang="en-US" b="0" i="0" dirty="0" err="1">
                <a:solidFill>
                  <a:schemeClr val="tx1"/>
                </a:solidFill>
                <a:effectLst/>
                <a:latin typeface="Times New Roman" panose="02020603050405020304" pitchFamily="18" charset="0"/>
                <a:cs typeface="Times New Roman" panose="02020603050405020304" pitchFamily="18" charset="0"/>
              </a:rPr>
              <a:t>Component_Count</a:t>
            </a:r>
            <a:r>
              <a:rPr lang="en-US" b="0" i="0" dirty="0">
                <a:solidFill>
                  <a:schemeClr val="tx1"/>
                </a:solidFill>
                <a:effectLst/>
                <a:latin typeface="Times New Roman" panose="02020603050405020304" pitchFamily="18" charset="0"/>
                <a:cs typeface="Times New Roman" panose="02020603050405020304" pitchFamily="18" charset="0"/>
              </a:rPr>
              <a:t> &lt;- 0 </a:t>
            </a:r>
          </a:p>
          <a:p>
            <a:r>
              <a:rPr lang="en-US" b="0" i="0" dirty="0">
                <a:solidFill>
                  <a:schemeClr val="tx1"/>
                </a:solidFill>
                <a:effectLst/>
                <a:latin typeface="Times New Roman" panose="02020603050405020304" pitchFamily="18" charset="0"/>
                <a:cs typeface="Times New Roman" panose="02020603050405020304" pitchFamily="18" charset="0"/>
              </a:rPr>
              <a:t>Visited &lt;- an empty map from vertices to </a:t>
            </a:r>
            <a:r>
              <a:rPr lang="en-US" b="1" i="0" dirty="0" err="1">
                <a:solidFill>
                  <a:schemeClr val="tx1"/>
                </a:solidFill>
                <a:effectLst/>
                <a:latin typeface="Times New Roman" panose="02020603050405020304" pitchFamily="18" charset="0"/>
                <a:cs typeface="Times New Roman" panose="02020603050405020304" pitchFamily="18" charset="0"/>
              </a:rPr>
              <a:t>boolean</a:t>
            </a:r>
            <a:r>
              <a:rPr lang="en-US" b="0" i="0" dirty="0">
                <a:solidFill>
                  <a:schemeClr val="tx1"/>
                </a:solidFill>
                <a:effectLst/>
                <a:latin typeface="Times New Roman" panose="02020603050405020304" pitchFamily="18" charset="0"/>
                <a:cs typeface="Times New Roman" panose="02020603050405020304" pitchFamily="18" charset="0"/>
              </a:rPr>
              <a:t> values </a:t>
            </a:r>
          </a:p>
          <a:p>
            <a:r>
              <a:rPr lang="en-US" b="1" i="0" dirty="0">
                <a:solidFill>
                  <a:schemeClr val="tx1"/>
                </a:solidFill>
                <a:effectLst/>
                <a:latin typeface="Times New Roman" panose="02020603050405020304" pitchFamily="18" charset="0"/>
                <a:cs typeface="Times New Roman" panose="02020603050405020304" pitchFamily="18" charset="0"/>
              </a:rPr>
              <a:t>for</a:t>
            </a:r>
            <a:r>
              <a:rPr lang="en-US" b="0" i="0" dirty="0">
                <a:solidFill>
                  <a:schemeClr val="tx1"/>
                </a:solidFill>
                <a:effectLst/>
                <a:latin typeface="Times New Roman" panose="02020603050405020304" pitchFamily="18" charset="0"/>
                <a:cs typeface="Times New Roman" panose="02020603050405020304" pitchFamily="18" charset="0"/>
              </a:rPr>
              <a:t> vertex k in V: </a:t>
            </a:r>
          </a:p>
          <a:p>
            <a:r>
              <a:rPr lang="en-US" dirty="0">
                <a:solidFill>
                  <a:schemeClr val="tx1"/>
                </a:solidFill>
                <a:latin typeface="Times New Roman" panose="02020603050405020304" pitchFamily="18" charset="0"/>
                <a:cs typeface="Times New Roman" panose="02020603050405020304" pitchFamily="18" charset="0"/>
              </a:rPr>
              <a:t>	</a:t>
            </a:r>
            <a:r>
              <a:rPr lang="en-US" b="0" i="0" dirty="0">
                <a:solidFill>
                  <a:schemeClr val="tx1"/>
                </a:solidFill>
                <a:effectLst/>
                <a:latin typeface="Times New Roman" panose="02020603050405020304" pitchFamily="18" charset="0"/>
                <a:cs typeface="Times New Roman" panose="02020603050405020304" pitchFamily="18" charset="0"/>
              </a:rPr>
              <a:t>Visited[k] &lt;- false </a:t>
            </a:r>
          </a:p>
          <a:p>
            <a:r>
              <a:rPr lang="en-US" b="1" i="0" dirty="0">
                <a:solidFill>
                  <a:schemeClr val="tx1"/>
                </a:solidFill>
                <a:effectLst/>
                <a:latin typeface="Times New Roman" panose="02020603050405020304" pitchFamily="18" charset="0"/>
                <a:cs typeface="Times New Roman" panose="02020603050405020304" pitchFamily="18" charset="0"/>
              </a:rPr>
              <a:t>for</a:t>
            </a:r>
            <a:r>
              <a:rPr lang="en-US" b="0" i="0" dirty="0">
                <a:solidFill>
                  <a:schemeClr val="tx1"/>
                </a:solidFill>
                <a:effectLst/>
                <a:latin typeface="Times New Roman" panose="02020603050405020304" pitchFamily="18" charset="0"/>
                <a:cs typeface="Times New Roman" panose="02020603050405020304" pitchFamily="18" charset="0"/>
              </a:rPr>
              <a:t> vertex k in V: </a:t>
            </a:r>
          </a:p>
          <a:p>
            <a:r>
              <a:rPr lang="en-US" b="1" i="0" dirty="0">
                <a:solidFill>
                  <a:schemeClr val="tx1"/>
                </a:solidFill>
                <a:effectLst/>
                <a:latin typeface="Times New Roman" panose="02020603050405020304" pitchFamily="18" charset="0"/>
                <a:cs typeface="Times New Roman" panose="02020603050405020304" pitchFamily="18" charset="0"/>
              </a:rPr>
              <a:t>	if</a:t>
            </a:r>
            <a:r>
              <a:rPr lang="en-US" b="0" i="0" dirty="0">
                <a:solidFill>
                  <a:schemeClr val="tx1"/>
                </a:solidFill>
                <a:effectLst/>
                <a:latin typeface="Times New Roman" panose="02020603050405020304" pitchFamily="18" charset="0"/>
                <a:cs typeface="Times New Roman" panose="02020603050405020304" pitchFamily="18" charset="0"/>
              </a:rPr>
              <a:t> not Visited[k]: </a:t>
            </a:r>
          </a:p>
          <a:p>
            <a:r>
              <a:rPr lang="en-US" dirty="0">
                <a:solidFill>
                  <a:schemeClr val="tx1"/>
                </a:solidFill>
                <a:latin typeface="Times New Roman" panose="02020603050405020304" pitchFamily="18" charset="0"/>
                <a:cs typeface="Times New Roman" panose="02020603050405020304" pitchFamily="18" charset="0"/>
              </a:rPr>
              <a:t>		</a:t>
            </a:r>
            <a:r>
              <a:rPr lang="en-US" b="0" i="0" dirty="0">
                <a:solidFill>
                  <a:schemeClr val="tx1"/>
                </a:solidFill>
                <a:effectLst/>
                <a:latin typeface="Times New Roman" panose="02020603050405020304" pitchFamily="18" charset="0"/>
                <a:cs typeface="Times New Roman" panose="02020603050405020304" pitchFamily="18" charset="0"/>
              </a:rPr>
              <a:t>DFS(V, k) </a:t>
            </a:r>
          </a:p>
          <a:p>
            <a:r>
              <a:rPr lang="en-US" dirty="0">
                <a:solidFill>
                  <a:schemeClr val="tx1"/>
                </a:solidFill>
                <a:latin typeface="Times New Roman" panose="02020603050405020304" pitchFamily="18" charset="0"/>
                <a:cs typeface="Times New Roman" panose="02020603050405020304" pitchFamily="18" charset="0"/>
              </a:rPr>
              <a:t>		</a:t>
            </a:r>
            <a:r>
              <a:rPr lang="en-US" b="0" i="0" dirty="0" err="1">
                <a:solidFill>
                  <a:schemeClr val="tx1"/>
                </a:solidFill>
                <a:effectLst/>
                <a:latin typeface="Times New Roman" panose="02020603050405020304" pitchFamily="18" charset="0"/>
                <a:cs typeface="Times New Roman" panose="02020603050405020304" pitchFamily="18" charset="0"/>
              </a:rPr>
              <a:t>Component_Count</a:t>
            </a:r>
            <a:r>
              <a:rPr lang="en-US" b="0" i="0" dirty="0">
                <a:solidFill>
                  <a:schemeClr val="tx1"/>
                </a:solidFill>
                <a:effectLst/>
                <a:latin typeface="Times New Roman" panose="02020603050405020304" pitchFamily="18" charset="0"/>
                <a:cs typeface="Times New Roman" panose="02020603050405020304" pitchFamily="18" charset="0"/>
              </a:rPr>
              <a:t> &lt;- </a:t>
            </a:r>
            <a:r>
              <a:rPr lang="en-US" b="0" i="0" dirty="0" err="1">
                <a:solidFill>
                  <a:schemeClr val="tx1"/>
                </a:solidFill>
                <a:effectLst/>
                <a:latin typeface="Times New Roman" panose="02020603050405020304" pitchFamily="18" charset="0"/>
                <a:cs typeface="Times New Roman" panose="02020603050405020304" pitchFamily="18" charset="0"/>
              </a:rPr>
              <a:t>Component_Count</a:t>
            </a:r>
            <a:r>
              <a:rPr lang="en-US" b="0" i="0" dirty="0">
                <a:solidFill>
                  <a:schemeClr val="tx1"/>
                </a:solidFill>
                <a:effectLst/>
                <a:latin typeface="Times New Roman" panose="02020603050405020304" pitchFamily="18" charset="0"/>
                <a:cs typeface="Times New Roman" panose="02020603050405020304" pitchFamily="18" charset="0"/>
              </a:rPr>
              <a:t> + 1 </a:t>
            </a:r>
          </a:p>
          <a:p>
            <a:r>
              <a:rPr lang="en-US" b="0" i="0" dirty="0">
                <a:solidFill>
                  <a:schemeClr val="tx1"/>
                </a:solidFill>
                <a:effectLst/>
                <a:latin typeface="Times New Roman" panose="02020603050405020304" pitchFamily="18" charset="0"/>
                <a:cs typeface="Times New Roman" panose="02020603050405020304" pitchFamily="18" charset="0"/>
              </a:rPr>
              <a:t>print </a:t>
            </a:r>
            <a:r>
              <a:rPr lang="en-US" b="0" i="0" dirty="0" err="1">
                <a:solidFill>
                  <a:schemeClr val="tx1"/>
                </a:solidFill>
                <a:effectLst/>
                <a:latin typeface="Times New Roman" panose="02020603050405020304" pitchFamily="18" charset="0"/>
                <a:cs typeface="Times New Roman" panose="02020603050405020304" pitchFamily="18" charset="0"/>
              </a:rPr>
              <a:t>Component_Count</a:t>
            </a:r>
            <a:endParaRPr lang="en-US" b="0" i="0" dirty="0">
              <a:solidFill>
                <a:schemeClr val="tx1"/>
              </a:solidFill>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cs typeface="Calibri"/>
              </a:rPr>
              <a:t>CONNECTED COMPONENT IN GRAPH</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1FBF386E-694D-4F35-99E1-58940A6C962F}"/>
              </a:ext>
            </a:extLst>
          </p:cNvPr>
          <p:cNvSpPr>
            <a:spLocks noGrp="1"/>
          </p:cNvSpPr>
          <p:nvPr>
            <p:ph type="dt" sz="half" idx="6"/>
          </p:nvPr>
        </p:nvSpPr>
        <p:spPr/>
        <p:txBody>
          <a:bodyPr/>
          <a:lstStyle/>
          <a:p>
            <a:pPr marL="12700">
              <a:lnSpc>
                <a:spcPts val="1240"/>
              </a:lnSpc>
            </a:pPr>
            <a:fld id="{58B05F56-B314-4B40-BFAF-91DD7B8339A7}" type="datetime1">
              <a:rPr lang="en-US" spc="-25" smtClean="0"/>
              <a:t>7/8/2026</a:t>
            </a:fld>
            <a:endParaRPr lang="en-IN" spc="-25" dirty="0"/>
          </a:p>
        </p:txBody>
      </p:sp>
      <p:sp>
        <p:nvSpPr>
          <p:cNvPr id="4" name="Footer Placeholder 3">
            <a:extLst>
              <a:ext uri="{FF2B5EF4-FFF2-40B4-BE49-F238E27FC236}">
                <a16:creationId xmlns:a16="http://schemas.microsoft.com/office/drawing/2014/main" id="{FFDFE077-35DF-462C-ABA6-8673CD9AD8D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1152264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143E21-FF4C-A07C-AADA-DF77BE8CEC1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27290F2-16EE-4921-E235-7718C9990B55}"/>
              </a:ext>
            </a:extLst>
          </p:cNvPr>
          <p:cNvSpPr>
            <a:spLocks noGrp="1"/>
          </p:cNvSpPr>
          <p:nvPr>
            <p:ph type="body" idx="1"/>
          </p:nvPr>
        </p:nvSpPr>
        <p:spPr>
          <a:xfrm>
            <a:off x="838200" y="1433829"/>
            <a:ext cx="10744200" cy="4433571"/>
          </a:xfrm>
        </p:spPr>
        <p:txBody>
          <a:bodyPr/>
          <a:lstStyle/>
          <a:p>
            <a:r>
              <a:rPr lang="en-US" dirty="0"/>
              <a:t> </a:t>
            </a:r>
          </a:p>
          <a:p>
            <a:endParaRPr lang="en-US" dirty="0"/>
          </a:p>
          <a:p>
            <a:endParaRPr lang="en-IN" dirty="0"/>
          </a:p>
        </p:txBody>
      </p:sp>
      <p:pic>
        <p:nvPicPr>
          <p:cNvPr id="9" name="object 9">
            <a:extLst>
              <a:ext uri="{FF2B5EF4-FFF2-40B4-BE49-F238E27FC236}">
                <a16:creationId xmlns:a16="http://schemas.microsoft.com/office/drawing/2014/main" id="{3633F072-A0D7-698E-5C88-25E511DCDF94}"/>
              </a:ext>
            </a:extLst>
          </p:cNvPr>
          <p:cNvPicPr/>
          <p:nvPr/>
        </p:nvPicPr>
        <p:blipFill>
          <a:blip r:embed="rId2" cstate="print"/>
          <a:stretch>
            <a:fillRect/>
          </a:stretch>
        </p:blipFill>
        <p:spPr>
          <a:xfrm>
            <a:off x="107372" y="25"/>
            <a:ext cx="2254827" cy="947267"/>
          </a:xfrm>
          <a:prstGeom prst="rect">
            <a:avLst/>
          </a:prstGeom>
        </p:spPr>
      </p:pic>
      <p:sp>
        <p:nvSpPr>
          <p:cNvPr id="3" name="TextBox 2">
            <a:extLst>
              <a:ext uri="{FF2B5EF4-FFF2-40B4-BE49-F238E27FC236}">
                <a16:creationId xmlns:a16="http://schemas.microsoft.com/office/drawing/2014/main" id="{C5ADCF38-696D-AF1D-335A-C24F09A5E1FC}"/>
              </a:ext>
            </a:extLst>
          </p:cNvPr>
          <p:cNvSpPr txBox="1"/>
          <p:nvPr/>
        </p:nvSpPr>
        <p:spPr>
          <a:xfrm>
            <a:off x="1752600" y="1752600"/>
            <a:ext cx="9677400" cy="2308324"/>
          </a:xfrm>
          <a:prstGeom prst="rect">
            <a:avLst/>
          </a:prstGeom>
          <a:noFill/>
        </p:spPr>
        <p:txBody>
          <a:bodyPr wrap="square">
            <a:spAutoFit/>
          </a:bodyPr>
          <a:lstStyle/>
          <a:p>
            <a:endParaRPr lang="en-US" dirty="0">
              <a:solidFill>
                <a:schemeClr val="tx1"/>
              </a:solidFill>
              <a:latin typeface="Times New Roman" panose="02020603050405020304" pitchFamily="18" charset="0"/>
              <a:cs typeface="Times New Roman" panose="02020603050405020304" pitchFamily="18" charset="0"/>
            </a:endParaRPr>
          </a:p>
          <a:p>
            <a:r>
              <a:rPr lang="en-US" b="0" i="0" dirty="0">
                <a:solidFill>
                  <a:schemeClr val="tx1"/>
                </a:solidFill>
                <a:effectLst/>
                <a:latin typeface="Times New Roman" panose="02020603050405020304" pitchFamily="18" charset="0"/>
                <a:cs typeface="Times New Roman" panose="02020603050405020304" pitchFamily="18" charset="0"/>
              </a:rPr>
              <a:t>algorithm </a:t>
            </a:r>
            <a:r>
              <a:rPr lang="en-US" b="1" i="0" dirty="0">
                <a:solidFill>
                  <a:schemeClr val="tx1"/>
                </a:solidFill>
                <a:effectLst/>
                <a:latin typeface="Times New Roman" panose="02020603050405020304" pitchFamily="18" charset="0"/>
                <a:cs typeface="Times New Roman" panose="02020603050405020304" pitchFamily="18" charset="0"/>
              </a:rPr>
              <a:t>DFS</a:t>
            </a:r>
            <a:r>
              <a:rPr lang="en-US" b="0" i="0" dirty="0">
                <a:solidFill>
                  <a:schemeClr val="tx1"/>
                </a:solidFill>
                <a:effectLst/>
                <a:latin typeface="Times New Roman" panose="02020603050405020304" pitchFamily="18" charset="0"/>
                <a:cs typeface="Times New Roman" panose="02020603050405020304" pitchFamily="18" charset="0"/>
              </a:rPr>
              <a:t>(V, k): </a:t>
            </a:r>
          </a:p>
          <a:p>
            <a:r>
              <a:rPr lang="en-US" b="0" i="0" dirty="0">
                <a:solidFill>
                  <a:schemeClr val="tx1"/>
                </a:solidFill>
                <a:effectLst/>
                <a:latin typeface="Times New Roman" panose="02020603050405020304" pitchFamily="18" charset="0"/>
                <a:cs typeface="Times New Roman" panose="02020603050405020304" pitchFamily="18" charset="0"/>
              </a:rPr>
              <a:t>// INPUT // V = the set of vertices in the graph // k = the current vertex being explored // OUTPUT // Executes a depth-first search starting from vertex k, // marking all reachable vertices as visited. </a:t>
            </a:r>
          </a:p>
          <a:p>
            <a:r>
              <a:rPr lang="en-US" b="0" i="0" dirty="0">
                <a:solidFill>
                  <a:schemeClr val="tx1"/>
                </a:solidFill>
                <a:effectLst/>
                <a:latin typeface="Times New Roman" panose="02020603050405020304" pitchFamily="18" charset="0"/>
                <a:cs typeface="Times New Roman" panose="02020603050405020304" pitchFamily="18" charset="0"/>
              </a:rPr>
              <a:t>Visited[k] &lt;- true </a:t>
            </a:r>
          </a:p>
          <a:p>
            <a:r>
              <a:rPr lang="en-US" b="1" i="0" dirty="0">
                <a:solidFill>
                  <a:schemeClr val="tx1"/>
                </a:solidFill>
                <a:effectLst/>
                <a:latin typeface="Times New Roman" panose="02020603050405020304" pitchFamily="18" charset="0"/>
                <a:cs typeface="Times New Roman" panose="02020603050405020304" pitchFamily="18" charset="0"/>
              </a:rPr>
              <a:t>for</a:t>
            </a:r>
            <a:r>
              <a:rPr lang="en-US" b="0" i="0" dirty="0">
                <a:solidFill>
                  <a:schemeClr val="tx1"/>
                </a:solidFill>
                <a:effectLst/>
                <a:latin typeface="Times New Roman" panose="02020603050405020304" pitchFamily="18" charset="0"/>
                <a:cs typeface="Times New Roman" panose="02020603050405020304" pitchFamily="18" charset="0"/>
              </a:rPr>
              <a:t> vertex p in Adj[k]: // Adj[k] is the adjacency list of k </a:t>
            </a:r>
          </a:p>
          <a:p>
            <a:r>
              <a:rPr lang="en-US" dirty="0">
                <a:solidFill>
                  <a:schemeClr val="tx1"/>
                </a:solidFill>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if</a:t>
            </a:r>
            <a:r>
              <a:rPr lang="en-US" b="0" i="0" dirty="0">
                <a:solidFill>
                  <a:schemeClr val="tx1"/>
                </a:solidFill>
                <a:effectLst/>
                <a:latin typeface="Times New Roman" panose="02020603050405020304" pitchFamily="18" charset="0"/>
                <a:cs typeface="Times New Roman" panose="02020603050405020304" pitchFamily="18" charset="0"/>
              </a:rPr>
              <a:t> not Visited[p]: </a:t>
            </a:r>
          </a:p>
          <a:p>
            <a:r>
              <a:rPr lang="en-US" dirty="0">
                <a:solidFill>
                  <a:schemeClr val="tx1"/>
                </a:solidFill>
                <a:latin typeface="Times New Roman" panose="02020603050405020304" pitchFamily="18" charset="0"/>
                <a:cs typeface="Times New Roman" panose="02020603050405020304" pitchFamily="18" charset="0"/>
              </a:rPr>
              <a:t>		</a:t>
            </a:r>
            <a:r>
              <a:rPr lang="en-US" b="0" i="0" dirty="0">
                <a:solidFill>
                  <a:schemeClr val="tx1"/>
                </a:solidFill>
                <a:effectLst/>
                <a:latin typeface="Times New Roman" panose="02020603050405020304" pitchFamily="18" charset="0"/>
                <a:cs typeface="Times New Roman" panose="02020603050405020304" pitchFamily="18" charset="0"/>
              </a:rPr>
              <a:t>DFS(V, p)</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1C7BBAA3-263A-8FE5-5AA3-E40EF73A5AE9}"/>
              </a:ext>
            </a:extLst>
          </p:cNvPr>
          <p:cNvSpPr txBox="1">
            <a:spLocks/>
          </p:cNvSpPr>
          <p:nvPr/>
        </p:nvSpPr>
        <p:spPr>
          <a:xfrm>
            <a:off x="2704634" y="7765"/>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cs typeface="Calibri"/>
              </a:rPr>
              <a:t>CONNECTED COMPONENT IN GRAPH</a:t>
            </a:r>
            <a:endParaRPr lang="en-US" sz="2800" dirty="0">
              <a:latin typeface="Calibri (Body)"/>
              <a:cs typeface="Times New Roman" panose="02020603050405020304" pitchFamily="18" charset="0"/>
            </a:endParaRPr>
          </a:p>
        </p:txBody>
      </p:sp>
      <p:sp>
        <p:nvSpPr>
          <p:cNvPr id="2" name="Date Placeholder 1">
            <a:extLst>
              <a:ext uri="{FF2B5EF4-FFF2-40B4-BE49-F238E27FC236}">
                <a16:creationId xmlns:a16="http://schemas.microsoft.com/office/drawing/2014/main" id="{306C0500-8CC2-4D36-A07C-5219324F7324}"/>
              </a:ext>
            </a:extLst>
          </p:cNvPr>
          <p:cNvSpPr>
            <a:spLocks noGrp="1"/>
          </p:cNvSpPr>
          <p:nvPr>
            <p:ph type="dt" sz="half" idx="6"/>
          </p:nvPr>
        </p:nvSpPr>
        <p:spPr/>
        <p:txBody>
          <a:bodyPr/>
          <a:lstStyle/>
          <a:p>
            <a:pPr marL="12700">
              <a:lnSpc>
                <a:spcPts val="1240"/>
              </a:lnSpc>
            </a:pPr>
            <a:fld id="{4E5EA63E-0AA7-4143-9227-D7146B64693B}" type="datetime1">
              <a:rPr lang="en-US" spc="-25" smtClean="0"/>
              <a:t>7/8/2026</a:t>
            </a:fld>
            <a:endParaRPr lang="en-IN" spc="-25" dirty="0"/>
          </a:p>
        </p:txBody>
      </p:sp>
      <p:sp>
        <p:nvSpPr>
          <p:cNvPr id="4" name="Footer Placeholder 3">
            <a:extLst>
              <a:ext uri="{FF2B5EF4-FFF2-40B4-BE49-F238E27FC236}">
                <a16:creationId xmlns:a16="http://schemas.microsoft.com/office/drawing/2014/main" id="{F8E09176-DB03-4911-B7FD-DA393E3F3A2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990360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66800" y="1561846"/>
            <a:ext cx="10287000" cy="2382062"/>
          </a:xfrm>
          <a:prstGeom prst="rect">
            <a:avLst/>
          </a:prstGeom>
        </p:spPr>
        <p:txBody>
          <a:bodyPr vert="horz" wrap="square" lIns="0" tIns="12065" rIns="0" bIns="0" rtlCol="0">
            <a:spAutoFit/>
          </a:bodyPr>
          <a:lstStyle/>
          <a:p>
            <a:pPr algn="just" eaLnBrk="1" hangingPunct="1"/>
            <a:r>
              <a:rPr lang="en-US" altLang="en-US" sz="2200" b="1" dirty="0">
                <a:latin typeface="Times New Roman" panose="02020603050405020304" pitchFamily="18" charset="0"/>
                <a:cs typeface="Times New Roman" panose="02020603050405020304" pitchFamily="18" charset="0"/>
              </a:rPr>
              <a:t>Minimum Spanning Tree</a:t>
            </a:r>
          </a:p>
          <a:p>
            <a:pPr algn="just" eaLnBrk="1" hangingPunct="1"/>
            <a:r>
              <a:rPr lang="en-US" altLang="en-US" sz="2200" dirty="0">
                <a:latin typeface="Times New Roman" panose="02020603050405020304" pitchFamily="18" charset="0"/>
                <a:cs typeface="Times New Roman" panose="02020603050405020304" pitchFamily="18" charset="0"/>
              </a:rPr>
              <a:t>A spanning tree of a connected graph G contains all the nodes and has edges, which connects all the nodes. So number of edges will be 1 less than the number of nodes. </a:t>
            </a:r>
          </a:p>
          <a:p>
            <a:pPr algn="just" eaLnBrk="1" hangingPunct="1"/>
            <a:endParaRPr lang="en-US" altLang="en-US" sz="2200" dirty="0">
              <a:latin typeface="Times New Roman" panose="02020603050405020304" pitchFamily="18" charset="0"/>
              <a:cs typeface="Times New Roman" panose="02020603050405020304" pitchFamily="18" charset="0"/>
            </a:endParaRPr>
          </a:p>
          <a:p>
            <a:pPr algn="just" eaLnBrk="1" hangingPunct="1"/>
            <a:r>
              <a:rPr lang="en-US" altLang="en-US" sz="2200" b="1" dirty="0">
                <a:latin typeface="Times New Roman" panose="02020603050405020304" pitchFamily="18" charset="0"/>
                <a:cs typeface="Times New Roman" panose="02020603050405020304" pitchFamily="18" charset="0"/>
              </a:rPr>
              <a:t>Spanning Trees</a:t>
            </a:r>
            <a:r>
              <a:rPr lang="en-US" altLang="en-US" sz="2200" dirty="0">
                <a:latin typeface="Times New Roman" panose="02020603050405020304" pitchFamily="18" charset="0"/>
                <a:cs typeface="Times New Roman" panose="02020603050405020304" pitchFamily="18" charset="0"/>
              </a:rPr>
              <a:t>: A sub graph T of a undirected graph G=(V,E) is a spanning tree of G if it is a tree and contains every vertex of G. </a:t>
            </a:r>
          </a:p>
          <a:p>
            <a:pPr algn="just" eaLnBrk="1" hangingPunct="1"/>
            <a:r>
              <a:rPr lang="en-US" altLang="en-US" sz="2200" dirty="0">
                <a:latin typeface="Times New Roman" panose="02020603050405020304" pitchFamily="18" charset="0"/>
                <a:cs typeface="Times New Roman" panose="02020603050405020304" pitchFamily="18" charset="0"/>
              </a:rPr>
              <a:t>A minimum spanning tree is a sub graph of an undirected weighted graph G, such that</a:t>
            </a:r>
          </a:p>
        </p:txBody>
      </p:sp>
      <p:pic>
        <p:nvPicPr>
          <p:cNvPr id="9" name="object 9"/>
          <p:cNvPicPr/>
          <p:nvPr/>
        </p:nvPicPr>
        <p:blipFill>
          <a:blip r:embed="rId2" cstate="print"/>
          <a:stretch>
            <a:fillRect/>
          </a:stretch>
        </p:blipFill>
        <p:spPr>
          <a:xfrm>
            <a:off x="107372" y="25"/>
            <a:ext cx="2254827" cy="94726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8414" y="-23375"/>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SPANNING TREE</a:t>
            </a:r>
          </a:p>
        </p:txBody>
      </p:sp>
      <p:sp>
        <p:nvSpPr>
          <p:cNvPr id="3" name="Date Placeholder 2">
            <a:extLst>
              <a:ext uri="{FF2B5EF4-FFF2-40B4-BE49-F238E27FC236}">
                <a16:creationId xmlns:a16="http://schemas.microsoft.com/office/drawing/2014/main" id="{42DFDEA3-5001-46ED-9115-88EAFB94EB27}"/>
              </a:ext>
            </a:extLst>
          </p:cNvPr>
          <p:cNvSpPr>
            <a:spLocks noGrp="1"/>
          </p:cNvSpPr>
          <p:nvPr>
            <p:ph type="dt" sz="half" idx="6"/>
          </p:nvPr>
        </p:nvSpPr>
        <p:spPr/>
        <p:txBody>
          <a:bodyPr/>
          <a:lstStyle/>
          <a:p>
            <a:pPr marL="12700">
              <a:lnSpc>
                <a:spcPts val="1240"/>
              </a:lnSpc>
            </a:pPr>
            <a:fld id="{BAA8E4E1-2055-4058-A00A-F2F0308C2C5C}" type="datetime1">
              <a:rPr lang="en-US" spc="-25" smtClean="0"/>
              <a:t>7/8/2026</a:t>
            </a:fld>
            <a:endParaRPr lang="en-IN" spc="-25" dirty="0"/>
          </a:p>
        </p:txBody>
      </p:sp>
      <p:sp>
        <p:nvSpPr>
          <p:cNvPr id="4" name="Footer Placeholder 3">
            <a:extLst>
              <a:ext uri="{FF2B5EF4-FFF2-40B4-BE49-F238E27FC236}">
                <a16:creationId xmlns:a16="http://schemas.microsoft.com/office/drawing/2014/main" id="{AA3C23D2-0E5B-4E55-A9B9-B0FB76B65EE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1F3BCF-8B45-6059-C75B-14E2E9B5C6C4}"/>
            </a:ext>
          </a:extLst>
        </p:cNvPr>
        <p:cNvGrpSpPr/>
        <p:nvPr/>
      </p:nvGrpSpPr>
      <p:grpSpPr>
        <a:xfrm>
          <a:off x="0" y="0"/>
          <a:ext cx="0" cy="0"/>
          <a:chOff x="0" y="0"/>
          <a:chExt cx="0" cy="0"/>
        </a:xfrm>
      </p:grpSpPr>
      <p:pic>
        <p:nvPicPr>
          <p:cNvPr id="9" name="object 9">
            <a:extLst>
              <a:ext uri="{FF2B5EF4-FFF2-40B4-BE49-F238E27FC236}">
                <a16:creationId xmlns:a16="http://schemas.microsoft.com/office/drawing/2014/main" id="{24CCBE72-7A47-F734-25C3-A1D4EC782A49}"/>
              </a:ext>
            </a:extLst>
          </p:cNvPr>
          <p:cNvPicPr/>
          <p:nvPr/>
        </p:nvPicPr>
        <p:blipFill>
          <a:blip r:embed="rId2" cstate="print"/>
          <a:stretch>
            <a:fillRect/>
          </a:stretch>
        </p:blipFill>
        <p:spPr>
          <a:xfrm>
            <a:off x="107372" y="25"/>
            <a:ext cx="2254827" cy="947267"/>
          </a:xfrm>
          <a:prstGeom prst="rect">
            <a:avLst/>
          </a:prstGeom>
        </p:spPr>
      </p:pic>
      <p:pic>
        <p:nvPicPr>
          <p:cNvPr id="4100" name="Picture 4" descr="spanningtreedrawio">
            <a:extLst>
              <a:ext uri="{FF2B5EF4-FFF2-40B4-BE49-F238E27FC236}">
                <a16:creationId xmlns:a16="http://schemas.microsoft.com/office/drawing/2014/main" id="{2B16B9F8-DB1C-83BB-74B6-CC3EFF3E8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3275" y="1280652"/>
            <a:ext cx="5581725" cy="516928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8414" y="-23375"/>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SPANNING TREE</a:t>
            </a:r>
          </a:p>
        </p:txBody>
      </p:sp>
      <p:sp>
        <p:nvSpPr>
          <p:cNvPr id="2" name="Date Placeholder 1">
            <a:extLst>
              <a:ext uri="{FF2B5EF4-FFF2-40B4-BE49-F238E27FC236}">
                <a16:creationId xmlns:a16="http://schemas.microsoft.com/office/drawing/2014/main" id="{51818E1D-BC6E-4C5D-8A67-B23A3B19F9CF}"/>
              </a:ext>
            </a:extLst>
          </p:cNvPr>
          <p:cNvSpPr>
            <a:spLocks noGrp="1"/>
          </p:cNvSpPr>
          <p:nvPr>
            <p:ph type="dt" sz="half" idx="6"/>
          </p:nvPr>
        </p:nvSpPr>
        <p:spPr/>
        <p:txBody>
          <a:bodyPr/>
          <a:lstStyle/>
          <a:p>
            <a:pPr marL="12700">
              <a:lnSpc>
                <a:spcPts val="1240"/>
              </a:lnSpc>
            </a:pPr>
            <a:fld id="{FF2439EE-098D-4750-BD33-44D094239F2A}" type="datetime1">
              <a:rPr lang="en-US" spc="-25" smtClean="0"/>
              <a:t>7/8/2026</a:t>
            </a:fld>
            <a:endParaRPr lang="en-IN" spc="-25" dirty="0"/>
          </a:p>
        </p:txBody>
      </p:sp>
      <p:sp>
        <p:nvSpPr>
          <p:cNvPr id="3" name="Footer Placeholder 2">
            <a:extLst>
              <a:ext uri="{FF2B5EF4-FFF2-40B4-BE49-F238E27FC236}">
                <a16:creationId xmlns:a16="http://schemas.microsoft.com/office/drawing/2014/main" id="{333E2C14-BD24-4ABA-A365-FC9B560308C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8053912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45D20B2-263D-92B3-7B93-4419712ED35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6E77BFA-93C6-19FD-96C2-C69CFBE86E14}"/>
              </a:ext>
            </a:extLst>
          </p:cNvPr>
          <p:cNvSpPr>
            <a:spLocks noGrp="1"/>
          </p:cNvSpPr>
          <p:nvPr>
            <p:ph type="body" idx="1"/>
          </p:nvPr>
        </p:nvSpPr>
        <p:spPr>
          <a:xfrm>
            <a:off x="1143000" y="1433829"/>
            <a:ext cx="10668000" cy="4529445"/>
          </a:xfrm>
        </p:spPr>
        <p:txBody>
          <a:bodyPr/>
          <a:lstStyle/>
          <a:p>
            <a:pPr algn="l" fontAlgn="base"/>
            <a:r>
              <a:rPr lang="en-US" b="1" i="0" u="sng" dirty="0">
                <a:solidFill>
                  <a:srgbClr val="273239"/>
                </a:solidFill>
                <a:effectLst/>
                <a:latin typeface="Times New Roman" panose="02020603050405020304" pitchFamily="18" charset="0"/>
                <a:cs typeface="Times New Roman" panose="02020603050405020304" pitchFamily="18" charset="0"/>
              </a:rPr>
              <a:t>Properties of a Spanning Tree</a:t>
            </a:r>
            <a:r>
              <a:rPr lang="en-US" b="1" i="0" dirty="0">
                <a:solidFill>
                  <a:srgbClr val="273239"/>
                </a:solidFill>
                <a:effectLst/>
                <a:latin typeface="Times New Roman" panose="02020603050405020304" pitchFamily="18" charset="0"/>
                <a:cs typeface="Times New Roman" panose="02020603050405020304" pitchFamily="18" charset="0"/>
              </a:rPr>
              <a:t>:</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 Spanning tree does not exist for a disconnected graph.</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For a connected graph having </a:t>
            </a:r>
            <a:r>
              <a:rPr lang="en-US" b="1" i="0" dirty="0">
                <a:solidFill>
                  <a:srgbClr val="273239"/>
                </a:solidFill>
                <a:effectLst/>
                <a:latin typeface="Times New Roman" panose="02020603050405020304" pitchFamily="18" charset="0"/>
                <a:cs typeface="Times New Roman" panose="02020603050405020304" pitchFamily="18" charset="0"/>
              </a:rPr>
              <a:t>N</a:t>
            </a:r>
            <a:r>
              <a:rPr lang="en-US" b="0" i="0" dirty="0">
                <a:solidFill>
                  <a:srgbClr val="273239"/>
                </a:solidFill>
                <a:effectLst/>
                <a:latin typeface="Times New Roman" panose="02020603050405020304" pitchFamily="18" charset="0"/>
                <a:cs typeface="Times New Roman" panose="02020603050405020304" pitchFamily="18" charset="0"/>
              </a:rPr>
              <a:t> vertices then the number of edges in the spanning tree for that graph will be</a:t>
            </a:r>
            <a:r>
              <a:rPr lang="en-US" b="1" i="0" dirty="0">
                <a:solidFill>
                  <a:srgbClr val="273239"/>
                </a:solidFill>
                <a:effectLst/>
                <a:latin typeface="Times New Roman" panose="02020603050405020304" pitchFamily="18" charset="0"/>
                <a:cs typeface="Times New Roman" panose="02020603050405020304" pitchFamily="18" charset="0"/>
              </a:rPr>
              <a:t> N-1</a:t>
            </a:r>
            <a:r>
              <a:rPr lang="en-US" b="0" i="0" dirty="0">
                <a:solidFill>
                  <a:srgbClr val="273239"/>
                </a:solidFill>
                <a:effectLst/>
                <a:latin typeface="Times New Roman" panose="02020603050405020304" pitchFamily="18" charset="0"/>
                <a:cs typeface="Times New Roman" panose="02020603050405020304" pitchFamily="18" charset="0"/>
              </a:rPr>
              <a:t>.</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 Spanning tree does not have any cycle.</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We can construct a spanning tree for a complete graph by removing </a:t>
            </a:r>
            <a:r>
              <a:rPr lang="en-US" b="1" i="0" dirty="0">
                <a:solidFill>
                  <a:srgbClr val="273239"/>
                </a:solidFill>
                <a:effectLst/>
                <a:latin typeface="Times New Roman" panose="02020603050405020304" pitchFamily="18" charset="0"/>
                <a:cs typeface="Times New Roman" panose="02020603050405020304" pitchFamily="18" charset="0"/>
              </a:rPr>
              <a:t>E-N+1</a:t>
            </a:r>
            <a:r>
              <a:rPr lang="en-US" b="0" i="0" dirty="0">
                <a:solidFill>
                  <a:srgbClr val="273239"/>
                </a:solidFill>
                <a:effectLst/>
                <a:latin typeface="Times New Roman" panose="02020603050405020304" pitchFamily="18" charset="0"/>
                <a:cs typeface="Times New Roman" panose="02020603050405020304" pitchFamily="18" charset="0"/>
              </a:rPr>
              <a:t> edges, where </a:t>
            </a:r>
            <a:r>
              <a:rPr lang="en-US" b="1" i="0" dirty="0">
                <a:solidFill>
                  <a:srgbClr val="273239"/>
                </a:solidFill>
                <a:effectLst/>
                <a:latin typeface="Times New Roman" panose="02020603050405020304" pitchFamily="18" charset="0"/>
                <a:cs typeface="Times New Roman" panose="02020603050405020304" pitchFamily="18" charset="0"/>
              </a:rPr>
              <a:t>E</a:t>
            </a:r>
            <a:r>
              <a:rPr lang="en-US" b="0" i="0" dirty="0">
                <a:solidFill>
                  <a:srgbClr val="273239"/>
                </a:solidFill>
                <a:effectLst/>
                <a:latin typeface="Times New Roman" panose="02020603050405020304" pitchFamily="18" charset="0"/>
                <a:cs typeface="Times New Roman" panose="02020603050405020304" pitchFamily="18" charset="0"/>
              </a:rPr>
              <a:t> is the number of Edges and </a:t>
            </a:r>
            <a:r>
              <a:rPr lang="en-US" b="1" i="0" dirty="0">
                <a:solidFill>
                  <a:srgbClr val="273239"/>
                </a:solidFill>
                <a:effectLst/>
                <a:latin typeface="Times New Roman" panose="02020603050405020304" pitchFamily="18" charset="0"/>
                <a:cs typeface="Times New Roman" panose="02020603050405020304" pitchFamily="18" charset="0"/>
              </a:rPr>
              <a:t>N</a:t>
            </a:r>
            <a:r>
              <a:rPr lang="en-US" b="0" i="0" dirty="0">
                <a:solidFill>
                  <a:srgbClr val="273239"/>
                </a:solidFill>
                <a:effectLst/>
                <a:latin typeface="Times New Roman" panose="02020603050405020304" pitchFamily="18" charset="0"/>
                <a:cs typeface="Times New Roman" panose="02020603050405020304" pitchFamily="18" charset="0"/>
              </a:rPr>
              <a:t> is the number of vertices.</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Cayley's Formula:</a:t>
            </a:r>
            <a:r>
              <a:rPr lang="en-US" b="0" i="0" dirty="0">
                <a:solidFill>
                  <a:srgbClr val="273239"/>
                </a:solidFill>
                <a:effectLst/>
                <a:latin typeface="Times New Roman" panose="02020603050405020304" pitchFamily="18" charset="0"/>
                <a:cs typeface="Times New Roman" panose="02020603050405020304" pitchFamily="18" charset="0"/>
              </a:rPr>
              <a:t> It states that the number of spanning trees in a complete graph with N vertices is NN−2</a:t>
            </a:r>
            <a:r>
              <a:rPr lang="en-US" b="0" i="1" dirty="0">
                <a:solidFill>
                  <a:srgbClr val="273239"/>
                </a:solidFill>
                <a:effectLst/>
                <a:latin typeface="Times New Roman" panose="02020603050405020304" pitchFamily="18" charset="0"/>
                <a:cs typeface="Times New Roman" panose="02020603050405020304" pitchFamily="18" charset="0"/>
              </a:rPr>
              <a:t>NN</a:t>
            </a:r>
            <a:r>
              <a:rPr lang="en-US" b="0" i="0" dirty="0">
                <a:solidFill>
                  <a:srgbClr val="273239"/>
                </a:solidFill>
                <a:effectLst/>
                <a:latin typeface="Times New Roman" panose="02020603050405020304" pitchFamily="18" charset="0"/>
                <a:cs typeface="Times New Roman" panose="02020603050405020304" pitchFamily="18" charset="0"/>
              </a:rPr>
              <a:t>−2</a:t>
            </a:r>
          </a:p>
          <a:p>
            <a:pPr marL="742950" lvl="1" indent="-285750" algn="l" fontAlgn="base">
              <a:spcBef>
                <a:spcPts val="375"/>
              </a:spcBef>
              <a:spcAft>
                <a:spcPts val="375"/>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For example: N=4, then maximum number of spanning tree possible =44−244−2 = 16</a:t>
            </a:r>
            <a:endParaRPr lang="en-IN" dirty="0">
              <a:latin typeface="Times New Roman" panose="02020603050405020304" pitchFamily="18" charset="0"/>
              <a:cs typeface="Times New Roman" panose="02020603050405020304" pitchFamily="18" charset="0"/>
            </a:endParaRPr>
          </a:p>
        </p:txBody>
      </p:sp>
      <p:pic>
        <p:nvPicPr>
          <p:cNvPr id="9" name="object 9">
            <a:extLst>
              <a:ext uri="{FF2B5EF4-FFF2-40B4-BE49-F238E27FC236}">
                <a16:creationId xmlns:a16="http://schemas.microsoft.com/office/drawing/2014/main" id="{0FAEED0B-42A8-9176-7C1A-D9299828494F}"/>
              </a:ext>
            </a:extLst>
          </p:cNvPr>
          <p:cNvPicPr/>
          <p:nvPr/>
        </p:nvPicPr>
        <p:blipFill>
          <a:blip r:embed="rId2" cstate="print"/>
          <a:stretch>
            <a:fillRect/>
          </a:stretch>
        </p:blipFill>
        <p:spPr>
          <a:xfrm>
            <a:off x="107372" y="25"/>
            <a:ext cx="2254827" cy="94726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2738414" y="-23375"/>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Calibri (Body)"/>
                <a:cs typeface="Times New Roman" panose="02020603050405020304" pitchFamily="18" charset="0"/>
              </a:rPr>
              <a:t>SPANNING TREE</a:t>
            </a:r>
          </a:p>
        </p:txBody>
      </p:sp>
      <p:sp>
        <p:nvSpPr>
          <p:cNvPr id="3" name="Date Placeholder 2">
            <a:extLst>
              <a:ext uri="{FF2B5EF4-FFF2-40B4-BE49-F238E27FC236}">
                <a16:creationId xmlns:a16="http://schemas.microsoft.com/office/drawing/2014/main" id="{7B1ADF0D-A675-45A1-8D19-59634F44A687}"/>
              </a:ext>
            </a:extLst>
          </p:cNvPr>
          <p:cNvSpPr>
            <a:spLocks noGrp="1"/>
          </p:cNvSpPr>
          <p:nvPr>
            <p:ph type="dt" sz="half" idx="6"/>
          </p:nvPr>
        </p:nvSpPr>
        <p:spPr/>
        <p:txBody>
          <a:bodyPr/>
          <a:lstStyle/>
          <a:p>
            <a:pPr marL="12700">
              <a:lnSpc>
                <a:spcPts val="1240"/>
              </a:lnSpc>
            </a:pPr>
            <a:fld id="{0918193A-B800-4B6D-98B8-07B769A2C1C7}" type="datetime1">
              <a:rPr lang="en-US" spc="-25" smtClean="0"/>
              <a:t>7/8/2026</a:t>
            </a:fld>
            <a:endParaRPr lang="en-IN" spc="-25" dirty="0"/>
          </a:p>
        </p:txBody>
      </p:sp>
      <p:sp>
        <p:nvSpPr>
          <p:cNvPr id="4" name="Footer Placeholder 3">
            <a:extLst>
              <a:ext uri="{FF2B5EF4-FFF2-40B4-BE49-F238E27FC236}">
                <a16:creationId xmlns:a16="http://schemas.microsoft.com/office/drawing/2014/main" id="{5AF2A204-2350-4AC1-A305-B3BAF1AA164E}"/>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51169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8018BD-69BD-5668-DFAC-3285EE3C2C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AB8BDA-6C8C-F479-1180-DA4C2C55E5FD}"/>
              </a:ext>
            </a:extLst>
          </p:cNvPr>
          <p:cNvSpPr txBox="1"/>
          <p:nvPr/>
        </p:nvSpPr>
        <p:spPr>
          <a:xfrm>
            <a:off x="1828800" y="1143000"/>
            <a:ext cx="8073390" cy="3459280"/>
          </a:xfrm>
          <a:prstGeom prst="rect">
            <a:avLst/>
          </a:prstGeom>
        </p:spPr>
        <p:txBody>
          <a:bodyPr vert="horz" wrap="square" lIns="0" tIns="12065" rIns="0" bIns="0" rtlCol="0">
            <a:spAutoFit/>
          </a:bodyPr>
          <a:lstStyle/>
          <a:p>
            <a:r>
              <a:rPr lang="en-US" sz="2000" b="1" dirty="0">
                <a:latin typeface="Times New Roman" panose="02020603050405020304" pitchFamily="18" charset="0"/>
                <a:cs typeface="Times New Roman" panose="02020603050405020304" pitchFamily="18" charset="0"/>
              </a:rPr>
              <a:t>Algorithm of Kruskal's</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any graph, </a:t>
            </a:r>
            <a:r>
              <a:rPr lang="en-US" sz="2000" i="1" dirty="0">
                <a:latin typeface="Times New Roman" panose="02020603050405020304" pitchFamily="18" charset="0"/>
                <a:cs typeface="Times New Roman" panose="02020603050405020304" pitchFamily="18" charset="0"/>
              </a:rPr>
              <a:t>G</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V</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E</a:t>
            </a:r>
            <a:r>
              <a:rPr lang="en-US" sz="2000" dirty="0">
                <a:latin typeface="Times New Roman" panose="02020603050405020304" pitchFamily="18" charset="0"/>
                <a:cs typeface="Times New Roman" panose="02020603050405020304" pitchFamily="18" charset="0"/>
              </a:rPr>
              <a:t>), finding an MST using Kruskal's algorithm involves the following steps –</a:t>
            </a:r>
          </a:p>
          <a:p>
            <a:endParaRPr lang="en-US" sz="20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2000" dirty="0">
                <a:latin typeface="Times New Roman" panose="02020603050405020304" pitchFamily="18" charset="0"/>
                <a:cs typeface="Times New Roman" panose="02020603050405020304" pitchFamily="18" charset="0"/>
              </a:rPr>
              <a:t>Sort all the edges of the graph in ascending order of their weights.</a:t>
            </a:r>
          </a:p>
          <a:p>
            <a:pPr marL="285750" indent="-285750">
              <a:buFont typeface="Arial"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2000" dirty="0">
                <a:latin typeface="Times New Roman" panose="02020603050405020304" pitchFamily="18" charset="0"/>
                <a:cs typeface="Times New Roman" panose="02020603050405020304" pitchFamily="18" charset="0"/>
              </a:rPr>
              <a:t>Check the edge with minimum weight, if including it in the answer forms a cycle discard it, otherwise include it in the answer.</a:t>
            </a:r>
          </a:p>
          <a:p>
            <a:pPr marL="285750" indent="-285750">
              <a:buFont typeface="Arial"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2000" dirty="0">
                <a:latin typeface="Times New Roman" panose="02020603050405020304" pitchFamily="18" charset="0"/>
                <a:cs typeface="Times New Roman" panose="02020603050405020304" pitchFamily="18" charset="0"/>
              </a:rPr>
              <a:t>Repeat the above step until we have chosen </a:t>
            </a:r>
            <a:r>
              <a:rPr lang="en-US" sz="2000" i="1" dirty="0">
                <a:latin typeface="Times New Roman" panose="02020603050405020304" pitchFamily="18" charset="0"/>
                <a:cs typeface="Times New Roman" panose="02020603050405020304" pitchFamily="18" charset="0"/>
              </a:rPr>
              <a:t>V</a:t>
            </a:r>
            <a:r>
              <a:rPr lang="en-US" sz="2000" dirty="0">
                <a:latin typeface="Times New Roman" panose="02020603050405020304" pitchFamily="18" charset="0"/>
                <a:cs typeface="Times New Roman" panose="02020603050405020304" pitchFamily="18" charset="0"/>
              </a:rPr>
              <a:t>−1 edges</a:t>
            </a:r>
            <a:r>
              <a:rPr lang="en-US" sz="2400" dirty="0"/>
              <a:t>.</a:t>
            </a:r>
          </a:p>
        </p:txBody>
      </p:sp>
      <p:pic>
        <p:nvPicPr>
          <p:cNvPr id="9" name="object 9">
            <a:extLst>
              <a:ext uri="{FF2B5EF4-FFF2-40B4-BE49-F238E27FC236}">
                <a16:creationId xmlns:a16="http://schemas.microsoft.com/office/drawing/2014/main" id="{CE3277F6-C3E9-47D4-3045-9E1D9A83A8CC}"/>
              </a:ext>
            </a:extLst>
          </p:cNvPr>
          <p:cNvPicPr/>
          <p:nvPr/>
        </p:nvPicPr>
        <p:blipFill>
          <a:blip r:embed="rId2" cstate="print"/>
          <a:stretch>
            <a:fillRect/>
          </a:stretch>
        </p:blipFill>
        <p:spPr>
          <a:xfrm>
            <a:off x="107372" y="25"/>
            <a:ext cx="2254827" cy="94726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6A138D0B-7FF0-45D1-B99B-07F217D14F71}"/>
              </a:ext>
            </a:extLst>
          </p:cNvPr>
          <p:cNvSpPr>
            <a:spLocks noGrp="1"/>
          </p:cNvSpPr>
          <p:nvPr>
            <p:ph type="dt" sz="half" idx="6"/>
          </p:nvPr>
        </p:nvSpPr>
        <p:spPr/>
        <p:txBody>
          <a:bodyPr/>
          <a:lstStyle/>
          <a:p>
            <a:pPr marL="12700">
              <a:lnSpc>
                <a:spcPts val="1240"/>
              </a:lnSpc>
            </a:pPr>
            <a:fld id="{DB572259-714F-4EF0-AC41-E6BEE55DAA0C}" type="datetime1">
              <a:rPr lang="en-US" spc="-25" smtClean="0"/>
              <a:t>7/8/2026</a:t>
            </a:fld>
            <a:endParaRPr lang="en-IN" spc="-25" dirty="0"/>
          </a:p>
        </p:txBody>
      </p:sp>
      <p:sp>
        <p:nvSpPr>
          <p:cNvPr id="4" name="Footer Placeholder 3">
            <a:extLst>
              <a:ext uri="{FF2B5EF4-FFF2-40B4-BE49-F238E27FC236}">
                <a16:creationId xmlns:a16="http://schemas.microsoft.com/office/drawing/2014/main" id="{2052A02D-DC3A-4020-B4F4-D0C9DCF90DC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0737255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0C8A3F-05F7-46AB-40CA-CC0C37B85CD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2BFC292-1C88-3066-B90B-55FA13A9B0EA}"/>
              </a:ext>
            </a:extLst>
          </p:cNvPr>
          <p:cNvSpPr txBox="1"/>
          <p:nvPr/>
        </p:nvSpPr>
        <p:spPr>
          <a:xfrm>
            <a:off x="2136394" y="1561846"/>
            <a:ext cx="8073390" cy="2782172"/>
          </a:xfrm>
          <a:prstGeom prst="rect">
            <a:avLst/>
          </a:prstGeom>
        </p:spPr>
        <p:txBody>
          <a:bodyPr vert="horz" wrap="square" lIns="0" tIns="12065" rIns="0" bIns="0" rtlCol="0">
            <a:spAutoFit/>
          </a:bodyPr>
          <a:lstStyle/>
          <a:p>
            <a:pPr eaLnBrk="1" hangingPunct="1"/>
            <a:r>
              <a:rPr lang="en-US" altLang="en-US" sz="2000" b="1" dirty="0">
                <a:latin typeface="Times New Roman" panose="02020603050405020304" pitchFamily="18" charset="0"/>
                <a:cs typeface="Times New Roman" panose="02020603050405020304" pitchFamily="18" charset="0"/>
              </a:rPr>
              <a:t>Kruskal’s working Rule</a:t>
            </a:r>
          </a:p>
          <a:p>
            <a:pPr eaLnBrk="1" hangingPunct="1"/>
            <a:endParaRPr lang="en-US" altLang="en-US" sz="2000" b="1"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 Select minimum weighted edge in graph</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 Choose the next minimum weighted edge</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 Repeat step2 until all edges are not explored</a:t>
            </a:r>
          </a:p>
          <a:p>
            <a:pPr eaLnBrk="1" hangingPunct="1"/>
            <a:endParaRPr lang="en-US" alt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9" name="object 9">
            <a:extLst>
              <a:ext uri="{FF2B5EF4-FFF2-40B4-BE49-F238E27FC236}">
                <a16:creationId xmlns:a16="http://schemas.microsoft.com/office/drawing/2014/main" id="{7E586C14-5548-94D8-5B97-C06278626DC7}"/>
              </a:ext>
            </a:extLst>
          </p:cNvPr>
          <p:cNvPicPr/>
          <p:nvPr/>
        </p:nvPicPr>
        <p:blipFill>
          <a:blip r:embed="rId2" cstate="print"/>
          <a:stretch>
            <a:fillRect/>
          </a:stretch>
        </p:blipFill>
        <p:spPr>
          <a:xfrm>
            <a:off x="107372" y="25"/>
            <a:ext cx="2254827" cy="94726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BE843D5B-B3AF-4CE2-9C3E-2FA0AFF7478E}"/>
              </a:ext>
            </a:extLst>
          </p:cNvPr>
          <p:cNvSpPr>
            <a:spLocks noGrp="1"/>
          </p:cNvSpPr>
          <p:nvPr>
            <p:ph type="dt" sz="half" idx="6"/>
          </p:nvPr>
        </p:nvSpPr>
        <p:spPr/>
        <p:txBody>
          <a:bodyPr/>
          <a:lstStyle/>
          <a:p>
            <a:pPr marL="12700">
              <a:lnSpc>
                <a:spcPts val="1240"/>
              </a:lnSpc>
            </a:pPr>
            <a:fld id="{C0C8929B-AE1B-41BA-A314-EC6DDF9D0965}" type="datetime1">
              <a:rPr lang="en-US" spc="-25" smtClean="0"/>
              <a:t>7/8/2026</a:t>
            </a:fld>
            <a:endParaRPr lang="en-IN" spc="-25" dirty="0"/>
          </a:p>
        </p:txBody>
      </p:sp>
      <p:sp>
        <p:nvSpPr>
          <p:cNvPr id="4" name="Footer Placeholder 3">
            <a:extLst>
              <a:ext uri="{FF2B5EF4-FFF2-40B4-BE49-F238E27FC236}">
                <a16:creationId xmlns:a16="http://schemas.microsoft.com/office/drawing/2014/main" id="{D975C3DB-3221-4A4E-95EC-9AE71CF20C5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9625051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556A1ED-C21B-4CCB-59C3-412935C4F0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F9926D1-EBBD-FB10-EC9B-FE2039B703D5}"/>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58A1D654-BBEB-2A3D-E577-CB0F152F2EC9}"/>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93452C13-4D0A-CA2C-5FD4-78A1420CAE43}"/>
              </a:ext>
            </a:extLst>
          </p:cNvPr>
          <p:cNvPicPr>
            <a:picLocks noChangeAspect="1"/>
          </p:cNvPicPr>
          <p:nvPr/>
        </p:nvPicPr>
        <p:blipFill>
          <a:blip r:embed="rId3"/>
          <a:stretch>
            <a:fillRect/>
          </a:stretch>
        </p:blipFill>
        <p:spPr>
          <a:xfrm>
            <a:off x="2591042" y="1219200"/>
            <a:ext cx="7164094" cy="4686475"/>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9680480B-DA8A-4627-9B8A-351E6E63417B}"/>
              </a:ext>
            </a:extLst>
          </p:cNvPr>
          <p:cNvSpPr>
            <a:spLocks noGrp="1"/>
          </p:cNvSpPr>
          <p:nvPr>
            <p:ph type="dt" sz="half" idx="6"/>
          </p:nvPr>
        </p:nvSpPr>
        <p:spPr/>
        <p:txBody>
          <a:bodyPr/>
          <a:lstStyle/>
          <a:p>
            <a:pPr marL="12700">
              <a:lnSpc>
                <a:spcPts val="1240"/>
              </a:lnSpc>
            </a:pPr>
            <a:fld id="{65024E60-CB32-4D04-B2E1-63EC04EB7A4E}" type="datetime1">
              <a:rPr lang="en-US" spc="-25" smtClean="0"/>
              <a:t>7/8/2026</a:t>
            </a:fld>
            <a:endParaRPr lang="en-IN" spc="-25" dirty="0"/>
          </a:p>
        </p:txBody>
      </p:sp>
      <p:sp>
        <p:nvSpPr>
          <p:cNvPr id="4" name="Footer Placeholder 3">
            <a:extLst>
              <a:ext uri="{FF2B5EF4-FFF2-40B4-BE49-F238E27FC236}">
                <a16:creationId xmlns:a16="http://schemas.microsoft.com/office/drawing/2014/main" id="{7579AFF5-1448-415C-8E6D-FD87F412D9A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2174228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FB8D703-2057-772A-C547-1249B6E0B9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9035861-122A-6D86-47F4-EDDCDB9A9F3A}"/>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B32441E8-F473-7815-8C5A-F2C7A9130920}"/>
              </a:ext>
            </a:extLst>
          </p:cNvPr>
          <p:cNvPicPr/>
          <p:nvPr/>
        </p:nvPicPr>
        <p:blipFill>
          <a:blip r:embed="rId2" cstate="print"/>
          <a:stretch>
            <a:fillRect/>
          </a:stretch>
        </p:blipFill>
        <p:spPr>
          <a:xfrm>
            <a:off x="107372" y="25"/>
            <a:ext cx="2254827" cy="947267"/>
          </a:xfrm>
          <a:prstGeom prst="rect">
            <a:avLst/>
          </a:prstGeom>
        </p:spPr>
      </p:pic>
      <p:pic>
        <p:nvPicPr>
          <p:cNvPr id="12" name="Picture 11">
            <a:extLst>
              <a:ext uri="{FF2B5EF4-FFF2-40B4-BE49-F238E27FC236}">
                <a16:creationId xmlns:a16="http://schemas.microsoft.com/office/drawing/2014/main" id="{74576002-3BBA-37A2-57D8-88CDE6F87604}"/>
              </a:ext>
            </a:extLst>
          </p:cNvPr>
          <p:cNvPicPr>
            <a:picLocks noChangeAspect="1"/>
          </p:cNvPicPr>
          <p:nvPr/>
        </p:nvPicPr>
        <p:blipFill>
          <a:blip r:embed="rId3"/>
          <a:stretch>
            <a:fillRect/>
          </a:stretch>
        </p:blipFill>
        <p:spPr>
          <a:xfrm>
            <a:off x="2826736" y="1428576"/>
            <a:ext cx="6538527" cy="400084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969BBD00-90ED-419B-9B11-77246CC36A2B}"/>
              </a:ext>
            </a:extLst>
          </p:cNvPr>
          <p:cNvSpPr>
            <a:spLocks noGrp="1"/>
          </p:cNvSpPr>
          <p:nvPr>
            <p:ph type="dt" sz="half" idx="6"/>
          </p:nvPr>
        </p:nvSpPr>
        <p:spPr/>
        <p:txBody>
          <a:bodyPr/>
          <a:lstStyle/>
          <a:p>
            <a:pPr marL="12700">
              <a:lnSpc>
                <a:spcPts val="1240"/>
              </a:lnSpc>
            </a:pPr>
            <a:fld id="{2DF643BD-3F57-4C0E-9359-44A3D237BD79}" type="datetime1">
              <a:rPr lang="en-US" spc="-25" smtClean="0"/>
              <a:t>7/8/2026</a:t>
            </a:fld>
            <a:endParaRPr lang="en-IN" spc="-25" dirty="0"/>
          </a:p>
        </p:txBody>
      </p:sp>
      <p:sp>
        <p:nvSpPr>
          <p:cNvPr id="4" name="Footer Placeholder 3">
            <a:extLst>
              <a:ext uri="{FF2B5EF4-FFF2-40B4-BE49-F238E27FC236}">
                <a16:creationId xmlns:a16="http://schemas.microsoft.com/office/drawing/2014/main" id="{DB8E935E-3411-4CB0-B670-C3314CD3BF2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9947199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ADD851-47EF-C204-8638-57AC54FB6A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E52E6FE-848B-77B2-990D-E44E549C49DA}"/>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A1439F02-9708-2C23-E356-43D3EAB450E3}"/>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6D747013-F684-C306-7E91-68536625C3F8}"/>
              </a:ext>
            </a:extLst>
          </p:cNvPr>
          <p:cNvPicPr>
            <a:picLocks noChangeAspect="1"/>
          </p:cNvPicPr>
          <p:nvPr/>
        </p:nvPicPr>
        <p:blipFill>
          <a:blip r:embed="rId3"/>
          <a:stretch>
            <a:fillRect/>
          </a:stretch>
        </p:blipFill>
        <p:spPr>
          <a:xfrm>
            <a:off x="2819116" y="1420956"/>
            <a:ext cx="7848884" cy="4446444"/>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F6296DDC-77D0-477F-BF9D-1ECB0EB66AFA}"/>
              </a:ext>
            </a:extLst>
          </p:cNvPr>
          <p:cNvSpPr>
            <a:spLocks noGrp="1"/>
          </p:cNvSpPr>
          <p:nvPr>
            <p:ph type="dt" sz="half" idx="6"/>
          </p:nvPr>
        </p:nvSpPr>
        <p:spPr/>
        <p:txBody>
          <a:bodyPr/>
          <a:lstStyle/>
          <a:p>
            <a:pPr marL="12700">
              <a:lnSpc>
                <a:spcPts val="1240"/>
              </a:lnSpc>
            </a:pPr>
            <a:fld id="{0F55DF88-35C6-40BF-B99E-3B7F01CC7A0E}" type="datetime1">
              <a:rPr lang="en-US" spc="-25" smtClean="0"/>
              <a:t>7/8/2026</a:t>
            </a:fld>
            <a:endParaRPr lang="en-IN" spc="-25" dirty="0"/>
          </a:p>
        </p:txBody>
      </p:sp>
      <p:sp>
        <p:nvSpPr>
          <p:cNvPr id="4" name="Footer Placeholder 3">
            <a:extLst>
              <a:ext uri="{FF2B5EF4-FFF2-40B4-BE49-F238E27FC236}">
                <a16:creationId xmlns:a16="http://schemas.microsoft.com/office/drawing/2014/main" id="{433A3CA5-C7AC-49CA-A0A1-DCA71A7AF7A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9816197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2A73EA-0827-0C78-7779-355CFF7208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CFBF000-34DC-1DDF-8150-94DECB215DB4}"/>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9BACFBDE-0AFC-6E55-691F-E6DD86C0C061}"/>
              </a:ext>
            </a:extLst>
          </p:cNvPr>
          <p:cNvPicPr/>
          <p:nvPr/>
        </p:nvPicPr>
        <p:blipFill>
          <a:blip r:embed="rId2" cstate="print"/>
          <a:stretch>
            <a:fillRect/>
          </a:stretch>
        </p:blipFill>
        <p:spPr>
          <a:xfrm>
            <a:off x="107372" y="25"/>
            <a:ext cx="2254827" cy="947267"/>
          </a:xfrm>
          <a:prstGeom prst="rect">
            <a:avLst/>
          </a:prstGeom>
        </p:spPr>
      </p:pic>
      <p:pic>
        <p:nvPicPr>
          <p:cNvPr id="13" name="Picture 12">
            <a:extLst>
              <a:ext uri="{FF2B5EF4-FFF2-40B4-BE49-F238E27FC236}">
                <a16:creationId xmlns:a16="http://schemas.microsoft.com/office/drawing/2014/main" id="{F2E87BB9-025E-1D5E-D8B8-7E237C1E42FD}"/>
              </a:ext>
            </a:extLst>
          </p:cNvPr>
          <p:cNvPicPr>
            <a:picLocks noChangeAspect="1"/>
          </p:cNvPicPr>
          <p:nvPr/>
        </p:nvPicPr>
        <p:blipFill>
          <a:blip r:embed="rId3"/>
          <a:stretch>
            <a:fillRect/>
          </a:stretch>
        </p:blipFill>
        <p:spPr>
          <a:xfrm>
            <a:off x="2792443" y="1440007"/>
            <a:ext cx="6607113" cy="4579793"/>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AD891E1B-B629-4019-AC8C-2E1E18643FDB}"/>
              </a:ext>
            </a:extLst>
          </p:cNvPr>
          <p:cNvSpPr>
            <a:spLocks noGrp="1"/>
          </p:cNvSpPr>
          <p:nvPr>
            <p:ph type="dt" sz="half" idx="6"/>
          </p:nvPr>
        </p:nvSpPr>
        <p:spPr/>
        <p:txBody>
          <a:bodyPr/>
          <a:lstStyle/>
          <a:p>
            <a:pPr marL="12700">
              <a:lnSpc>
                <a:spcPts val="1240"/>
              </a:lnSpc>
            </a:pPr>
            <a:fld id="{FF082F89-EE3E-46AE-B00D-49421953009C}" type="datetime1">
              <a:rPr lang="en-US" spc="-25" smtClean="0"/>
              <a:t>7/8/2026</a:t>
            </a:fld>
            <a:endParaRPr lang="en-IN" spc="-25" dirty="0"/>
          </a:p>
        </p:txBody>
      </p:sp>
      <p:sp>
        <p:nvSpPr>
          <p:cNvPr id="4" name="Footer Placeholder 3">
            <a:extLst>
              <a:ext uri="{FF2B5EF4-FFF2-40B4-BE49-F238E27FC236}">
                <a16:creationId xmlns:a16="http://schemas.microsoft.com/office/drawing/2014/main" id="{1F7435E6-1B12-4803-A11E-1063B8A1490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7937702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63B21B-0A5B-20DF-F2AE-66E9C5FFE7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170B49-1FE6-F0C8-1E10-0CFE73C0DC1C}"/>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1744A53D-2CDD-A52A-B4BD-60BEC8656C7F}"/>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1612F454-D655-2102-5152-51F2F5C479AA}"/>
              </a:ext>
            </a:extLst>
          </p:cNvPr>
          <p:cNvPicPr>
            <a:picLocks noChangeAspect="1"/>
          </p:cNvPicPr>
          <p:nvPr/>
        </p:nvPicPr>
        <p:blipFill>
          <a:blip r:embed="rId3"/>
          <a:stretch>
            <a:fillRect/>
          </a:stretch>
        </p:blipFill>
        <p:spPr>
          <a:xfrm>
            <a:off x="2788633" y="1459059"/>
            <a:ext cx="6614733" cy="4636941"/>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04081A66-46C8-4C9E-B309-26A48FE55F55}"/>
              </a:ext>
            </a:extLst>
          </p:cNvPr>
          <p:cNvSpPr>
            <a:spLocks noGrp="1"/>
          </p:cNvSpPr>
          <p:nvPr>
            <p:ph type="dt" sz="half" idx="6"/>
          </p:nvPr>
        </p:nvSpPr>
        <p:spPr/>
        <p:txBody>
          <a:bodyPr/>
          <a:lstStyle/>
          <a:p>
            <a:pPr marL="12700">
              <a:lnSpc>
                <a:spcPts val="1240"/>
              </a:lnSpc>
            </a:pPr>
            <a:fld id="{69F331D6-759B-4FDC-B932-59CFCA27E6E7}" type="datetime1">
              <a:rPr lang="en-US" spc="-25" smtClean="0"/>
              <a:t>7/8/2026</a:t>
            </a:fld>
            <a:endParaRPr lang="en-IN" spc="-25" dirty="0"/>
          </a:p>
        </p:txBody>
      </p:sp>
      <p:sp>
        <p:nvSpPr>
          <p:cNvPr id="4" name="Footer Placeholder 3">
            <a:extLst>
              <a:ext uri="{FF2B5EF4-FFF2-40B4-BE49-F238E27FC236}">
                <a16:creationId xmlns:a16="http://schemas.microsoft.com/office/drawing/2014/main" id="{F44758ED-ACF8-4CCD-916C-84BE47D0FD9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610981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7B354F-67C1-3BF8-E799-757AE27249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79FC65-EADE-0B89-D1A5-331079E87FF7}"/>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7F50D0C1-6187-C071-A81F-59DDD87989A3}"/>
              </a:ext>
            </a:extLst>
          </p:cNvPr>
          <p:cNvPicPr/>
          <p:nvPr/>
        </p:nvPicPr>
        <p:blipFill>
          <a:blip r:embed="rId2" cstate="print"/>
          <a:stretch>
            <a:fillRect/>
          </a:stretch>
        </p:blipFill>
        <p:spPr>
          <a:xfrm>
            <a:off x="107372" y="25"/>
            <a:ext cx="2254827" cy="947267"/>
          </a:xfrm>
          <a:prstGeom prst="rect">
            <a:avLst/>
          </a:prstGeom>
        </p:spPr>
      </p:pic>
      <p:pic>
        <p:nvPicPr>
          <p:cNvPr id="11" name="Picture 10">
            <a:extLst>
              <a:ext uri="{FF2B5EF4-FFF2-40B4-BE49-F238E27FC236}">
                <a16:creationId xmlns:a16="http://schemas.microsoft.com/office/drawing/2014/main" id="{0B370C34-7BB8-176D-4765-9226C037FA3D}"/>
              </a:ext>
            </a:extLst>
          </p:cNvPr>
          <p:cNvPicPr>
            <a:picLocks noChangeAspect="1"/>
          </p:cNvPicPr>
          <p:nvPr/>
        </p:nvPicPr>
        <p:blipFill>
          <a:blip r:embed="rId3"/>
          <a:stretch>
            <a:fillRect/>
          </a:stretch>
        </p:blipFill>
        <p:spPr>
          <a:xfrm>
            <a:off x="2811495" y="1459059"/>
            <a:ext cx="6569009" cy="4484541"/>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24206C29-426D-4C17-9025-3A7600296512}"/>
              </a:ext>
            </a:extLst>
          </p:cNvPr>
          <p:cNvSpPr>
            <a:spLocks noGrp="1"/>
          </p:cNvSpPr>
          <p:nvPr>
            <p:ph type="dt" sz="half" idx="6"/>
          </p:nvPr>
        </p:nvSpPr>
        <p:spPr/>
        <p:txBody>
          <a:bodyPr/>
          <a:lstStyle/>
          <a:p>
            <a:pPr marL="12700">
              <a:lnSpc>
                <a:spcPts val="1240"/>
              </a:lnSpc>
            </a:pPr>
            <a:fld id="{8FA88344-E3ED-420E-908C-6E0AC78624C2}" type="datetime1">
              <a:rPr lang="en-US" spc="-25" smtClean="0"/>
              <a:t>7/8/2026</a:t>
            </a:fld>
            <a:endParaRPr lang="en-IN" spc="-25" dirty="0"/>
          </a:p>
        </p:txBody>
      </p:sp>
      <p:sp>
        <p:nvSpPr>
          <p:cNvPr id="4" name="Footer Placeholder 3">
            <a:extLst>
              <a:ext uri="{FF2B5EF4-FFF2-40B4-BE49-F238E27FC236}">
                <a16:creationId xmlns:a16="http://schemas.microsoft.com/office/drawing/2014/main" id="{04A64F5B-7B48-4EAE-9397-E5D94F9B300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2335729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BD0282-D449-A3E1-2D24-9143BB92CB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C2EBE88-F6D9-34E6-6D18-FE3A407DBBFF}"/>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A449A123-C258-C033-2DC5-4CD5970EE836}"/>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64B4D1F0-1904-081B-6A43-ADEB08ECA340}"/>
              </a:ext>
            </a:extLst>
          </p:cNvPr>
          <p:cNvPicPr>
            <a:picLocks noChangeAspect="1"/>
          </p:cNvPicPr>
          <p:nvPr/>
        </p:nvPicPr>
        <p:blipFill>
          <a:blip r:embed="rId3"/>
          <a:stretch>
            <a:fillRect/>
          </a:stretch>
        </p:blipFill>
        <p:spPr>
          <a:xfrm>
            <a:off x="2800064" y="1417145"/>
            <a:ext cx="6801136" cy="4678855"/>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C1717E9B-CFBA-4871-893D-A5E0281DE285}"/>
              </a:ext>
            </a:extLst>
          </p:cNvPr>
          <p:cNvSpPr>
            <a:spLocks noGrp="1"/>
          </p:cNvSpPr>
          <p:nvPr>
            <p:ph type="dt" sz="half" idx="6"/>
          </p:nvPr>
        </p:nvSpPr>
        <p:spPr/>
        <p:txBody>
          <a:bodyPr/>
          <a:lstStyle/>
          <a:p>
            <a:pPr marL="12700">
              <a:lnSpc>
                <a:spcPts val="1240"/>
              </a:lnSpc>
            </a:pPr>
            <a:fld id="{2B6A8633-7D32-4743-837A-72EC809D3409}" type="datetime1">
              <a:rPr lang="en-US" spc="-25" smtClean="0"/>
              <a:t>7/8/2026</a:t>
            </a:fld>
            <a:endParaRPr lang="en-IN" spc="-25" dirty="0"/>
          </a:p>
        </p:txBody>
      </p:sp>
      <p:sp>
        <p:nvSpPr>
          <p:cNvPr id="4" name="Footer Placeholder 3">
            <a:extLst>
              <a:ext uri="{FF2B5EF4-FFF2-40B4-BE49-F238E27FC236}">
                <a16:creationId xmlns:a16="http://schemas.microsoft.com/office/drawing/2014/main" id="{17FE9C58-5A79-420A-8F0B-9DD3E8F2544E}"/>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3159909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D05792-D037-C49E-2D57-22AEBEBA23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AFFDD90-7A69-A532-C608-C9D6DF87DE41}"/>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CE9ABCCB-E727-351A-4885-9A87044A2FDB}"/>
              </a:ext>
            </a:extLst>
          </p:cNvPr>
          <p:cNvPicPr/>
          <p:nvPr/>
        </p:nvPicPr>
        <p:blipFill>
          <a:blip r:embed="rId2" cstate="print"/>
          <a:stretch>
            <a:fillRect/>
          </a:stretch>
        </p:blipFill>
        <p:spPr>
          <a:xfrm>
            <a:off x="107372" y="25"/>
            <a:ext cx="2254827" cy="947267"/>
          </a:xfrm>
          <a:prstGeom prst="rect">
            <a:avLst/>
          </a:prstGeom>
        </p:spPr>
      </p:pic>
      <p:sp>
        <p:nvSpPr>
          <p:cNvPr id="11" name="TextBox 10">
            <a:extLst>
              <a:ext uri="{FF2B5EF4-FFF2-40B4-BE49-F238E27FC236}">
                <a16:creationId xmlns:a16="http://schemas.microsoft.com/office/drawing/2014/main" id="{DC2E18C9-FE88-7D56-9C76-6073AC8802E6}"/>
              </a:ext>
            </a:extLst>
          </p:cNvPr>
          <p:cNvSpPr txBox="1"/>
          <p:nvPr/>
        </p:nvSpPr>
        <p:spPr>
          <a:xfrm>
            <a:off x="838200" y="1676400"/>
            <a:ext cx="9829800" cy="3170099"/>
          </a:xfrm>
          <a:prstGeom prst="rect">
            <a:avLst/>
          </a:prstGeom>
          <a:noFill/>
        </p:spPr>
        <p:txBody>
          <a:bodyPr wrap="square">
            <a:spAutoFit/>
          </a:bodyPr>
          <a:lstStyle/>
          <a:p>
            <a:pPr algn="just" eaLnBrk="1" hangingPunct="1"/>
            <a:r>
              <a:rPr lang="en-US" altLang="en-US" sz="2000" b="1" dirty="0">
                <a:latin typeface="Times New Roman" panose="02020603050405020304" pitchFamily="18" charset="0"/>
                <a:cs typeface="Times New Roman" panose="02020603050405020304" pitchFamily="18" charset="0"/>
              </a:rPr>
              <a:t>Prim’s Algorithm</a:t>
            </a:r>
          </a:p>
          <a:p>
            <a:pPr algn="just" eaLnBrk="1" hangingPunct="1"/>
            <a:endParaRPr lang="en-US" altLang="en-US" sz="2000" dirty="0">
              <a:latin typeface="Times New Roman" panose="02020603050405020304" pitchFamily="18" charset="0"/>
              <a:cs typeface="Times New Roman" panose="02020603050405020304" pitchFamily="18" charset="0"/>
            </a:endParaRPr>
          </a:p>
          <a:p>
            <a:pPr algn="just" eaLnBrk="1" hangingPunct="1"/>
            <a:r>
              <a:rPr lang="en-US" altLang="en-US" sz="2000" dirty="0">
                <a:latin typeface="Times New Roman" panose="02020603050405020304" pitchFamily="18" charset="0"/>
                <a:cs typeface="Times New Roman" panose="02020603050405020304" pitchFamily="18" charset="0"/>
              </a:rPr>
              <a:t>The tree starts from an arbitrary root vertex r and grows until the tree spans all the vertices in V. </a:t>
            </a:r>
          </a:p>
          <a:p>
            <a:pPr algn="just" eaLnBrk="1" hangingPunct="1"/>
            <a:endParaRPr lang="en-US" altLang="en-US" sz="2000" i="1" dirty="0">
              <a:latin typeface="Times New Roman" panose="02020603050405020304" pitchFamily="18" charset="0"/>
              <a:cs typeface="Times New Roman" panose="02020603050405020304" pitchFamily="18" charset="0"/>
            </a:endParaRPr>
          </a:p>
          <a:p>
            <a:pPr algn="just" eaLnBrk="1" hangingPunct="1"/>
            <a:r>
              <a:rPr lang="en-US" altLang="en-US" sz="2000" dirty="0">
                <a:latin typeface="Times New Roman" panose="02020603050405020304" pitchFamily="18" charset="0"/>
                <a:cs typeface="Times New Roman" panose="02020603050405020304" pitchFamily="18" charset="0"/>
              </a:rPr>
              <a:t>● Select any vertex</a:t>
            </a:r>
          </a:p>
          <a:p>
            <a:pPr algn="just" eaLnBrk="1" hangingPunct="1"/>
            <a:endParaRPr lang="en-US" altLang="en-US" sz="2000" dirty="0">
              <a:latin typeface="Times New Roman" panose="02020603050405020304" pitchFamily="18" charset="0"/>
              <a:cs typeface="Times New Roman" panose="02020603050405020304" pitchFamily="18" charset="0"/>
            </a:endParaRPr>
          </a:p>
          <a:p>
            <a:pPr algn="just" eaLnBrk="1" hangingPunct="1"/>
            <a:r>
              <a:rPr lang="en-US" altLang="en-US" sz="2000" dirty="0">
                <a:latin typeface="Times New Roman" panose="02020603050405020304" pitchFamily="18" charset="0"/>
                <a:cs typeface="Times New Roman" panose="02020603050405020304" pitchFamily="18" charset="0"/>
              </a:rPr>
              <a:t>● Choose the minimum cost adjacent edge of selected vertex</a:t>
            </a:r>
          </a:p>
          <a:p>
            <a:pPr algn="just" eaLnBrk="1" hangingPunct="1"/>
            <a:endParaRPr lang="en-US" altLang="en-US" sz="2000" dirty="0">
              <a:latin typeface="Times New Roman" panose="02020603050405020304" pitchFamily="18" charset="0"/>
              <a:cs typeface="Times New Roman" panose="02020603050405020304" pitchFamily="18" charset="0"/>
            </a:endParaRPr>
          </a:p>
          <a:p>
            <a:pPr algn="just" eaLnBrk="1" hangingPunct="1"/>
            <a:r>
              <a:rPr lang="en-US" altLang="en-US" sz="2000" dirty="0">
                <a:latin typeface="Times New Roman" panose="02020603050405020304" pitchFamily="18" charset="0"/>
                <a:cs typeface="Times New Roman" panose="02020603050405020304" pitchFamily="18" charset="0"/>
              </a:rPr>
              <a:t>● Repeat step2 until all node are not explored.</a:t>
            </a:r>
            <a:endParaRPr lang="en-US" altLang="en-US" sz="2000" b="1" dirty="0">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BC00E953-6E2C-40D0-BB22-E7FB0CD20521}"/>
              </a:ext>
            </a:extLst>
          </p:cNvPr>
          <p:cNvSpPr>
            <a:spLocks noGrp="1"/>
          </p:cNvSpPr>
          <p:nvPr>
            <p:ph type="dt" sz="half" idx="6"/>
          </p:nvPr>
        </p:nvSpPr>
        <p:spPr/>
        <p:txBody>
          <a:bodyPr/>
          <a:lstStyle/>
          <a:p>
            <a:pPr marL="12700">
              <a:lnSpc>
                <a:spcPts val="1240"/>
              </a:lnSpc>
            </a:pPr>
            <a:fld id="{43DA578B-51DD-4182-B480-AF5614F24C53}" type="datetime1">
              <a:rPr lang="en-US" spc="-25" smtClean="0"/>
              <a:t>7/8/2026</a:t>
            </a:fld>
            <a:endParaRPr lang="en-IN" spc="-25" dirty="0"/>
          </a:p>
        </p:txBody>
      </p:sp>
      <p:sp>
        <p:nvSpPr>
          <p:cNvPr id="4" name="Footer Placeholder 3">
            <a:extLst>
              <a:ext uri="{FF2B5EF4-FFF2-40B4-BE49-F238E27FC236}">
                <a16:creationId xmlns:a16="http://schemas.microsoft.com/office/drawing/2014/main" id="{14434241-7C16-41C4-87CB-757CEC0C173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2261731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6EEDB02-4E1A-60BD-B2FB-A8B6A559960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2CBD71-C936-5A28-34FF-AC0445AA04C6}"/>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46AAD204-7148-8BFC-F5F4-97DBEE302BC3}"/>
              </a:ext>
            </a:extLst>
          </p:cNvPr>
          <p:cNvPicPr/>
          <p:nvPr/>
        </p:nvPicPr>
        <p:blipFill>
          <a:blip r:embed="rId2" cstate="print"/>
          <a:stretch>
            <a:fillRect/>
          </a:stretch>
        </p:blipFill>
        <p:spPr>
          <a:xfrm>
            <a:off x="107372" y="25"/>
            <a:ext cx="2254827" cy="947267"/>
          </a:xfrm>
          <a:prstGeom prst="rect">
            <a:avLst/>
          </a:prstGeom>
        </p:spPr>
      </p:pic>
      <p:sp>
        <p:nvSpPr>
          <p:cNvPr id="11" name="TextBox 10">
            <a:extLst>
              <a:ext uri="{FF2B5EF4-FFF2-40B4-BE49-F238E27FC236}">
                <a16:creationId xmlns:a16="http://schemas.microsoft.com/office/drawing/2014/main" id="{C1E2409A-1B9D-87B6-4AC3-6773C68D80D3}"/>
              </a:ext>
            </a:extLst>
          </p:cNvPr>
          <p:cNvSpPr txBox="1"/>
          <p:nvPr/>
        </p:nvSpPr>
        <p:spPr>
          <a:xfrm>
            <a:off x="838200" y="1676400"/>
            <a:ext cx="9829800" cy="347787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Step 1: Select a starting vertex.</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Step 2: Repeat Steps 3 and 4 until there are fringe vertices.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Step 3: Select an edge 'e' connecting the tree vertex and fringe vertex that has minimum weight.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Step 4: Add the selected edge and the vertex to the minimum spanning tree T.  </a:t>
            </a:r>
          </a:p>
          <a:p>
            <a:r>
              <a:rPr lang="en-US" sz="2000" dirty="0">
                <a:latin typeface="Times New Roman" panose="02020603050405020304" pitchFamily="18" charset="0"/>
                <a:cs typeface="Times New Roman" panose="02020603050405020304" pitchFamily="18" charset="0"/>
              </a:rPr>
              <a:t>[END OF LOOP]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Step 5: EXIT</a:t>
            </a:r>
          </a:p>
        </p:txBody>
      </p:sp>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EE344065-E252-412A-AB16-378A06B2BC7E}"/>
              </a:ext>
            </a:extLst>
          </p:cNvPr>
          <p:cNvSpPr>
            <a:spLocks noGrp="1"/>
          </p:cNvSpPr>
          <p:nvPr>
            <p:ph type="dt" sz="half" idx="6"/>
          </p:nvPr>
        </p:nvSpPr>
        <p:spPr/>
        <p:txBody>
          <a:bodyPr/>
          <a:lstStyle/>
          <a:p>
            <a:pPr marL="12700">
              <a:lnSpc>
                <a:spcPts val="1240"/>
              </a:lnSpc>
            </a:pPr>
            <a:fld id="{856D1312-EBCB-48DB-9A9D-EF5192CF2A95}" type="datetime1">
              <a:rPr lang="en-US" spc="-25" smtClean="0"/>
              <a:t>7/8/2026</a:t>
            </a:fld>
            <a:endParaRPr lang="en-IN" spc="-25" dirty="0"/>
          </a:p>
        </p:txBody>
      </p:sp>
      <p:sp>
        <p:nvSpPr>
          <p:cNvPr id="4" name="Footer Placeholder 3">
            <a:extLst>
              <a:ext uri="{FF2B5EF4-FFF2-40B4-BE49-F238E27FC236}">
                <a16:creationId xmlns:a16="http://schemas.microsoft.com/office/drawing/2014/main" id="{42274EA6-4A1A-486A-97D1-F4F51B1A442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0943156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5B3924E-48D2-6746-2BB4-22241732570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831FD8-D6B8-85CF-1185-94FFD606D424}"/>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7113DB6A-4E62-7E4B-8487-5AE6A6BAFFC1}"/>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E7CCC39E-6B9D-F1A8-77EB-145A15405EE8}"/>
              </a:ext>
            </a:extLst>
          </p:cNvPr>
          <p:cNvPicPr>
            <a:picLocks noChangeAspect="1"/>
          </p:cNvPicPr>
          <p:nvPr/>
        </p:nvPicPr>
        <p:blipFill>
          <a:blip r:embed="rId3"/>
          <a:stretch>
            <a:fillRect/>
          </a:stretch>
        </p:blipFill>
        <p:spPr>
          <a:xfrm>
            <a:off x="2887702" y="1352370"/>
            <a:ext cx="6416596" cy="4743630"/>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AA09FB84-C95F-4F5E-BF41-49C10AB5532C}"/>
              </a:ext>
            </a:extLst>
          </p:cNvPr>
          <p:cNvSpPr>
            <a:spLocks noGrp="1"/>
          </p:cNvSpPr>
          <p:nvPr>
            <p:ph type="dt" sz="half" idx="6"/>
          </p:nvPr>
        </p:nvSpPr>
        <p:spPr/>
        <p:txBody>
          <a:bodyPr/>
          <a:lstStyle/>
          <a:p>
            <a:pPr marL="12700">
              <a:lnSpc>
                <a:spcPts val="1240"/>
              </a:lnSpc>
            </a:pPr>
            <a:fld id="{7D1F7D83-8893-4CB4-A70F-E3083C297249}" type="datetime1">
              <a:rPr lang="en-US" spc="-25" smtClean="0"/>
              <a:t>7/8/2026</a:t>
            </a:fld>
            <a:endParaRPr lang="en-IN" spc="-25" dirty="0"/>
          </a:p>
        </p:txBody>
      </p:sp>
      <p:sp>
        <p:nvSpPr>
          <p:cNvPr id="4" name="Footer Placeholder 3">
            <a:extLst>
              <a:ext uri="{FF2B5EF4-FFF2-40B4-BE49-F238E27FC236}">
                <a16:creationId xmlns:a16="http://schemas.microsoft.com/office/drawing/2014/main" id="{CB2B22CE-C09C-4258-92A2-6F49D37BE86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3091996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593AE7-D7CC-8302-ECD4-9D9AEC80095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5ABC34-FD1A-C727-72B9-B56CBE3BCB16}"/>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6B691778-3532-BE68-7274-4752B5C743E3}"/>
              </a:ext>
            </a:extLst>
          </p:cNvPr>
          <p:cNvPicPr/>
          <p:nvPr/>
        </p:nvPicPr>
        <p:blipFill>
          <a:blip r:embed="rId2" cstate="print"/>
          <a:stretch>
            <a:fillRect/>
          </a:stretch>
        </p:blipFill>
        <p:spPr>
          <a:xfrm>
            <a:off x="107372" y="25"/>
            <a:ext cx="2254827" cy="947267"/>
          </a:xfrm>
          <a:prstGeom prst="rect">
            <a:avLst/>
          </a:prstGeom>
        </p:spPr>
      </p:pic>
      <p:pic>
        <p:nvPicPr>
          <p:cNvPr id="11" name="Picture 10">
            <a:extLst>
              <a:ext uri="{FF2B5EF4-FFF2-40B4-BE49-F238E27FC236}">
                <a16:creationId xmlns:a16="http://schemas.microsoft.com/office/drawing/2014/main" id="{05C4630E-78D5-28BA-5562-53D766E33693}"/>
              </a:ext>
            </a:extLst>
          </p:cNvPr>
          <p:cNvPicPr>
            <a:picLocks noChangeAspect="1"/>
          </p:cNvPicPr>
          <p:nvPr/>
        </p:nvPicPr>
        <p:blipFill>
          <a:blip r:embed="rId3"/>
          <a:stretch>
            <a:fillRect/>
          </a:stretch>
        </p:blipFill>
        <p:spPr>
          <a:xfrm>
            <a:off x="2868650" y="1554317"/>
            <a:ext cx="6454699" cy="3749365"/>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C2453DD0-C8CC-4E0B-A46D-9B68A433C8DB}"/>
              </a:ext>
            </a:extLst>
          </p:cNvPr>
          <p:cNvSpPr>
            <a:spLocks noGrp="1"/>
          </p:cNvSpPr>
          <p:nvPr>
            <p:ph type="dt" sz="half" idx="6"/>
          </p:nvPr>
        </p:nvSpPr>
        <p:spPr/>
        <p:txBody>
          <a:bodyPr/>
          <a:lstStyle/>
          <a:p>
            <a:pPr marL="12700">
              <a:lnSpc>
                <a:spcPts val="1240"/>
              </a:lnSpc>
            </a:pPr>
            <a:fld id="{1A265513-0A31-4DC2-B0F3-BACA79104FE2}" type="datetime1">
              <a:rPr lang="en-US" spc="-25" smtClean="0"/>
              <a:t>7/8/2026</a:t>
            </a:fld>
            <a:endParaRPr lang="en-IN" spc="-25" dirty="0"/>
          </a:p>
        </p:txBody>
      </p:sp>
      <p:sp>
        <p:nvSpPr>
          <p:cNvPr id="4" name="Footer Placeholder 3">
            <a:extLst>
              <a:ext uri="{FF2B5EF4-FFF2-40B4-BE49-F238E27FC236}">
                <a16:creationId xmlns:a16="http://schemas.microsoft.com/office/drawing/2014/main" id="{4B54AA54-5B4C-4C9A-A19C-2EF5755C0A2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9173478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FF7CB4-553B-DC23-6305-7ADEEAA14B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8CC7EAB-2389-BA26-1B0E-7E4ECAFF490B}"/>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CDC1AA5D-7616-8CEE-66AF-03BE444B933F}"/>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87A74511-86C4-A8BE-D27F-6C40C9D89AF7}"/>
              </a:ext>
            </a:extLst>
          </p:cNvPr>
          <p:cNvPicPr>
            <a:picLocks noChangeAspect="1"/>
          </p:cNvPicPr>
          <p:nvPr/>
        </p:nvPicPr>
        <p:blipFill>
          <a:blip r:embed="rId3"/>
          <a:stretch>
            <a:fillRect/>
          </a:stretch>
        </p:blipFill>
        <p:spPr>
          <a:xfrm>
            <a:off x="2286000" y="1462869"/>
            <a:ext cx="7848599" cy="4328331"/>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136F6407-D9C7-4E43-BFF0-29C171E76C72}"/>
              </a:ext>
            </a:extLst>
          </p:cNvPr>
          <p:cNvSpPr>
            <a:spLocks noGrp="1"/>
          </p:cNvSpPr>
          <p:nvPr>
            <p:ph type="dt" sz="half" idx="6"/>
          </p:nvPr>
        </p:nvSpPr>
        <p:spPr/>
        <p:txBody>
          <a:bodyPr/>
          <a:lstStyle/>
          <a:p>
            <a:pPr marL="12700">
              <a:lnSpc>
                <a:spcPts val="1240"/>
              </a:lnSpc>
            </a:pPr>
            <a:fld id="{AFC514DA-104A-4D40-AF41-63C176D664DC}" type="datetime1">
              <a:rPr lang="en-US" spc="-25" smtClean="0"/>
              <a:t>7/8/2026</a:t>
            </a:fld>
            <a:endParaRPr lang="en-IN" spc="-25" dirty="0"/>
          </a:p>
        </p:txBody>
      </p:sp>
      <p:sp>
        <p:nvSpPr>
          <p:cNvPr id="4" name="Footer Placeholder 3">
            <a:extLst>
              <a:ext uri="{FF2B5EF4-FFF2-40B4-BE49-F238E27FC236}">
                <a16:creationId xmlns:a16="http://schemas.microsoft.com/office/drawing/2014/main" id="{06C38521-7A71-4625-8D7E-F82EF2D7DFD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4843289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5A5A924-7FCC-0364-AAA8-3701DC68BD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4735DDC-2144-C210-76D0-1962608A7CD6}"/>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C788EDE9-83BE-BFD0-C53E-DB0010B6073C}"/>
              </a:ext>
            </a:extLst>
          </p:cNvPr>
          <p:cNvPicPr/>
          <p:nvPr/>
        </p:nvPicPr>
        <p:blipFill>
          <a:blip r:embed="rId2" cstate="print"/>
          <a:stretch>
            <a:fillRect/>
          </a:stretch>
        </p:blipFill>
        <p:spPr>
          <a:xfrm>
            <a:off x="107372" y="25"/>
            <a:ext cx="2254827" cy="947267"/>
          </a:xfrm>
          <a:prstGeom prst="rect">
            <a:avLst/>
          </a:prstGeom>
        </p:spPr>
      </p:pic>
      <p:pic>
        <p:nvPicPr>
          <p:cNvPr id="11" name="Picture 10">
            <a:extLst>
              <a:ext uri="{FF2B5EF4-FFF2-40B4-BE49-F238E27FC236}">
                <a16:creationId xmlns:a16="http://schemas.microsoft.com/office/drawing/2014/main" id="{6E36734D-3A40-47FD-D0AD-834DDD65E4F0}"/>
              </a:ext>
            </a:extLst>
          </p:cNvPr>
          <p:cNvPicPr>
            <a:picLocks noChangeAspect="1"/>
          </p:cNvPicPr>
          <p:nvPr/>
        </p:nvPicPr>
        <p:blipFill>
          <a:blip r:embed="rId3"/>
          <a:stretch>
            <a:fillRect/>
          </a:stretch>
        </p:blipFill>
        <p:spPr>
          <a:xfrm>
            <a:off x="2845788" y="1409524"/>
            <a:ext cx="7593612" cy="4534075"/>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A6F36AD0-CE13-4B2E-B523-763E80D1895E}"/>
              </a:ext>
            </a:extLst>
          </p:cNvPr>
          <p:cNvSpPr>
            <a:spLocks noGrp="1"/>
          </p:cNvSpPr>
          <p:nvPr>
            <p:ph type="dt" sz="half" idx="6"/>
          </p:nvPr>
        </p:nvSpPr>
        <p:spPr/>
        <p:txBody>
          <a:bodyPr/>
          <a:lstStyle/>
          <a:p>
            <a:pPr marL="12700">
              <a:lnSpc>
                <a:spcPts val="1240"/>
              </a:lnSpc>
            </a:pPr>
            <a:fld id="{931DF271-2357-4C04-A894-DAC1292A0DC8}" type="datetime1">
              <a:rPr lang="en-US" spc="-25" smtClean="0"/>
              <a:t>7/8/2026</a:t>
            </a:fld>
            <a:endParaRPr lang="en-IN" spc="-25" dirty="0"/>
          </a:p>
        </p:txBody>
      </p:sp>
      <p:sp>
        <p:nvSpPr>
          <p:cNvPr id="4" name="Footer Placeholder 3">
            <a:extLst>
              <a:ext uri="{FF2B5EF4-FFF2-40B4-BE49-F238E27FC236}">
                <a16:creationId xmlns:a16="http://schemas.microsoft.com/office/drawing/2014/main" id="{76A110BF-C33D-49B4-9A16-1EB2B606100E}"/>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9571359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DD1F7C-BAC1-B013-C18B-28B9FEAE72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7F685EC-7632-9280-EA3A-9BAD0722DCD3}"/>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B28FA73A-3B3E-8BEB-CC3D-06DFA9E40E3F}"/>
              </a:ext>
            </a:extLst>
          </p:cNvPr>
          <p:cNvPicPr/>
          <p:nvPr/>
        </p:nvPicPr>
        <p:blipFill>
          <a:blip r:embed="rId2" cstate="print"/>
          <a:stretch>
            <a:fillRect/>
          </a:stretch>
        </p:blipFill>
        <p:spPr>
          <a:xfrm>
            <a:off x="107372" y="25"/>
            <a:ext cx="2254827" cy="947267"/>
          </a:xfrm>
          <a:prstGeom prst="rect">
            <a:avLst/>
          </a:prstGeom>
        </p:spPr>
      </p:pic>
      <p:pic>
        <p:nvPicPr>
          <p:cNvPr id="13" name="Picture 12">
            <a:extLst>
              <a:ext uri="{FF2B5EF4-FFF2-40B4-BE49-F238E27FC236}">
                <a16:creationId xmlns:a16="http://schemas.microsoft.com/office/drawing/2014/main" id="{D22C1B0F-531F-62CB-CC85-1D6118A59815}"/>
              </a:ext>
            </a:extLst>
          </p:cNvPr>
          <p:cNvPicPr>
            <a:picLocks noChangeAspect="1"/>
          </p:cNvPicPr>
          <p:nvPr/>
        </p:nvPicPr>
        <p:blipFill>
          <a:blip r:embed="rId3"/>
          <a:stretch>
            <a:fillRect/>
          </a:stretch>
        </p:blipFill>
        <p:spPr>
          <a:xfrm>
            <a:off x="2792443" y="1420956"/>
            <a:ext cx="7342157" cy="4827444"/>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37B87D7F-A2F6-4598-B2FA-F22408AA41D4}"/>
              </a:ext>
            </a:extLst>
          </p:cNvPr>
          <p:cNvSpPr>
            <a:spLocks noGrp="1"/>
          </p:cNvSpPr>
          <p:nvPr>
            <p:ph type="dt" sz="half" idx="6"/>
          </p:nvPr>
        </p:nvSpPr>
        <p:spPr/>
        <p:txBody>
          <a:bodyPr/>
          <a:lstStyle/>
          <a:p>
            <a:pPr marL="12700">
              <a:lnSpc>
                <a:spcPts val="1240"/>
              </a:lnSpc>
            </a:pPr>
            <a:fld id="{97903B3A-9F98-430A-BDE5-A6DAF174808C}" type="datetime1">
              <a:rPr lang="en-US" spc="-25" smtClean="0"/>
              <a:t>7/8/2026</a:t>
            </a:fld>
            <a:endParaRPr lang="en-IN" spc="-25" dirty="0"/>
          </a:p>
        </p:txBody>
      </p:sp>
      <p:sp>
        <p:nvSpPr>
          <p:cNvPr id="4" name="Footer Placeholder 3">
            <a:extLst>
              <a:ext uri="{FF2B5EF4-FFF2-40B4-BE49-F238E27FC236}">
                <a16:creationId xmlns:a16="http://schemas.microsoft.com/office/drawing/2014/main" id="{80AA8872-3B82-4F6A-919E-61BFFC5FD5A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1969719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B63355-D08E-D658-FC77-DA700A200A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BDA891-E4D3-1D19-1F96-2ED90FA3D26E}"/>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FCBDFCEF-B1FF-D58E-1999-BEAB654ED4FB}"/>
              </a:ext>
            </a:extLst>
          </p:cNvPr>
          <p:cNvPicPr/>
          <p:nvPr/>
        </p:nvPicPr>
        <p:blipFill>
          <a:blip r:embed="rId2" cstate="print"/>
          <a:stretch>
            <a:fillRect/>
          </a:stretch>
        </p:blipFill>
        <p:spPr>
          <a:xfrm>
            <a:off x="107372" y="25"/>
            <a:ext cx="2254827" cy="947267"/>
          </a:xfrm>
          <a:prstGeom prst="rect">
            <a:avLst/>
          </a:prstGeom>
        </p:spPr>
      </p:pic>
      <p:pic>
        <p:nvPicPr>
          <p:cNvPr id="10" name="Picture 9">
            <a:extLst>
              <a:ext uri="{FF2B5EF4-FFF2-40B4-BE49-F238E27FC236}">
                <a16:creationId xmlns:a16="http://schemas.microsoft.com/office/drawing/2014/main" id="{402D8B7A-D098-1BDD-98A3-7C62F5EDF0CE}"/>
              </a:ext>
            </a:extLst>
          </p:cNvPr>
          <p:cNvPicPr>
            <a:picLocks noChangeAspect="1"/>
          </p:cNvPicPr>
          <p:nvPr/>
        </p:nvPicPr>
        <p:blipFill>
          <a:blip r:embed="rId3"/>
          <a:stretch>
            <a:fillRect/>
          </a:stretch>
        </p:blipFill>
        <p:spPr>
          <a:xfrm>
            <a:off x="2693374" y="1371421"/>
            <a:ext cx="7060225" cy="4800779"/>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F37DDEC5-79F2-4A68-8557-9BA2833FEB9C}"/>
              </a:ext>
            </a:extLst>
          </p:cNvPr>
          <p:cNvSpPr>
            <a:spLocks noGrp="1"/>
          </p:cNvSpPr>
          <p:nvPr>
            <p:ph type="dt" sz="half" idx="6"/>
          </p:nvPr>
        </p:nvSpPr>
        <p:spPr/>
        <p:txBody>
          <a:bodyPr/>
          <a:lstStyle/>
          <a:p>
            <a:pPr marL="12700">
              <a:lnSpc>
                <a:spcPts val="1240"/>
              </a:lnSpc>
            </a:pPr>
            <a:fld id="{284A7738-775A-481D-BB63-0DFD62F54842}" type="datetime1">
              <a:rPr lang="en-US" spc="-25" smtClean="0"/>
              <a:t>7/8/2026</a:t>
            </a:fld>
            <a:endParaRPr lang="en-IN" spc="-25" dirty="0"/>
          </a:p>
        </p:txBody>
      </p:sp>
      <p:sp>
        <p:nvSpPr>
          <p:cNvPr id="4" name="Footer Placeholder 3">
            <a:extLst>
              <a:ext uri="{FF2B5EF4-FFF2-40B4-BE49-F238E27FC236}">
                <a16:creationId xmlns:a16="http://schemas.microsoft.com/office/drawing/2014/main" id="{18BC433A-A3B9-4049-9ABE-2ED82275591E}"/>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618387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FB05BD-1499-F94B-69B1-5021EC3956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1A9660B-2D7E-5B56-99B4-9C29F3C6D224}"/>
              </a:ext>
            </a:extLst>
          </p:cNvPr>
          <p:cNvSpPr txBox="1"/>
          <p:nvPr/>
        </p:nvSpPr>
        <p:spPr>
          <a:xfrm>
            <a:off x="2136394" y="1561846"/>
            <a:ext cx="8073390" cy="750847"/>
          </a:xfrm>
          <a:prstGeom prst="rect">
            <a:avLst/>
          </a:prstGeom>
        </p:spPr>
        <p:txBody>
          <a:bodyPr vert="horz" wrap="square" lIns="0" tIns="12065" rIns="0" bIns="0" rtlCol="0">
            <a:spAutoFit/>
          </a:bodyPr>
          <a:lstStyle/>
          <a:p>
            <a:pPr eaLnBrk="1" hangingPunct="1"/>
            <a:endParaRPr lang="en-US" altLang="en-US" sz="2400" dirty="0">
              <a:latin typeface="Calibri" panose="020F0502020204030204" pitchFamily="34" charset="0"/>
            </a:endParaRPr>
          </a:p>
          <a:p>
            <a:endParaRPr lang="en-US" sz="2400" dirty="0"/>
          </a:p>
        </p:txBody>
      </p:sp>
      <p:pic>
        <p:nvPicPr>
          <p:cNvPr id="9" name="object 9">
            <a:extLst>
              <a:ext uri="{FF2B5EF4-FFF2-40B4-BE49-F238E27FC236}">
                <a16:creationId xmlns:a16="http://schemas.microsoft.com/office/drawing/2014/main" id="{ECC38D71-3B6A-E65B-A5B7-C6C5A627235B}"/>
              </a:ext>
            </a:extLst>
          </p:cNvPr>
          <p:cNvPicPr/>
          <p:nvPr/>
        </p:nvPicPr>
        <p:blipFill>
          <a:blip r:embed="rId2" cstate="print"/>
          <a:stretch>
            <a:fillRect/>
          </a:stretch>
        </p:blipFill>
        <p:spPr>
          <a:xfrm>
            <a:off x="107372" y="25"/>
            <a:ext cx="2254827" cy="947267"/>
          </a:xfrm>
          <a:prstGeom prst="rect">
            <a:avLst/>
          </a:prstGeom>
        </p:spPr>
      </p:pic>
      <p:pic>
        <p:nvPicPr>
          <p:cNvPr id="11" name="Picture 10">
            <a:extLst>
              <a:ext uri="{FF2B5EF4-FFF2-40B4-BE49-F238E27FC236}">
                <a16:creationId xmlns:a16="http://schemas.microsoft.com/office/drawing/2014/main" id="{4FADFD0B-202C-E6C5-70B0-CD1719C93AFA}"/>
              </a:ext>
            </a:extLst>
          </p:cNvPr>
          <p:cNvPicPr>
            <a:picLocks noChangeAspect="1"/>
          </p:cNvPicPr>
          <p:nvPr/>
        </p:nvPicPr>
        <p:blipFill>
          <a:blip r:embed="rId3"/>
          <a:stretch>
            <a:fillRect/>
          </a:stretch>
        </p:blipFill>
        <p:spPr>
          <a:xfrm>
            <a:off x="1812034" y="1333318"/>
            <a:ext cx="9334501" cy="5131362"/>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7628"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Prim’ s and </a:t>
            </a:r>
            <a:r>
              <a:rPr lang="en-IN" sz="2800" b="1" dirty="0" err="1">
                <a:latin typeface="Calibri" panose="020F0502020204030204" pitchFamily="34" charset="0"/>
                <a:ea typeface="Times New Roman" panose="02020603050405020304" pitchFamily="18" charset="0"/>
              </a:rPr>
              <a:t>Kruskal’s</a:t>
            </a:r>
            <a:r>
              <a:rPr lang="en-IN" sz="2800" b="1" dirty="0">
                <a:latin typeface="Calibri" panose="020F0502020204030204" pitchFamily="34" charset="0"/>
                <a:ea typeface="Times New Roman" panose="02020603050405020304" pitchFamily="18" charset="0"/>
              </a:rPr>
              <a:t> algorithm</a:t>
            </a:r>
            <a:endParaRPr lang="en-US" sz="2800" dirty="0">
              <a:latin typeface="Calibri (Body)"/>
              <a:cs typeface="Times New Roman" panose="02020603050405020304" pitchFamily="18" charset="0"/>
            </a:endParaRPr>
          </a:p>
        </p:txBody>
      </p:sp>
      <p:sp>
        <p:nvSpPr>
          <p:cNvPr id="3" name="Date Placeholder 2">
            <a:extLst>
              <a:ext uri="{FF2B5EF4-FFF2-40B4-BE49-F238E27FC236}">
                <a16:creationId xmlns:a16="http://schemas.microsoft.com/office/drawing/2014/main" id="{0C23E107-2C89-4958-8879-CF397FF61B10}"/>
              </a:ext>
            </a:extLst>
          </p:cNvPr>
          <p:cNvSpPr>
            <a:spLocks noGrp="1"/>
          </p:cNvSpPr>
          <p:nvPr>
            <p:ph type="dt" sz="half" idx="6"/>
          </p:nvPr>
        </p:nvSpPr>
        <p:spPr/>
        <p:txBody>
          <a:bodyPr/>
          <a:lstStyle/>
          <a:p>
            <a:pPr marL="12700">
              <a:lnSpc>
                <a:spcPts val="1240"/>
              </a:lnSpc>
            </a:pPr>
            <a:fld id="{9A712443-14B6-4ABA-A488-124D841DE7A9}" type="datetime1">
              <a:rPr lang="en-US" spc="-25" smtClean="0"/>
              <a:t>7/8/2026</a:t>
            </a:fld>
            <a:endParaRPr lang="en-IN" spc="-25" dirty="0"/>
          </a:p>
        </p:txBody>
      </p:sp>
      <p:sp>
        <p:nvSpPr>
          <p:cNvPr id="4" name="Footer Placeholder 3">
            <a:extLst>
              <a:ext uri="{FF2B5EF4-FFF2-40B4-BE49-F238E27FC236}">
                <a16:creationId xmlns:a16="http://schemas.microsoft.com/office/drawing/2014/main" id="{C3C387D4-DAD5-44F3-9DC5-7D947CB2EAA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1125394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FBBF77-2B61-33BE-633B-6A638A1434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A0A741-6DE0-3557-566C-902715BE0E49}"/>
              </a:ext>
            </a:extLst>
          </p:cNvPr>
          <p:cNvSpPr txBox="1"/>
          <p:nvPr/>
        </p:nvSpPr>
        <p:spPr>
          <a:xfrm>
            <a:off x="1676400" y="990600"/>
            <a:ext cx="9217406" cy="6613990"/>
          </a:xfrm>
          <a:prstGeom prst="rect">
            <a:avLst/>
          </a:prstGeom>
        </p:spPr>
        <p:txBody>
          <a:bodyPr vert="horz" wrap="square" lIns="0" tIns="12065" rIns="0" bIns="0" rtlCol="0">
            <a:spAutoFit/>
          </a:bodyPr>
          <a:lstStyle/>
          <a:p>
            <a:pPr eaLnBrk="1" hangingPunct="1"/>
            <a:endParaRPr lang="en-US" altLang="en-US" sz="1600" dirty="0">
              <a:latin typeface="Times New Roman" panose="02020603050405020304" pitchFamily="18" charset="0"/>
              <a:cs typeface="Times New Roman" panose="02020603050405020304" pitchFamily="18" charset="0"/>
            </a:endParaRP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Each node of it contains a unique value.</a:t>
            </a: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It does not contain any cycles in it, hence called </a:t>
            </a:r>
            <a:r>
              <a:rPr lang="en-US" b="1" i="0" dirty="0">
                <a:solidFill>
                  <a:schemeClr val="tx1"/>
                </a:solidFill>
                <a:effectLst/>
                <a:latin typeface="Times New Roman" panose="02020603050405020304" pitchFamily="18" charset="0"/>
                <a:cs typeface="Times New Roman" panose="02020603050405020304" pitchFamily="18" charset="0"/>
              </a:rPr>
              <a:t>Acyclic</a:t>
            </a:r>
            <a:r>
              <a:rPr lang="en-US" b="0" i="0" dirty="0">
                <a:solidFill>
                  <a:schemeClr val="tx1"/>
                </a:solidFill>
                <a:effectLst/>
                <a:latin typeface="Times New Roman" panose="02020603050405020304" pitchFamily="18" charset="0"/>
                <a:cs typeface="Times New Roman" panose="02020603050405020304" pitchFamily="18" charset="0"/>
              </a:rPr>
              <a:t>.</a:t>
            </a:r>
          </a:p>
          <a:p>
            <a:pPr algn="ctr">
              <a:spcBef>
                <a:spcPts val="300"/>
              </a:spcBef>
              <a:spcAft>
                <a:spcPts val="300"/>
              </a:spcAft>
            </a:pPr>
            <a:r>
              <a:rPr lang="en-IN" b="1" i="0" u="sng" dirty="0">
                <a:solidFill>
                  <a:schemeClr val="tx1"/>
                </a:solidFill>
                <a:effectLst/>
                <a:latin typeface="Times New Roman" panose="02020603050405020304" pitchFamily="18" charset="0"/>
                <a:cs typeface="Times New Roman" panose="02020603050405020304" pitchFamily="18" charset="0"/>
              </a:rPr>
              <a:t>Construction of DAGs</a:t>
            </a:r>
            <a:endParaRPr lang="en-IN" b="1" i="0" dirty="0">
              <a:solidFill>
                <a:schemeClr val="tx1"/>
              </a:solidFill>
              <a:effectLst/>
              <a:latin typeface="Times New Roman" panose="02020603050405020304" pitchFamily="18" charset="0"/>
              <a:cs typeface="Times New Roman" panose="02020603050405020304" pitchFamily="18" charset="0"/>
            </a:endParaRP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Following rules are used for the construction of DAGs-</a:t>
            </a:r>
          </a:p>
          <a:p>
            <a:pPr algn="l">
              <a:spcBef>
                <a:spcPts val="300"/>
              </a:spcBef>
              <a:spcAft>
                <a:spcPts val="900"/>
              </a:spcAft>
            </a:pPr>
            <a:r>
              <a:rPr lang="en-US" b="1" i="0" u="sng" dirty="0">
                <a:solidFill>
                  <a:schemeClr val="tx1"/>
                </a:solidFill>
                <a:effectLst/>
                <a:latin typeface="Times New Roman" panose="02020603050405020304" pitchFamily="18" charset="0"/>
                <a:cs typeface="Times New Roman" panose="02020603050405020304" pitchFamily="18" charset="0"/>
              </a:rPr>
              <a:t>Rule-01:</a:t>
            </a:r>
            <a:r>
              <a:rPr lang="en-US" b="0" i="0" dirty="0">
                <a:solidFill>
                  <a:schemeClr val="tx1"/>
                </a:solidFill>
                <a:effectLst/>
                <a:latin typeface="Times New Roman" panose="02020603050405020304" pitchFamily="18" charset="0"/>
                <a:cs typeface="Times New Roman" panose="02020603050405020304" pitchFamily="18" charset="0"/>
              </a:rPr>
              <a:t>In a DAG,</a:t>
            </a: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Interior nodes always represent the operators.</a:t>
            </a: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Exterior nodes (leaf nodes) always represent the names, identifiers or constants.</a:t>
            </a:r>
          </a:p>
          <a:p>
            <a:pPr algn="l"/>
            <a:r>
              <a:rPr lang="en-US" b="1" i="0" u="sng" dirty="0">
                <a:solidFill>
                  <a:schemeClr val="tx1"/>
                </a:solidFill>
                <a:effectLst/>
                <a:latin typeface="Times New Roman" panose="02020603050405020304" pitchFamily="18" charset="0"/>
                <a:cs typeface="Times New Roman" panose="02020603050405020304" pitchFamily="18" charset="0"/>
              </a:rPr>
              <a:t>Rule-02:</a:t>
            </a:r>
            <a:endParaRPr lang="en-US" b="1" i="0" dirty="0">
              <a:solidFill>
                <a:schemeClr val="tx1"/>
              </a:solidFill>
              <a:effectLst/>
              <a:latin typeface="Times New Roman" panose="02020603050405020304" pitchFamily="18" charset="0"/>
              <a:cs typeface="Times New Roman" panose="02020603050405020304" pitchFamily="18" charset="0"/>
            </a:endParaRP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 While constructing a DAG,</a:t>
            </a: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A check is made to find if there exists any node with the same value.</a:t>
            </a: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A new node is created only when there does not exist any node with the same value.</a:t>
            </a:r>
          </a:p>
          <a:p>
            <a:pPr algn="l">
              <a:spcBef>
                <a:spcPts val="300"/>
              </a:spcBef>
              <a:spcAft>
                <a:spcPts val="300"/>
              </a:spcAf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This action helps in detecting the common sub-expressions and avoiding the re-computation of the same</a:t>
            </a:r>
            <a:r>
              <a:rPr lang="en-US" sz="1600" b="0" i="0" dirty="0">
                <a:solidFill>
                  <a:schemeClr val="tx1"/>
                </a:solidFill>
                <a:effectLst/>
                <a:latin typeface="Times New Roman" panose="02020603050405020304" pitchFamily="18" charset="0"/>
                <a:cs typeface="Times New Roman" panose="02020603050405020304" pitchFamily="18" charset="0"/>
              </a:rPr>
              <a:t>.</a:t>
            </a:r>
          </a:p>
          <a:p>
            <a:pPr algn="l">
              <a:spcBef>
                <a:spcPts val="300"/>
              </a:spcBef>
              <a:spcAft>
                <a:spcPts val="900"/>
              </a:spcAft>
            </a:pPr>
            <a:r>
              <a:rPr lang="en-US" sz="1600" b="0" i="0" dirty="0">
                <a:solidFill>
                  <a:schemeClr val="tx1"/>
                </a:solidFill>
                <a:effectLst/>
                <a:latin typeface="Arimo"/>
              </a:rPr>
              <a:t> </a:t>
            </a:r>
            <a:endParaRPr lang="en-US" sz="2000" b="1" i="0" dirty="0">
              <a:solidFill>
                <a:srgbClr val="C9C2B7"/>
              </a:solidFill>
              <a:effectLst/>
              <a:latin typeface="Roboto Condensed" panose="02000000000000000000" pitchFamily="2" charset="0"/>
            </a:endParaRPr>
          </a:p>
          <a:p>
            <a:pPr algn="l">
              <a:spcBef>
                <a:spcPts val="300"/>
              </a:spcBef>
              <a:spcAft>
                <a:spcPts val="300"/>
              </a:spcAft>
              <a:buFont typeface="Arial" panose="020B0604020202020204" pitchFamily="34" charset="0"/>
              <a:buChar char="•"/>
            </a:pPr>
            <a:endParaRPr lang="en-US" sz="2000" b="0" i="0" dirty="0">
              <a:solidFill>
                <a:schemeClr val="tx1"/>
              </a:solidFill>
              <a:effectLst/>
              <a:latin typeface="Arimo"/>
            </a:endParaRPr>
          </a:p>
          <a:p>
            <a:pPr algn="l">
              <a:spcBef>
                <a:spcPts val="300"/>
              </a:spcBef>
              <a:spcAft>
                <a:spcPts val="900"/>
              </a:spcAft>
            </a:pPr>
            <a:r>
              <a:rPr lang="en-US" sz="2400" b="0" i="0" dirty="0">
                <a:solidFill>
                  <a:srgbClr val="C9C2B7"/>
                </a:solidFill>
                <a:effectLst/>
                <a:latin typeface="Arimo"/>
              </a:rPr>
              <a:t> </a:t>
            </a:r>
          </a:p>
          <a:p>
            <a:endParaRPr lang="en-US" sz="2400" dirty="0"/>
          </a:p>
        </p:txBody>
      </p:sp>
      <p:pic>
        <p:nvPicPr>
          <p:cNvPr id="9" name="object 9">
            <a:extLst>
              <a:ext uri="{FF2B5EF4-FFF2-40B4-BE49-F238E27FC236}">
                <a16:creationId xmlns:a16="http://schemas.microsoft.com/office/drawing/2014/main" id="{0412E7D7-3B6E-E481-95F1-5A37F878A813}"/>
              </a:ext>
            </a:extLst>
          </p:cNvPr>
          <p:cNvPicPr/>
          <p:nvPr/>
        </p:nvPicPr>
        <p:blipFill>
          <a:blip r:embed="rId2" cstate="print"/>
          <a:stretch>
            <a:fillRect/>
          </a:stretch>
        </p:blipFill>
        <p:spPr>
          <a:xfrm>
            <a:off x="107372" y="25"/>
            <a:ext cx="2254827" cy="94726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mj-lt"/>
              </a:rPr>
              <a:t>Directed Acyclic Graph</a:t>
            </a:r>
            <a:endParaRPr lang="en-US" sz="2800"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16D6DD13-9400-4126-917E-99B21103803F}"/>
              </a:ext>
            </a:extLst>
          </p:cNvPr>
          <p:cNvSpPr>
            <a:spLocks noGrp="1"/>
          </p:cNvSpPr>
          <p:nvPr>
            <p:ph type="dt" sz="half" idx="6"/>
          </p:nvPr>
        </p:nvSpPr>
        <p:spPr/>
        <p:txBody>
          <a:bodyPr/>
          <a:lstStyle/>
          <a:p>
            <a:pPr marL="12700">
              <a:lnSpc>
                <a:spcPts val="1240"/>
              </a:lnSpc>
            </a:pPr>
            <a:fld id="{360AB51F-DE79-42EE-9616-EE46AFC93358}" type="datetime1">
              <a:rPr lang="en-US" spc="-25" smtClean="0"/>
              <a:t>7/8/2026</a:t>
            </a:fld>
            <a:endParaRPr lang="en-IN" spc="-25" dirty="0"/>
          </a:p>
        </p:txBody>
      </p:sp>
      <p:sp>
        <p:nvSpPr>
          <p:cNvPr id="4" name="Footer Placeholder 3">
            <a:extLst>
              <a:ext uri="{FF2B5EF4-FFF2-40B4-BE49-F238E27FC236}">
                <a16:creationId xmlns:a16="http://schemas.microsoft.com/office/drawing/2014/main" id="{96E06E72-833C-46E3-B029-914D795285E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3497296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DE0E6A-3F6A-7330-50ED-B90ED915E6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B8659AB-0C75-1877-4DF1-F808769EA417}"/>
              </a:ext>
            </a:extLst>
          </p:cNvPr>
          <p:cNvSpPr txBox="1"/>
          <p:nvPr/>
        </p:nvSpPr>
        <p:spPr>
          <a:xfrm>
            <a:off x="1466278" y="982643"/>
            <a:ext cx="9217406" cy="5336717"/>
          </a:xfrm>
          <a:prstGeom prst="rect">
            <a:avLst/>
          </a:prstGeom>
        </p:spPr>
        <p:txBody>
          <a:bodyPr vert="horz" wrap="square" lIns="0" tIns="12065" rIns="0" bIns="0" rtlCol="0">
            <a:spAutoFit/>
          </a:bodyPr>
          <a:lstStyle/>
          <a:p>
            <a:pPr eaLnBrk="1" hangingPunct="1"/>
            <a:endParaRPr lang="en-US" altLang="en-US" dirty="0">
              <a:latin typeface="Times New Roman" panose="02020603050405020304" pitchFamily="18" charset="0"/>
              <a:cs typeface="Times New Roman" panose="02020603050405020304" pitchFamily="18" charset="0"/>
            </a:endParaRPr>
          </a:p>
          <a:p>
            <a:pPr algn="l"/>
            <a:r>
              <a:rPr lang="en-US" b="1" i="0" u="sng" dirty="0">
                <a:solidFill>
                  <a:schemeClr val="tx1"/>
                </a:solidFill>
                <a:effectLst/>
                <a:latin typeface="Times New Roman" panose="02020603050405020304" pitchFamily="18" charset="0"/>
                <a:cs typeface="Times New Roman" panose="02020603050405020304" pitchFamily="18" charset="0"/>
              </a:rPr>
              <a:t>Rule-03:</a:t>
            </a:r>
            <a:endParaRPr lang="en-US" b="0" i="0" dirty="0">
              <a:solidFill>
                <a:schemeClr val="tx1"/>
              </a:solidFill>
              <a:effectLst/>
              <a:latin typeface="Times New Roman" panose="02020603050405020304" pitchFamily="18" charset="0"/>
              <a:cs typeface="Times New Roman" panose="02020603050405020304" pitchFamily="18" charset="0"/>
            </a:endParaRP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The assignment instructions of the form x:=y are not performed unless they are necessary.</a:t>
            </a: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 Consider the following expression and construct a DAG for it-</a:t>
            </a:r>
          </a:p>
          <a:p>
            <a:pPr algn="ctr">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         ( a + b ) x ( a + b + c )</a:t>
            </a: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Three Address Code for the given expression is-</a:t>
            </a: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T1 = a + b</a:t>
            </a: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T2 = T1 + c</a:t>
            </a:r>
          </a:p>
          <a:p>
            <a:pPr algn="l">
              <a:spcBef>
                <a:spcPts val="300"/>
              </a:spcBef>
              <a:spcAft>
                <a:spcPts val="900"/>
              </a:spcAft>
            </a:pPr>
            <a:r>
              <a:rPr lang="en-US" b="0" i="0" dirty="0">
                <a:solidFill>
                  <a:schemeClr val="tx1"/>
                </a:solidFill>
                <a:effectLst/>
                <a:latin typeface="Times New Roman" panose="02020603050405020304" pitchFamily="18" charset="0"/>
                <a:cs typeface="Times New Roman" panose="02020603050405020304" pitchFamily="18" charset="0"/>
              </a:rPr>
              <a:t>T3 = T1 x T2       </a:t>
            </a:r>
          </a:p>
          <a:p>
            <a:pPr algn="ctr">
              <a:spcBef>
                <a:spcPts val="300"/>
              </a:spcBef>
              <a:spcAft>
                <a:spcPts val="900"/>
              </a:spcAft>
            </a:pPr>
            <a:endParaRPr lang="en-US" sz="1600" b="0" i="0" dirty="0">
              <a:solidFill>
                <a:schemeClr val="tx1"/>
              </a:solidFill>
              <a:effectLst/>
              <a:latin typeface="Arimo"/>
            </a:endParaRPr>
          </a:p>
          <a:p>
            <a:pPr algn="l">
              <a:spcBef>
                <a:spcPts val="300"/>
              </a:spcBef>
              <a:spcAft>
                <a:spcPts val="900"/>
              </a:spcAft>
            </a:pPr>
            <a:endParaRPr lang="en-US" sz="2000" b="0" i="0" dirty="0">
              <a:solidFill>
                <a:schemeClr val="tx1"/>
              </a:solidFill>
              <a:effectLst/>
              <a:latin typeface="Arimo"/>
            </a:endParaRPr>
          </a:p>
          <a:p>
            <a:pPr algn="l">
              <a:spcBef>
                <a:spcPts val="300"/>
              </a:spcBef>
              <a:spcAft>
                <a:spcPts val="900"/>
              </a:spcAft>
            </a:pPr>
            <a:r>
              <a:rPr lang="en-US" sz="2400" b="0" i="0" dirty="0">
                <a:solidFill>
                  <a:srgbClr val="C9C2B7"/>
                </a:solidFill>
                <a:effectLst/>
                <a:latin typeface="Arimo"/>
              </a:rPr>
              <a:t> </a:t>
            </a:r>
          </a:p>
          <a:p>
            <a:endParaRPr lang="en-US" sz="2400" dirty="0"/>
          </a:p>
        </p:txBody>
      </p:sp>
      <p:pic>
        <p:nvPicPr>
          <p:cNvPr id="9" name="object 9">
            <a:extLst>
              <a:ext uri="{FF2B5EF4-FFF2-40B4-BE49-F238E27FC236}">
                <a16:creationId xmlns:a16="http://schemas.microsoft.com/office/drawing/2014/main" id="{E86B9566-5544-B40C-CD8F-10AB965B01ED}"/>
              </a:ext>
            </a:extLst>
          </p:cNvPr>
          <p:cNvPicPr/>
          <p:nvPr/>
        </p:nvPicPr>
        <p:blipFill>
          <a:blip r:embed="rId2" cstate="print"/>
          <a:stretch>
            <a:fillRect/>
          </a:stretch>
        </p:blipFill>
        <p:spPr>
          <a:xfrm>
            <a:off x="107372" y="25"/>
            <a:ext cx="2254827" cy="947267"/>
          </a:xfrm>
          <a:prstGeom prst="rect">
            <a:avLst/>
          </a:prstGeom>
        </p:spPr>
      </p:pic>
      <p:pic>
        <p:nvPicPr>
          <p:cNvPr id="11" name="Picture 10">
            <a:extLst>
              <a:ext uri="{FF2B5EF4-FFF2-40B4-BE49-F238E27FC236}">
                <a16:creationId xmlns:a16="http://schemas.microsoft.com/office/drawing/2014/main" id="{E8F80249-0564-699E-4345-77B762BCC169}"/>
              </a:ext>
            </a:extLst>
          </p:cNvPr>
          <p:cNvPicPr>
            <a:picLocks noChangeAspect="1"/>
          </p:cNvPicPr>
          <p:nvPr/>
        </p:nvPicPr>
        <p:blipFill>
          <a:blip r:embed="rId3"/>
          <a:stretch>
            <a:fillRect/>
          </a:stretch>
        </p:blipFill>
        <p:spPr>
          <a:xfrm>
            <a:off x="6074981" y="2971800"/>
            <a:ext cx="4740084" cy="2936749"/>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mj-lt"/>
              </a:rPr>
              <a:t>Directed Acyclic Graph</a:t>
            </a:r>
            <a:endParaRPr lang="en-US" sz="2800"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F60442D0-8BE0-441F-BC75-000939FC9F96}"/>
              </a:ext>
            </a:extLst>
          </p:cNvPr>
          <p:cNvSpPr>
            <a:spLocks noGrp="1"/>
          </p:cNvSpPr>
          <p:nvPr>
            <p:ph type="dt" sz="half" idx="6"/>
          </p:nvPr>
        </p:nvSpPr>
        <p:spPr/>
        <p:txBody>
          <a:bodyPr/>
          <a:lstStyle/>
          <a:p>
            <a:pPr marL="12700">
              <a:lnSpc>
                <a:spcPts val="1240"/>
              </a:lnSpc>
            </a:pPr>
            <a:fld id="{D2D11C78-DA82-4B50-9FEA-26D69B1024A3}" type="datetime1">
              <a:rPr lang="en-US" spc="-25" smtClean="0"/>
              <a:t>7/8/2026</a:t>
            </a:fld>
            <a:endParaRPr lang="en-IN" spc="-25" dirty="0"/>
          </a:p>
        </p:txBody>
      </p:sp>
      <p:sp>
        <p:nvSpPr>
          <p:cNvPr id="4" name="Footer Placeholder 3">
            <a:extLst>
              <a:ext uri="{FF2B5EF4-FFF2-40B4-BE49-F238E27FC236}">
                <a16:creationId xmlns:a16="http://schemas.microsoft.com/office/drawing/2014/main" id="{33A8BEE9-050A-46CA-B6B2-68E31198A37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337861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1312251"/>
            <a:ext cx="11350625" cy="1826782"/>
          </a:xfrm>
          <a:prstGeom prst="rect">
            <a:avLst/>
          </a:prstGeom>
        </p:spPr>
        <p:txBody>
          <a:bodyPr vert="horz" wrap="square" lIns="0" tIns="48895" rIns="0" bIns="0" rtlCol="0">
            <a:spAutoFit/>
          </a:bodyPr>
          <a:lstStyle/>
          <a:p>
            <a:pPr marL="354965" indent="-342265">
              <a:lnSpc>
                <a:spcPct val="100000"/>
              </a:lnSpc>
              <a:spcBef>
                <a:spcPts val="385"/>
              </a:spcBef>
              <a:buFont typeface="Arial MT"/>
              <a:buChar char="•"/>
              <a:tabLst>
                <a:tab pos="354965" algn="l"/>
              </a:tabLst>
            </a:pPr>
            <a:r>
              <a:rPr lang="en-US" b="0" i="0" dirty="0">
                <a:solidFill>
                  <a:srgbClr val="000000"/>
                </a:solidFill>
                <a:effectLst/>
                <a:latin typeface="Times New Roman" panose="02020603050405020304" pitchFamily="18" charset="0"/>
                <a:cs typeface="Times New Roman" panose="02020603050405020304" pitchFamily="18" charset="0"/>
              </a:rPr>
              <a:t>Transitive Closure it the reachability matrix to reach from vertex u to vertex v of a graph. One graph is given, we have to find a vertex v which is reachable from another vertex u, for all vertex pairs (u, v).</a:t>
            </a:r>
          </a:p>
          <a:p>
            <a:pPr marL="354965" indent="-342265">
              <a:lnSpc>
                <a:spcPct val="100000"/>
              </a:lnSpc>
              <a:spcBef>
                <a:spcPts val="254"/>
              </a:spcBef>
              <a:buFont typeface="Arial MT"/>
              <a:buChar char="•"/>
              <a:tabLst>
                <a:tab pos="354965" algn="l"/>
              </a:tabLst>
            </a:pPr>
            <a:r>
              <a:rPr lang="en-US" b="0" i="0" dirty="0">
                <a:solidFill>
                  <a:srgbClr val="000000"/>
                </a:solidFill>
                <a:effectLst/>
                <a:latin typeface="Times New Roman" panose="02020603050405020304" pitchFamily="18" charset="0"/>
                <a:cs typeface="Times New Roman" panose="02020603050405020304" pitchFamily="18" charset="0"/>
              </a:rPr>
              <a:t>The final matrix is the Boolean type. When there is a value 1 for vertex u to vertex v, it means that there is at least one path from u to v.</a:t>
            </a:r>
          </a:p>
          <a:p>
            <a:pPr marL="354965" indent="-342265">
              <a:lnSpc>
                <a:spcPct val="100000"/>
              </a:lnSpc>
              <a:spcBef>
                <a:spcPts val="254"/>
              </a:spcBef>
              <a:buFont typeface="Arial MT"/>
              <a:buChar char="•"/>
              <a:tabLst>
                <a:tab pos="354965" algn="l"/>
              </a:tabLst>
            </a:pPr>
            <a:endParaRPr lang="en-US" b="0" i="0" dirty="0">
              <a:solidFill>
                <a:srgbClr val="000000"/>
              </a:solidFill>
              <a:effectLst/>
              <a:latin typeface="Times New Roman" panose="02020603050405020304" pitchFamily="18" charset="0"/>
              <a:cs typeface="Times New Roman" panose="02020603050405020304" pitchFamily="18" charset="0"/>
            </a:endParaRPr>
          </a:p>
          <a:p>
            <a:pPr marL="354965" indent="-342265">
              <a:lnSpc>
                <a:spcPct val="100000"/>
              </a:lnSpc>
              <a:spcBef>
                <a:spcPts val="254"/>
              </a:spcBef>
              <a:buFont typeface="Arial MT"/>
              <a:buChar char="•"/>
              <a:tabLst>
                <a:tab pos="354965" algn="l"/>
              </a:tabLst>
            </a:pPr>
            <a:endParaRPr dirty="0">
              <a:latin typeface="Times New Roman" panose="02020603050405020304" pitchFamily="18" charset="0"/>
              <a:cs typeface="Times New Roman" panose="02020603050405020304" pitchFamily="18" charset="0"/>
            </a:endParaRPr>
          </a:p>
        </p:txBody>
      </p:sp>
      <p:pic>
        <p:nvPicPr>
          <p:cNvPr id="9" name="object 9"/>
          <p:cNvPicPr/>
          <p:nvPr/>
        </p:nvPicPr>
        <p:blipFill>
          <a:blip r:embed="rId2" cstate="print"/>
          <a:stretch>
            <a:fillRect/>
          </a:stretch>
        </p:blipFill>
        <p:spPr>
          <a:xfrm>
            <a:off x="117763" y="25"/>
            <a:ext cx="2473036" cy="947267"/>
          </a:xfrm>
          <a:prstGeom prst="rect">
            <a:avLst/>
          </a:prstGeom>
        </p:spPr>
      </p:pic>
      <p:pic>
        <p:nvPicPr>
          <p:cNvPr id="7170" name="Picture 2">
            <a:extLst>
              <a:ext uri="{FF2B5EF4-FFF2-40B4-BE49-F238E27FC236}">
                <a16:creationId xmlns:a16="http://schemas.microsoft.com/office/drawing/2014/main" id="{67750532-D683-4B1C-5DB9-49898A620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2652" y="2969397"/>
            <a:ext cx="2480311"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EA4B5D55-82AE-1029-A521-46C8F99D21EC}"/>
              </a:ext>
            </a:extLst>
          </p:cNvPr>
          <p:cNvPicPr>
            <a:picLocks noChangeAspect="1"/>
          </p:cNvPicPr>
          <p:nvPr/>
        </p:nvPicPr>
        <p:blipFill>
          <a:blip r:embed="rId4"/>
          <a:stretch>
            <a:fillRect/>
          </a:stretch>
        </p:blipFill>
        <p:spPr>
          <a:xfrm>
            <a:off x="1305575" y="2660704"/>
            <a:ext cx="3109229" cy="3055786"/>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1021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spc="-25" dirty="0">
                <a:latin typeface="+mj-lt"/>
                <a:cs typeface="Calibri"/>
              </a:rPr>
              <a:t>TRANSITIVE CLOSURE</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71BC661B-EF34-409B-A250-FC2379B2E875}"/>
              </a:ext>
            </a:extLst>
          </p:cNvPr>
          <p:cNvSpPr>
            <a:spLocks noGrp="1"/>
          </p:cNvSpPr>
          <p:nvPr>
            <p:ph type="dt" sz="half" idx="6"/>
          </p:nvPr>
        </p:nvSpPr>
        <p:spPr/>
        <p:txBody>
          <a:bodyPr/>
          <a:lstStyle/>
          <a:p>
            <a:pPr marL="12700">
              <a:lnSpc>
                <a:spcPts val="1240"/>
              </a:lnSpc>
            </a:pPr>
            <a:fld id="{8A59CF9D-D094-45A2-88C4-6877BEE6AE37}" type="datetime1">
              <a:rPr lang="en-US" spc="-25" smtClean="0"/>
              <a:t>7/8/2026</a:t>
            </a:fld>
            <a:endParaRPr lang="en-IN" spc="-25" dirty="0"/>
          </a:p>
        </p:txBody>
      </p:sp>
      <p:sp>
        <p:nvSpPr>
          <p:cNvPr id="4" name="Footer Placeholder 3">
            <a:extLst>
              <a:ext uri="{FF2B5EF4-FFF2-40B4-BE49-F238E27FC236}">
                <a16:creationId xmlns:a16="http://schemas.microsoft.com/office/drawing/2014/main" id="{FC41155F-47D3-4B3F-AF2A-B1B9666FBE3F}"/>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66620" y="933032"/>
            <a:ext cx="8773160" cy="756617"/>
          </a:xfrm>
          <a:prstGeom prst="rect">
            <a:avLst/>
          </a:prstGeom>
        </p:spPr>
        <p:txBody>
          <a:bodyPr vert="horz" wrap="square" lIns="0" tIns="88900" rIns="0" bIns="0" rtlCol="0">
            <a:spAutoFit/>
          </a:bodyPr>
          <a:lstStyle/>
          <a:p>
            <a:pPr algn="l">
              <a:lnSpc>
                <a:spcPts val="2550"/>
              </a:lnSpc>
            </a:pPr>
            <a:r>
              <a:rPr lang="en-IN" sz="2400" b="0" i="0" dirty="0">
                <a:solidFill>
                  <a:srgbClr val="000000"/>
                </a:solidFill>
                <a:effectLst/>
                <a:latin typeface="var(--ff-lato)"/>
              </a:rPr>
              <a:t>Algorithm</a:t>
            </a:r>
          </a:p>
          <a:p>
            <a:pPr algn="l">
              <a:lnSpc>
                <a:spcPts val="2550"/>
              </a:lnSpc>
            </a:pPr>
            <a:endParaRPr lang="en-IN" sz="2400" b="0" i="0" dirty="0">
              <a:solidFill>
                <a:srgbClr val="000000"/>
              </a:solidFill>
              <a:effectLst/>
              <a:latin typeface="var(--ff-lato)"/>
            </a:endParaRPr>
          </a:p>
        </p:txBody>
      </p:sp>
      <p:pic>
        <p:nvPicPr>
          <p:cNvPr id="8" name="object 8"/>
          <p:cNvPicPr/>
          <p:nvPr/>
        </p:nvPicPr>
        <p:blipFill>
          <a:blip r:embed="rId2" cstate="print"/>
          <a:stretch>
            <a:fillRect/>
          </a:stretch>
        </p:blipFill>
        <p:spPr>
          <a:xfrm>
            <a:off x="117763" y="25"/>
            <a:ext cx="2473036" cy="947267"/>
          </a:xfrm>
          <a:prstGeom prst="rect">
            <a:avLst/>
          </a:prstGeom>
        </p:spPr>
      </p:pic>
      <p:pic>
        <p:nvPicPr>
          <p:cNvPr id="11" name="Picture 10">
            <a:extLst>
              <a:ext uri="{FF2B5EF4-FFF2-40B4-BE49-F238E27FC236}">
                <a16:creationId xmlns:a16="http://schemas.microsoft.com/office/drawing/2014/main" id="{26CD840D-976E-7B2E-4011-180747B555C2}"/>
              </a:ext>
            </a:extLst>
          </p:cNvPr>
          <p:cNvPicPr>
            <a:picLocks noChangeAspect="1"/>
          </p:cNvPicPr>
          <p:nvPr/>
        </p:nvPicPr>
        <p:blipFill>
          <a:blip r:embed="rId3"/>
          <a:stretch>
            <a:fillRect/>
          </a:stretch>
        </p:blipFill>
        <p:spPr>
          <a:xfrm>
            <a:off x="1981200" y="1462869"/>
            <a:ext cx="9144000" cy="4785531"/>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39985" y="-1021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spc="-25" dirty="0">
                <a:latin typeface="+mj-lt"/>
                <a:cs typeface="Calibri"/>
              </a:rPr>
              <a:t>TRANSITIVE CLOSURE</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1B389AFD-1108-47FD-AF0C-F4610A363C88}"/>
              </a:ext>
            </a:extLst>
          </p:cNvPr>
          <p:cNvSpPr>
            <a:spLocks noGrp="1"/>
          </p:cNvSpPr>
          <p:nvPr>
            <p:ph type="dt" sz="half" idx="6"/>
          </p:nvPr>
        </p:nvSpPr>
        <p:spPr/>
        <p:txBody>
          <a:bodyPr/>
          <a:lstStyle/>
          <a:p>
            <a:pPr marL="12700">
              <a:lnSpc>
                <a:spcPts val="1240"/>
              </a:lnSpc>
            </a:pPr>
            <a:fld id="{E0CC3F5F-173D-41EA-A46E-E81AA7BE5ADA}" type="datetime1">
              <a:rPr lang="en-US" spc="-25" smtClean="0"/>
              <a:t>7/8/2026</a:t>
            </a:fld>
            <a:endParaRPr lang="en-IN" spc="-25" dirty="0"/>
          </a:p>
        </p:txBody>
      </p:sp>
      <p:sp>
        <p:nvSpPr>
          <p:cNvPr id="4" name="Footer Placeholder 3">
            <a:extLst>
              <a:ext uri="{FF2B5EF4-FFF2-40B4-BE49-F238E27FC236}">
                <a16:creationId xmlns:a16="http://schemas.microsoft.com/office/drawing/2014/main" id="{09140692-CBFA-4995-A68B-882B106A10A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66801" y="1311909"/>
            <a:ext cx="10134600" cy="2845010"/>
          </a:xfrm>
          <a:prstGeom prst="rect">
            <a:avLst/>
          </a:prstGeom>
        </p:spPr>
        <p:txBody>
          <a:bodyPr vert="horz" wrap="square" lIns="0" tIns="13335" rIns="0" bIns="0" rtlCol="0">
            <a:spAutoFit/>
          </a:bodyPr>
          <a:lstStyle/>
          <a:p>
            <a:pPr eaLnBrk="1" hangingPunct="1"/>
            <a:r>
              <a:rPr lang="en-US" altLang="en-US" sz="2400" b="1" dirty="0">
                <a:latin typeface="Times New Roman" panose="02020603050405020304" pitchFamily="18" charset="0"/>
                <a:cs typeface="Times New Roman" panose="02020603050405020304" pitchFamily="18" charset="0"/>
              </a:rPr>
              <a:t>Single-Source Shortest Paths</a:t>
            </a:r>
          </a:p>
          <a:p>
            <a:pPr eaLnBrk="1" hangingPunct="1"/>
            <a:r>
              <a:rPr lang="en-US" altLang="en-US" sz="2000" dirty="0">
                <a:latin typeface="Times New Roman" panose="02020603050405020304" pitchFamily="18" charset="0"/>
                <a:cs typeface="Times New Roman" panose="02020603050405020304" pitchFamily="18" charset="0"/>
              </a:rPr>
              <a:t>Problem: given a weighted directed graph G, find the minimum weight path from a given source vertex s to another vertex v</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 “Shortest-path” = minimum weight</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 Weight of path is sum of edges</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 E.g., a road map: what is the shortest path from Chapel Hill to Charlottesville?</a:t>
            </a:r>
          </a:p>
        </p:txBody>
      </p:sp>
      <p:pic>
        <p:nvPicPr>
          <p:cNvPr id="7" name="object 7"/>
          <p:cNvPicPr/>
          <p:nvPr/>
        </p:nvPicPr>
        <p:blipFill>
          <a:blip r:embed="rId2" cstate="print"/>
          <a:stretch>
            <a:fillRect/>
          </a:stretch>
        </p:blipFill>
        <p:spPr>
          <a:xfrm>
            <a:off x="117763" y="25"/>
            <a:ext cx="2473036" cy="94726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Shortest Path algorithms</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049A6814-0123-4D0B-A22E-1767BC8B4DA6}"/>
              </a:ext>
            </a:extLst>
          </p:cNvPr>
          <p:cNvSpPr>
            <a:spLocks noGrp="1"/>
          </p:cNvSpPr>
          <p:nvPr>
            <p:ph type="dt" sz="half" idx="6"/>
          </p:nvPr>
        </p:nvSpPr>
        <p:spPr/>
        <p:txBody>
          <a:bodyPr/>
          <a:lstStyle/>
          <a:p>
            <a:pPr marL="12700">
              <a:lnSpc>
                <a:spcPts val="1240"/>
              </a:lnSpc>
            </a:pPr>
            <a:fld id="{65FC53D6-7691-45D0-B4EE-C109CAA8C5E8}" type="datetime1">
              <a:rPr lang="en-US" spc="-25" smtClean="0"/>
              <a:t>7/8/2026</a:t>
            </a:fld>
            <a:endParaRPr lang="en-IN" spc="-25" dirty="0"/>
          </a:p>
        </p:txBody>
      </p:sp>
      <p:sp>
        <p:nvSpPr>
          <p:cNvPr id="4" name="Footer Placeholder 3">
            <a:extLst>
              <a:ext uri="{FF2B5EF4-FFF2-40B4-BE49-F238E27FC236}">
                <a16:creationId xmlns:a16="http://schemas.microsoft.com/office/drawing/2014/main" id="{00AD49E7-5C08-403A-9A03-A8DC8AA9CF10}"/>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1E19EB-1C4E-44D5-4819-8898B2119AC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111F182-EB62-6B0D-FFAC-D00A2C8B8CAD}"/>
              </a:ext>
            </a:extLst>
          </p:cNvPr>
          <p:cNvSpPr txBox="1"/>
          <p:nvPr/>
        </p:nvSpPr>
        <p:spPr>
          <a:xfrm>
            <a:off x="1371600" y="1311909"/>
            <a:ext cx="10513695" cy="3537507"/>
          </a:xfrm>
          <a:prstGeom prst="rect">
            <a:avLst/>
          </a:prstGeom>
        </p:spPr>
        <p:txBody>
          <a:bodyPr vert="horz" wrap="square" lIns="0" tIns="13335" rIns="0" bIns="0" rtlCol="0">
            <a:spAutoFit/>
          </a:bodyPr>
          <a:lstStyle/>
          <a:p>
            <a:pPr eaLnBrk="1" hangingPunct="1">
              <a:lnSpc>
                <a:spcPct val="95000"/>
              </a:lnSpc>
            </a:pPr>
            <a:r>
              <a:rPr lang="en-US" altLang="en-US" sz="2000" b="1" dirty="0">
                <a:latin typeface="Times New Roman" panose="02020603050405020304" pitchFamily="18" charset="0"/>
                <a:cs typeface="Times New Roman" panose="02020603050405020304" pitchFamily="18" charset="0"/>
              </a:rPr>
              <a:t>RELAX(u, v, w)</a:t>
            </a:r>
          </a:p>
          <a:p>
            <a:pPr eaLnBrk="1" hangingPunct="1">
              <a:lnSpc>
                <a:spcPct val="95000"/>
              </a:lnSpc>
            </a:pPr>
            <a:endParaRPr lang="en-US" altLang="en-US" sz="2000" b="1" dirty="0">
              <a:latin typeface="Times New Roman" panose="02020603050405020304" pitchFamily="18" charset="0"/>
              <a:cs typeface="Times New Roman" panose="02020603050405020304" pitchFamily="18" charset="0"/>
            </a:endParaRPr>
          </a:p>
          <a:p>
            <a:pPr eaLnBrk="1" hangingPunct="1">
              <a:lnSpc>
                <a:spcPct val="95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If d[v] &gt; d[u] +w(u, v)</a:t>
            </a:r>
          </a:p>
          <a:p>
            <a:pPr eaLnBrk="1" hangingPunct="1">
              <a:lnSpc>
                <a:spcPct val="95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   then d[v] </a:t>
            </a:r>
            <a:r>
              <a:rPr lang="en-US" altLang="en-US" sz="2000" dirty="0">
                <a:solidFill>
                  <a:srgbClr val="674EA7"/>
                </a:solidFill>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d[u] +w(u, v)</a:t>
            </a:r>
          </a:p>
          <a:p>
            <a:pPr eaLnBrk="1" hangingPunct="1">
              <a:lnSpc>
                <a:spcPct val="95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    π[v] </a:t>
            </a:r>
            <a:r>
              <a:rPr lang="en-US" altLang="en-US" sz="2000" dirty="0">
                <a:solidFill>
                  <a:srgbClr val="674EA7"/>
                </a:solidFill>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u</a:t>
            </a:r>
          </a:p>
          <a:p>
            <a:pPr eaLnBrk="1" hangingPunct="1"/>
            <a:endParaRPr lang="en-US" altLang="en-US" sz="2000" dirty="0">
              <a:latin typeface="Times New Roman" panose="02020603050405020304" pitchFamily="18" charset="0"/>
              <a:cs typeface="Times New Roman" panose="02020603050405020304" pitchFamily="18" charset="0"/>
            </a:endParaRPr>
          </a:p>
          <a:p>
            <a:pPr>
              <a:lnSpc>
                <a:spcPct val="95000"/>
              </a:lnSpc>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Initialize Single Source(G, S)</a:t>
            </a:r>
          </a:p>
          <a:p>
            <a:pPr>
              <a:lnSpc>
                <a:spcPct val="95000"/>
              </a:lnSpc>
            </a:pPr>
            <a:endParaRPr lang="en-US" altLang="en-US" sz="2000" b="1" dirty="0">
              <a:latin typeface="Times New Roman" panose="02020603050405020304" pitchFamily="18" charset="0"/>
              <a:cs typeface="Times New Roman" panose="02020603050405020304" pitchFamily="18" charset="0"/>
            </a:endParaRPr>
          </a:p>
          <a:p>
            <a:pPr>
              <a:lnSpc>
                <a:spcPct val="95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For each vertex v </a:t>
            </a:r>
            <a:r>
              <a:rPr lang="en-US" altLang="en-US" sz="2000" dirty="0">
                <a:solidFill>
                  <a:srgbClr val="674EA7"/>
                </a:solidFill>
                <a:latin typeface="Times New Roman" panose="02020603050405020304" pitchFamily="18" charset="0"/>
                <a:cs typeface="Times New Roman" panose="02020603050405020304" pitchFamily="18" charset="0"/>
              </a:rPr>
              <a:t>∈ V[G]</a:t>
            </a:r>
            <a:endParaRPr lang="en-US" altLang="en-US" sz="2000" dirty="0">
              <a:latin typeface="Times New Roman" panose="02020603050405020304" pitchFamily="18" charset="0"/>
              <a:cs typeface="Times New Roman" panose="02020603050405020304" pitchFamily="18" charset="0"/>
            </a:endParaRPr>
          </a:p>
          <a:p>
            <a:pPr>
              <a:lnSpc>
                <a:spcPct val="95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674EA7"/>
                </a:solidFill>
                <a:latin typeface="Times New Roman" panose="02020603050405020304" pitchFamily="18" charset="0"/>
                <a:cs typeface="Times New Roman" panose="02020603050405020304" pitchFamily="18" charset="0"/>
              </a:rPr>
              <a:t>do d[v] ←∞</a:t>
            </a:r>
            <a:endParaRPr lang="en-US" altLang="en-US" sz="2000" dirty="0">
              <a:latin typeface="Times New Roman" panose="02020603050405020304" pitchFamily="18" charset="0"/>
              <a:cs typeface="Times New Roman" panose="02020603050405020304" pitchFamily="18" charset="0"/>
            </a:endParaRPr>
          </a:p>
          <a:p>
            <a:pPr>
              <a:lnSpc>
                <a:spcPct val="95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    π[v] </a:t>
            </a:r>
            <a:r>
              <a:rPr lang="en-US" altLang="en-US" sz="2000" dirty="0">
                <a:solidFill>
                  <a:srgbClr val="674EA7"/>
                </a:solidFill>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NIL</a:t>
            </a:r>
          </a:p>
          <a:p>
            <a:pPr>
              <a:lnSpc>
                <a:spcPct val="95000"/>
              </a:lnSpc>
              <a:buFont typeface="Calibri" panose="020F0502020204030204" pitchFamily="34" charset="0"/>
              <a:buAutoNum type="arabicPeriod"/>
            </a:pPr>
            <a:r>
              <a:rPr lang="en-US" altLang="en-US" sz="2000" dirty="0">
                <a:solidFill>
                  <a:srgbClr val="674EA7"/>
                </a:solidFill>
                <a:latin typeface="Times New Roman" panose="02020603050405020304" pitchFamily="18" charset="0"/>
                <a:cs typeface="Times New Roman" panose="02020603050405020304" pitchFamily="18" charset="0"/>
              </a:rPr>
              <a:t>d[s] ←0</a:t>
            </a:r>
            <a:endParaRPr lang="en-US" altLang="en-US" sz="2000" dirty="0">
              <a:latin typeface="Times New Roman" panose="02020603050405020304" pitchFamily="18" charset="0"/>
              <a:cs typeface="Times New Roman" panose="02020603050405020304" pitchFamily="18" charset="0"/>
            </a:endParaRPr>
          </a:p>
        </p:txBody>
      </p:sp>
      <p:pic>
        <p:nvPicPr>
          <p:cNvPr id="7" name="object 7">
            <a:extLst>
              <a:ext uri="{FF2B5EF4-FFF2-40B4-BE49-F238E27FC236}">
                <a16:creationId xmlns:a16="http://schemas.microsoft.com/office/drawing/2014/main" id="{7751C08C-9F6B-3269-06B0-C286D5040DC4}"/>
              </a:ext>
            </a:extLst>
          </p:cNvPr>
          <p:cNvPicPr/>
          <p:nvPr/>
        </p:nvPicPr>
        <p:blipFill>
          <a:blip r:embed="rId2" cstate="print"/>
          <a:stretch>
            <a:fillRect/>
          </a:stretch>
        </p:blipFill>
        <p:spPr>
          <a:xfrm>
            <a:off x="117763" y="25"/>
            <a:ext cx="2473036" cy="94726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p:cNvSpPr>
          <p:nvPr/>
        </p:nvSpPr>
        <p:spPr>
          <a:xfrm>
            <a:off x="2739985"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Shortest Path algorithms</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C559C713-BD67-435E-85E5-44D48F8D634B}"/>
              </a:ext>
            </a:extLst>
          </p:cNvPr>
          <p:cNvSpPr>
            <a:spLocks noGrp="1"/>
          </p:cNvSpPr>
          <p:nvPr>
            <p:ph type="dt" sz="half" idx="6"/>
          </p:nvPr>
        </p:nvSpPr>
        <p:spPr/>
        <p:txBody>
          <a:bodyPr/>
          <a:lstStyle/>
          <a:p>
            <a:pPr marL="12700">
              <a:lnSpc>
                <a:spcPts val="1240"/>
              </a:lnSpc>
            </a:pPr>
            <a:fld id="{EFF25635-6328-4828-BE95-6B35EE47D7E6}" type="datetime1">
              <a:rPr lang="en-US" spc="-25" smtClean="0"/>
              <a:t>7/8/2026</a:t>
            </a:fld>
            <a:endParaRPr lang="en-IN" spc="-25" dirty="0"/>
          </a:p>
        </p:txBody>
      </p:sp>
      <p:sp>
        <p:nvSpPr>
          <p:cNvPr id="4" name="Footer Placeholder 3">
            <a:extLst>
              <a:ext uri="{FF2B5EF4-FFF2-40B4-BE49-F238E27FC236}">
                <a16:creationId xmlns:a16="http://schemas.microsoft.com/office/drawing/2014/main" id="{14BCEB9C-11B0-4248-B5CC-627C845353F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8795134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8B93C7-2D32-C726-CA4A-086E1E46848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D1C7F1-370C-4924-3B39-693E445680E3}"/>
              </a:ext>
            </a:extLst>
          </p:cNvPr>
          <p:cNvSpPr txBox="1"/>
          <p:nvPr/>
        </p:nvSpPr>
        <p:spPr>
          <a:xfrm>
            <a:off x="1600200" y="1311909"/>
            <a:ext cx="10285095" cy="3639073"/>
          </a:xfrm>
          <a:prstGeom prst="rect">
            <a:avLst/>
          </a:prstGeom>
        </p:spPr>
        <p:txBody>
          <a:bodyPr vert="horz" wrap="square" lIns="0" tIns="13335" rIns="0" bIns="0" rtlCol="0">
            <a:spAutoFit/>
          </a:bodyPr>
          <a:lstStyle/>
          <a:p>
            <a:pPr fontAlgn="auto">
              <a:lnSpc>
                <a:spcPct val="95000"/>
              </a:lnSpc>
              <a:spcAft>
                <a:spcPts val="0"/>
              </a:spcAft>
              <a:defRPr/>
            </a:pPr>
            <a:r>
              <a:rPr lang="en-US" sz="2800" b="1" dirty="0">
                <a:solidFill>
                  <a:schemeClr val="tx1"/>
                </a:solidFill>
                <a:latin typeface="Times New Roman" panose="02020603050405020304" pitchFamily="18" charset="0"/>
                <a:cs typeface="Times New Roman" panose="02020603050405020304" pitchFamily="18" charset="0"/>
              </a:rPr>
              <a:t>Dijkstra's (G, W, S)</a:t>
            </a:r>
          </a:p>
          <a:p>
            <a:pPr fontAlgn="auto">
              <a:lnSpc>
                <a:spcPct val="95000"/>
              </a:lnSpc>
              <a:spcAft>
                <a:spcPts val="0"/>
              </a:spcAft>
              <a:defRPr/>
            </a:pPr>
            <a:endParaRPr lang="en-US" sz="2800" b="1" dirty="0">
              <a:solidFill>
                <a:schemeClr val="tx1"/>
              </a:solidFill>
              <a:latin typeface="Times New Roman" panose="02020603050405020304" pitchFamily="18" charset="0"/>
              <a:cs typeface="Times New Roman" panose="02020603050405020304" pitchFamily="18" charset="0"/>
            </a:endParaRPr>
          </a:p>
          <a:p>
            <a:pPr marL="514350" indent="-514350" fontAlgn="auto">
              <a:lnSpc>
                <a:spcPct val="95000"/>
              </a:lnSpc>
              <a:spcAft>
                <a:spcPts val="0"/>
              </a:spcAft>
              <a:buFont typeface="+mj-lt"/>
              <a:buAutoNum type="arabicPeriod"/>
              <a:defRPr/>
            </a:pPr>
            <a:r>
              <a:rPr lang="en-US" sz="2400" b="1" dirty="0">
                <a:solidFill>
                  <a:schemeClr val="tx1"/>
                </a:solidFill>
                <a:latin typeface="Times New Roman" panose="02020603050405020304" pitchFamily="18" charset="0"/>
                <a:cs typeface="Times New Roman" panose="02020603050405020304" pitchFamily="18" charset="0"/>
              </a:rPr>
              <a:t> Initialize Single Source(G, S)</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S ←∅</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Q ←V[G]</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while Q ≠∅</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      do   u ← EXTRACT-MIN(Q)</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      S←S∪{u}</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          for each vertex all v ∈ adjacent[u]</a:t>
            </a:r>
          </a:p>
          <a:p>
            <a:pPr marL="514350" indent="-514350" fontAlgn="auto">
              <a:lnSpc>
                <a:spcPct val="95000"/>
              </a:lnSpc>
              <a:spcAft>
                <a:spcPts val="0"/>
              </a:spcAft>
              <a:buFont typeface="+mj-lt"/>
              <a:buAutoNum type="arabicPeriod"/>
              <a:defRPr/>
            </a:pPr>
            <a:r>
              <a:rPr lang="en-US" sz="2400" dirty="0">
                <a:solidFill>
                  <a:schemeClr val="tx1"/>
                </a:solidFill>
                <a:latin typeface="Times New Roman" panose="02020603050405020304" pitchFamily="18" charset="0"/>
                <a:cs typeface="Times New Roman" panose="02020603050405020304" pitchFamily="18" charset="0"/>
              </a:rPr>
              <a:t>          do relax(u, v, w)</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pic>
        <p:nvPicPr>
          <p:cNvPr id="7" name="object 7">
            <a:extLst>
              <a:ext uri="{FF2B5EF4-FFF2-40B4-BE49-F238E27FC236}">
                <a16:creationId xmlns:a16="http://schemas.microsoft.com/office/drawing/2014/main" id="{2D3DE972-C2CA-385A-3997-4BC28B5F0CD1}"/>
              </a:ext>
            </a:extLst>
          </p:cNvPr>
          <p:cNvPicPr/>
          <p:nvPr/>
        </p:nvPicPr>
        <p:blipFill>
          <a:blip r:embed="rId2" cstate="print"/>
          <a:stretch>
            <a:fillRect/>
          </a:stretch>
        </p:blipFill>
        <p:spPr>
          <a:xfrm>
            <a:off x="117763" y="25"/>
            <a:ext cx="2473036" cy="94726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86D995EE-AD54-4BCB-A94D-F8494694159B}"/>
              </a:ext>
            </a:extLst>
          </p:cNvPr>
          <p:cNvSpPr>
            <a:spLocks noGrp="1"/>
          </p:cNvSpPr>
          <p:nvPr>
            <p:ph type="dt" sz="half" idx="6"/>
          </p:nvPr>
        </p:nvSpPr>
        <p:spPr/>
        <p:txBody>
          <a:bodyPr/>
          <a:lstStyle/>
          <a:p>
            <a:pPr marL="12700">
              <a:lnSpc>
                <a:spcPts val="1240"/>
              </a:lnSpc>
            </a:pPr>
            <a:fld id="{4C68334B-4E12-4B13-B5D9-159FF760E58F}" type="datetime1">
              <a:rPr lang="en-US" spc="-25" smtClean="0"/>
              <a:t>7/8/2026</a:t>
            </a:fld>
            <a:endParaRPr lang="en-IN" spc="-25" dirty="0"/>
          </a:p>
        </p:txBody>
      </p:sp>
      <p:sp>
        <p:nvSpPr>
          <p:cNvPr id="4" name="Footer Placeholder 3">
            <a:extLst>
              <a:ext uri="{FF2B5EF4-FFF2-40B4-BE49-F238E27FC236}">
                <a16:creationId xmlns:a16="http://schemas.microsoft.com/office/drawing/2014/main" id="{3C74CE43-B733-4FC3-A2CC-35FA8F7C78BE}"/>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2964850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09CC56FC-DED9-479E-B346-6423C24739E8}"/>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DE269CCA-286D-45B6-9246-C6306106D991}"/>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39945" name="Picture 4">
            <a:extLst>
              <a:ext uri="{FF2B5EF4-FFF2-40B4-BE49-F238E27FC236}">
                <a16:creationId xmlns:a16="http://schemas.microsoft.com/office/drawing/2014/main" id="{20BB6D82-7A13-4842-8CF9-54B9B2D3B8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1905000"/>
            <a:ext cx="8008938"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object 7">
            <a:extLst>
              <a:ext uri="{FF2B5EF4-FFF2-40B4-BE49-F238E27FC236}">
                <a16:creationId xmlns:a16="http://schemas.microsoft.com/office/drawing/2014/main" id="{B2317108-5DFA-CFD2-36CD-E8545516804C}"/>
              </a:ext>
            </a:extLst>
          </p:cNvPr>
          <p:cNvPicPr/>
          <p:nvPr/>
        </p:nvPicPr>
        <p:blipFill>
          <a:blip r:embed="rId4" cstate="print"/>
          <a:stretch>
            <a:fillRect/>
          </a:stretch>
        </p:blipFill>
        <p:spPr>
          <a:xfrm>
            <a:off x="117763" y="25"/>
            <a:ext cx="2473036" cy="94726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EE8A9EB6-1AF5-45D1-A9DE-EDE8C49E2819}"/>
              </a:ext>
            </a:extLst>
          </p:cNvPr>
          <p:cNvSpPr>
            <a:spLocks noGrp="1"/>
          </p:cNvSpPr>
          <p:nvPr>
            <p:ph type="dt" sz="half" idx="6"/>
          </p:nvPr>
        </p:nvSpPr>
        <p:spPr/>
        <p:txBody>
          <a:bodyPr/>
          <a:lstStyle/>
          <a:p>
            <a:pPr marL="12700">
              <a:lnSpc>
                <a:spcPts val="1240"/>
              </a:lnSpc>
            </a:pPr>
            <a:fld id="{3D899492-D0D0-480D-B038-CFEF2B341539}" type="datetime1">
              <a:rPr lang="en-US" spc="-25" smtClean="0"/>
              <a:t>7/8/2026</a:t>
            </a:fld>
            <a:endParaRPr lang="en-IN" spc="-25" dirty="0"/>
          </a:p>
        </p:txBody>
      </p:sp>
      <p:sp>
        <p:nvSpPr>
          <p:cNvPr id="4" name="Footer Placeholder 3">
            <a:extLst>
              <a:ext uri="{FF2B5EF4-FFF2-40B4-BE49-F238E27FC236}">
                <a16:creationId xmlns:a16="http://schemas.microsoft.com/office/drawing/2014/main" id="{68D59F19-55A1-43E4-B310-5B0ABBBA1A7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9945"/>
                                        </p:tgtEl>
                                        <p:attrNameLst>
                                          <p:attrName>style.visibility</p:attrName>
                                        </p:attrNameLst>
                                      </p:cBhvr>
                                      <p:to>
                                        <p:strVal val="visible"/>
                                      </p:to>
                                    </p:set>
                                    <p:animEffect transition="in" filter="barn(inVertical)">
                                      <p:cBhvr>
                                        <p:cTn id="7" dur="500"/>
                                        <p:tgtEl>
                                          <p:spTgt spid="39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21CC-EBD9-F1BB-0945-7E226A0C75FF}"/>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B2697C89-77C4-0CF0-499E-9D34B17AAD33}"/>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3EFD725A-44B5-CAB3-5841-AF11C9FAF9AB}"/>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A89B2F72-1393-AF90-E849-97F9346C6015}"/>
              </a:ext>
            </a:extLst>
          </p:cNvPr>
          <p:cNvPicPr/>
          <p:nvPr/>
        </p:nvPicPr>
        <p:blipFill>
          <a:blip r:embed="rId3" cstate="print"/>
          <a:stretch>
            <a:fillRect/>
          </a:stretch>
        </p:blipFill>
        <p:spPr>
          <a:xfrm>
            <a:off x="117763" y="25"/>
            <a:ext cx="2473036" cy="947267"/>
          </a:xfrm>
          <a:prstGeom prst="rect">
            <a:avLst/>
          </a:prstGeom>
        </p:spPr>
      </p:pic>
      <p:pic>
        <p:nvPicPr>
          <p:cNvPr id="7" name="Picture 5">
            <a:extLst>
              <a:ext uri="{FF2B5EF4-FFF2-40B4-BE49-F238E27FC236}">
                <a16:creationId xmlns:a16="http://schemas.microsoft.com/office/drawing/2014/main" id="{04CAEC18-FEC5-84BF-CED0-757E62B653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634818"/>
            <a:ext cx="81026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017796DD-456A-418C-A99A-C1D3D81B9F69}"/>
              </a:ext>
            </a:extLst>
          </p:cNvPr>
          <p:cNvSpPr>
            <a:spLocks noGrp="1"/>
          </p:cNvSpPr>
          <p:nvPr>
            <p:ph type="dt" sz="half" idx="6"/>
          </p:nvPr>
        </p:nvSpPr>
        <p:spPr/>
        <p:txBody>
          <a:bodyPr/>
          <a:lstStyle/>
          <a:p>
            <a:pPr marL="12700">
              <a:lnSpc>
                <a:spcPts val="1240"/>
              </a:lnSpc>
            </a:pPr>
            <a:fld id="{586BB122-83C7-4C3D-8EC6-15BB7777C4C1}" type="datetime1">
              <a:rPr lang="en-US" spc="-25" smtClean="0"/>
              <a:t>7/8/2026</a:t>
            </a:fld>
            <a:endParaRPr lang="en-IN" spc="-25" dirty="0"/>
          </a:p>
        </p:txBody>
      </p:sp>
      <p:sp>
        <p:nvSpPr>
          <p:cNvPr id="4" name="Footer Placeholder 3">
            <a:extLst>
              <a:ext uri="{FF2B5EF4-FFF2-40B4-BE49-F238E27FC236}">
                <a16:creationId xmlns:a16="http://schemas.microsoft.com/office/drawing/2014/main" id="{7994E15C-309B-43CD-919E-67336012D91B}"/>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19212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E3B56-CF9A-762D-BE79-D2BD3ACC44E7}"/>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245AF538-C344-6F54-3E03-5088197DD9E4}"/>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CB9CEA34-7245-E6CC-4DB3-50089752B05F}"/>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48F6C4FA-D078-CFC8-6B92-75957773AF52}"/>
              </a:ext>
            </a:extLst>
          </p:cNvPr>
          <p:cNvPicPr/>
          <p:nvPr/>
        </p:nvPicPr>
        <p:blipFill>
          <a:blip r:embed="rId3" cstate="print"/>
          <a:stretch>
            <a:fillRect/>
          </a:stretch>
        </p:blipFill>
        <p:spPr>
          <a:xfrm>
            <a:off x="117763" y="25"/>
            <a:ext cx="2473036" cy="947267"/>
          </a:xfrm>
          <a:prstGeom prst="rect">
            <a:avLst/>
          </a:prstGeom>
        </p:spPr>
      </p:pic>
      <p:pic>
        <p:nvPicPr>
          <p:cNvPr id="12" name="Picture 5">
            <a:extLst>
              <a:ext uri="{FF2B5EF4-FFF2-40B4-BE49-F238E27FC236}">
                <a16:creationId xmlns:a16="http://schemas.microsoft.com/office/drawing/2014/main" id="{1A8753ED-421E-6637-86A1-72763DF482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0974" y="1861668"/>
            <a:ext cx="8526026" cy="365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4FCE4993-A8ED-4002-807D-D1F006DF6311}"/>
              </a:ext>
            </a:extLst>
          </p:cNvPr>
          <p:cNvSpPr>
            <a:spLocks noGrp="1"/>
          </p:cNvSpPr>
          <p:nvPr>
            <p:ph type="dt" sz="half" idx="6"/>
          </p:nvPr>
        </p:nvSpPr>
        <p:spPr/>
        <p:txBody>
          <a:bodyPr/>
          <a:lstStyle/>
          <a:p>
            <a:pPr marL="12700">
              <a:lnSpc>
                <a:spcPts val="1240"/>
              </a:lnSpc>
            </a:pPr>
            <a:fld id="{705D5031-59DF-45A0-BD82-453916D17AE2}" type="datetime1">
              <a:rPr lang="en-US" spc="-25" smtClean="0"/>
              <a:t>7/8/2026</a:t>
            </a:fld>
            <a:endParaRPr lang="en-IN" spc="-25" dirty="0"/>
          </a:p>
        </p:txBody>
      </p:sp>
      <p:sp>
        <p:nvSpPr>
          <p:cNvPr id="4" name="Footer Placeholder 3">
            <a:extLst>
              <a:ext uri="{FF2B5EF4-FFF2-40B4-BE49-F238E27FC236}">
                <a16:creationId xmlns:a16="http://schemas.microsoft.com/office/drawing/2014/main" id="{469FEE2A-E6C1-47C4-B3F4-90EA614D2C4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54236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81B3E-59C8-E0C0-5471-EA731559BBB9}"/>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5002D1CA-82B2-8499-90FE-A6779E4A6895}"/>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6F6C5E2D-4E68-9068-8BD7-936659105013}"/>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E73A46F2-6281-8D84-B247-C8DDFFB6501C}"/>
              </a:ext>
            </a:extLst>
          </p:cNvPr>
          <p:cNvPicPr/>
          <p:nvPr/>
        </p:nvPicPr>
        <p:blipFill>
          <a:blip r:embed="rId3" cstate="print"/>
          <a:stretch>
            <a:fillRect/>
          </a:stretch>
        </p:blipFill>
        <p:spPr>
          <a:xfrm>
            <a:off x="117763" y="25"/>
            <a:ext cx="2473036" cy="947267"/>
          </a:xfrm>
          <a:prstGeom prst="rect">
            <a:avLst/>
          </a:prstGeom>
        </p:spPr>
      </p:pic>
      <p:pic>
        <p:nvPicPr>
          <p:cNvPr id="7" name="Picture 5">
            <a:extLst>
              <a:ext uri="{FF2B5EF4-FFF2-40B4-BE49-F238E27FC236}">
                <a16:creationId xmlns:a16="http://schemas.microsoft.com/office/drawing/2014/main" id="{1F146729-4697-A7B8-5304-A7BC105EA2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634818"/>
            <a:ext cx="8915400" cy="385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9FDF07D7-56E9-4273-B93E-BFAE257BA457}"/>
              </a:ext>
            </a:extLst>
          </p:cNvPr>
          <p:cNvSpPr>
            <a:spLocks noGrp="1"/>
          </p:cNvSpPr>
          <p:nvPr>
            <p:ph type="dt" sz="half" idx="6"/>
          </p:nvPr>
        </p:nvSpPr>
        <p:spPr/>
        <p:txBody>
          <a:bodyPr/>
          <a:lstStyle/>
          <a:p>
            <a:pPr marL="12700">
              <a:lnSpc>
                <a:spcPts val="1240"/>
              </a:lnSpc>
            </a:pPr>
            <a:fld id="{3DCEA2B9-DEB8-49E9-8554-4F9F3AE7470B}" type="datetime1">
              <a:rPr lang="en-US" spc="-25" smtClean="0"/>
              <a:t>7/8/2026</a:t>
            </a:fld>
            <a:endParaRPr lang="en-IN" spc="-25" dirty="0"/>
          </a:p>
        </p:txBody>
      </p:sp>
      <p:sp>
        <p:nvSpPr>
          <p:cNvPr id="4" name="Footer Placeholder 3">
            <a:extLst>
              <a:ext uri="{FF2B5EF4-FFF2-40B4-BE49-F238E27FC236}">
                <a16:creationId xmlns:a16="http://schemas.microsoft.com/office/drawing/2014/main" id="{514C91FA-58F6-4CEA-A90A-DA462EE86766}"/>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42979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7B2B-5C22-43ED-6CF2-D7D9483DA8EE}"/>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A430F381-9C7D-83D8-DF2B-31A9DD17BFD6}"/>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3FB2C91D-5F4E-12DF-D186-ED2680754E2D}"/>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4BB991BD-DDC1-8BE0-58B9-2B64E1D702B4}"/>
              </a:ext>
            </a:extLst>
          </p:cNvPr>
          <p:cNvPicPr/>
          <p:nvPr/>
        </p:nvPicPr>
        <p:blipFill>
          <a:blip r:embed="rId3" cstate="print"/>
          <a:stretch>
            <a:fillRect/>
          </a:stretch>
        </p:blipFill>
        <p:spPr>
          <a:xfrm>
            <a:off x="117763" y="25"/>
            <a:ext cx="2473036" cy="947267"/>
          </a:xfrm>
          <a:prstGeom prst="rect">
            <a:avLst/>
          </a:prstGeom>
        </p:spPr>
      </p:pic>
      <p:pic>
        <p:nvPicPr>
          <p:cNvPr id="4" name="Picture 5">
            <a:extLst>
              <a:ext uri="{FF2B5EF4-FFF2-40B4-BE49-F238E27FC236}">
                <a16:creationId xmlns:a16="http://schemas.microsoft.com/office/drawing/2014/main" id="{33E6CF58-0401-AA52-ADFB-DD92DC5F45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816877"/>
            <a:ext cx="918845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6D274E35-78F6-4276-9F45-2F303E573BB1}"/>
              </a:ext>
            </a:extLst>
          </p:cNvPr>
          <p:cNvSpPr>
            <a:spLocks noGrp="1"/>
          </p:cNvSpPr>
          <p:nvPr>
            <p:ph type="dt" sz="half" idx="6"/>
          </p:nvPr>
        </p:nvSpPr>
        <p:spPr/>
        <p:txBody>
          <a:bodyPr/>
          <a:lstStyle/>
          <a:p>
            <a:pPr marL="12700">
              <a:lnSpc>
                <a:spcPts val="1240"/>
              </a:lnSpc>
            </a:pPr>
            <a:fld id="{F52A7FC1-37C9-4DA3-A4F9-992A2AAD6D40}" type="datetime1">
              <a:rPr lang="en-US" spc="-25" smtClean="0"/>
              <a:t>7/8/2026</a:t>
            </a:fld>
            <a:endParaRPr lang="en-IN" spc="-25" dirty="0"/>
          </a:p>
        </p:txBody>
      </p:sp>
      <p:sp>
        <p:nvSpPr>
          <p:cNvPr id="5" name="Footer Placeholder 4">
            <a:extLst>
              <a:ext uri="{FF2B5EF4-FFF2-40B4-BE49-F238E27FC236}">
                <a16:creationId xmlns:a16="http://schemas.microsoft.com/office/drawing/2014/main" id="{3DA302C0-AB18-4BBA-8C74-B2F6EE49A83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46554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7A1E7-2C68-22DC-4F12-9CE2C0ED1285}"/>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31AA9466-45B1-1001-E4CC-49685A7DFFC7}"/>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50F83312-88BF-D128-75E0-4C42BA89F3BC}"/>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703ECF4A-F69E-580E-99AA-7047D8B6FDDA}"/>
              </a:ext>
            </a:extLst>
          </p:cNvPr>
          <p:cNvPicPr/>
          <p:nvPr/>
        </p:nvPicPr>
        <p:blipFill>
          <a:blip r:embed="rId3" cstate="print"/>
          <a:stretch>
            <a:fillRect/>
          </a:stretch>
        </p:blipFill>
        <p:spPr>
          <a:xfrm>
            <a:off x="117763" y="25"/>
            <a:ext cx="2473036" cy="947267"/>
          </a:xfrm>
          <a:prstGeom prst="rect">
            <a:avLst/>
          </a:prstGeom>
        </p:spPr>
      </p:pic>
      <p:pic>
        <p:nvPicPr>
          <p:cNvPr id="5" name="Picture 5">
            <a:extLst>
              <a:ext uri="{FF2B5EF4-FFF2-40B4-BE49-F238E27FC236}">
                <a16:creationId xmlns:a16="http://schemas.microsoft.com/office/drawing/2014/main" id="{8B8DD03C-5CAD-9018-D908-6C5659514A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550" y="1809807"/>
            <a:ext cx="941705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37880538-0976-4D05-8A69-6882F3150CC0}"/>
              </a:ext>
            </a:extLst>
          </p:cNvPr>
          <p:cNvSpPr>
            <a:spLocks noGrp="1"/>
          </p:cNvSpPr>
          <p:nvPr>
            <p:ph type="dt" sz="half" idx="6"/>
          </p:nvPr>
        </p:nvSpPr>
        <p:spPr/>
        <p:txBody>
          <a:bodyPr/>
          <a:lstStyle/>
          <a:p>
            <a:pPr marL="12700">
              <a:lnSpc>
                <a:spcPts val="1240"/>
              </a:lnSpc>
            </a:pPr>
            <a:fld id="{3AEFE46B-7EFA-475F-BB94-8075ED093875}" type="datetime1">
              <a:rPr lang="en-US" spc="-25" smtClean="0"/>
              <a:t>7/8/2026</a:t>
            </a:fld>
            <a:endParaRPr lang="en-IN" spc="-25" dirty="0"/>
          </a:p>
        </p:txBody>
      </p:sp>
      <p:sp>
        <p:nvSpPr>
          <p:cNvPr id="4" name="Footer Placeholder 3">
            <a:extLst>
              <a:ext uri="{FF2B5EF4-FFF2-40B4-BE49-F238E27FC236}">
                <a16:creationId xmlns:a16="http://schemas.microsoft.com/office/drawing/2014/main" id="{1597FB99-0939-4476-B11A-A2FA9DB8F172}"/>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44899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E3BC1-01E7-08DD-F551-70FAB877D25F}"/>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431B6697-0C7F-21FC-F937-C91D106883EC}"/>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F917067F-AB16-0D2C-EB3E-EC13A65FFBDC}"/>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B8B03CCC-FB51-95A3-F94D-19F7DDFE0399}"/>
              </a:ext>
            </a:extLst>
          </p:cNvPr>
          <p:cNvPicPr/>
          <p:nvPr/>
        </p:nvPicPr>
        <p:blipFill>
          <a:blip r:embed="rId3" cstate="print"/>
          <a:stretch>
            <a:fillRect/>
          </a:stretch>
        </p:blipFill>
        <p:spPr>
          <a:xfrm>
            <a:off x="117763" y="25"/>
            <a:ext cx="2473036" cy="947267"/>
          </a:xfrm>
          <a:prstGeom prst="rect">
            <a:avLst/>
          </a:prstGeom>
        </p:spPr>
      </p:pic>
      <p:pic>
        <p:nvPicPr>
          <p:cNvPr id="4" name="Picture 5">
            <a:extLst>
              <a:ext uri="{FF2B5EF4-FFF2-40B4-BE49-F238E27FC236}">
                <a16:creationId xmlns:a16="http://schemas.microsoft.com/office/drawing/2014/main" id="{038E1684-9330-C695-A2A8-70E6DFD370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667709"/>
            <a:ext cx="791368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FAAF8870-3E40-400A-BB0C-FBB155F28F1C}"/>
              </a:ext>
            </a:extLst>
          </p:cNvPr>
          <p:cNvSpPr>
            <a:spLocks noGrp="1"/>
          </p:cNvSpPr>
          <p:nvPr>
            <p:ph type="dt" sz="half" idx="6"/>
          </p:nvPr>
        </p:nvSpPr>
        <p:spPr/>
        <p:txBody>
          <a:bodyPr/>
          <a:lstStyle/>
          <a:p>
            <a:pPr marL="12700">
              <a:lnSpc>
                <a:spcPts val="1240"/>
              </a:lnSpc>
            </a:pPr>
            <a:fld id="{92136029-FCF8-4E39-B2EA-926B5C0111AA}" type="datetime1">
              <a:rPr lang="en-US" spc="-25" smtClean="0"/>
              <a:t>7/8/2026</a:t>
            </a:fld>
            <a:endParaRPr lang="en-IN" spc="-25" dirty="0"/>
          </a:p>
        </p:txBody>
      </p:sp>
      <p:sp>
        <p:nvSpPr>
          <p:cNvPr id="5" name="Footer Placeholder 4">
            <a:extLst>
              <a:ext uri="{FF2B5EF4-FFF2-40B4-BE49-F238E27FC236}">
                <a16:creationId xmlns:a16="http://schemas.microsoft.com/office/drawing/2014/main" id="{957C2C09-5290-4423-9E8B-7A05DA26659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285418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5C24F-35BC-DB56-D5B5-E0C4447FA93D}"/>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76B8E4CB-23F9-17B2-382C-65B51F3C55F8}"/>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110D33FF-49CF-2DE4-B9EC-928F32172441}"/>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09410D13-9C96-23A4-8F8C-B979FC690BA6}"/>
              </a:ext>
            </a:extLst>
          </p:cNvPr>
          <p:cNvPicPr/>
          <p:nvPr/>
        </p:nvPicPr>
        <p:blipFill>
          <a:blip r:embed="rId3" cstate="print"/>
          <a:stretch>
            <a:fillRect/>
          </a:stretch>
        </p:blipFill>
        <p:spPr>
          <a:xfrm>
            <a:off x="117763" y="25"/>
            <a:ext cx="2473036" cy="947267"/>
          </a:xfrm>
          <a:prstGeom prst="rect">
            <a:avLst/>
          </a:prstGeom>
        </p:spPr>
      </p:pic>
      <p:pic>
        <p:nvPicPr>
          <p:cNvPr id="5" name="Picture 5">
            <a:extLst>
              <a:ext uri="{FF2B5EF4-FFF2-40B4-BE49-F238E27FC236}">
                <a16:creationId xmlns:a16="http://schemas.microsoft.com/office/drawing/2014/main" id="{5A814D37-C439-994F-A772-C66827E803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41650"/>
            <a:ext cx="91884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5A0D57F6-331A-496D-9DC0-616CC33BB852}"/>
              </a:ext>
            </a:extLst>
          </p:cNvPr>
          <p:cNvSpPr>
            <a:spLocks noGrp="1"/>
          </p:cNvSpPr>
          <p:nvPr>
            <p:ph type="dt" sz="half" idx="6"/>
          </p:nvPr>
        </p:nvSpPr>
        <p:spPr/>
        <p:txBody>
          <a:bodyPr/>
          <a:lstStyle/>
          <a:p>
            <a:pPr marL="12700">
              <a:lnSpc>
                <a:spcPts val="1240"/>
              </a:lnSpc>
            </a:pPr>
            <a:fld id="{7E86DA15-6C13-4E1B-9075-24F20CF0EEAC}" type="datetime1">
              <a:rPr lang="en-US" spc="-25" smtClean="0"/>
              <a:t>7/8/2026</a:t>
            </a:fld>
            <a:endParaRPr lang="en-IN" spc="-25" dirty="0"/>
          </a:p>
        </p:txBody>
      </p:sp>
      <p:sp>
        <p:nvSpPr>
          <p:cNvPr id="4" name="Footer Placeholder 3">
            <a:extLst>
              <a:ext uri="{FF2B5EF4-FFF2-40B4-BE49-F238E27FC236}">
                <a16:creationId xmlns:a16="http://schemas.microsoft.com/office/drawing/2014/main" id="{90F5A6B2-F065-4F2D-9B7B-28EA67E0B80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49584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5A0A-E6E4-E6DF-10B4-61CD83414D6D}"/>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26946C58-02A7-CA40-DFA4-062882968282}"/>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4D1B89CA-815A-1DA7-6E80-365A49AA0275}"/>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6940060B-3A52-8412-99F3-0598753818ED}"/>
              </a:ext>
            </a:extLst>
          </p:cNvPr>
          <p:cNvPicPr/>
          <p:nvPr/>
        </p:nvPicPr>
        <p:blipFill>
          <a:blip r:embed="rId3" cstate="print"/>
          <a:stretch>
            <a:fillRect/>
          </a:stretch>
        </p:blipFill>
        <p:spPr>
          <a:xfrm>
            <a:off x="117763" y="25"/>
            <a:ext cx="2473036" cy="947267"/>
          </a:xfrm>
          <a:prstGeom prst="rect">
            <a:avLst/>
          </a:prstGeom>
        </p:spPr>
      </p:pic>
      <p:pic>
        <p:nvPicPr>
          <p:cNvPr id="4" name="Picture 5">
            <a:extLst>
              <a:ext uri="{FF2B5EF4-FFF2-40B4-BE49-F238E27FC236}">
                <a16:creationId xmlns:a16="http://schemas.microsoft.com/office/drawing/2014/main" id="{F0F61392-9BC9-2FB7-0850-254B7C7ABB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7887" y="1454751"/>
            <a:ext cx="7654925"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4912487C-82E1-40D9-9B15-4C8B9B56C59B}"/>
              </a:ext>
            </a:extLst>
          </p:cNvPr>
          <p:cNvSpPr>
            <a:spLocks noGrp="1"/>
          </p:cNvSpPr>
          <p:nvPr>
            <p:ph type="dt" sz="half" idx="6"/>
          </p:nvPr>
        </p:nvSpPr>
        <p:spPr/>
        <p:txBody>
          <a:bodyPr/>
          <a:lstStyle/>
          <a:p>
            <a:pPr marL="12700">
              <a:lnSpc>
                <a:spcPts val="1240"/>
              </a:lnSpc>
            </a:pPr>
            <a:fld id="{54AC9CD6-F7AE-4442-B63E-CF18C6357BC2}" type="datetime1">
              <a:rPr lang="en-US" spc="-25" smtClean="0"/>
              <a:t>7/8/2026</a:t>
            </a:fld>
            <a:endParaRPr lang="en-IN" spc="-25" dirty="0"/>
          </a:p>
        </p:txBody>
      </p:sp>
      <p:sp>
        <p:nvSpPr>
          <p:cNvPr id="5" name="Footer Placeholder 4">
            <a:extLst>
              <a:ext uri="{FF2B5EF4-FFF2-40B4-BE49-F238E27FC236}">
                <a16:creationId xmlns:a16="http://schemas.microsoft.com/office/drawing/2014/main" id="{D484E18E-F8F8-4084-AAE6-E84F5B1F8C48}"/>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80388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07DF7-EEFD-F792-B5A6-CE68E343B0CB}"/>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4ED8767B-C11B-1616-A9E0-97DAEA2DA35D}"/>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266FE255-2483-17A3-3179-B7258A456855}"/>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4108E40E-5397-CEFB-D861-D84AC14D6707}"/>
              </a:ext>
            </a:extLst>
          </p:cNvPr>
          <p:cNvPicPr/>
          <p:nvPr/>
        </p:nvPicPr>
        <p:blipFill>
          <a:blip r:embed="rId3" cstate="print"/>
          <a:stretch>
            <a:fillRect/>
          </a:stretch>
        </p:blipFill>
        <p:spPr>
          <a:xfrm>
            <a:off x="117763" y="25"/>
            <a:ext cx="2473036" cy="947267"/>
          </a:xfrm>
          <a:prstGeom prst="rect">
            <a:avLst/>
          </a:prstGeom>
        </p:spPr>
      </p:pic>
      <p:pic>
        <p:nvPicPr>
          <p:cNvPr id="5" name="Picture 5">
            <a:extLst>
              <a:ext uri="{FF2B5EF4-FFF2-40B4-BE49-F238E27FC236}">
                <a16:creationId xmlns:a16="http://schemas.microsoft.com/office/drawing/2014/main" id="{521E4069-5E5B-AF54-CFB5-A8589FE8A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1602" y="1473605"/>
            <a:ext cx="8240598" cy="393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A5F6AF2B-8434-4A13-98E1-6E4DAF3D4469}"/>
              </a:ext>
            </a:extLst>
          </p:cNvPr>
          <p:cNvSpPr>
            <a:spLocks noGrp="1"/>
          </p:cNvSpPr>
          <p:nvPr>
            <p:ph type="dt" sz="half" idx="6"/>
          </p:nvPr>
        </p:nvSpPr>
        <p:spPr/>
        <p:txBody>
          <a:bodyPr/>
          <a:lstStyle/>
          <a:p>
            <a:pPr marL="12700">
              <a:lnSpc>
                <a:spcPts val="1240"/>
              </a:lnSpc>
            </a:pPr>
            <a:fld id="{A309BE3E-CB5D-434A-9C13-0C8A771F742D}" type="datetime1">
              <a:rPr lang="en-US" spc="-25" smtClean="0"/>
              <a:t>7/8/2026</a:t>
            </a:fld>
            <a:endParaRPr lang="en-IN" spc="-25" dirty="0"/>
          </a:p>
        </p:txBody>
      </p:sp>
      <p:sp>
        <p:nvSpPr>
          <p:cNvPr id="4" name="Footer Placeholder 3">
            <a:extLst>
              <a:ext uri="{FF2B5EF4-FFF2-40B4-BE49-F238E27FC236}">
                <a16:creationId xmlns:a16="http://schemas.microsoft.com/office/drawing/2014/main" id="{629D1426-67E6-429B-9B81-A68985106F9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428297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435B-5AB7-9D58-E401-C5603B08BEBA}"/>
            </a:ext>
          </a:extLst>
        </p:cNvPr>
        <p:cNvGrpSpPr/>
        <p:nvPr/>
      </p:nvGrpSpPr>
      <p:grpSpPr>
        <a:xfrm>
          <a:off x="0" y="0"/>
          <a:ext cx="0" cy="0"/>
          <a:chOff x="0" y="0"/>
          <a:chExt cx="0" cy="0"/>
        </a:xfrm>
      </p:grpSpPr>
      <p:sp>
        <p:nvSpPr>
          <p:cNvPr id="39938" name="Content Placeholder 2">
            <a:extLst>
              <a:ext uri="{FF2B5EF4-FFF2-40B4-BE49-F238E27FC236}">
                <a16:creationId xmlns:a16="http://schemas.microsoft.com/office/drawing/2014/main" id="{8A80C955-7E63-5388-79F5-24D50D91AEBB}"/>
              </a:ext>
            </a:extLst>
          </p:cNvPr>
          <p:cNvSpPr>
            <a:spLocks noGrp="1"/>
          </p:cNvSpPr>
          <p:nvPr>
            <p:ph idx="1"/>
          </p:nvPr>
        </p:nvSpPr>
        <p:spPr>
          <a:xfrm>
            <a:off x="1752600" y="914401"/>
            <a:ext cx="8763000" cy="677108"/>
          </a:xfrm>
        </p:spPr>
        <p:txBody>
          <a:bodyPr/>
          <a:lstStyle/>
          <a:p>
            <a:pPr algn="just" eaLnBrk="1" hangingPunct="1">
              <a:buFont typeface="Arial" panose="020B0604020202020204" pitchFamily="34" charset="0"/>
              <a:buNone/>
            </a:pPr>
            <a:r>
              <a:rPr lang="en-US" altLang="en-US"/>
              <a:t>				</a:t>
            </a:r>
          </a:p>
          <a:p>
            <a:pPr algn="just" eaLnBrk="1" hangingPunct="1"/>
            <a:endParaRPr lang="en-US" altLang="en-US"/>
          </a:p>
        </p:txBody>
      </p:sp>
      <p:sp>
        <p:nvSpPr>
          <p:cNvPr id="9" name="Rectangle 8">
            <a:extLst>
              <a:ext uri="{FF2B5EF4-FFF2-40B4-BE49-F238E27FC236}">
                <a16:creationId xmlns:a16="http://schemas.microsoft.com/office/drawing/2014/main" id="{D9BF20FF-B720-7236-541F-CF14C069F71C}"/>
              </a:ext>
            </a:extLst>
          </p:cNvPr>
          <p:cNvSpPr/>
          <p:nvPr/>
        </p:nvSpPr>
        <p:spPr>
          <a:xfrm>
            <a:off x="1981200" y="990601"/>
            <a:ext cx="8077200" cy="911019"/>
          </a:xfrm>
          <a:prstGeom prst="rect">
            <a:avLst/>
          </a:prstGeom>
        </p:spPr>
        <p:txBody>
          <a:bodyPr>
            <a:spAutoFit/>
          </a:bodyPr>
          <a:lstStyle/>
          <a:p>
            <a:pPr>
              <a:lnSpc>
                <a:spcPct val="95000"/>
              </a:lnSpc>
              <a:defRPr/>
            </a:pPr>
            <a:r>
              <a:rPr lang="en-US" sz="2400" b="1" dirty="0" err="1">
                <a:solidFill>
                  <a:srgbClr val="3B62AF"/>
                </a:solidFill>
                <a:latin typeface="+mj-lt"/>
                <a:cs typeface="+mn-cs"/>
              </a:rPr>
              <a:t>Dijkstra's</a:t>
            </a:r>
            <a:r>
              <a:rPr lang="en-US" sz="2400" b="1" dirty="0">
                <a:solidFill>
                  <a:srgbClr val="3B62AF"/>
                </a:solidFill>
                <a:latin typeface="+mj-lt"/>
                <a:cs typeface="+mn-cs"/>
              </a:rPr>
              <a:t> Example</a:t>
            </a:r>
          </a:p>
          <a:p>
            <a:pPr marL="514350" indent="-514350">
              <a:lnSpc>
                <a:spcPct val="95000"/>
              </a:lnSpc>
              <a:buFont typeface="+mj-lt"/>
              <a:buAutoNum type="arabicPeriod"/>
              <a:defRPr/>
            </a:pPr>
            <a:endParaRPr lang="en-US" sz="3200" b="1" dirty="0">
              <a:solidFill>
                <a:srgbClr val="3B62AF"/>
              </a:solidFill>
              <a:latin typeface="Arial" charset="0"/>
              <a:cs typeface="+mn-cs"/>
            </a:endParaRPr>
          </a:p>
        </p:txBody>
      </p:sp>
      <p:pic>
        <p:nvPicPr>
          <p:cNvPr id="2" name="object 7">
            <a:extLst>
              <a:ext uri="{FF2B5EF4-FFF2-40B4-BE49-F238E27FC236}">
                <a16:creationId xmlns:a16="http://schemas.microsoft.com/office/drawing/2014/main" id="{AA7EACF4-5107-14C7-8A1A-83735BAAB4D3}"/>
              </a:ext>
            </a:extLst>
          </p:cNvPr>
          <p:cNvPicPr/>
          <p:nvPr/>
        </p:nvPicPr>
        <p:blipFill>
          <a:blip r:embed="rId3" cstate="print"/>
          <a:stretch>
            <a:fillRect/>
          </a:stretch>
        </p:blipFill>
        <p:spPr>
          <a:xfrm>
            <a:off x="117763" y="25"/>
            <a:ext cx="2473036" cy="947267"/>
          </a:xfrm>
          <a:prstGeom prst="rect">
            <a:avLst/>
          </a:prstGeom>
        </p:spPr>
      </p:pic>
      <p:pic>
        <p:nvPicPr>
          <p:cNvPr id="4" name="Picture 5">
            <a:extLst>
              <a:ext uri="{FF2B5EF4-FFF2-40B4-BE49-F238E27FC236}">
                <a16:creationId xmlns:a16="http://schemas.microsoft.com/office/drawing/2014/main" id="{9DA9D1D0-F51A-86DF-0F98-89E42A9B07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446110"/>
            <a:ext cx="7654925"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2705420" y="0"/>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err="1">
                <a:latin typeface="Calibri" panose="020F0502020204030204" pitchFamily="34" charset="0"/>
                <a:ea typeface="Times New Roman" panose="02020603050405020304" pitchFamily="18" charset="0"/>
              </a:rPr>
              <a:t>Dijkstra</a:t>
            </a:r>
            <a:r>
              <a:rPr lang="en-IN" sz="2800" b="1" dirty="0">
                <a:latin typeface="Calibri" panose="020F0502020204030204" pitchFamily="34" charset="0"/>
                <a:ea typeface="Times New Roman" panose="02020603050405020304" pitchFamily="18" charset="0"/>
              </a:rPr>
              <a:t>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C7AE878D-90ED-40E8-BDC2-7544F5636558}"/>
              </a:ext>
            </a:extLst>
          </p:cNvPr>
          <p:cNvSpPr>
            <a:spLocks noGrp="1"/>
          </p:cNvSpPr>
          <p:nvPr>
            <p:ph type="dt" sz="half" idx="6"/>
          </p:nvPr>
        </p:nvSpPr>
        <p:spPr/>
        <p:txBody>
          <a:bodyPr/>
          <a:lstStyle/>
          <a:p>
            <a:pPr marL="12700">
              <a:lnSpc>
                <a:spcPts val="1240"/>
              </a:lnSpc>
            </a:pPr>
            <a:fld id="{AD19D45A-4216-42FA-A8A6-EFB57A65D763}" type="datetime1">
              <a:rPr lang="en-US" spc="-25" smtClean="0"/>
              <a:t>7/8/2026</a:t>
            </a:fld>
            <a:endParaRPr lang="en-IN" spc="-25" dirty="0"/>
          </a:p>
        </p:txBody>
      </p:sp>
      <p:sp>
        <p:nvSpPr>
          <p:cNvPr id="5" name="Footer Placeholder 4">
            <a:extLst>
              <a:ext uri="{FF2B5EF4-FFF2-40B4-BE49-F238E27FC236}">
                <a16:creationId xmlns:a16="http://schemas.microsoft.com/office/drawing/2014/main" id="{1D2E7226-2CAB-4DC1-9A9A-BB9DFB48E501}"/>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73425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2149094" y="1433829"/>
            <a:ext cx="8290306" cy="3286925"/>
          </a:xfrm>
          <a:prstGeom prst="rect">
            <a:avLst/>
          </a:prstGeom>
        </p:spPr>
        <p:txBody>
          <a:bodyPr vert="horz" wrap="square" lIns="0" tIns="12065" rIns="0" bIns="0" rtlCol="0">
            <a:spAutoFit/>
          </a:bodyPr>
          <a:lstStyle/>
          <a:p>
            <a:pPr fontAlgn="auto">
              <a:lnSpc>
                <a:spcPct val="95000"/>
              </a:lnSpc>
              <a:spcAft>
                <a:spcPts val="0"/>
              </a:spcAft>
              <a:defRPr/>
            </a:pPr>
            <a:r>
              <a:rPr lang="en-US" sz="2400" b="1" dirty="0">
                <a:latin typeface="Times New Roman" panose="02020603050405020304" pitchFamily="18" charset="0"/>
                <a:cs typeface="Times New Roman" panose="02020603050405020304" pitchFamily="18" charset="0"/>
              </a:rPr>
              <a:t>Bellman Ford (G, W, S)</a:t>
            </a:r>
          </a:p>
          <a:p>
            <a:pPr fontAlgn="auto">
              <a:lnSpc>
                <a:spcPct val="95000"/>
              </a:lnSpc>
              <a:spcAft>
                <a:spcPts val="0"/>
              </a:spcAft>
              <a:defRPr/>
            </a:pPr>
            <a:endParaRPr lang="en-US" sz="2400" b="1" dirty="0">
              <a:latin typeface="Times New Roman" panose="02020603050405020304" pitchFamily="18" charset="0"/>
              <a:cs typeface="Times New Roman" panose="02020603050405020304" pitchFamily="18" charset="0"/>
            </a:endParaRPr>
          </a:p>
          <a:p>
            <a:pPr marL="514350" indent="-514350" fontAlgn="auto">
              <a:lnSpc>
                <a:spcPct val="95000"/>
              </a:lnSpc>
              <a:spcAft>
                <a:spcPts val="0"/>
              </a:spcAft>
              <a:buFont typeface="+mj-lt"/>
              <a:buAutoNum type="arabicPeriod"/>
              <a:defRPr/>
            </a:pPr>
            <a:r>
              <a:rPr lang="en-US" sz="2200" b="1" dirty="0">
                <a:latin typeface="Times New Roman" panose="02020603050405020304" pitchFamily="18" charset="0"/>
                <a:cs typeface="Times New Roman" panose="02020603050405020304" pitchFamily="18" charset="0"/>
              </a:rPr>
              <a:t> Initialize Single Source(G, S)</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For </a:t>
            </a:r>
            <a:r>
              <a:rPr lang="en-US" sz="2200"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 ←1 to [V[G]] -1</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       do for each edge (u, v)∈ E[G]</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          do relax(u, v, w)</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for each edge (u, v)∈ E[G]</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    do if  d[v] &gt; d[u] +w(u, v)</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      then return false</a:t>
            </a:r>
          </a:p>
          <a:p>
            <a:pPr marL="514350" indent="-514350" fontAlgn="auto">
              <a:lnSpc>
                <a:spcPct val="95000"/>
              </a:lnSpc>
              <a:spcAft>
                <a:spcPts val="0"/>
              </a:spcAft>
              <a:buFont typeface="+mj-lt"/>
              <a:buAutoNum type="arabicPeriod"/>
              <a:defRPr/>
            </a:pPr>
            <a:r>
              <a:rPr lang="en-US" sz="2200" dirty="0">
                <a:latin typeface="Times New Roman" panose="02020603050405020304" pitchFamily="18" charset="0"/>
                <a:cs typeface="Times New Roman" panose="02020603050405020304" pitchFamily="18" charset="0"/>
              </a:rPr>
              <a:t> return true</a:t>
            </a:r>
            <a:endParaRPr spc="-10" dirty="0">
              <a:latin typeface="Times New Roman" panose="02020603050405020304" pitchFamily="18" charset="0"/>
              <a:cs typeface="Times New Roman" panose="02020603050405020304" pitchFamily="18" charset="0"/>
            </a:endParaRPr>
          </a:p>
        </p:txBody>
      </p:sp>
      <p:pic>
        <p:nvPicPr>
          <p:cNvPr id="8" name="object 8"/>
          <p:cNvPicPr/>
          <p:nvPr/>
        </p:nvPicPr>
        <p:blipFill>
          <a:blip r:embed="rId2" cstate="print"/>
          <a:stretch>
            <a:fillRect/>
          </a:stretch>
        </p:blipFill>
        <p:spPr>
          <a:xfrm>
            <a:off x="117763" y="25"/>
            <a:ext cx="2473036" cy="94726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p:cNvSpPr>
          <p:nvPr/>
        </p:nvSpPr>
        <p:spPr>
          <a:xfrm>
            <a:off x="2739985" y="238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Bellman Ford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424BB382-CA8A-42DD-AB95-F3AE0EF1E1AA}"/>
              </a:ext>
            </a:extLst>
          </p:cNvPr>
          <p:cNvSpPr>
            <a:spLocks noGrp="1"/>
          </p:cNvSpPr>
          <p:nvPr>
            <p:ph type="dt" sz="half" idx="6"/>
          </p:nvPr>
        </p:nvSpPr>
        <p:spPr/>
        <p:txBody>
          <a:bodyPr/>
          <a:lstStyle/>
          <a:p>
            <a:pPr marL="12700">
              <a:lnSpc>
                <a:spcPts val="1240"/>
              </a:lnSpc>
            </a:pPr>
            <a:fld id="{22C7CE84-DA0D-4EA5-8E33-87925C463C72}" type="datetime1">
              <a:rPr lang="en-US" spc="-25" smtClean="0"/>
              <a:t>7/8/2026</a:t>
            </a:fld>
            <a:endParaRPr lang="en-IN" spc="-25" dirty="0"/>
          </a:p>
        </p:txBody>
      </p:sp>
      <p:sp>
        <p:nvSpPr>
          <p:cNvPr id="4" name="Footer Placeholder 3">
            <a:extLst>
              <a:ext uri="{FF2B5EF4-FFF2-40B4-BE49-F238E27FC236}">
                <a16:creationId xmlns:a16="http://schemas.microsoft.com/office/drawing/2014/main" id="{EE4042C0-0C82-446D-BE2C-57ED561099C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3A1813-977C-3043-FCA7-4B8E72FDD2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A84C2EF-F569-45C1-EB25-777DF14679E5}"/>
              </a:ext>
            </a:extLst>
          </p:cNvPr>
          <p:cNvSpPr txBox="1">
            <a:spLocks noGrp="1"/>
          </p:cNvSpPr>
          <p:nvPr>
            <p:ph type="body" idx="1"/>
          </p:nvPr>
        </p:nvSpPr>
        <p:spPr>
          <a:xfrm>
            <a:off x="1143000" y="1219200"/>
            <a:ext cx="9982200" cy="1981953"/>
          </a:xfrm>
          <a:prstGeom prst="rect">
            <a:avLst/>
          </a:prstGeom>
        </p:spPr>
        <p:txBody>
          <a:bodyPr vert="horz" wrap="square" lIns="0" tIns="12065" rIns="0" bIns="0" rtlCol="0">
            <a:spAutoFit/>
          </a:bodyPr>
          <a:lstStyle/>
          <a:p>
            <a:r>
              <a:rPr lang="en-US" sz="2000" dirty="0">
                <a:latin typeface="Times New Roman" panose="02020603050405020304" pitchFamily="18" charset="0"/>
                <a:cs typeface="Times New Roman" panose="02020603050405020304" pitchFamily="18" charset="0"/>
              </a:rPr>
              <a:t>Example </a:t>
            </a:r>
          </a:p>
          <a:p>
            <a:r>
              <a:rPr lang="en-US" sz="2000" dirty="0">
                <a:latin typeface="Times New Roman" panose="02020603050405020304" pitchFamily="18" charset="0"/>
                <a:cs typeface="Times New Roman" panose="02020603050405020304" pitchFamily="18" charset="0"/>
              </a:rPr>
              <a:t>Let us understand the algorithm with following example graph.</a:t>
            </a:r>
          </a:p>
          <a:p>
            <a:r>
              <a:rPr lang="en-US" dirty="0">
                <a:latin typeface="Times New Roman" panose="02020603050405020304" pitchFamily="18" charset="0"/>
                <a:cs typeface="Times New Roman" panose="02020603050405020304" pitchFamily="18" charset="0"/>
              </a:rPr>
              <a:t>Let the given source vertex be 0. Initialize all distances as infinite, except the distance to the source itself. Total number of vertices in the graph is 5, so all edges must be processed 4 times.</a:t>
            </a:r>
          </a:p>
          <a:p>
            <a:r>
              <a:rPr lang="en-US" dirty="0"/>
              <a:t> </a:t>
            </a:r>
          </a:p>
        </p:txBody>
      </p:sp>
      <p:pic>
        <p:nvPicPr>
          <p:cNvPr id="8" name="object 8">
            <a:extLst>
              <a:ext uri="{FF2B5EF4-FFF2-40B4-BE49-F238E27FC236}">
                <a16:creationId xmlns:a16="http://schemas.microsoft.com/office/drawing/2014/main" id="{ADE1E80F-38AD-3388-EB38-A3C8CD4EC580}"/>
              </a:ext>
            </a:extLst>
          </p:cNvPr>
          <p:cNvPicPr/>
          <p:nvPr/>
        </p:nvPicPr>
        <p:blipFill>
          <a:blip r:embed="rId2" cstate="print"/>
          <a:stretch>
            <a:fillRect/>
          </a:stretch>
        </p:blipFill>
        <p:spPr>
          <a:xfrm>
            <a:off x="117763" y="25"/>
            <a:ext cx="2473036" cy="947267"/>
          </a:xfrm>
          <a:prstGeom prst="rect">
            <a:avLst/>
          </a:prstGeom>
        </p:spPr>
      </p:pic>
      <p:pic>
        <p:nvPicPr>
          <p:cNvPr id="9" name="Picture 2" descr="Lightbox">
            <a:extLst>
              <a:ext uri="{FF2B5EF4-FFF2-40B4-BE49-F238E27FC236}">
                <a16:creationId xmlns:a16="http://schemas.microsoft.com/office/drawing/2014/main" id="{100B0706-BCBC-3255-CB32-5EBF8E302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971800"/>
            <a:ext cx="5734050" cy="3400426"/>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238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Bellman Ford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F14D6102-ECDA-4288-B502-280386688525}"/>
              </a:ext>
            </a:extLst>
          </p:cNvPr>
          <p:cNvSpPr>
            <a:spLocks noGrp="1"/>
          </p:cNvSpPr>
          <p:nvPr>
            <p:ph type="dt" sz="half" idx="6"/>
          </p:nvPr>
        </p:nvSpPr>
        <p:spPr/>
        <p:txBody>
          <a:bodyPr/>
          <a:lstStyle/>
          <a:p>
            <a:pPr marL="12700">
              <a:lnSpc>
                <a:spcPts val="1240"/>
              </a:lnSpc>
            </a:pPr>
            <a:fld id="{B0F347EB-5613-4745-A587-41527EF38FE2}" type="datetime1">
              <a:rPr lang="en-US" spc="-25" smtClean="0"/>
              <a:t>7/8/2026</a:t>
            </a:fld>
            <a:endParaRPr lang="en-IN" spc="-25" dirty="0"/>
          </a:p>
        </p:txBody>
      </p:sp>
      <p:sp>
        <p:nvSpPr>
          <p:cNvPr id="4" name="Footer Placeholder 3">
            <a:extLst>
              <a:ext uri="{FF2B5EF4-FFF2-40B4-BE49-F238E27FC236}">
                <a16:creationId xmlns:a16="http://schemas.microsoft.com/office/drawing/2014/main" id="{5078C4FD-BC52-4A1F-A123-038960D6532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7373855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18E163A-9A51-ED2A-7EA2-047BFE5B84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573864E-7193-9CBA-6209-DD69E1E4BA99}"/>
              </a:ext>
            </a:extLst>
          </p:cNvPr>
          <p:cNvSpPr txBox="1">
            <a:spLocks noGrp="1"/>
          </p:cNvSpPr>
          <p:nvPr>
            <p:ph type="body" idx="1"/>
          </p:nvPr>
        </p:nvSpPr>
        <p:spPr>
          <a:xfrm>
            <a:off x="1143000" y="1261497"/>
            <a:ext cx="9982200" cy="1889620"/>
          </a:xfrm>
          <a:prstGeom prst="rect">
            <a:avLst/>
          </a:prstGeom>
        </p:spPr>
        <p:txBody>
          <a:bodyPr vert="horz" wrap="square" lIns="0" tIns="12065" rIns="0" bIns="0" rtlCol="0">
            <a:spAutoFit/>
          </a:bodyPr>
          <a:lstStyle/>
          <a:p>
            <a:pPr algn="just"/>
            <a:r>
              <a:rPr lang="en-US" sz="2000" dirty="0">
                <a:latin typeface="Times New Roman" panose="02020603050405020304" pitchFamily="18" charset="0"/>
                <a:cs typeface="Times New Roman" panose="02020603050405020304" pitchFamily="18" charset="0"/>
              </a:rPr>
              <a:t>Let all edges are processed in the following order: (B, E), (D, B), (B, D), (A, B), (A, C), (D, C), (B, C), (E, D). We get the following distances when all edges are processed the first time. The first row shows initial distances. The second row shows distances when edges (B, E), (D, B), (B, D) and (A, B) are processed. The third row shows distances when (A, C) is processed. The fourth row shows when (D, C), (B, C) and (E, D) are processed. </a:t>
            </a:r>
          </a:p>
          <a:p>
            <a:r>
              <a:rPr lang="en-US" dirty="0"/>
              <a:t> </a:t>
            </a:r>
          </a:p>
        </p:txBody>
      </p:sp>
      <p:pic>
        <p:nvPicPr>
          <p:cNvPr id="8" name="object 8">
            <a:extLst>
              <a:ext uri="{FF2B5EF4-FFF2-40B4-BE49-F238E27FC236}">
                <a16:creationId xmlns:a16="http://schemas.microsoft.com/office/drawing/2014/main" id="{35F46DFE-2819-2BBC-F434-17A93DE0C331}"/>
              </a:ext>
            </a:extLst>
          </p:cNvPr>
          <p:cNvPicPr/>
          <p:nvPr/>
        </p:nvPicPr>
        <p:blipFill>
          <a:blip r:embed="rId2" cstate="print"/>
          <a:stretch>
            <a:fillRect/>
          </a:stretch>
        </p:blipFill>
        <p:spPr>
          <a:xfrm>
            <a:off x="117763" y="25"/>
            <a:ext cx="2473036" cy="947267"/>
          </a:xfrm>
          <a:prstGeom prst="rect">
            <a:avLst/>
          </a:prstGeom>
        </p:spPr>
      </p:pic>
      <p:pic>
        <p:nvPicPr>
          <p:cNvPr id="10" name="Picture 2">
            <a:extLst>
              <a:ext uri="{FF2B5EF4-FFF2-40B4-BE49-F238E27FC236}">
                <a16:creationId xmlns:a16="http://schemas.microsoft.com/office/drawing/2014/main" id="{6B9E1D70-2F0D-BC6B-38EB-29101E43C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971800"/>
            <a:ext cx="7162799"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238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Bellman Ford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1F603147-1442-4226-AECF-E9B9DB420490}"/>
              </a:ext>
            </a:extLst>
          </p:cNvPr>
          <p:cNvSpPr>
            <a:spLocks noGrp="1"/>
          </p:cNvSpPr>
          <p:nvPr>
            <p:ph type="dt" sz="half" idx="6"/>
          </p:nvPr>
        </p:nvSpPr>
        <p:spPr/>
        <p:txBody>
          <a:bodyPr/>
          <a:lstStyle/>
          <a:p>
            <a:pPr marL="12700">
              <a:lnSpc>
                <a:spcPts val="1240"/>
              </a:lnSpc>
            </a:pPr>
            <a:fld id="{C5F6C86B-D8D4-44B6-A4C5-F74C94236484}" type="datetime1">
              <a:rPr lang="en-US" spc="-25" smtClean="0"/>
              <a:t>7/8/2026</a:t>
            </a:fld>
            <a:endParaRPr lang="en-IN" spc="-25" dirty="0"/>
          </a:p>
        </p:txBody>
      </p:sp>
      <p:sp>
        <p:nvSpPr>
          <p:cNvPr id="4" name="Footer Placeholder 3">
            <a:extLst>
              <a:ext uri="{FF2B5EF4-FFF2-40B4-BE49-F238E27FC236}">
                <a16:creationId xmlns:a16="http://schemas.microsoft.com/office/drawing/2014/main" id="{3A7FE6DE-2604-411E-B95C-260002BD0B1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5600107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192C574-83BD-CE45-6C7C-F1B54E4C62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6CEEB6-9464-1C39-7F0D-75BF762E1426}"/>
              </a:ext>
            </a:extLst>
          </p:cNvPr>
          <p:cNvSpPr txBox="1">
            <a:spLocks noGrp="1"/>
          </p:cNvSpPr>
          <p:nvPr>
            <p:ph type="body" idx="1"/>
          </p:nvPr>
        </p:nvSpPr>
        <p:spPr>
          <a:xfrm>
            <a:off x="990600" y="1387492"/>
            <a:ext cx="9982200" cy="1366400"/>
          </a:xfrm>
          <a:prstGeom prst="rect">
            <a:avLst/>
          </a:prstGeom>
        </p:spPr>
        <p:txBody>
          <a:bodyPr vert="horz" wrap="square" lIns="0" tIns="12065" rIns="0" bIns="0" rtlCol="0">
            <a:spAutoFit/>
          </a:bodyPr>
          <a:lstStyle/>
          <a:p>
            <a:r>
              <a:rPr lang="en-US" dirty="0">
                <a:latin typeface="Times New Roman" panose="02020603050405020304" pitchFamily="18" charset="0"/>
                <a:cs typeface="Times New Roman" panose="02020603050405020304" pitchFamily="18" charset="0"/>
              </a:rPr>
              <a:t>The first iteration guarantees to give all shortest paths which are at most 1 edge long. We get the following distances when all edges are processed second time (The last row shows final values). </a:t>
            </a:r>
          </a:p>
          <a:p>
            <a:r>
              <a:rPr lang="en-US" dirty="0">
                <a:latin typeface="Times New Roman" panose="02020603050405020304" pitchFamily="18" charset="0"/>
                <a:cs typeface="Times New Roman" panose="02020603050405020304" pitchFamily="18" charset="0"/>
              </a:rPr>
              <a:t> </a:t>
            </a:r>
          </a:p>
        </p:txBody>
      </p:sp>
      <p:pic>
        <p:nvPicPr>
          <p:cNvPr id="8" name="object 8">
            <a:extLst>
              <a:ext uri="{FF2B5EF4-FFF2-40B4-BE49-F238E27FC236}">
                <a16:creationId xmlns:a16="http://schemas.microsoft.com/office/drawing/2014/main" id="{45E11EA3-5734-AC6B-E499-6A9DF24DACD5}"/>
              </a:ext>
            </a:extLst>
          </p:cNvPr>
          <p:cNvPicPr/>
          <p:nvPr/>
        </p:nvPicPr>
        <p:blipFill>
          <a:blip r:embed="rId2" cstate="print"/>
          <a:stretch>
            <a:fillRect/>
          </a:stretch>
        </p:blipFill>
        <p:spPr>
          <a:xfrm>
            <a:off x="117763" y="25"/>
            <a:ext cx="2473036" cy="947267"/>
          </a:xfrm>
          <a:prstGeom prst="rect">
            <a:avLst/>
          </a:prstGeom>
        </p:spPr>
      </p:pic>
      <p:pic>
        <p:nvPicPr>
          <p:cNvPr id="9" name="Picture 2" descr="Lightbox">
            <a:extLst>
              <a:ext uri="{FF2B5EF4-FFF2-40B4-BE49-F238E27FC236}">
                <a16:creationId xmlns:a16="http://schemas.microsoft.com/office/drawing/2014/main" id="{2489BF01-EACA-37B6-2A74-4C83C3F0F6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514600"/>
            <a:ext cx="6400800" cy="3200401"/>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2739985" y="238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Bellman Ford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B10DD3D7-A276-4D92-9C51-D531F463D777}"/>
              </a:ext>
            </a:extLst>
          </p:cNvPr>
          <p:cNvSpPr>
            <a:spLocks noGrp="1"/>
          </p:cNvSpPr>
          <p:nvPr>
            <p:ph type="dt" sz="half" idx="6"/>
          </p:nvPr>
        </p:nvSpPr>
        <p:spPr/>
        <p:txBody>
          <a:bodyPr/>
          <a:lstStyle/>
          <a:p>
            <a:pPr marL="12700">
              <a:lnSpc>
                <a:spcPts val="1240"/>
              </a:lnSpc>
            </a:pPr>
            <a:fld id="{4E142E9A-655C-4B24-8426-DA0AB4B6C1DD}" type="datetime1">
              <a:rPr lang="en-US" spc="-25" smtClean="0"/>
              <a:t>7/8/2026</a:t>
            </a:fld>
            <a:endParaRPr lang="en-IN" spc="-25" dirty="0"/>
          </a:p>
        </p:txBody>
      </p:sp>
      <p:sp>
        <p:nvSpPr>
          <p:cNvPr id="4" name="Footer Placeholder 3">
            <a:extLst>
              <a:ext uri="{FF2B5EF4-FFF2-40B4-BE49-F238E27FC236}">
                <a16:creationId xmlns:a16="http://schemas.microsoft.com/office/drawing/2014/main" id="{9DFDBFD5-8FA1-47E7-B812-163BABF4D21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884088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6592EFE-21B0-A8B2-CCFF-9BEE318C18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728068-786E-3E5C-E94A-691E036CCE12}"/>
              </a:ext>
            </a:extLst>
          </p:cNvPr>
          <p:cNvSpPr txBox="1">
            <a:spLocks noGrp="1"/>
          </p:cNvSpPr>
          <p:nvPr>
            <p:ph type="body" idx="1"/>
          </p:nvPr>
        </p:nvSpPr>
        <p:spPr>
          <a:xfrm>
            <a:off x="1143000" y="1295400"/>
            <a:ext cx="9982200" cy="1027845"/>
          </a:xfrm>
          <a:prstGeom prst="rect">
            <a:avLst/>
          </a:prstGeom>
        </p:spPr>
        <p:txBody>
          <a:bodyPr vert="horz" wrap="square" lIns="0" tIns="12065" rIns="0" bIns="0" rtlCol="0">
            <a:spAutoFit/>
          </a:bodyPr>
          <a:lstStyle/>
          <a:p>
            <a:pPr algn="just"/>
            <a:r>
              <a:rPr lang="en-US" dirty="0">
                <a:latin typeface="Times New Roman" panose="02020603050405020304" pitchFamily="18" charset="0"/>
                <a:cs typeface="Times New Roman" panose="02020603050405020304" pitchFamily="18" charset="0"/>
              </a:rPr>
              <a:t>The second iteration guarantees to give all shortest paths which are at most 2 edges long. The algorithm processes all edges 2 more times. The distances are minimized after the second iteration, so third and fourth iterations don’t update the distances.</a:t>
            </a:r>
          </a:p>
        </p:txBody>
      </p:sp>
      <p:pic>
        <p:nvPicPr>
          <p:cNvPr id="8" name="object 8">
            <a:extLst>
              <a:ext uri="{FF2B5EF4-FFF2-40B4-BE49-F238E27FC236}">
                <a16:creationId xmlns:a16="http://schemas.microsoft.com/office/drawing/2014/main" id="{6AE5314C-84BC-196F-0A3F-2F75B0822E19}"/>
              </a:ext>
            </a:extLst>
          </p:cNvPr>
          <p:cNvPicPr/>
          <p:nvPr/>
        </p:nvPicPr>
        <p:blipFill>
          <a:blip r:embed="rId2" cstate="print"/>
          <a:stretch>
            <a:fillRect/>
          </a:stretch>
        </p:blipFill>
        <p:spPr>
          <a:xfrm>
            <a:off x="117763" y="25"/>
            <a:ext cx="2473036" cy="94726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2739985" y="2382"/>
            <a:ext cx="9452015"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Calibri" panose="020F0502020204030204" pitchFamily="34" charset="0"/>
                <a:ea typeface="Times New Roman" panose="02020603050405020304" pitchFamily="18" charset="0"/>
              </a:rPr>
              <a:t>Bellman Ford Algorithm</a:t>
            </a:r>
            <a:endParaRPr lang="en-US" sz="2800" b="1" dirty="0">
              <a:latin typeface="+mj-lt"/>
              <a:cs typeface="Times New Roman" panose="02020603050405020304" pitchFamily="18" charset="0"/>
            </a:endParaRPr>
          </a:p>
        </p:txBody>
      </p:sp>
      <p:sp>
        <p:nvSpPr>
          <p:cNvPr id="3" name="Date Placeholder 2">
            <a:extLst>
              <a:ext uri="{FF2B5EF4-FFF2-40B4-BE49-F238E27FC236}">
                <a16:creationId xmlns:a16="http://schemas.microsoft.com/office/drawing/2014/main" id="{6C523228-F9D6-42C4-956E-42FC5BBCC85A}"/>
              </a:ext>
            </a:extLst>
          </p:cNvPr>
          <p:cNvSpPr>
            <a:spLocks noGrp="1"/>
          </p:cNvSpPr>
          <p:nvPr>
            <p:ph type="dt" sz="half" idx="6"/>
          </p:nvPr>
        </p:nvSpPr>
        <p:spPr/>
        <p:txBody>
          <a:bodyPr/>
          <a:lstStyle/>
          <a:p>
            <a:pPr marL="12700">
              <a:lnSpc>
                <a:spcPts val="1240"/>
              </a:lnSpc>
            </a:pPr>
            <a:fld id="{83ED8BCA-2A60-47A9-AA0A-CF9C75C8D331}" type="datetime1">
              <a:rPr lang="en-US" spc="-25" smtClean="0"/>
              <a:t>7/8/2026</a:t>
            </a:fld>
            <a:endParaRPr lang="en-IN" spc="-25" dirty="0"/>
          </a:p>
        </p:txBody>
      </p:sp>
      <p:sp>
        <p:nvSpPr>
          <p:cNvPr id="4" name="Footer Placeholder 3">
            <a:extLst>
              <a:ext uri="{FF2B5EF4-FFF2-40B4-BE49-F238E27FC236}">
                <a16:creationId xmlns:a16="http://schemas.microsoft.com/office/drawing/2014/main" id="{81F91414-58FC-48F2-A2D4-52E93D5D9687}"/>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416346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AA9910-23D2-2F5E-3891-5BBA3EE10A9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6EBE8E3-1AD3-AA92-9E0B-1BBEACF12B94}"/>
              </a:ext>
            </a:extLst>
          </p:cNvPr>
          <p:cNvSpPr txBox="1">
            <a:spLocks noGrp="1"/>
          </p:cNvSpPr>
          <p:nvPr>
            <p:ph type="body" idx="1"/>
          </p:nvPr>
        </p:nvSpPr>
        <p:spPr>
          <a:xfrm>
            <a:off x="1143000" y="1233966"/>
            <a:ext cx="9982200" cy="5959965"/>
          </a:xfrm>
          <a:prstGeom prst="rect">
            <a:avLst/>
          </a:prstGeom>
        </p:spPr>
        <p:txBody>
          <a:bodyPr vert="horz" wrap="square" lIns="0" tIns="12065" rIns="0" bIns="0" rtlCol="0">
            <a:spAutoFit/>
          </a:bodyPr>
          <a:lstStyle/>
          <a:p>
            <a:pPr algn="l">
              <a:spcBef>
                <a:spcPts val="300"/>
              </a:spcBef>
              <a:spcAft>
                <a:spcPts val="300"/>
              </a:spcAft>
              <a:buFont typeface="Arial" panose="020B0604020202020204" pitchFamily="34" charset="0"/>
              <a:buChar char="•"/>
            </a:pPr>
            <a:r>
              <a:rPr lang="en-US" b="0" dirty="0">
                <a:effectLst/>
                <a:latin typeface="Times New Roman" panose="02020603050405020304" pitchFamily="18" charset="0"/>
                <a:cs typeface="Times New Roman" panose="02020603050405020304" pitchFamily="18" charset="0"/>
              </a:rPr>
              <a:t>It is used to solve All Pairs Shortest Path Problem.</a:t>
            </a:r>
          </a:p>
          <a:p>
            <a:pPr algn="l">
              <a:spcBef>
                <a:spcPts val="300"/>
              </a:spcBef>
              <a:spcAft>
                <a:spcPts val="300"/>
              </a:spcAft>
              <a:buFont typeface="Arial" panose="020B0604020202020204" pitchFamily="34" charset="0"/>
              <a:buChar char="•"/>
            </a:pPr>
            <a:r>
              <a:rPr lang="en-US" b="0" dirty="0">
                <a:effectLst/>
                <a:latin typeface="Times New Roman" panose="02020603050405020304" pitchFamily="18" charset="0"/>
                <a:cs typeface="Times New Roman" panose="02020603050405020304" pitchFamily="18" charset="0"/>
              </a:rPr>
              <a:t>It computes the shortest path between every pair of vertices of the given graph.</a:t>
            </a:r>
          </a:p>
          <a:p>
            <a:pPr algn="l">
              <a:spcBef>
                <a:spcPts val="300"/>
              </a:spcBef>
              <a:spcAft>
                <a:spcPts val="300"/>
              </a:spcAft>
              <a:buFont typeface="Arial" panose="020B0604020202020204" pitchFamily="34" charset="0"/>
              <a:buChar char="•"/>
            </a:pPr>
            <a:r>
              <a:rPr lang="en-US" b="0" dirty="0">
                <a:effectLst/>
                <a:latin typeface="Times New Roman" panose="02020603050405020304" pitchFamily="18" charset="0"/>
                <a:cs typeface="Times New Roman" panose="02020603050405020304" pitchFamily="18" charset="0"/>
              </a:rPr>
              <a:t>Floyd </a:t>
            </a:r>
            <a:r>
              <a:rPr lang="en-US" b="0" dirty="0" err="1">
                <a:effectLst/>
                <a:latin typeface="Times New Roman" panose="02020603050405020304" pitchFamily="18" charset="0"/>
                <a:cs typeface="Times New Roman" panose="02020603050405020304" pitchFamily="18" charset="0"/>
              </a:rPr>
              <a:t>Warshall</a:t>
            </a:r>
            <a:r>
              <a:rPr lang="en-US" b="0" dirty="0">
                <a:effectLst/>
                <a:latin typeface="Times New Roman" panose="02020603050405020304" pitchFamily="18" charset="0"/>
                <a:cs typeface="Times New Roman" panose="02020603050405020304" pitchFamily="18" charset="0"/>
              </a:rPr>
              <a:t> Algorithm is an example of dynamic programming approach.</a:t>
            </a:r>
          </a:p>
          <a:p>
            <a:pPr algn="l">
              <a:spcBef>
                <a:spcPts val="300"/>
              </a:spcBef>
              <a:spcAft>
                <a:spcPts val="300"/>
              </a:spcAft>
            </a:pPr>
            <a:endParaRPr lang="en-US" b="0" dirty="0">
              <a:effectLst/>
              <a:latin typeface="Times New Roman" panose="02020603050405020304" pitchFamily="18" charset="0"/>
              <a:cs typeface="Times New Roman" panose="02020603050405020304" pitchFamily="18" charset="0"/>
            </a:endParaRPr>
          </a:p>
          <a:p>
            <a:pPr algn="l" rtl="0" fontAlgn="base">
              <a:spcAft>
                <a:spcPts val="750"/>
              </a:spcAft>
            </a:pPr>
            <a:r>
              <a:rPr lang="en-US" b="0" dirty="0">
                <a:solidFill>
                  <a:srgbClr val="273239"/>
                </a:solidFill>
                <a:effectLst/>
                <a:latin typeface="Times New Roman" panose="02020603050405020304" pitchFamily="18" charset="0"/>
                <a:cs typeface="Times New Roman" panose="02020603050405020304" pitchFamily="18" charset="0"/>
              </a:rPr>
              <a:t>Suppose we have a graph </a:t>
            </a:r>
            <a:r>
              <a:rPr lang="en-US" b="1" dirty="0">
                <a:solidFill>
                  <a:srgbClr val="273239"/>
                </a:solidFill>
                <a:effectLst/>
                <a:latin typeface="Times New Roman" panose="02020603050405020304" pitchFamily="18" charset="0"/>
                <a:cs typeface="Times New Roman" panose="02020603050405020304" pitchFamily="18" charset="0"/>
              </a:rPr>
              <a:t>G[][] </a:t>
            </a:r>
            <a:r>
              <a:rPr lang="en-US" b="0" dirty="0">
                <a:solidFill>
                  <a:srgbClr val="273239"/>
                </a:solidFill>
                <a:effectLst/>
                <a:latin typeface="Times New Roman" panose="02020603050405020304" pitchFamily="18" charset="0"/>
                <a:cs typeface="Times New Roman" panose="02020603050405020304" pitchFamily="18" charset="0"/>
              </a:rPr>
              <a:t>with </a:t>
            </a:r>
            <a:r>
              <a:rPr lang="en-US" b="1" dirty="0">
                <a:solidFill>
                  <a:srgbClr val="273239"/>
                </a:solidFill>
                <a:effectLst/>
                <a:latin typeface="Times New Roman" panose="02020603050405020304" pitchFamily="18" charset="0"/>
                <a:cs typeface="Times New Roman" panose="02020603050405020304" pitchFamily="18" charset="0"/>
              </a:rPr>
              <a:t>V</a:t>
            </a:r>
            <a:r>
              <a:rPr lang="en-US" b="0" dirty="0">
                <a:solidFill>
                  <a:srgbClr val="273239"/>
                </a:solidFill>
                <a:effectLst/>
                <a:latin typeface="Times New Roman" panose="02020603050405020304" pitchFamily="18" charset="0"/>
                <a:cs typeface="Times New Roman" panose="02020603050405020304" pitchFamily="18" charset="0"/>
              </a:rPr>
              <a:t> vertices from </a:t>
            </a:r>
            <a:r>
              <a:rPr lang="en-US" b="1" dirty="0">
                <a:solidFill>
                  <a:srgbClr val="273239"/>
                </a:solidFill>
                <a:effectLst/>
                <a:latin typeface="Times New Roman" panose="02020603050405020304" pitchFamily="18" charset="0"/>
                <a:cs typeface="Times New Roman" panose="02020603050405020304" pitchFamily="18" charset="0"/>
              </a:rPr>
              <a:t>1 </a:t>
            </a:r>
            <a:r>
              <a:rPr lang="en-US" b="0" dirty="0">
                <a:solidFill>
                  <a:srgbClr val="273239"/>
                </a:solidFill>
                <a:effectLst/>
                <a:latin typeface="Times New Roman" panose="02020603050405020304" pitchFamily="18" charset="0"/>
                <a:cs typeface="Times New Roman" panose="02020603050405020304" pitchFamily="18" charset="0"/>
              </a:rPr>
              <a:t>to </a:t>
            </a:r>
            <a:r>
              <a:rPr lang="en-US" b="1" dirty="0">
                <a:solidFill>
                  <a:srgbClr val="273239"/>
                </a:solidFill>
                <a:effectLst/>
                <a:latin typeface="Times New Roman" panose="02020603050405020304" pitchFamily="18" charset="0"/>
                <a:cs typeface="Times New Roman" panose="02020603050405020304" pitchFamily="18" charset="0"/>
              </a:rPr>
              <a:t>N</a:t>
            </a:r>
            <a:r>
              <a:rPr lang="en-US" b="0" dirty="0">
                <a:solidFill>
                  <a:srgbClr val="273239"/>
                </a:solidFill>
                <a:effectLst/>
                <a:latin typeface="Times New Roman" panose="02020603050405020304" pitchFamily="18" charset="0"/>
                <a:cs typeface="Times New Roman" panose="02020603050405020304" pitchFamily="18" charset="0"/>
              </a:rPr>
              <a:t>. Now we have to evaluate a </a:t>
            </a:r>
            <a:r>
              <a:rPr lang="en-US" b="1" dirty="0" err="1">
                <a:solidFill>
                  <a:srgbClr val="273239"/>
                </a:solidFill>
                <a:effectLst/>
                <a:latin typeface="Times New Roman" panose="02020603050405020304" pitchFamily="18" charset="0"/>
                <a:cs typeface="Times New Roman" panose="02020603050405020304" pitchFamily="18" charset="0"/>
              </a:rPr>
              <a:t>shortestPathMatrix</a:t>
            </a:r>
            <a:r>
              <a:rPr lang="en-US" b="1" dirty="0">
                <a:solidFill>
                  <a:srgbClr val="273239"/>
                </a:solidFill>
                <a:effectLst/>
                <a:latin typeface="Times New Roman" panose="02020603050405020304" pitchFamily="18" charset="0"/>
                <a:cs typeface="Times New Roman" panose="02020603050405020304" pitchFamily="18" charset="0"/>
              </a:rPr>
              <a:t>[][] </a:t>
            </a:r>
            <a:r>
              <a:rPr lang="en-US" b="0" dirty="0">
                <a:solidFill>
                  <a:srgbClr val="273239"/>
                </a:solidFill>
                <a:effectLst/>
                <a:latin typeface="Times New Roman" panose="02020603050405020304" pitchFamily="18" charset="0"/>
                <a:cs typeface="Times New Roman" panose="02020603050405020304" pitchFamily="18" charset="0"/>
              </a:rPr>
              <a:t>where </a:t>
            </a:r>
            <a:r>
              <a:rPr lang="en-US" b="1" dirty="0" err="1">
                <a:solidFill>
                  <a:srgbClr val="273239"/>
                </a:solidFill>
                <a:effectLst/>
                <a:latin typeface="Times New Roman" panose="02020603050405020304" pitchFamily="18" charset="0"/>
                <a:cs typeface="Times New Roman" panose="02020603050405020304" pitchFamily="18" charset="0"/>
              </a:rPr>
              <a:t>shortestPathMatrix</a:t>
            </a:r>
            <a:r>
              <a:rPr lang="en-US" b="1" dirty="0">
                <a:solidFill>
                  <a:srgbClr val="273239"/>
                </a:solidFill>
                <a:effectLst/>
                <a:latin typeface="Times New Roman" panose="02020603050405020304" pitchFamily="18" charset="0"/>
                <a:cs typeface="Times New Roman" panose="02020603050405020304" pitchFamily="18" charset="0"/>
              </a:rPr>
              <a:t>[</a:t>
            </a:r>
            <a:r>
              <a:rPr lang="en-US" b="1" dirty="0" err="1">
                <a:solidFill>
                  <a:srgbClr val="273239"/>
                </a:solidFill>
                <a:effectLst/>
                <a:latin typeface="Times New Roman" panose="02020603050405020304" pitchFamily="18" charset="0"/>
                <a:cs typeface="Times New Roman" panose="02020603050405020304" pitchFamily="18" charset="0"/>
              </a:rPr>
              <a:t>i</a:t>
            </a:r>
            <a:r>
              <a:rPr lang="en-US" b="1" dirty="0">
                <a:solidFill>
                  <a:srgbClr val="273239"/>
                </a:solidFill>
                <a:effectLst/>
                <a:latin typeface="Times New Roman" panose="02020603050405020304" pitchFamily="18" charset="0"/>
                <a:cs typeface="Times New Roman" panose="02020603050405020304" pitchFamily="18" charset="0"/>
              </a:rPr>
              <a:t>][j]</a:t>
            </a:r>
            <a:r>
              <a:rPr lang="en-US" b="0" dirty="0">
                <a:solidFill>
                  <a:srgbClr val="273239"/>
                </a:solidFill>
                <a:effectLst/>
                <a:latin typeface="Times New Roman" panose="02020603050405020304" pitchFamily="18" charset="0"/>
                <a:cs typeface="Times New Roman" panose="02020603050405020304" pitchFamily="18" charset="0"/>
              </a:rPr>
              <a:t> represents the shortest path between vertex </a:t>
            </a:r>
            <a:r>
              <a:rPr lang="en-US" b="1" dirty="0" err="1">
                <a:solidFill>
                  <a:srgbClr val="273239"/>
                </a:solidFill>
                <a:effectLst/>
                <a:latin typeface="Times New Roman" panose="02020603050405020304" pitchFamily="18" charset="0"/>
                <a:cs typeface="Times New Roman" panose="02020603050405020304" pitchFamily="18" charset="0"/>
              </a:rPr>
              <a:t>i</a:t>
            </a:r>
            <a:r>
              <a:rPr lang="en-US" b="0" dirty="0">
                <a:solidFill>
                  <a:srgbClr val="273239"/>
                </a:solidFill>
                <a:effectLst/>
                <a:latin typeface="Times New Roman" panose="02020603050405020304" pitchFamily="18" charset="0"/>
                <a:cs typeface="Times New Roman" panose="02020603050405020304" pitchFamily="18" charset="0"/>
              </a:rPr>
              <a:t> to </a:t>
            </a:r>
            <a:r>
              <a:rPr lang="en-US" b="1" dirty="0">
                <a:solidFill>
                  <a:srgbClr val="273239"/>
                </a:solidFill>
                <a:effectLst/>
                <a:latin typeface="Times New Roman" panose="02020603050405020304" pitchFamily="18" charset="0"/>
                <a:cs typeface="Times New Roman" panose="02020603050405020304" pitchFamily="18" charset="0"/>
              </a:rPr>
              <a:t>j</a:t>
            </a:r>
            <a:r>
              <a:rPr lang="en-US" b="0" dirty="0">
                <a:solidFill>
                  <a:srgbClr val="273239"/>
                </a:solidFill>
                <a:effectLst/>
                <a:latin typeface="Times New Roman" panose="02020603050405020304" pitchFamily="18" charset="0"/>
                <a:cs typeface="Times New Roman" panose="02020603050405020304" pitchFamily="18" charset="0"/>
              </a:rPr>
              <a:t>.</a:t>
            </a:r>
          </a:p>
          <a:p>
            <a:pPr algn="l" rtl="0" fontAlgn="base">
              <a:spcAft>
                <a:spcPts val="750"/>
              </a:spcAft>
            </a:pPr>
            <a:r>
              <a:rPr lang="en-US" b="0" dirty="0">
                <a:solidFill>
                  <a:srgbClr val="273239"/>
                </a:solidFill>
                <a:effectLst/>
                <a:latin typeface="Times New Roman" panose="02020603050405020304" pitchFamily="18" charset="0"/>
                <a:cs typeface="Times New Roman" panose="02020603050405020304" pitchFamily="18" charset="0"/>
              </a:rPr>
              <a:t>Obviously the shortest path between </a:t>
            </a:r>
            <a:r>
              <a:rPr lang="en-US" b="1" dirty="0" err="1">
                <a:solidFill>
                  <a:srgbClr val="273239"/>
                </a:solidFill>
                <a:effectLst/>
                <a:latin typeface="Times New Roman" panose="02020603050405020304" pitchFamily="18" charset="0"/>
                <a:cs typeface="Times New Roman" panose="02020603050405020304" pitchFamily="18" charset="0"/>
              </a:rPr>
              <a:t>i</a:t>
            </a:r>
            <a:r>
              <a:rPr lang="en-US" b="1" dirty="0">
                <a:solidFill>
                  <a:srgbClr val="273239"/>
                </a:solidFill>
                <a:effectLst/>
                <a:latin typeface="Times New Roman" panose="02020603050405020304" pitchFamily="18" charset="0"/>
                <a:cs typeface="Times New Roman" panose="02020603050405020304" pitchFamily="18" charset="0"/>
              </a:rPr>
              <a:t> </a:t>
            </a:r>
            <a:r>
              <a:rPr lang="en-US" b="0" dirty="0">
                <a:solidFill>
                  <a:srgbClr val="273239"/>
                </a:solidFill>
                <a:effectLst/>
                <a:latin typeface="Times New Roman" panose="02020603050405020304" pitchFamily="18" charset="0"/>
                <a:cs typeface="Times New Roman" panose="02020603050405020304" pitchFamily="18" charset="0"/>
              </a:rPr>
              <a:t>to </a:t>
            </a:r>
            <a:r>
              <a:rPr lang="en-US" b="1" dirty="0">
                <a:solidFill>
                  <a:srgbClr val="273239"/>
                </a:solidFill>
                <a:effectLst/>
                <a:latin typeface="Times New Roman" panose="02020603050405020304" pitchFamily="18" charset="0"/>
                <a:cs typeface="Times New Roman" panose="02020603050405020304" pitchFamily="18" charset="0"/>
              </a:rPr>
              <a:t>j</a:t>
            </a:r>
            <a:r>
              <a:rPr lang="en-US" b="0" dirty="0">
                <a:solidFill>
                  <a:srgbClr val="273239"/>
                </a:solidFill>
                <a:effectLst/>
                <a:latin typeface="Times New Roman" panose="02020603050405020304" pitchFamily="18" charset="0"/>
                <a:cs typeface="Times New Roman" panose="02020603050405020304" pitchFamily="18" charset="0"/>
              </a:rPr>
              <a:t> will have some</a:t>
            </a:r>
            <a:r>
              <a:rPr lang="en-US" b="1" dirty="0">
                <a:solidFill>
                  <a:srgbClr val="273239"/>
                </a:solidFill>
                <a:effectLst/>
                <a:latin typeface="Times New Roman" panose="02020603050405020304" pitchFamily="18" charset="0"/>
                <a:cs typeface="Times New Roman" panose="02020603050405020304" pitchFamily="18" charset="0"/>
              </a:rPr>
              <a:t> k</a:t>
            </a:r>
            <a:r>
              <a:rPr lang="en-US" b="0" dirty="0">
                <a:solidFill>
                  <a:srgbClr val="273239"/>
                </a:solidFill>
                <a:effectLst/>
                <a:latin typeface="Times New Roman" panose="02020603050405020304" pitchFamily="18" charset="0"/>
                <a:cs typeface="Times New Roman" panose="02020603050405020304" pitchFamily="18" charset="0"/>
              </a:rPr>
              <a:t> number of intermediate nodes. The idea behind </a:t>
            </a:r>
            <a:r>
              <a:rPr lang="en-US" b="0" dirty="0" err="1">
                <a:solidFill>
                  <a:srgbClr val="273239"/>
                </a:solidFill>
                <a:effectLst/>
                <a:latin typeface="Times New Roman" panose="02020603050405020304" pitchFamily="18" charset="0"/>
                <a:cs typeface="Times New Roman" panose="02020603050405020304" pitchFamily="18" charset="0"/>
              </a:rPr>
              <a:t>floyd</a:t>
            </a:r>
            <a:r>
              <a:rPr lang="en-US" b="0" dirty="0">
                <a:solidFill>
                  <a:srgbClr val="273239"/>
                </a:solidFill>
                <a:effectLst/>
                <a:latin typeface="Times New Roman" panose="02020603050405020304" pitchFamily="18" charset="0"/>
                <a:cs typeface="Times New Roman" panose="02020603050405020304" pitchFamily="18" charset="0"/>
              </a:rPr>
              <a:t> </a:t>
            </a:r>
            <a:r>
              <a:rPr lang="en-US" b="0" dirty="0" err="1">
                <a:solidFill>
                  <a:srgbClr val="273239"/>
                </a:solidFill>
                <a:effectLst/>
                <a:latin typeface="Times New Roman" panose="02020603050405020304" pitchFamily="18" charset="0"/>
                <a:cs typeface="Times New Roman" panose="02020603050405020304" pitchFamily="18" charset="0"/>
              </a:rPr>
              <a:t>warshall</a:t>
            </a:r>
            <a:r>
              <a:rPr lang="en-US" b="0" dirty="0">
                <a:solidFill>
                  <a:srgbClr val="273239"/>
                </a:solidFill>
                <a:effectLst/>
                <a:latin typeface="Times New Roman" panose="02020603050405020304" pitchFamily="18" charset="0"/>
                <a:cs typeface="Times New Roman" panose="02020603050405020304" pitchFamily="18" charset="0"/>
              </a:rPr>
              <a:t> algorithm is to treat each and every vertex from </a:t>
            </a:r>
            <a:r>
              <a:rPr lang="en-US" b="1" dirty="0">
                <a:solidFill>
                  <a:srgbClr val="273239"/>
                </a:solidFill>
                <a:effectLst/>
                <a:latin typeface="Times New Roman" panose="02020603050405020304" pitchFamily="18" charset="0"/>
                <a:cs typeface="Times New Roman" panose="02020603050405020304" pitchFamily="18" charset="0"/>
              </a:rPr>
              <a:t>1</a:t>
            </a:r>
            <a:r>
              <a:rPr lang="en-US" b="0" dirty="0">
                <a:solidFill>
                  <a:srgbClr val="273239"/>
                </a:solidFill>
                <a:effectLst/>
                <a:latin typeface="Times New Roman" panose="02020603050405020304" pitchFamily="18" charset="0"/>
                <a:cs typeface="Times New Roman" panose="02020603050405020304" pitchFamily="18" charset="0"/>
              </a:rPr>
              <a:t> to </a:t>
            </a:r>
            <a:r>
              <a:rPr lang="en-US" b="1" dirty="0">
                <a:solidFill>
                  <a:srgbClr val="273239"/>
                </a:solidFill>
                <a:effectLst/>
                <a:latin typeface="Times New Roman" panose="02020603050405020304" pitchFamily="18" charset="0"/>
                <a:cs typeface="Times New Roman" panose="02020603050405020304" pitchFamily="18" charset="0"/>
              </a:rPr>
              <a:t>N</a:t>
            </a:r>
            <a:r>
              <a:rPr lang="en-US" b="0" dirty="0">
                <a:solidFill>
                  <a:srgbClr val="273239"/>
                </a:solidFill>
                <a:effectLst/>
                <a:latin typeface="Times New Roman" panose="02020603050405020304" pitchFamily="18" charset="0"/>
                <a:cs typeface="Times New Roman" panose="02020603050405020304" pitchFamily="18" charset="0"/>
              </a:rPr>
              <a:t> as an intermediate node one by one.</a:t>
            </a:r>
          </a:p>
          <a:p>
            <a:pPr algn="l" rtl="0" fontAlgn="base">
              <a:spcAft>
                <a:spcPts val="750"/>
              </a:spcAft>
            </a:pPr>
            <a:r>
              <a:rPr lang="en-US" b="0" dirty="0">
                <a:solidFill>
                  <a:srgbClr val="273239"/>
                </a:solidFill>
                <a:effectLst/>
                <a:latin typeface="Times New Roman" panose="02020603050405020304" pitchFamily="18" charset="0"/>
                <a:cs typeface="Times New Roman" panose="02020603050405020304" pitchFamily="18" charset="0"/>
              </a:rPr>
              <a:t>:</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b="0" dirty="0">
              <a:effectLst/>
              <a:latin typeface="Times New Roman" panose="02020603050405020304" pitchFamily="18" charset="0"/>
              <a:cs typeface="Times New Roman" panose="02020603050405020304" pitchFamily="18" charset="0"/>
            </a:endParaRPr>
          </a:p>
          <a:p>
            <a:pPr algn="l">
              <a:spcBef>
                <a:spcPts val="300"/>
              </a:spcBef>
              <a:spcAft>
                <a:spcPts val="300"/>
              </a:spcAft>
            </a:pPr>
            <a:endParaRPr lang="en-US" b="0" dirty="0">
              <a:effectLst/>
              <a:latin typeface="Times New Roman" panose="02020603050405020304" pitchFamily="18" charset="0"/>
              <a:cs typeface="Times New Roman" panose="02020603050405020304" pitchFamily="18" charset="0"/>
            </a:endParaRPr>
          </a:p>
          <a:p>
            <a:pPr algn="just"/>
            <a:r>
              <a:rPr lang="en-US" sz="1400" dirty="0"/>
              <a:t>.</a:t>
            </a:r>
          </a:p>
        </p:txBody>
      </p:sp>
      <p:grpSp>
        <p:nvGrpSpPr>
          <p:cNvPr id="3" name="object 3">
            <a:extLst>
              <a:ext uri="{FF2B5EF4-FFF2-40B4-BE49-F238E27FC236}">
                <a16:creationId xmlns:a16="http://schemas.microsoft.com/office/drawing/2014/main" id="{41385382-F2E4-5012-E652-72188C6BFDE4}"/>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4F6459DD-918E-B6AB-A7D4-87A98859C634}"/>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4DEA3D78-5887-6AA2-A71B-2DD870D2F883}"/>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31E96B4F-8EE5-1896-6064-DE2F86C1F706}"/>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9B319514-2C2D-C3F5-A514-A918DB335715}"/>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8223D64B-B986-E9A0-F7F6-A1AB00EE9288}"/>
              </a:ext>
            </a:extLst>
          </p:cNvPr>
          <p:cNvPicPr/>
          <p:nvPr/>
        </p:nvPicPr>
        <p:blipFill>
          <a:blip r:embed="rId5" cstate="print"/>
          <a:stretch>
            <a:fillRect/>
          </a:stretch>
        </p:blipFill>
        <p:spPr>
          <a:xfrm>
            <a:off x="117763" y="25"/>
            <a:ext cx="2473036" cy="947267"/>
          </a:xfrm>
          <a:prstGeom prst="rect">
            <a:avLst/>
          </a:prstGeom>
        </p:spPr>
      </p:pic>
      <p:sp>
        <p:nvSpPr>
          <p:cNvPr id="9" name="Date Placeholder 8">
            <a:extLst>
              <a:ext uri="{FF2B5EF4-FFF2-40B4-BE49-F238E27FC236}">
                <a16:creationId xmlns:a16="http://schemas.microsoft.com/office/drawing/2014/main" id="{8606678C-E871-4F8C-B786-41C34C7E1E94}"/>
              </a:ext>
            </a:extLst>
          </p:cNvPr>
          <p:cNvSpPr>
            <a:spLocks noGrp="1"/>
          </p:cNvSpPr>
          <p:nvPr>
            <p:ph type="dt" sz="half" idx="6"/>
          </p:nvPr>
        </p:nvSpPr>
        <p:spPr/>
        <p:txBody>
          <a:bodyPr/>
          <a:lstStyle/>
          <a:p>
            <a:pPr marL="12700">
              <a:lnSpc>
                <a:spcPts val="1240"/>
              </a:lnSpc>
            </a:pPr>
            <a:fld id="{195C66FF-F475-4430-99A1-3155C2F1F757}" type="datetime1">
              <a:rPr lang="en-US" spc="-25" smtClean="0"/>
              <a:t>7/8/2026</a:t>
            </a:fld>
            <a:endParaRPr lang="en-IN" spc="-25" dirty="0"/>
          </a:p>
        </p:txBody>
      </p:sp>
      <p:sp>
        <p:nvSpPr>
          <p:cNvPr id="10" name="Footer Placeholder 9">
            <a:extLst>
              <a:ext uri="{FF2B5EF4-FFF2-40B4-BE49-F238E27FC236}">
                <a16:creationId xmlns:a16="http://schemas.microsoft.com/office/drawing/2014/main" id="{45711C1F-ADCD-4711-9E57-753BFFB78F1B}"/>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5975086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012B11-AE6A-1AE1-F64F-C63C4A84ADA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6E1123-93B7-0CFE-8118-E67BDEF8DCFA}"/>
              </a:ext>
            </a:extLst>
          </p:cNvPr>
          <p:cNvSpPr txBox="1">
            <a:spLocks noGrp="1"/>
          </p:cNvSpPr>
          <p:nvPr>
            <p:ph type="body" idx="1"/>
          </p:nvPr>
        </p:nvSpPr>
        <p:spPr>
          <a:xfrm>
            <a:off x="914400" y="1371600"/>
            <a:ext cx="9982200" cy="4680127"/>
          </a:xfrm>
          <a:prstGeom prst="rect">
            <a:avLst/>
          </a:prstGeom>
        </p:spPr>
        <p:txBody>
          <a:bodyPr vert="horz" wrap="square" lIns="0" tIns="12065" rIns="0" bIns="0" rtlCol="0">
            <a:spAutoFit/>
          </a:bodyPr>
          <a:lstStyle/>
          <a:p>
            <a:pPr algn="l" fontAlgn="base"/>
            <a:r>
              <a:rPr lang="en-US" sz="1600" b="1" i="0" u="sng" dirty="0">
                <a:solidFill>
                  <a:srgbClr val="273239"/>
                </a:solidFill>
                <a:effectLst/>
                <a:latin typeface="Times New Roman" panose="02020603050405020304" pitchFamily="18" charset="0"/>
                <a:cs typeface="Times New Roman" panose="02020603050405020304" pitchFamily="18" charset="0"/>
              </a:rPr>
              <a:t>Floyd </a:t>
            </a:r>
            <a:r>
              <a:rPr lang="en-US" sz="1600" b="1" i="0" u="sng" dirty="0" err="1">
                <a:solidFill>
                  <a:srgbClr val="273239"/>
                </a:solidFill>
                <a:effectLst/>
                <a:latin typeface="Times New Roman" panose="02020603050405020304" pitchFamily="18" charset="0"/>
                <a:cs typeface="Times New Roman" panose="02020603050405020304" pitchFamily="18" charset="0"/>
              </a:rPr>
              <a:t>Warshall</a:t>
            </a:r>
            <a:r>
              <a:rPr lang="en-US" sz="1600" b="1" i="0" u="sng" dirty="0">
                <a:solidFill>
                  <a:srgbClr val="273239"/>
                </a:solidFill>
                <a:effectLst/>
                <a:latin typeface="Times New Roman" panose="02020603050405020304" pitchFamily="18" charset="0"/>
                <a:cs typeface="Times New Roman" panose="02020603050405020304" pitchFamily="18" charset="0"/>
              </a:rPr>
              <a:t> Algorithm </a:t>
            </a:r>
            <a:r>
              <a:rPr lang="en-US" sz="1600" b="1" i="0" u="sng" dirty="0" err="1">
                <a:solidFill>
                  <a:srgbClr val="273239"/>
                </a:solidFill>
                <a:effectLst/>
                <a:latin typeface="Times New Roman" panose="02020603050405020304" pitchFamily="18" charset="0"/>
                <a:cs typeface="Times New Roman" panose="02020603050405020304" pitchFamily="18" charset="0"/>
              </a:rPr>
              <a:t>Algorithm</a:t>
            </a:r>
            <a:r>
              <a:rPr lang="en-US" sz="1600" b="1" i="0" u="sng" dirty="0">
                <a:solidFill>
                  <a:srgbClr val="273239"/>
                </a:solidFill>
                <a:effectLst/>
                <a:latin typeface="Times New Roman" panose="02020603050405020304" pitchFamily="18" charset="0"/>
                <a:cs typeface="Times New Roman" panose="02020603050405020304" pitchFamily="18" charset="0"/>
              </a:rPr>
              <a:t>:</a:t>
            </a:r>
            <a:endParaRPr lang="en-US" sz="1600" b="1" i="0" dirty="0">
              <a:solidFill>
                <a:srgbClr val="273239"/>
              </a:solidFill>
              <a:effectLst/>
              <a:latin typeface="Times New Roman" panose="02020603050405020304" pitchFamily="18" charset="0"/>
              <a:cs typeface="Times New Roman" panose="02020603050405020304" pitchFamily="18" charset="0"/>
            </a:endParaRPr>
          </a:p>
          <a:p>
            <a:pPr algn="l" fontAlgn="base">
              <a:spcAft>
                <a:spcPts val="1800"/>
              </a:spcAft>
              <a:buFont typeface="Arial" panose="020B0604020202020204" pitchFamily="34" charset="0"/>
              <a:buChar char="•"/>
            </a:pPr>
            <a:r>
              <a:rPr lang="en-US" sz="1600" b="0" i="0" dirty="0">
                <a:solidFill>
                  <a:srgbClr val="273239"/>
                </a:solidFill>
                <a:effectLst/>
                <a:latin typeface="Times New Roman" panose="02020603050405020304" pitchFamily="18" charset="0"/>
                <a:cs typeface="Times New Roman" panose="02020603050405020304" pitchFamily="18" charset="0"/>
              </a:rPr>
              <a:t>Initialize the solution matrix same as the input graph matrix as a first step. </a:t>
            </a:r>
          </a:p>
          <a:p>
            <a:pPr algn="l" fontAlgn="base">
              <a:spcAft>
                <a:spcPts val="1800"/>
              </a:spcAft>
              <a:buFont typeface="Arial" panose="020B0604020202020204" pitchFamily="34" charset="0"/>
              <a:buChar char="•"/>
            </a:pPr>
            <a:r>
              <a:rPr lang="en-US" sz="1600" b="0" i="0" dirty="0">
                <a:solidFill>
                  <a:srgbClr val="273239"/>
                </a:solidFill>
                <a:effectLst/>
                <a:latin typeface="Times New Roman" panose="02020603050405020304" pitchFamily="18" charset="0"/>
                <a:cs typeface="Times New Roman" panose="02020603050405020304" pitchFamily="18" charset="0"/>
              </a:rPr>
              <a:t>Then update the solution matrix by considering all vertices as an intermediate vertex. </a:t>
            </a:r>
          </a:p>
          <a:p>
            <a:pPr algn="l" fontAlgn="base">
              <a:spcAft>
                <a:spcPts val="1800"/>
              </a:spcAft>
              <a:buFont typeface="Arial" panose="020B0604020202020204" pitchFamily="34" charset="0"/>
              <a:buChar char="•"/>
            </a:pPr>
            <a:r>
              <a:rPr lang="en-US" sz="1600" b="0" i="0" dirty="0">
                <a:solidFill>
                  <a:srgbClr val="273239"/>
                </a:solidFill>
                <a:effectLst/>
                <a:latin typeface="Times New Roman" panose="02020603050405020304" pitchFamily="18" charset="0"/>
                <a:cs typeface="Times New Roman" panose="02020603050405020304" pitchFamily="18" charset="0"/>
              </a:rPr>
              <a:t>The idea is to pick all vertices one by one and updates all shortest paths which include the picked vertex as an intermediate vertex in the shortest path. </a:t>
            </a:r>
          </a:p>
          <a:p>
            <a:pPr algn="l" fontAlgn="base">
              <a:spcAft>
                <a:spcPts val="1800"/>
              </a:spcAft>
              <a:buFont typeface="Arial" panose="020B0604020202020204" pitchFamily="34" charset="0"/>
              <a:buChar char="•"/>
            </a:pPr>
            <a:r>
              <a:rPr lang="en-US" sz="1600" b="0" i="0" dirty="0">
                <a:solidFill>
                  <a:srgbClr val="273239"/>
                </a:solidFill>
                <a:effectLst/>
                <a:latin typeface="Times New Roman" panose="02020603050405020304" pitchFamily="18" charset="0"/>
                <a:cs typeface="Times New Roman" panose="02020603050405020304" pitchFamily="18" charset="0"/>
              </a:rPr>
              <a:t>When we pick vertex number </a:t>
            </a:r>
            <a:r>
              <a:rPr lang="en-US" sz="1600" b="1" i="0" dirty="0">
                <a:solidFill>
                  <a:srgbClr val="273239"/>
                </a:solidFill>
                <a:effectLst/>
                <a:latin typeface="Times New Roman" panose="02020603050405020304" pitchFamily="18" charset="0"/>
                <a:cs typeface="Times New Roman" panose="02020603050405020304" pitchFamily="18" charset="0"/>
              </a:rPr>
              <a:t>k</a:t>
            </a:r>
            <a:r>
              <a:rPr lang="en-US" sz="1600" b="0" i="0" dirty="0">
                <a:solidFill>
                  <a:srgbClr val="273239"/>
                </a:solidFill>
                <a:effectLst/>
                <a:latin typeface="Times New Roman" panose="02020603050405020304" pitchFamily="18" charset="0"/>
                <a:cs typeface="Times New Roman" panose="02020603050405020304" pitchFamily="18" charset="0"/>
              </a:rPr>
              <a:t> as an intermediate vertex, we already have considered vertices </a:t>
            </a:r>
            <a:r>
              <a:rPr lang="en-US" sz="1600" b="1" i="0" dirty="0">
                <a:solidFill>
                  <a:srgbClr val="273239"/>
                </a:solidFill>
                <a:effectLst/>
                <a:latin typeface="Times New Roman" panose="02020603050405020304" pitchFamily="18" charset="0"/>
                <a:cs typeface="Times New Roman" panose="02020603050405020304" pitchFamily="18" charset="0"/>
              </a:rPr>
              <a:t>{0, 1, 2, .. k-1} </a:t>
            </a:r>
            <a:r>
              <a:rPr lang="en-US" sz="1600" b="0" i="0" dirty="0">
                <a:solidFill>
                  <a:srgbClr val="273239"/>
                </a:solidFill>
                <a:effectLst/>
                <a:latin typeface="Times New Roman" panose="02020603050405020304" pitchFamily="18" charset="0"/>
                <a:cs typeface="Times New Roman" panose="02020603050405020304" pitchFamily="18" charset="0"/>
              </a:rPr>
              <a:t>as intermediate vertices. </a:t>
            </a:r>
          </a:p>
          <a:p>
            <a:pPr algn="l" fontAlgn="base">
              <a:spcAft>
                <a:spcPts val="1800"/>
              </a:spcAft>
              <a:buFont typeface="Arial" panose="020B0604020202020204" pitchFamily="34" charset="0"/>
              <a:buChar char="•"/>
            </a:pPr>
            <a:r>
              <a:rPr lang="en-US" sz="1600" b="0" i="0" dirty="0">
                <a:solidFill>
                  <a:srgbClr val="273239"/>
                </a:solidFill>
                <a:effectLst/>
                <a:latin typeface="Times New Roman" panose="02020603050405020304" pitchFamily="18" charset="0"/>
                <a:cs typeface="Times New Roman" panose="02020603050405020304" pitchFamily="18" charset="0"/>
              </a:rPr>
              <a:t>For every pair</a:t>
            </a:r>
            <a:r>
              <a:rPr lang="en-US" sz="1600" b="1" i="0" dirty="0">
                <a:solidFill>
                  <a:srgbClr val="273239"/>
                </a:solidFill>
                <a:effectLst/>
                <a:latin typeface="Times New Roman" panose="02020603050405020304" pitchFamily="18" charset="0"/>
                <a:cs typeface="Times New Roman" panose="02020603050405020304" pitchFamily="18" charset="0"/>
              </a:rPr>
              <a:t> (</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 j)</a:t>
            </a:r>
            <a:r>
              <a:rPr lang="en-US" sz="1600" b="0" i="0" dirty="0">
                <a:solidFill>
                  <a:srgbClr val="273239"/>
                </a:solidFill>
                <a:effectLst/>
                <a:latin typeface="Times New Roman" panose="02020603050405020304" pitchFamily="18" charset="0"/>
                <a:cs typeface="Times New Roman" panose="02020603050405020304" pitchFamily="18" charset="0"/>
              </a:rPr>
              <a:t> of the source and destination vertices respectively, there are two possible cases. </a:t>
            </a:r>
          </a:p>
          <a:p>
            <a:pPr marL="742950" lvl="1" indent="-285750" algn="l" fontAlgn="base">
              <a:spcBef>
                <a:spcPts val="375"/>
              </a:spcBef>
              <a:spcAft>
                <a:spcPts val="375"/>
              </a:spcAft>
              <a:buFont typeface="Arial" panose="020B0604020202020204" pitchFamily="34" charset="0"/>
              <a:buChar char="•"/>
            </a:pPr>
            <a:r>
              <a:rPr lang="en-US" sz="1600" b="1" i="0" dirty="0">
                <a:solidFill>
                  <a:srgbClr val="273239"/>
                </a:solidFill>
                <a:effectLst/>
                <a:latin typeface="Times New Roman" panose="02020603050405020304" pitchFamily="18" charset="0"/>
                <a:cs typeface="Times New Roman" panose="02020603050405020304" pitchFamily="18" charset="0"/>
              </a:rPr>
              <a:t>k</a:t>
            </a:r>
            <a:r>
              <a:rPr lang="en-US" sz="1600" b="0" i="0" dirty="0">
                <a:solidFill>
                  <a:srgbClr val="273239"/>
                </a:solidFill>
                <a:effectLst/>
                <a:latin typeface="Times New Roman" panose="02020603050405020304" pitchFamily="18" charset="0"/>
                <a:cs typeface="Times New Roman" panose="02020603050405020304" pitchFamily="18" charset="0"/>
              </a:rPr>
              <a:t> is not an intermediate vertex in shortest path from</a:t>
            </a:r>
            <a:r>
              <a:rPr lang="en-US" sz="1600" b="1" i="0" dirty="0">
                <a:solidFill>
                  <a:srgbClr val="273239"/>
                </a:solidFill>
                <a:effectLst/>
                <a:latin typeface="Times New Roman" panose="02020603050405020304" pitchFamily="18" charset="0"/>
                <a:cs typeface="Times New Roman" panose="02020603050405020304" pitchFamily="18" charset="0"/>
              </a:rPr>
              <a:t> </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 </a:t>
            </a:r>
            <a:r>
              <a:rPr lang="en-US" sz="1600" b="0" i="0" dirty="0">
                <a:solidFill>
                  <a:srgbClr val="273239"/>
                </a:solidFill>
                <a:effectLst/>
                <a:latin typeface="Times New Roman" panose="02020603050405020304" pitchFamily="18" charset="0"/>
                <a:cs typeface="Times New Roman" panose="02020603050405020304" pitchFamily="18" charset="0"/>
              </a:rPr>
              <a:t>to</a:t>
            </a:r>
            <a:r>
              <a:rPr lang="en-US" sz="1600" b="1" i="0" dirty="0">
                <a:solidFill>
                  <a:srgbClr val="273239"/>
                </a:solidFill>
                <a:effectLst/>
                <a:latin typeface="Times New Roman" panose="02020603050405020304" pitchFamily="18" charset="0"/>
                <a:cs typeface="Times New Roman" panose="02020603050405020304" pitchFamily="18" charset="0"/>
              </a:rPr>
              <a:t> j</a:t>
            </a:r>
            <a:r>
              <a:rPr lang="en-US" sz="1600" b="0" i="0" dirty="0">
                <a:solidFill>
                  <a:srgbClr val="273239"/>
                </a:solidFill>
                <a:effectLst/>
                <a:latin typeface="Times New Roman" panose="02020603050405020304" pitchFamily="18" charset="0"/>
                <a:cs typeface="Times New Roman" panose="02020603050405020304" pitchFamily="18" charset="0"/>
              </a:rPr>
              <a:t>. We keep the value of</a:t>
            </a:r>
            <a:r>
              <a:rPr lang="en-US" sz="1600" b="1" i="0" dirty="0">
                <a:solidFill>
                  <a:srgbClr val="273239"/>
                </a:solidFill>
                <a:effectLst/>
                <a:latin typeface="Times New Roman" panose="02020603050405020304" pitchFamily="18" charset="0"/>
                <a:cs typeface="Times New Roman" panose="02020603050405020304" pitchFamily="18" charset="0"/>
              </a:rPr>
              <a:t>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][j] </a:t>
            </a:r>
            <a:r>
              <a:rPr lang="en-US" sz="1600" b="0" i="0" dirty="0">
                <a:solidFill>
                  <a:srgbClr val="273239"/>
                </a:solidFill>
                <a:effectLst/>
                <a:latin typeface="Times New Roman" panose="02020603050405020304" pitchFamily="18" charset="0"/>
                <a:cs typeface="Times New Roman" panose="02020603050405020304" pitchFamily="18" charset="0"/>
              </a:rPr>
              <a:t>as it is. </a:t>
            </a:r>
          </a:p>
          <a:p>
            <a:pPr marL="742950" lvl="1" indent="-285750" algn="l" fontAlgn="base">
              <a:spcBef>
                <a:spcPts val="375"/>
              </a:spcBef>
              <a:spcAft>
                <a:spcPts val="375"/>
              </a:spcAft>
              <a:buFont typeface="Arial" panose="020B0604020202020204" pitchFamily="34" charset="0"/>
              <a:buChar char="•"/>
            </a:pPr>
            <a:r>
              <a:rPr lang="en-US" sz="1600" b="1" i="0" dirty="0">
                <a:solidFill>
                  <a:srgbClr val="273239"/>
                </a:solidFill>
                <a:effectLst/>
                <a:latin typeface="Times New Roman" panose="02020603050405020304" pitchFamily="18" charset="0"/>
                <a:cs typeface="Times New Roman" panose="02020603050405020304" pitchFamily="18" charset="0"/>
              </a:rPr>
              <a:t>k</a:t>
            </a:r>
            <a:r>
              <a:rPr lang="en-US" sz="1600" b="0" i="0" dirty="0">
                <a:solidFill>
                  <a:srgbClr val="273239"/>
                </a:solidFill>
                <a:effectLst/>
                <a:latin typeface="Times New Roman" panose="02020603050405020304" pitchFamily="18" charset="0"/>
                <a:cs typeface="Times New Roman" panose="02020603050405020304" pitchFamily="18" charset="0"/>
              </a:rPr>
              <a:t> is an intermediate vertex in shortest path from </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0" i="0" dirty="0">
                <a:solidFill>
                  <a:srgbClr val="273239"/>
                </a:solidFill>
                <a:effectLst/>
                <a:latin typeface="Times New Roman" panose="02020603050405020304" pitchFamily="18" charset="0"/>
                <a:cs typeface="Times New Roman" panose="02020603050405020304" pitchFamily="18" charset="0"/>
              </a:rPr>
              <a:t> to</a:t>
            </a:r>
            <a:r>
              <a:rPr lang="en-US" sz="1600" b="1" i="0" dirty="0">
                <a:solidFill>
                  <a:srgbClr val="273239"/>
                </a:solidFill>
                <a:effectLst/>
                <a:latin typeface="Times New Roman" panose="02020603050405020304" pitchFamily="18" charset="0"/>
                <a:cs typeface="Times New Roman" panose="02020603050405020304" pitchFamily="18" charset="0"/>
              </a:rPr>
              <a:t> j</a:t>
            </a:r>
            <a:r>
              <a:rPr lang="en-US" sz="1600" b="0" i="0" dirty="0">
                <a:solidFill>
                  <a:srgbClr val="273239"/>
                </a:solidFill>
                <a:effectLst/>
                <a:latin typeface="Times New Roman" panose="02020603050405020304" pitchFamily="18" charset="0"/>
                <a:cs typeface="Times New Roman" panose="02020603050405020304" pitchFamily="18" charset="0"/>
              </a:rPr>
              <a:t>. We update the value of</a:t>
            </a:r>
            <a:r>
              <a:rPr lang="en-US" sz="1600" b="1" i="0" dirty="0">
                <a:solidFill>
                  <a:srgbClr val="273239"/>
                </a:solidFill>
                <a:effectLst/>
                <a:latin typeface="Times New Roman" panose="02020603050405020304" pitchFamily="18" charset="0"/>
                <a:cs typeface="Times New Roman" panose="02020603050405020304" pitchFamily="18" charset="0"/>
              </a:rPr>
              <a:t>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][j] </a:t>
            </a:r>
            <a:r>
              <a:rPr lang="en-US" sz="1600" b="0" i="0" dirty="0">
                <a:solidFill>
                  <a:srgbClr val="273239"/>
                </a:solidFill>
                <a:effectLst/>
                <a:latin typeface="Times New Roman" panose="02020603050405020304" pitchFamily="18" charset="0"/>
                <a:cs typeface="Times New Roman" panose="02020603050405020304" pitchFamily="18" charset="0"/>
              </a:rPr>
              <a:t>as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][k] +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[k][j],</a:t>
            </a:r>
            <a:r>
              <a:rPr lang="en-US" sz="1600" b="0" i="0" dirty="0">
                <a:solidFill>
                  <a:srgbClr val="273239"/>
                </a:solidFill>
                <a:effectLst/>
                <a:latin typeface="Times New Roman" panose="02020603050405020304" pitchFamily="18" charset="0"/>
                <a:cs typeface="Times New Roman" panose="02020603050405020304" pitchFamily="18" charset="0"/>
              </a:rPr>
              <a:t> if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][j] &gt;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a:t>
            </a:r>
            <a:r>
              <a:rPr lang="en-US" sz="1600" b="1" i="0" dirty="0" err="1">
                <a:solidFill>
                  <a:srgbClr val="273239"/>
                </a:solidFill>
                <a:effectLst/>
                <a:latin typeface="Times New Roman" panose="02020603050405020304" pitchFamily="18" charset="0"/>
                <a:cs typeface="Times New Roman" panose="02020603050405020304" pitchFamily="18" charset="0"/>
              </a:rPr>
              <a:t>i</a:t>
            </a:r>
            <a:r>
              <a:rPr lang="en-US" sz="1600" b="1" i="0" dirty="0">
                <a:solidFill>
                  <a:srgbClr val="273239"/>
                </a:solidFill>
                <a:effectLst/>
                <a:latin typeface="Times New Roman" panose="02020603050405020304" pitchFamily="18" charset="0"/>
                <a:cs typeface="Times New Roman" panose="02020603050405020304" pitchFamily="18" charset="0"/>
              </a:rPr>
              <a:t>][k] + </a:t>
            </a:r>
            <a:r>
              <a:rPr lang="en-US" sz="1600" b="1" i="0" dirty="0" err="1">
                <a:solidFill>
                  <a:srgbClr val="273239"/>
                </a:solidFill>
                <a:effectLst/>
                <a:latin typeface="Times New Roman" panose="02020603050405020304" pitchFamily="18" charset="0"/>
                <a:cs typeface="Times New Roman" panose="02020603050405020304" pitchFamily="18" charset="0"/>
              </a:rPr>
              <a:t>dist</a:t>
            </a:r>
            <a:r>
              <a:rPr lang="en-US" sz="1600" b="1" i="0" dirty="0">
                <a:solidFill>
                  <a:srgbClr val="273239"/>
                </a:solidFill>
                <a:effectLst/>
                <a:latin typeface="Times New Roman" panose="02020603050405020304" pitchFamily="18" charset="0"/>
                <a:cs typeface="Times New Roman" panose="02020603050405020304" pitchFamily="18" charset="0"/>
              </a:rPr>
              <a:t>[k][j]</a:t>
            </a:r>
            <a:endParaRPr lang="en-US" sz="1600" b="0" i="0" dirty="0">
              <a:solidFill>
                <a:srgbClr val="273239"/>
              </a:solidFill>
              <a:effectLst/>
              <a:latin typeface="Times New Roman" panose="02020603050405020304" pitchFamily="18" charset="0"/>
              <a:cs typeface="Times New Roman" panose="02020603050405020304" pitchFamily="18" charset="0"/>
            </a:endParaRPr>
          </a:p>
          <a:p>
            <a:pPr algn="l">
              <a:spcBef>
                <a:spcPts val="300"/>
              </a:spcBef>
              <a:spcAft>
                <a:spcPts val="300"/>
              </a:spcAft>
            </a:pP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7EB95781-668A-8B48-3715-C9E108FAD5E0}"/>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D208C955-3396-2DD6-268E-0AD067894E69}"/>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065EC94B-E7EF-4467-D41C-F5FA496A6876}"/>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5E4767FE-F8B6-5491-EAFA-93FB401D6365}"/>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B1106982-BBB0-4893-DC7F-01869D730083}"/>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05C01EFE-65EC-D673-9617-98BDA72EDA00}"/>
              </a:ext>
            </a:extLst>
          </p:cNvPr>
          <p:cNvPicPr/>
          <p:nvPr/>
        </p:nvPicPr>
        <p:blipFill>
          <a:blip r:embed="rId5" cstate="print"/>
          <a:stretch>
            <a:fillRect/>
          </a:stretch>
        </p:blipFill>
        <p:spPr>
          <a:xfrm>
            <a:off x="117763" y="25"/>
            <a:ext cx="2473036" cy="947267"/>
          </a:xfrm>
          <a:prstGeom prst="rect">
            <a:avLst/>
          </a:prstGeom>
        </p:spPr>
      </p:pic>
      <p:sp>
        <p:nvSpPr>
          <p:cNvPr id="9" name="Date Placeholder 8">
            <a:extLst>
              <a:ext uri="{FF2B5EF4-FFF2-40B4-BE49-F238E27FC236}">
                <a16:creationId xmlns:a16="http://schemas.microsoft.com/office/drawing/2014/main" id="{74964C78-5A28-4D9E-8E86-527FF6C64C24}"/>
              </a:ext>
            </a:extLst>
          </p:cNvPr>
          <p:cNvSpPr>
            <a:spLocks noGrp="1"/>
          </p:cNvSpPr>
          <p:nvPr>
            <p:ph type="dt" sz="half" idx="6"/>
          </p:nvPr>
        </p:nvSpPr>
        <p:spPr/>
        <p:txBody>
          <a:bodyPr/>
          <a:lstStyle/>
          <a:p>
            <a:pPr marL="12700">
              <a:lnSpc>
                <a:spcPts val="1240"/>
              </a:lnSpc>
            </a:pPr>
            <a:fld id="{3DE2B8FD-14B2-4BA8-A6D3-73CF5EF872DF}" type="datetime1">
              <a:rPr lang="en-US" spc="-25" smtClean="0"/>
              <a:t>7/8/2026</a:t>
            </a:fld>
            <a:endParaRPr lang="en-IN" spc="-25" dirty="0"/>
          </a:p>
        </p:txBody>
      </p:sp>
      <p:sp>
        <p:nvSpPr>
          <p:cNvPr id="10" name="Footer Placeholder 9">
            <a:extLst>
              <a:ext uri="{FF2B5EF4-FFF2-40B4-BE49-F238E27FC236}">
                <a16:creationId xmlns:a16="http://schemas.microsoft.com/office/drawing/2014/main" id="{F5E754E2-DF40-4FF4-8416-424723D8396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6311437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51FE731-FE8F-8B34-D4E2-3E72BA7C25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E1B3F07-73A1-25FB-B6E7-253A253B7BE3}"/>
              </a:ext>
            </a:extLst>
          </p:cNvPr>
          <p:cNvSpPr txBox="1">
            <a:spLocks noGrp="1"/>
          </p:cNvSpPr>
          <p:nvPr>
            <p:ph type="body" idx="1"/>
          </p:nvPr>
        </p:nvSpPr>
        <p:spPr>
          <a:xfrm>
            <a:off x="457200" y="1433829"/>
            <a:ext cx="9982200" cy="1166345"/>
          </a:xfrm>
          <a:prstGeom prst="rect">
            <a:avLst/>
          </a:prstGeom>
        </p:spPr>
        <p:txBody>
          <a:bodyPr vert="horz" wrap="square" lIns="0" tIns="12065" rIns="0" bIns="0" rtlCol="0">
            <a:spAutoFit/>
          </a:bodyPr>
          <a:lstStyle/>
          <a:p>
            <a:pPr algn="l" fontAlgn="base"/>
            <a:endParaRPr lang="en-US" sz="1800" dirty="0">
              <a:latin typeface="Arimo"/>
            </a:endParaRPr>
          </a:p>
          <a:p>
            <a:pPr algn="l" fontAlgn="base"/>
            <a:endParaRPr lang="en-US" sz="1800" b="0" i="0" dirty="0">
              <a:effectLst/>
              <a:latin typeface="Arimo"/>
            </a:endParaRPr>
          </a:p>
          <a:p>
            <a:pPr algn="l">
              <a:spcBef>
                <a:spcPts val="300"/>
              </a:spcBef>
              <a:spcAft>
                <a:spcPts val="300"/>
              </a:spcAft>
            </a:pP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94569D43-740E-DF31-4F77-E7E00F7C3B2D}"/>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E5160CB1-4AF6-9439-8050-7A55B8771BE4}"/>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97D84A35-6E5D-7B14-CB51-137160BF256B}"/>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BF5600A9-D4EA-DDE0-64A7-B711732EE308}"/>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8B760223-DD07-8FAB-6B63-A3ECC1A42A31}"/>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C8C815C4-E272-70CF-10A0-D9D1A07C35C2}"/>
              </a:ext>
            </a:extLst>
          </p:cNvPr>
          <p:cNvPicPr/>
          <p:nvPr/>
        </p:nvPicPr>
        <p:blipFill>
          <a:blip r:embed="rId5" cstate="print"/>
          <a:stretch>
            <a:fillRect/>
          </a:stretch>
        </p:blipFill>
        <p:spPr>
          <a:xfrm>
            <a:off x="117763" y="25"/>
            <a:ext cx="2473036" cy="947267"/>
          </a:xfrm>
          <a:prstGeom prst="rect">
            <a:avLst/>
          </a:prstGeom>
        </p:spPr>
      </p:pic>
      <p:sp>
        <p:nvSpPr>
          <p:cNvPr id="9" name="AutoShape 2">
            <a:extLst>
              <a:ext uri="{FF2B5EF4-FFF2-40B4-BE49-F238E27FC236}">
                <a16:creationId xmlns:a16="http://schemas.microsoft.com/office/drawing/2014/main" id="{14B64EF4-5F03-C839-E478-F9017643F0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77BF8844-5A48-51E2-3277-D13219EBD6E9}"/>
              </a:ext>
            </a:extLst>
          </p:cNvPr>
          <p:cNvPicPr>
            <a:picLocks noChangeAspect="1"/>
          </p:cNvPicPr>
          <p:nvPr/>
        </p:nvPicPr>
        <p:blipFill>
          <a:blip r:embed="rId6"/>
          <a:stretch>
            <a:fillRect/>
          </a:stretch>
        </p:blipFill>
        <p:spPr>
          <a:xfrm>
            <a:off x="1676400" y="1371600"/>
            <a:ext cx="8610600" cy="3810000"/>
          </a:xfrm>
          <a:prstGeom prst="rect">
            <a:avLst/>
          </a:prstGeom>
        </p:spPr>
      </p:pic>
      <p:sp>
        <p:nvSpPr>
          <p:cNvPr id="10" name="Date Placeholder 9">
            <a:extLst>
              <a:ext uri="{FF2B5EF4-FFF2-40B4-BE49-F238E27FC236}">
                <a16:creationId xmlns:a16="http://schemas.microsoft.com/office/drawing/2014/main" id="{F3441591-A2EF-49DC-B680-A4E0ADC29860}"/>
              </a:ext>
            </a:extLst>
          </p:cNvPr>
          <p:cNvSpPr>
            <a:spLocks noGrp="1"/>
          </p:cNvSpPr>
          <p:nvPr>
            <p:ph type="dt" sz="half" idx="6"/>
          </p:nvPr>
        </p:nvSpPr>
        <p:spPr/>
        <p:txBody>
          <a:bodyPr/>
          <a:lstStyle/>
          <a:p>
            <a:pPr marL="12700">
              <a:lnSpc>
                <a:spcPts val="1240"/>
              </a:lnSpc>
            </a:pPr>
            <a:fld id="{09771F65-21D0-4341-8347-B0AE4FC6B6B6}" type="datetime1">
              <a:rPr lang="en-US" spc="-25" smtClean="0"/>
              <a:t>7/8/2026</a:t>
            </a:fld>
            <a:endParaRPr lang="en-IN" spc="-25" dirty="0"/>
          </a:p>
        </p:txBody>
      </p:sp>
      <p:sp>
        <p:nvSpPr>
          <p:cNvPr id="11" name="Footer Placeholder 10">
            <a:extLst>
              <a:ext uri="{FF2B5EF4-FFF2-40B4-BE49-F238E27FC236}">
                <a16:creationId xmlns:a16="http://schemas.microsoft.com/office/drawing/2014/main" id="{630B4171-FBDE-4614-A0F1-83BE94395E1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02646268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DC3E6B-9995-23DF-0DBB-B7DC10D04C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2291AC-A420-C34E-2254-FBC90ADD597C}"/>
              </a:ext>
            </a:extLst>
          </p:cNvPr>
          <p:cNvSpPr txBox="1">
            <a:spLocks noGrp="1"/>
          </p:cNvSpPr>
          <p:nvPr>
            <p:ph type="body" idx="1"/>
          </p:nvPr>
        </p:nvSpPr>
        <p:spPr>
          <a:xfrm>
            <a:off x="457200" y="1433829"/>
            <a:ext cx="8859306" cy="727763"/>
          </a:xfrm>
          <a:prstGeom prst="rect">
            <a:avLst/>
          </a:prstGeom>
        </p:spPr>
        <p:txBody>
          <a:bodyPr vert="horz" wrap="square" lIns="0" tIns="12065" rIns="0" bIns="0" rtlCol="0">
            <a:spAutoFit/>
          </a:bodyPr>
          <a:lstStyle/>
          <a:p>
            <a:pPr algn="l">
              <a:spcBef>
                <a:spcPts val="300"/>
              </a:spcBef>
              <a:spcAft>
                <a:spcPts val="300"/>
              </a:spcAft>
            </a:pPr>
            <a:r>
              <a:rPr lang="en-US" b="0" dirty="0">
                <a:solidFill>
                  <a:srgbClr val="273239"/>
                </a:solidFill>
                <a:effectLst/>
                <a:latin typeface="Times New Roman" panose="02020603050405020304" pitchFamily="18" charset="0"/>
                <a:cs typeface="Times New Roman" panose="02020603050405020304" pitchFamily="18" charset="0"/>
              </a:rPr>
              <a:t>Suppose we have a graph as shown in the image:</a:t>
            </a:r>
            <a:endParaRPr lang="en-US" b="0" dirty="0">
              <a:effectLst/>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t>
            </a:r>
          </a:p>
        </p:txBody>
      </p:sp>
      <p:grpSp>
        <p:nvGrpSpPr>
          <p:cNvPr id="3" name="object 3">
            <a:extLst>
              <a:ext uri="{FF2B5EF4-FFF2-40B4-BE49-F238E27FC236}">
                <a16:creationId xmlns:a16="http://schemas.microsoft.com/office/drawing/2014/main" id="{646681A3-984E-EFA2-E09B-5F26D992E5BF}"/>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6C84BA11-29D9-4CDE-4F32-A6F2322E5034}"/>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65ECE270-A932-B231-FBB8-344E3170845A}"/>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5872A134-8D65-8185-3E08-18193B8480D2}"/>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9779254C-8AC2-26D0-FE1F-15E6307E6816}"/>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2829B035-D51D-DB90-5F4C-B845A4767F01}"/>
              </a:ext>
            </a:extLst>
          </p:cNvPr>
          <p:cNvPicPr/>
          <p:nvPr/>
        </p:nvPicPr>
        <p:blipFill>
          <a:blip r:embed="rId5" cstate="print"/>
          <a:stretch>
            <a:fillRect/>
          </a:stretch>
        </p:blipFill>
        <p:spPr>
          <a:xfrm>
            <a:off x="117763" y="25"/>
            <a:ext cx="2473036" cy="947267"/>
          </a:xfrm>
          <a:prstGeom prst="rect">
            <a:avLst/>
          </a:prstGeom>
        </p:spPr>
      </p:pic>
      <p:pic>
        <p:nvPicPr>
          <p:cNvPr id="10244" name="Picture 4" descr="dryRun1drawio">
            <a:extLst>
              <a:ext uri="{FF2B5EF4-FFF2-40B4-BE49-F238E27FC236}">
                <a16:creationId xmlns:a16="http://schemas.microsoft.com/office/drawing/2014/main" id="{7C594FB3-6C5A-2470-C5E0-01FDD8D9D6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1828800"/>
            <a:ext cx="5756858" cy="4252913"/>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929C9352-D505-4DD5-8E7A-173F8A5E0C49}"/>
              </a:ext>
            </a:extLst>
          </p:cNvPr>
          <p:cNvSpPr>
            <a:spLocks noGrp="1"/>
          </p:cNvSpPr>
          <p:nvPr>
            <p:ph type="dt" sz="half" idx="6"/>
          </p:nvPr>
        </p:nvSpPr>
        <p:spPr/>
        <p:txBody>
          <a:bodyPr/>
          <a:lstStyle/>
          <a:p>
            <a:pPr marL="12700">
              <a:lnSpc>
                <a:spcPts val="1240"/>
              </a:lnSpc>
            </a:pPr>
            <a:fld id="{CBB3338B-8A4F-4101-BEC3-6EE11CAB51AF}" type="datetime1">
              <a:rPr lang="en-US" spc="-25" smtClean="0"/>
              <a:t>7/8/2026</a:t>
            </a:fld>
            <a:endParaRPr lang="en-IN" spc="-25" dirty="0"/>
          </a:p>
        </p:txBody>
      </p:sp>
      <p:sp>
        <p:nvSpPr>
          <p:cNvPr id="10" name="Footer Placeholder 9">
            <a:extLst>
              <a:ext uri="{FF2B5EF4-FFF2-40B4-BE49-F238E27FC236}">
                <a16:creationId xmlns:a16="http://schemas.microsoft.com/office/drawing/2014/main" id="{64172E8B-89C4-4B53-9ED4-943AB46BA00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0284230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D510E3-B2FB-85E4-F848-AF3CB5FA3C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3F6974-7E03-1A2A-3727-21A6666547E8}"/>
              </a:ext>
            </a:extLst>
          </p:cNvPr>
          <p:cNvSpPr txBox="1">
            <a:spLocks noGrp="1"/>
          </p:cNvSpPr>
          <p:nvPr>
            <p:ph type="body" idx="1"/>
          </p:nvPr>
        </p:nvSpPr>
        <p:spPr>
          <a:xfrm>
            <a:off x="648093" y="1233966"/>
            <a:ext cx="11506200" cy="1499770"/>
          </a:xfrm>
          <a:prstGeom prst="rect">
            <a:avLst/>
          </a:prstGeom>
        </p:spPr>
        <p:txBody>
          <a:bodyPr vert="horz" wrap="square" lIns="0" tIns="12065" rIns="0" bIns="0" rtlCol="0">
            <a:spAutoFit/>
          </a:bodyPr>
          <a:lstStyle/>
          <a:p>
            <a:pPr algn="l" rtl="0" fontAlgn="base">
              <a:spcAft>
                <a:spcPts val="750"/>
              </a:spcAft>
            </a:pPr>
            <a:r>
              <a:rPr lang="en-US" b="1" u="sng" dirty="0">
                <a:solidFill>
                  <a:srgbClr val="273239"/>
                </a:solidFill>
                <a:effectLst/>
                <a:latin typeface="Times New Roman" panose="02020603050405020304" pitchFamily="18" charset="0"/>
                <a:cs typeface="Times New Roman" panose="02020603050405020304" pitchFamily="18" charset="0"/>
              </a:rPr>
              <a:t>Step 1</a:t>
            </a:r>
            <a:r>
              <a:rPr lang="en-US" b="1" dirty="0">
                <a:solidFill>
                  <a:srgbClr val="273239"/>
                </a:solidFill>
                <a:effectLst/>
                <a:latin typeface="Times New Roman" panose="02020603050405020304" pitchFamily="18" charset="0"/>
                <a:cs typeface="Times New Roman" panose="02020603050405020304" pitchFamily="18" charset="0"/>
              </a:rPr>
              <a:t>:</a:t>
            </a:r>
            <a:r>
              <a:rPr lang="en-US" b="0" dirty="0">
                <a:solidFill>
                  <a:srgbClr val="273239"/>
                </a:solidFill>
                <a:effectLst/>
                <a:latin typeface="Times New Roman" panose="02020603050405020304" pitchFamily="18" charset="0"/>
                <a:cs typeface="Times New Roman" panose="02020603050405020304" pitchFamily="18" charset="0"/>
              </a:rPr>
              <a:t> Initialize the Distance[][] matrix using the input graph such that Distance[</a:t>
            </a:r>
            <a:r>
              <a:rPr lang="en-US" b="0" dirty="0" err="1">
                <a:solidFill>
                  <a:srgbClr val="273239"/>
                </a:solidFill>
                <a:effectLst/>
                <a:latin typeface="Times New Roman" panose="02020603050405020304" pitchFamily="18" charset="0"/>
                <a:cs typeface="Times New Roman" panose="02020603050405020304" pitchFamily="18" charset="0"/>
              </a:rPr>
              <a:t>i</a:t>
            </a:r>
            <a:r>
              <a:rPr lang="en-US" b="0" dirty="0">
                <a:solidFill>
                  <a:srgbClr val="273239"/>
                </a:solidFill>
                <a:effectLst/>
                <a:latin typeface="Times New Roman" panose="02020603050405020304" pitchFamily="18" charset="0"/>
                <a:cs typeface="Times New Roman" panose="02020603050405020304" pitchFamily="18" charset="0"/>
              </a:rPr>
              <a:t>][j]= weight of edge from</a:t>
            </a:r>
            <a:r>
              <a:rPr lang="en-US" b="1" dirty="0">
                <a:solidFill>
                  <a:srgbClr val="273239"/>
                </a:solidFill>
                <a:effectLst/>
                <a:latin typeface="Times New Roman" panose="02020603050405020304" pitchFamily="18" charset="0"/>
                <a:cs typeface="Times New Roman" panose="02020603050405020304" pitchFamily="18" charset="0"/>
              </a:rPr>
              <a:t> </a:t>
            </a:r>
            <a:r>
              <a:rPr lang="en-US" b="1" dirty="0" err="1">
                <a:solidFill>
                  <a:srgbClr val="273239"/>
                </a:solidFill>
                <a:effectLst/>
                <a:latin typeface="Times New Roman" panose="02020603050405020304" pitchFamily="18" charset="0"/>
                <a:cs typeface="Times New Roman" panose="02020603050405020304" pitchFamily="18" charset="0"/>
              </a:rPr>
              <a:t>i</a:t>
            </a:r>
            <a:r>
              <a:rPr lang="en-US" b="1" dirty="0">
                <a:solidFill>
                  <a:srgbClr val="273239"/>
                </a:solidFill>
                <a:effectLst/>
                <a:latin typeface="Times New Roman" panose="02020603050405020304" pitchFamily="18" charset="0"/>
                <a:cs typeface="Times New Roman" panose="02020603050405020304" pitchFamily="18" charset="0"/>
              </a:rPr>
              <a:t> </a:t>
            </a:r>
            <a:r>
              <a:rPr lang="en-US" b="0" dirty="0">
                <a:solidFill>
                  <a:srgbClr val="273239"/>
                </a:solidFill>
                <a:effectLst/>
                <a:latin typeface="Times New Roman" panose="02020603050405020304" pitchFamily="18" charset="0"/>
                <a:cs typeface="Times New Roman" panose="02020603050405020304" pitchFamily="18" charset="0"/>
              </a:rPr>
              <a:t>to </a:t>
            </a:r>
            <a:r>
              <a:rPr lang="en-US" b="1" dirty="0">
                <a:solidFill>
                  <a:srgbClr val="273239"/>
                </a:solidFill>
                <a:effectLst/>
                <a:latin typeface="Times New Roman" panose="02020603050405020304" pitchFamily="18" charset="0"/>
                <a:cs typeface="Times New Roman" panose="02020603050405020304" pitchFamily="18" charset="0"/>
              </a:rPr>
              <a:t>j</a:t>
            </a:r>
            <a:r>
              <a:rPr lang="en-US" b="0" dirty="0">
                <a:solidFill>
                  <a:srgbClr val="273239"/>
                </a:solidFill>
                <a:effectLst/>
                <a:latin typeface="Times New Roman" panose="02020603050405020304" pitchFamily="18" charset="0"/>
                <a:cs typeface="Times New Roman" panose="02020603050405020304" pitchFamily="18" charset="0"/>
              </a:rPr>
              <a:t>, also Distance[</a:t>
            </a:r>
            <a:r>
              <a:rPr lang="en-US" b="0" dirty="0" err="1">
                <a:solidFill>
                  <a:srgbClr val="273239"/>
                </a:solidFill>
                <a:effectLst/>
                <a:latin typeface="Times New Roman" panose="02020603050405020304" pitchFamily="18" charset="0"/>
                <a:cs typeface="Times New Roman" panose="02020603050405020304" pitchFamily="18" charset="0"/>
              </a:rPr>
              <a:t>i</a:t>
            </a:r>
            <a:r>
              <a:rPr lang="en-US" b="0" dirty="0">
                <a:solidFill>
                  <a:srgbClr val="273239"/>
                </a:solidFill>
                <a:effectLst/>
                <a:latin typeface="Times New Roman" panose="02020603050405020304" pitchFamily="18" charset="0"/>
                <a:cs typeface="Times New Roman" panose="02020603050405020304" pitchFamily="18" charset="0"/>
              </a:rPr>
              <a:t>][j] = Infinity if there is no edge from </a:t>
            </a:r>
            <a:r>
              <a:rPr lang="en-US" b="1" dirty="0" err="1">
                <a:solidFill>
                  <a:srgbClr val="273239"/>
                </a:solidFill>
                <a:effectLst/>
                <a:latin typeface="Times New Roman" panose="02020603050405020304" pitchFamily="18" charset="0"/>
                <a:cs typeface="Times New Roman" panose="02020603050405020304" pitchFamily="18" charset="0"/>
              </a:rPr>
              <a:t>i</a:t>
            </a:r>
            <a:r>
              <a:rPr lang="en-US" b="0" dirty="0">
                <a:solidFill>
                  <a:srgbClr val="273239"/>
                </a:solidFill>
                <a:effectLst/>
                <a:latin typeface="Times New Roman" panose="02020603050405020304" pitchFamily="18" charset="0"/>
                <a:cs typeface="Times New Roman" panose="02020603050405020304" pitchFamily="18" charset="0"/>
              </a:rPr>
              <a:t> to </a:t>
            </a:r>
            <a:r>
              <a:rPr lang="en-US" b="1" dirty="0">
                <a:solidFill>
                  <a:srgbClr val="273239"/>
                </a:solidFill>
                <a:effectLst/>
                <a:latin typeface="Times New Roman" panose="02020603050405020304" pitchFamily="18" charset="0"/>
                <a:cs typeface="Times New Roman" panose="02020603050405020304" pitchFamily="18" charset="0"/>
              </a:rPr>
              <a:t>j.</a:t>
            </a:r>
            <a:endParaRPr lang="en-US" b="0" dirty="0">
              <a:solidFill>
                <a:srgbClr val="273239"/>
              </a:solidFill>
              <a:effectLst/>
              <a:latin typeface="Times New Roman" panose="02020603050405020304" pitchFamily="18" charset="0"/>
              <a:cs typeface="Times New Roman" panose="02020603050405020304" pitchFamily="18" charset="0"/>
            </a:endParaRPr>
          </a:p>
          <a:p>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5328B7C1-636B-5D5E-30DE-ED95AC11C931}"/>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09D9AC2E-F202-557E-5255-F3F7EE48C3E5}"/>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B7C3BFA3-5A24-1D34-766A-7261A4E84D0A}"/>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339FBC6B-CB59-C44E-F9DE-E07864D2C7B9}"/>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D81C7CE8-54C3-4D13-47D8-9E33AF3E5FD4}"/>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0B9FE87A-3CE7-0F4D-94CE-8D25B092EF18}"/>
              </a:ext>
            </a:extLst>
          </p:cNvPr>
          <p:cNvPicPr/>
          <p:nvPr/>
        </p:nvPicPr>
        <p:blipFill>
          <a:blip r:embed="rId5" cstate="print"/>
          <a:stretch>
            <a:fillRect/>
          </a:stretch>
        </p:blipFill>
        <p:spPr>
          <a:xfrm>
            <a:off x="117763" y="25"/>
            <a:ext cx="2473036" cy="947267"/>
          </a:xfrm>
          <a:prstGeom prst="rect">
            <a:avLst/>
          </a:prstGeom>
        </p:spPr>
      </p:pic>
      <p:pic>
        <p:nvPicPr>
          <p:cNvPr id="11266" name="Picture 2" descr="step1drawio">
            <a:extLst>
              <a:ext uri="{FF2B5EF4-FFF2-40B4-BE49-F238E27FC236}">
                <a16:creationId xmlns:a16="http://schemas.microsoft.com/office/drawing/2014/main" id="{195FB1B5-E1E7-2CE2-4DF1-A807A3F34A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4736" y="2362200"/>
            <a:ext cx="4962525" cy="3182407"/>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D8BA5F4E-6140-4E58-89CD-CD1CDAD1632E}"/>
              </a:ext>
            </a:extLst>
          </p:cNvPr>
          <p:cNvSpPr>
            <a:spLocks noGrp="1"/>
          </p:cNvSpPr>
          <p:nvPr>
            <p:ph type="dt" sz="half" idx="6"/>
          </p:nvPr>
        </p:nvSpPr>
        <p:spPr/>
        <p:txBody>
          <a:bodyPr/>
          <a:lstStyle/>
          <a:p>
            <a:pPr marL="12700">
              <a:lnSpc>
                <a:spcPts val="1240"/>
              </a:lnSpc>
            </a:pPr>
            <a:fld id="{9FB4CEE7-767B-4CAD-9012-7B74B2BB0A12}" type="datetime1">
              <a:rPr lang="en-US" spc="-25" smtClean="0"/>
              <a:t>7/8/2026</a:t>
            </a:fld>
            <a:endParaRPr lang="en-IN" spc="-25" dirty="0"/>
          </a:p>
        </p:txBody>
      </p:sp>
      <p:sp>
        <p:nvSpPr>
          <p:cNvPr id="10" name="Footer Placeholder 9">
            <a:extLst>
              <a:ext uri="{FF2B5EF4-FFF2-40B4-BE49-F238E27FC236}">
                <a16:creationId xmlns:a16="http://schemas.microsoft.com/office/drawing/2014/main" id="{3E245773-FAF3-41FD-B946-73CC87F24CF9}"/>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41044317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37738B-7D82-584A-0A02-55483C9268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A19845-31D8-2FCE-3749-72E5357F603A}"/>
              </a:ext>
            </a:extLst>
          </p:cNvPr>
          <p:cNvSpPr txBox="1">
            <a:spLocks noGrp="1"/>
          </p:cNvSpPr>
          <p:nvPr>
            <p:ph type="body" idx="1"/>
          </p:nvPr>
        </p:nvSpPr>
        <p:spPr>
          <a:xfrm>
            <a:off x="685800" y="1208828"/>
            <a:ext cx="11429999" cy="3192541"/>
          </a:xfrm>
          <a:prstGeom prst="rect">
            <a:avLst/>
          </a:prstGeom>
        </p:spPr>
        <p:txBody>
          <a:bodyPr vert="horz" wrap="square" lIns="0" tIns="12065" rIns="0" bIns="0" rtlCol="0">
            <a:spAutoFit/>
          </a:bodyPr>
          <a:lstStyle/>
          <a:p>
            <a:pPr algn="l" rtl="0" fontAlgn="base">
              <a:spcAft>
                <a:spcPts val="750"/>
              </a:spcAft>
            </a:pPr>
            <a:r>
              <a:rPr lang="en-IN" b="1" i="1" u="sng" dirty="0">
                <a:solidFill>
                  <a:srgbClr val="273239"/>
                </a:solidFill>
                <a:effectLst/>
                <a:latin typeface="Times New Roman" panose="02020603050405020304" pitchFamily="18" charset="0"/>
                <a:cs typeface="Times New Roman" panose="02020603050405020304" pitchFamily="18" charset="0"/>
              </a:rPr>
              <a:t>Step 2</a:t>
            </a:r>
            <a:r>
              <a:rPr lang="en-IN" b="0" i="1" dirty="0">
                <a:solidFill>
                  <a:srgbClr val="273239"/>
                </a:solidFill>
                <a:effectLst/>
                <a:latin typeface="Times New Roman" panose="02020603050405020304" pitchFamily="18" charset="0"/>
                <a:cs typeface="Times New Roman" panose="02020603050405020304" pitchFamily="18" charset="0"/>
              </a:rPr>
              <a:t>: Treat node </a:t>
            </a:r>
            <a:r>
              <a:rPr lang="en-IN" b="1" i="1" dirty="0">
                <a:solidFill>
                  <a:srgbClr val="273239"/>
                </a:solidFill>
                <a:effectLst/>
                <a:latin typeface="Times New Roman" panose="02020603050405020304" pitchFamily="18" charset="0"/>
                <a:cs typeface="Times New Roman" panose="02020603050405020304" pitchFamily="18" charset="0"/>
              </a:rPr>
              <a:t>A</a:t>
            </a:r>
            <a:r>
              <a:rPr lang="en-IN" b="0" i="1" dirty="0">
                <a:solidFill>
                  <a:srgbClr val="273239"/>
                </a:solidFill>
                <a:effectLst/>
                <a:latin typeface="Times New Roman" panose="02020603050405020304" pitchFamily="18" charset="0"/>
                <a:cs typeface="Times New Roman" panose="02020603050405020304" pitchFamily="18" charset="0"/>
              </a:rPr>
              <a:t> as an intermediate node and calculate the Distance[][] for every {</a:t>
            </a:r>
            <a:r>
              <a:rPr lang="en-IN" b="0" i="1" dirty="0" err="1">
                <a:solidFill>
                  <a:srgbClr val="273239"/>
                </a:solidFill>
                <a:effectLst/>
                <a:latin typeface="Times New Roman" panose="02020603050405020304" pitchFamily="18" charset="0"/>
                <a:cs typeface="Times New Roman" panose="02020603050405020304" pitchFamily="18" charset="0"/>
              </a:rPr>
              <a:t>i,j</a:t>
            </a:r>
            <a:r>
              <a:rPr lang="en-IN" b="0" i="1" dirty="0">
                <a:solidFill>
                  <a:srgbClr val="273239"/>
                </a:solidFill>
                <a:effectLst/>
                <a:latin typeface="Times New Roman" panose="02020603050405020304" pitchFamily="18" charset="0"/>
                <a:cs typeface="Times New Roman" panose="02020603050405020304" pitchFamily="18" charset="0"/>
              </a:rPr>
              <a:t>} node pair using the formula:</a:t>
            </a:r>
          </a:p>
          <a:p>
            <a:pPr algn="l" rtl="0" fontAlgn="base">
              <a:spcAft>
                <a:spcPts val="750"/>
              </a:spcAft>
            </a:pPr>
            <a:r>
              <a:rPr lang="en-IN" b="0" i="1" dirty="0">
                <a:solidFill>
                  <a:srgbClr val="273239"/>
                </a:solidFill>
                <a:effectLst/>
                <a:latin typeface="Times New Roman" panose="02020603050405020304" pitchFamily="18" charset="0"/>
                <a:cs typeface="Times New Roman" panose="02020603050405020304" pitchFamily="18" charset="0"/>
              </a:rPr>
              <a:t>= Distance[</a:t>
            </a:r>
            <a:r>
              <a:rPr lang="en-IN" b="0" i="1" dirty="0" err="1">
                <a:solidFill>
                  <a:srgbClr val="273239"/>
                </a:solidFill>
                <a:effectLst/>
                <a:latin typeface="Times New Roman" panose="02020603050405020304" pitchFamily="18" charset="0"/>
                <a:cs typeface="Times New Roman" panose="02020603050405020304" pitchFamily="18" charset="0"/>
              </a:rPr>
              <a:t>i</a:t>
            </a:r>
            <a:r>
              <a:rPr lang="en-IN" b="0" i="1" dirty="0">
                <a:solidFill>
                  <a:srgbClr val="273239"/>
                </a:solidFill>
                <a:effectLst/>
                <a:latin typeface="Times New Roman" panose="02020603050405020304" pitchFamily="18" charset="0"/>
                <a:cs typeface="Times New Roman" panose="02020603050405020304" pitchFamily="18" charset="0"/>
              </a:rPr>
              <a:t>][j] = minimum (Distance[</a:t>
            </a:r>
            <a:r>
              <a:rPr lang="en-IN" b="0" i="1" dirty="0" err="1">
                <a:solidFill>
                  <a:srgbClr val="273239"/>
                </a:solidFill>
                <a:effectLst/>
                <a:latin typeface="Times New Roman" panose="02020603050405020304" pitchFamily="18" charset="0"/>
                <a:cs typeface="Times New Roman" panose="02020603050405020304" pitchFamily="18" charset="0"/>
              </a:rPr>
              <a:t>i</a:t>
            </a:r>
            <a:r>
              <a:rPr lang="en-IN" b="0" i="1" dirty="0">
                <a:solidFill>
                  <a:srgbClr val="273239"/>
                </a:solidFill>
                <a:effectLst/>
                <a:latin typeface="Times New Roman" panose="02020603050405020304" pitchFamily="18" charset="0"/>
                <a:cs typeface="Times New Roman" panose="02020603050405020304" pitchFamily="18" charset="0"/>
              </a:rPr>
              <a:t>][j], (Distance from </a:t>
            </a:r>
            <a:r>
              <a:rPr lang="en-IN" b="0" i="1" dirty="0" err="1">
                <a:solidFill>
                  <a:srgbClr val="273239"/>
                </a:solidFill>
                <a:effectLst/>
                <a:latin typeface="Times New Roman" panose="02020603050405020304" pitchFamily="18" charset="0"/>
                <a:cs typeface="Times New Roman" panose="02020603050405020304" pitchFamily="18" charset="0"/>
              </a:rPr>
              <a:t>i</a:t>
            </a:r>
            <a:r>
              <a:rPr lang="en-IN" b="0" i="1" dirty="0">
                <a:solidFill>
                  <a:srgbClr val="273239"/>
                </a:solidFill>
                <a:effectLst/>
                <a:latin typeface="Times New Roman" panose="02020603050405020304" pitchFamily="18" charset="0"/>
                <a:cs typeface="Times New Roman" panose="02020603050405020304" pitchFamily="18" charset="0"/>
              </a:rPr>
              <a:t> to </a:t>
            </a:r>
            <a:r>
              <a:rPr lang="en-IN" b="1" i="1" dirty="0">
                <a:solidFill>
                  <a:srgbClr val="273239"/>
                </a:solidFill>
                <a:effectLst/>
                <a:latin typeface="Times New Roman" panose="02020603050405020304" pitchFamily="18" charset="0"/>
                <a:cs typeface="Times New Roman" panose="02020603050405020304" pitchFamily="18" charset="0"/>
              </a:rPr>
              <a:t>A</a:t>
            </a:r>
            <a:r>
              <a:rPr lang="en-IN" b="0" i="1" dirty="0">
                <a:solidFill>
                  <a:srgbClr val="273239"/>
                </a:solidFill>
                <a:effectLst/>
                <a:latin typeface="Times New Roman" panose="02020603050405020304" pitchFamily="18" charset="0"/>
                <a:cs typeface="Times New Roman" panose="02020603050405020304" pitchFamily="18" charset="0"/>
              </a:rPr>
              <a:t>) + (Distance from </a:t>
            </a:r>
            <a:r>
              <a:rPr lang="en-IN" b="1" i="1" dirty="0">
                <a:solidFill>
                  <a:srgbClr val="273239"/>
                </a:solidFill>
                <a:effectLst/>
                <a:latin typeface="Times New Roman" panose="02020603050405020304" pitchFamily="18" charset="0"/>
                <a:cs typeface="Times New Roman" panose="02020603050405020304" pitchFamily="18" charset="0"/>
              </a:rPr>
              <a:t>A </a:t>
            </a:r>
            <a:r>
              <a:rPr lang="en-IN" b="0" i="1" dirty="0">
                <a:solidFill>
                  <a:srgbClr val="273239"/>
                </a:solidFill>
                <a:effectLst/>
                <a:latin typeface="Times New Roman" panose="02020603050405020304" pitchFamily="18" charset="0"/>
                <a:cs typeface="Times New Roman" panose="02020603050405020304" pitchFamily="18" charset="0"/>
              </a:rPr>
              <a:t>to j ))</a:t>
            </a:r>
            <a:br>
              <a:rPr lang="en-IN" b="0" i="1" dirty="0">
                <a:solidFill>
                  <a:srgbClr val="273239"/>
                </a:solidFill>
                <a:effectLst/>
                <a:latin typeface="Times New Roman" panose="02020603050405020304" pitchFamily="18" charset="0"/>
                <a:cs typeface="Times New Roman" panose="02020603050405020304" pitchFamily="18" charset="0"/>
              </a:rPr>
            </a:br>
            <a:r>
              <a:rPr lang="en-IN" b="0" i="1" dirty="0">
                <a:solidFill>
                  <a:srgbClr val="273239"/>
                </a:solidFill>
                <a:effectLst/>
                <a:latin typeface="Times New Roman" panose="02020603050405020304" pitchFamily="18" charset="0"/>
                <a:cs typeface="Times New Roman" panose="02020603050405020304" pitchFamily="18" charset="0"/>
              </a:rPr>
              <a:t>= Distance[</a:t>
            </a:r>
            <a:r>
              <a:rPr lang="en-IN" b="0" i="1" dirty="0" err="1">
                <a:solidFill>
                  <a:srgbClr val="273239"/>
                </a:solidFill>
                <a:effectLst/>
                <a:latin typeface="Times New Roman" panose="02020603050405020304" pitchFamily="18" charset="0"/>
                <a:cs typeface="Times New Roman" panose="02020603050405020304" pitchFamily="18" charset="0"/>
              </a:rPr>
              <a:t>i</a:t>
            </a:r>
            <a:r>
              <a:rPr lang="en-IN" b="0" i="1" dirty="0">
                <a:solidFill>
                  <a:srgbClr val="273239"/>
                </a:solidFill>
                <a:effectLst/>
                <a:latin typeface="Times New Roman" panose="02020603050405020304" pitchFamily="18" charset="0"/>
                <a:cs typeface="Times New Roman" panose="02020603050405020304" pitchFamily="18" charset="0"/>
              </a:rPr>
              <a:t>][j] = minimum (Distance[</a:t>
            </a:r>
            <a:r>
              <a:rPr lang="en-IN" b="0" i="1" dirty="0" err="1">
                <a:solidFill>
                  <a:srgbClr val="273239"/>
                </a:solidFill>
                <a:effectLst/>
                <a:latin typeface="Times New Roman" panose="02020603050405020304" pitchFamily="18" charset="0"/>
                <a:cs typeface="Times New Roman" panose="02020603050405020304" pitchFamily="18" charset="0"/>
              </a:rPr>
              <a:t>i</a:t>
            </a:r>
            <a:r>
              <a:rPr lang="en-IN" b="0" i="1" dirty="0">
                <a:solidFill>
                  <a:srgbClr val="273239"/>
                </a:solidFill>
                <a:effectLst/>
                <a:latin typeface="Times New Roman" panose="02020603050405020304" pitchFamily="18" charset="0"/>
                <a:cs typeface="Times New Roman" panose="02020603050405020304" pitchFamily="18" charset="0"/>
              </a:rPr>
              <a:t>][j], Distance[</a:t>
            </a:r>
            <a:r>
              <a:rPr lang="en-IN" b="0" i="1" dirty="0" err="1">
                <a:solidFill>
                  <a:srgbClr val="273239"/>
                </a:solidFill>
                <a:effectLst/>
                <a:latin typeface="Times New Roman" panose="02020603050405020304" pitchFamily="18" charset="0"/>
                <a:cs typeface="Times New Roman" panose="02020603050405020304" pitchFamily="18" charset="0"/>
              </a:rPr>
              <a:t>i</a:t>
            </a:r>
            <a:r>
              <a:rPr lang="en-IN" b="0" i="1" dirty="0">
                <a:solidFill>
                  <a:srgbClr val="273239"/>
                </a:solidFill>
                <a:effectLst/>
                <a:latin typeface="Times New Roman" panose="02020603050405020304" pitchFamily="18" charset="0"/>
                <a:cs typeface="Times New Roman" panose="02020603050405020304" pitchFamily="18" charset="0"/>
              </a:rPr>
              <a:t>][</a:t>
            </a:r>
            <a:r>
              <a:rPr lang="en-IN" b="1" i="1" dirty="0">
                <a:solidFill>
                  <a:srgbClr val="273239"/>
                </a:solidFill>
                <a:effectLst/>
                <a:latin typeface="Times New Roman" panose="02020603050405020304" pitchFamily="18" charset="0"/>
                <a:cs typeface="Times New Roman" panose="02020603050405020304" pitchFamily="18" charset="0"/>
              </a:rPr>
              <a:t>A</a:t>
            </a:r>
            <a:r>
              <a:rPr lang="en-IN" b="0" i="1" dirty="0">
                <a:solidFill>
                  <a:srgbClr val="273239"/>
                </a:solidFill>
                <a:effectLst/>
                <a:latin typeface="Times New Roman" panose="02020603050405020304" pitchFamily="18" charset="0"/>
                <a:cs typeface="Times New Roman" panose="02020603050405020304" pitchFamily="18" charset="0"/>
              </a:rPr>
              <a:t>] + Distance[</a:t>
            </a:r>
            <a:r>
              <a:rPr lang="en-IN" b="1" i="1" dirty="0">
                <a:solidFill>
                  <a:srgbClr val="273239"/>
                </a:solidFill>
                <a:effectLst/>
                <a:latin typeface="Times New Roman" panose="02020603050405020304" pitchFamily="18" charset="0"/>
                <a:cs typeface="Times New Roman" panose="02020603050405020304" pitchFamily="18" charset="0"/>
              </a:rPr>
              <a:t>A</a:t>
            </a:r>
            <a:r>
              <a:rPr lang="en-IN" b="0" i="1" dirty="0">
                <a:solidFill>
                  <a:srgbClr val="273239"/>
                </a:solidFill>
                <a:effectLst/>
                <a:latin typeface="Times New Roman" panose="02020603050405020304" pitchFamily="18" charset="0"/>
                <a:cs typeface="Times New Roman" panose="02020603050405020304" pitchFamily="18" charset="0"/>
              </a:rPr>
              <a:t>][j])</a:t>
            </a:r>
          </a:p>
          <a:p>
            <a:pPr algn="l" rtl="0" fontAlgn="base">
              <a:spcAft>
                <a:spcPts val="750"/>
              </a:spcAft>
            </a:pPr>
            <a:endParaRPr lang="en-IN" sz="1600" i="1" dirty="0">
              <a:solidFill>
                <a:srgbClr val="273239"/>
              </a:solidFill>
              <a:latin typeface="Nunito" pitchFamily="2" charset="0"/>
            </a:endParaRPr>
          </a:p>
          <a:p>
            <a:pPr algn="l" rtl="0" fontAlgn="base">
              <a:spcAft>
                <a:spcPts val="750"/>
              </a:spcAft>
            </a:pPr>
            <a:endParaRPr lang="en-IN" sz="1600" b="0" i="1" dirty="0">
              <a:solidFill>
                <a:srgbClr val="273239"/>
              </a:solidFill>
              <a:effectLst/>
              <a:latin typeface="Nunito" pitchFamily="2" charset="0"/>
            </a:endParaRPr>
          </a:p>
          <a:p>
            <a:br>
              <a:rPr lang="en-IN" sz="1400" dirty="0"/>
            </a:br>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D229F659-E266-0057-8CBC-B470BEBB6F66}"/>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9DEBCDDA-72EA-C11C-7A2E-9EC59159D57F}"/>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78E35D02-DF73-8F7C-AFEE-DF9ECF30A345}"/>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25505AC1-257F-6FC3-086F-F647253DBC71}"/>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86F2676D-E50D-522D-F21D-17453140AFFF}"/>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65E03D90-14A9-F33B-B9CD-A532742A0CB7}"/>
              </a:ext>
            </a:extLst>
          </p:cNvPr>
          <p:cNvPicPr/>
          <p:nvPr/>
        </p:nvPicPr>
        <p:blipFill>
          <a:blip r:embed="rId5" cstate="print"/>
          <a:stretch>
            <a:fillRect/>
          </a:stretch>
        </p:blipFill>
        <p:spPr>
          <a:xfrm>
            <a:off x="117763" y="25"/>
            <a:ext cx="2473036" cy="947267"/>
          </a:xfrm>
          <a:prstGeom prst="rect">
            <a:avLst/>
          </a:prstGeom>
        </p:spPr>
      </p:pic>
      <p:pic>
        <p:nvPicPr>
          <p:cNvPr id="12290" name="Picture 2" descr="step2drawio">
            <a:extLst>
              <a:ext uri="{FF2B5EF4-FFF2-40B4-BE49-F238E27FC236}">
                <a16:creationId xmlns:a16="http://schemas.microsoft.com/office/drawing/2014/main" id="{B1AFFC60-A340-2FED-0FCC-B4A756CAE6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036" y="2881201"/>
            <a:ext cx="6867525" cy="3563407"/>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768E4F5B-8E7D-43AE-9BA0-9A9E2CBA7D56}"/>
              </a:ext>
            </a:extLst>
          </p:cNvPr>
          <p:cNvSpPr>
            <a:spLocks noGrp="1"/>
          </p:cNvSpPr>
          <p:nvPr>
            <p:ph type="dt" sz="half" idx="6"/>
          </p:nvPr>
        </p:nvSpPr>
        <p:spPr/>
        <p:txBody>
          <a:bodyPr/>
          <a:lstStyle/>
          <a:p>
            <a:pPr marL="12700">
              <a:lnSpc>
                <a:spcPts val="1240"/>
              </a:lnSpc>
            </a:pPr>
            <a:fld id="{3BC2C65E-233F-4EBD-924D-E1C6FC22218E}" type="datetime1">
              <a:rPr lang="en-US" spc="-25" smtClean="0"/>
              <a:t>7/8/2026</a:t>
            </a:fld>
            <a:endParaRPr lang="en-IN" spc="-25" dirty="0"/>
          </a:p>
        </p:txBody>
      </p:sp>
      <p:sp>
        <p:nvSpPr>
          <p:cNvPr id="10" name="Footer Placeholder 9">
            <a:extLst>
              <a:ext uri="{FF2B5EF4-FFF2-40B4-BE49-F238E27FC236}">
                <a16:creationId xmlns:a16="http://schemas.microsoft.com/office/drawing/2014/main" id="{B654D447-FBDE-4017-B4DC-1FAA1A87661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970006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680627-27DC-2836-7DB4-D4510699AAE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5BFBF7-FA2A-535C-B0B4-705476639548}"/>
              </a:ext>
            </a:extLst>
          </p:cNvPr>
          <p:cNvSpPr txBox="1">
            <a:spLocks noGrp="1"/>
          </p:cNvSpPr>
          <p:nvPr>
            <p:ph type="body" idx="1"/>
          </p:nvPr>
        </p:nvSpPr>
        <p:spPr>
          <a:xfrm>
            <a:off x="533399" y="1233966"/>
            <a:ext cx="11429999" cy="3192541"/>
          </a:xfrm>
          <a:prstGeom prst="rect">
            <a:avLst/>
          </a:prstGeom>
        </p:spPr>
        <p:txBody>
          <a:bodyPr vert="horz" wrap="square" lIns="0" tIns="12065" rIns="0" bIns="0" rtlCol="0">
            <a:spAutoFit/>
          </a:bodyPr>
          <a:lstStyle/>
          <a:p>
            <a:pPr algn="l" rtl="0" fontAlgn="base">
              <a:spcAft>
                <a:spcPts val="750"/>
              </a:spcAft>
            </a:pPr>
            <a:r>
              <a:rPr lang="en-IN" b="1" u="sng" dirty="0">
                <a:solidFill>
                  <a:srgbClr val="273239"/>
                </a:solidFill>
                <a:effectLst/>
                <a:latin typeface="Times New Roman" panose="02020603050405020304" pitchFamily="18" charset="0"/>
                <a:cs typeface="Times New Roman" panose="02020603050405020304" pitchFamily="18" charset="0"/>
              </a:rPr>
              <a:t>Step 3</a:t>
            </a:r>
            <a:r>
              <a:rPr lang="en-IN" b="0" dirty="0">
                <a:solidFill>
                  <a:srgbClr val="273239"/>
                </a:solidFill>
                <a:effectLst/>
                <a:latin typeface="Times New Roman" panose="02020603050405020304" pitchFamily="18" charset="0"/>
                <a:cs typeface="Times New Roman" panose="02020603050405020304" pitchFamily="18" charset="0"/>
              </a:rPr>
              <a:t>: Treat node </a:t>
            </a:r>
            <a:r>
              <a:rPr lang="en-IN" b="1" dirty="0">
                <a:solidFill>
                  <a:srgbClr val="273239"/>
                </a:solidFill>
                <a:effectLst/>
                <a:latin typeface="Times New Roman" panose="02020603050405020304" pitchFamily="18" charset="0"/>
                <a:cs typeface="Times New Roman" panose="02020603050405020304" pitchFamily="18" charset="0"/>
              </a:rPr>
              <a:t>B</a:t>
            </a:r>
            <a:r>
              <a:rPr lang="en-IN" b="0" dirty="0">
                <a:solidFill>
                  <a:srgbClr val="273239"/>
                </a:solidFill>
                <a:effectLst/>
                <a:latin typeface="Times New Roman" panose="02020603050405020304" pitchFamily="18" charset="0"/>
                <a:cs typeface="Times New Roman" panose="02020603050405020304" pitchFamily="18" charset="0"/>
              </a:rPr>
              <a:t> as an intermediate node and calculate the Distance[][] for every {</a:t>
            </a:r>
            <a:r>
              <a:rPr lang="en-IN" b="0" dirty="0" err="1">
                <a:solidFill>
                  <a:srgbClr val="273239"/>
                </a:solidFill>
                <a:effectLst/>
                <a:latin typeface="Times New Roman" panose="02020603050405020304" pitchFamily="18" charset="0"/>
                <a:cs typeface="Times New Roman" panose="02020603050405020304" pitchFamily="18" charset="0"/>
              </a:rPr>
              <a:t>i,j</a:t>
            </a:r>
            <a:r>
              <a:rPr lang="en-IN" b="0" dirty="0">
                <a:solidFill>
                  <a:srgbClr val="273239"/>
                </a:solidFill>
                <a:effectLst/>
                <a:latin typeface="Times New Roman" panose="02020603050405020304" pitchFamily="18" charset="0"/>
                <a:cs typeface="Times New Roman" panose="02020603050405020304" pitchFamily="18" charset="0"/>
              </a:rPr>
              <a:t>} node pair using the formula:</a:t>
            </a:r>
          </a:p>
          <a:p>
            <a:pPr algn="l" rtl="0" fontAlgn="base">
              <a:spcAft>
                <a:spcPts val="750"/>
              </a:spcAft>
            </a:pP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 from </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 to </a:t>
            </a:r>
            <a:r>
              <a:rPr lang="en-IN" b="1" dirty="0">
                <a:solidFill>
                  <a:srgbClr val="273239"/>
                </a:solidFill>
                <a:effectLst/>
                <a:latin typeface="Times New Roman" panose="02020603050405020304" pitchFamily="18" charset="0"/>
                <a:cs typeface="Times New Roman" panose="02020603050405020304" pitchFamily="18" charset="0"/>
              </a:rPr>
              <a:t>B</a:t>
            </a:r>
            <a:r>
              <a:rPr lang="en-IN" b="0" dirty="0">
                <a:solidFill>
                  <a:srgbClr val="273239"/>
                </a:solidFill>
                <a:effectLst/>
                <a:latin typeface="Times New Roman" panose="02020603050405020304" pitchFamily="18" charset="0"/>
                <a:cs typeface="Times New Roman" panose="02020603050405020304" pitchFamily="18" charset="0"/>
              </a:rPr>
              <a:t>) + (Distance from </a:t>
            </a:r>
            <a:r>
              <a:rPr lang="en-IN" b="1" dirty="0">
                <a:solidFill>
                  <a:srgbClr val="273239"/>
                </a:solidFill>
                <a:effectLst/>
                <a:latin typeface="Times New Roman" panose="02020603050405020304" pitchFamily="18" charset="0"/>
                <a:cs typeface="Times New Roman" panose="02020603050405020304" pitchFamily="18" charset="0"/>
              </a:rPr>
              <a:t>B</a:t>
            </a:r>
            <a:r>
              <a:rPr lang="en-IN" b="0" dirty="0">
                <a:solidFill>
                  <a:srgbClr val="273239"/>
                </a:solidFill>
                <a:effectLst/>
                <a:latin typeface="Times New Roman" panose="02020603050405020304" pitchFamily="18" charset="0"/>
                <a:cs typeface="Times New Roman" panose="02020603050405020304" pitchFamily="18" charset="0"/>
              </a:rPr>
              <a:t> to j ))</a:t>
            </a:r>
            <a:br>
              <a:rPr lang="en-IN" b="0" dirty="0">
                <a:solidFill>
                  <a:srgbClr val="273239"/>
                </a:solidFill>
                <a:effectLst/>
                <a:latin typeface="Times New Roman" panose="02020603050405020304" pitchFamily="18" charset="0"/>
                <a:cs typeface="Times New Roman" panose="02020603050405020304" pitchFamily="18" charset="0"/>
              </a:rPr>
            </a:b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a:t>
            </a:r>
            <a:r>
              <a:rPr lang="en-IN" b="1" dirty="0">
                <a:solidFill>
                  <a:srgbClr val="273239"/>
                </a:solidFill>
                <a:effectLst/>
                <a:latin typeface="Times New Roman" panose="02020603050405020304" pitchFamily="18" charset="0"/>
                <a:cs typeface="Times New Roman" panose="02020603050405020304" pitchFamily="18" charset="0"/>
              </a:rPr>
              <a:t>B</a:t>
            </a:r>
            <a:r>
              <a:rPr lang="en-IN" b="0" dirty="0">
                <a:solidFill>
                  <a:srgbClr val="273239"/>
                </a:solidFill>
                <a:effectLst/>
                <a:latin typeface="Times New Roman" panose="02020603050405020304" pitchFamily="18" charset="0"/>
                <a:cs typeface="Times New Roman" panose="02020603050405020304" pitchFamily="18" charset="0"/>
              </a:rPr>
              <a:t>] + Distance[</a:t>
            </a:r>
            <a:r>
              <a:rPr lang="en-IN" b="1" dirty="0">
                <a:solidFill>
                  <a:srgbClr val="273239"/>
                </a:solidFill>
                <a:effectLst/>
                <a:latin typeface="Times New Roman" panose="02020603050405020304" pitchFamily="18" charset="0"/>
                <a:cs typeface="Times New Roman" panose="02020603050405020304" pitchFamily="18" charset="0"/>
              </a:rPr>
              <a:t>B</a:t>
            </a:r>
            <a:r>
              <a:rPr lang="en-IN" b="0" dirty="0">
                <a:solidFill>
                  <a:srgbClr val="273239"/>
                </a:solidFill>
                <a:effectLst/>
                <a:latin typeface="Times New Roman" panose="02020603050405020304" pitchFamily="18" charset="0"/>
                <a:cs typeface="Times New Roman" panose="02020603050405020304" pitchFamily="18" charset="0"/>
              </a:rPr>
              <a:t>][j])</a:t>
            </a:r>
          </a:p>
          <a:p>
            <a:pPr algn="l" rtl="0" fontAlgn="base">
              <a:spcAft>
                <a:spcPts val="750"/>
              </a:spcAft>
            </a:pPr>
            <a:endParaRPr lang="en-IN" sz="1600" i="1" dirty="0">
              <a:solidFill>
                <a:srgbClr val="273239"/>
              </a:solidFill>
              <a:latin typeface="Nunito" pitchFamily="2" charset="0"/>
            </a:endParaRPr>
          </a:p>
          <a:p>
            <a:pPr algn="l" rtl="0" fontAlgn="base">
              <a:spcAft>
                <a:spcPts val="750"/>
              </a:spcAft>
            </a:pPr>
            <a:endParaRPr lang="en-IN" sz="1600" b="0" i="1" dirty="0">
              <a:solidFill>
                <a:srgbClr val="273239"/>
              </a:solidFill>
              <a:effectLst/>
              <a:latin typeface="Nunito" pitchFamily="2" charset="0"/>
            </a:endParaRPr>
          </a:p>
          <a:p>
            <a:br>
              <a:rPr lang="en-IN" sz="1400" dirty="0"/>
            </a:br>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72AEB0B1-8A9D-E793-972B-56C84C52FDDB}"/>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70881899-3475-345F-46CC-AF39F8BE1274}"/>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2D54AA76-4688-AA55-8305-CBC7F3C77F57}"/>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C233A634-9F82-B513-AF74-12608B6C3059}"/>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286E9F3B-2832-B599-0121-32302793AD09}"/>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2A678314-8763-CF4D-5B10-F37B922799CD}"/>
              </a:ext>
            </a:extLst>
          </p:cNvPr>
          <p:cNvPicPr/>
          <p:nvPr/>
        </p:nvPicPr>
        <p:blipFill>
          <a:blip r:embed="rId5" cstate="print"/>
          <a:stretch>
            <a:fillRect/>
          </a:stretch>
        </p:blipFill>
        <p:spPr>
          <a:xfrm>
            <a:off x="117763" y="25"/>
            <a:ext cx="2473036" cy="947267"/>
          </a:xfrm>
          <a:prstGeom prst="rect">
            <a:avLst/>
          </a:prstGeom>
        </p:spPr>
      </p:pic>
      <p:pic>
        <p:nvPicPr>
          <p:cNvPr id="14338" name="Picture 2" descr="Lightbox">
            <a:extLst>
              <a:ext uri="{FF2B5EF4-FFF2-40B4-BE49-F238E27FC236}">
                <a16:creationId xmlns:a16="http://schemas.microsoft.com/office/drawing/2014/main" id="{694E8102-0FC6-9559-347E-5B3E4DC5CB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9836" y="2769843"/>
            <a:ext cx="6867525" cy="3886675"/>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34BCD69E-F5AC-4865-B446-4CC83C372004}"/>
              </a:ext>
            </a:extLst>
          </p:cNvPr>
          <p:cNvSpPr>
            <a:spLocks noGrp="1"/>
          </p:cNvSpPr>
          <p:nvPr>
            <p:ph type="dt" sz="half" idx="6"/>
          </p:nvPr>
        </p:nvSpPr>
        <p:spPr/>
        <p:txBody>
          <a:bodyPr/>
          <a:lstStyle/>
          <a:p>
            <a:pPr marL="12700">
              <a:lnSpc>
                <a:spcPts val="1240"/>
              </a:lnSpc>
            </a:pPr>
            <a:fld id="{1475275A-8D20-4906-972E-14F26BDBC709}" type="datetime1">
              <a:rPr lang="en-US" spc="-25" smtClean="0"/>
              <a:t>7/8/2026</a:t>
            </a:fld>
            <a:endParaRPr lang="en-IN" spc="-25" dirty="0"/>
          </a:p>
        </p:txBody>
      </p:sp>
      <p:sp>
        <p:nvSpPr>
          <p:cNvPr id="10" name="Footer Placeholder 9">
            <a:extLst>
              <a:ext uri="{FF2B5EF4-FFF2-40B4-BE49-F238E27FC236}">
                <a16:creationId xmlns:a16="http://schemas.microsoft.com/office/drawing/2014/main" id="{55B1E7F6-7F9C-4361-9890-F413F3781C8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273007005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5BD766-E3BA-00F3-9297-6A411F7FDC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49D260-47EF-6B39-256F-0B356C09E737}"/>
              </a:ext>
            </a:extLst>
          </p:cNvPr>
          <p:cNvSpPr txBox="1">
            <a:spLocks noGrp="1"/>
          </p:cNvSpPr>
          <p:nvPr>
            <p:ph type="body" idx="1"/>
          </p:nvPr>
        </p:nvSpPr>
        <p:spPr>
          <a:xfrm>
            <a:off x="762001" y="1233966"/>
            <a:ext cx="11429999" cy="3192541"/>
          </a:xfrm>
          <a:prstGeom prst="rect">
            <a:avLst/>
          </a:prstGeom>
        </p:spPr>
        <p:txBody>
          <a:bodyPr vert="horz" wrap="square" lIns="0" tIns="12065" rIns="0" bIns="0" rtlCol="0">
            <a:spAutoFit/>
          </a:bodyPr>
          <a:lstStyle/>
          <a:p>
            <a:pPr algn="l" rtl="0" fontAlgn="base">
              <a:spcAft>
                <a:spcPts val="750"/>
              </a:spcAft>
            </a:pPr>
            <a:r>
              <a:rPr lang="en-IN" b="1" u="sng" dirty="0">
                <a:solidFill>
                  <a:srgbClr val="273239"/>
                </a:solidFill>
                <a:effectLst/>
                <a:latin typeface="Times New Roman" panose="02020603050405020304" pitchFamily="18" charset="0"/>
                <a:cs typeface="Times New Roman" panose="02020603050405020304" pitchFamily="18" charset="0"/>
              </a:rPr>
              <a:t>Step 4</a:t>
            </a:r>
            <a:r>
              <a:rPr lang="en-IN" b="0" dirty="0">
                <a:solidFill>
                  <a:srgbClr val="273239"/>
                </a:solidFill>
                <a:effectLst/>
                <a:latin typeface="Times New Roman" panose="02020603050405020304" pitchFamily="18" charset="0"/>
                <a:cs typeface="Times New Roman" panose="02020603050405020304" pitchFamily="18" charset="0"/>
              </a:rPr>
              <a:t>: Treat node </a:t>
            </a:r>
            <a:r>
              <a:rPr lang="en-IN" b="1" dirty="0">
                <a:solidFill>
                  <a:srgbClr val="273239"/>
                </a:solidFill>
                <a:effectLst/>
                <a:latin typeface="Times New Roman" panose="02020603050405020304" pitchFamily="18" charset="0"/>
                <a:cs typeface="Times New Roman" panose="02020603050405020304" pitchFamily="18" charset="0"/>
              </a:rPr>
              <a:t>C </a:t>
            </a:r>
            <a:r>
              <a:rPr lang="en-IN" b="0" dirty="0">
                <a:solidFill>
                  <a:srgbClr val="273239"/>
                </a:solidFill>
                <a:effectLst/>
                <a:latin typeface="Times New Roman" panose="02020603050405020304" pitchFamily="18" charset="0"/>
                <a:cs typeface="Times New Roman" panose="02020603050405020304" pitchFamily="18" charset="0"/>
              </a:rPr>
              <a:t>as an intermediate node and calculate the Distance[][] for every {</a:t>
            </a:r>
            <a:r>
              <a:rPr lang="en-IN" b="0" dirty="0" err="1">
                <a:solidFill>
                  <a:srgbClr val="273239"/>
                </a:solidFill>
                <a:effectLst/>
                <a:latin typeface="Times New Roman" panose="02020603050405020304" pitchFamily="18" charset="0"/>
                <a:cs typeface="Times New Roman" panose="02020603050405020304" pitchFamily="18" charset="0"/>
              </a:rPr>
              <a:t>i,j</a:t>
            </a:r>
            <a:r>
              <a:rPr lang="en-IN" b="0" dirty="0">
                <a:solidFill>
                  <a:srgbClr val="273239"/>
                </a:solidFill>
                <a:effectLst/>
                <a:latin typeface="Times New Roman" panose="02020603050405020304" pitchFamily="18" charset="0"/>
                <a:cs typeface="Times New Roman" panose="02020603050405020304" pitchFamily="18" charset="0"/>
              </a:rPr>
              <a:t>} node pair using the formula:</a:t>
            </a:r>
          </a:p>
          <a:p>
            <a:pPr algn="l" rtl="0" fontAlgn="base">
              <a:spcAft>
                <a:spcPts val="750"/>
              </a:spcAft>
            </a:pP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 from </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 to </a:t>
            </a:r>
            <a:r>
              <a:rPr lang="en-IN" b="1" dirty="0">
                <a:solidFill>
                  <a:srgbClr val="273239"/>
                </a:solidFill>
                <a:effectLst/>
                <a:latin typeface="Times New Roman" panose="02020603050405020304" pitchFamily="18" charset="0"/>
                <a:cs typeface="Times New Roman" panose="02020603050405020304" pitchFamily="18" charset="0"/>
              </a:rPr>
              <a:t>C</a:t>
            </a:r>
            <a:r>
              <a:rPr lang="en-IN" b="0" dirty="0">
                <a:solidFill>
                  <a:srgbClr val="273239"/>
                </a:solidFill>
                <a:effectLst/>
                <a:latin typeface="Times New Roman" panose="02020603050405020304" pitchFamily="18" charset="0"/>
                <a:cs typeface="Times New Roman" panose="02020603050405020304" pitchFamily="18" charset="0"/>
              </a:rPr>
              <a:t>) + (Distance from </a:t>
            </a:r>
            <a:r>
              <a:rPr lang="en-IN" b="1" dirty="0">
                <a:solidFill>
                  <a:srgbClr val="273239"/>
                </a:solidFill>
                <a:effectLst/>
                <a:latin typeface="Times New Roman" panose="02020603050405020304" pitchFamily="18" charset="0"/>
                <a:cs typeface="Times New Roman" panose="02020603050405020304" pitchFamily="18" charset="0"/>
              </a:rPr>
              <a:t>C </a:t>
            </a:r>
            <a:r>
              <a:rPr lang="en-IN" b="0" dirty="0">
                <a:solidFill>
                  <a:srgbClr val="273239"/>
                </a:solidFill>
                <a:effectLst/>
                <a:latin typeface="Times New Roman" panose="02020603050405020304" pitchFamily="18" charset="0"/>
                <a:cs typeface="Times New Roman" panose="02020603050405020304" pitchFamily="18" charset="0"/>
              </a:rPr>
              <a:t>to j ))</a:t>
            </a:r>
            <a:br>
              <a:rPr lang="en-IN" b="0" dirty="0">
                <a:solidFill>
                  <a:srgbClr val="273239"/>
                </a:solidFill>
                <a:effectLst/>
                <a:latin typeface="Times New Roman" panose="02020603050405020304" pitchFamily="18" charset="0"/>
                <a:cs typeface="Times New Roman" panose="02020603050405020304" pitchFamily="18" charset="0"/>
              </a:rPr>
            </a:b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a:t>
            </a:r>
            <a:r>
              <a:rPr lang="en-IN" b="1" dirty="0">
                <a:solidFill>
                  <a:srgbClr val="273239"/>
                </a:solidFill>
                <a:effectLst/>
                <a:latin typeface="Times New Roman" panose="02020603050405020304" pitchFamily="18" charset="0"/>
                <a:cs typeface="Times New Roman" panose="02020603050405020304" pitchFamily="18" charset="0"/>
              </a:rPr>
              <a:t>C</a:t>
            </a:r>
            <a:r>
              <a:rPr lang="en-IN" b="0" dirty="0">
                <a:solidFill>
                  <a:srgbClr val="273239"/>
                </a:solidFill>
                <a:effectLst/>
                <a:latin typeface="Times New Roman" panose="02020603050405020304" pitchFamily="18" charset="0"/>
                <a:cs typeface="Times New Roman" panose="02020603050405020304" pitchFamily="18" charset="0"/>
              </a:rPr>
              <a:t>] + Distance[</a:t>
            </a:r>
            <a:r>
              <a:rPr lang="en-IN" b="1" dirty="0">
                <a:solidFill>
                  <a:srgbClr val="273239"/>
                </a:solidFill>
                <a:effectLst/>
                <a:latin typeface="Times New Roman" panose="02020603050405020304" pitchFamily="18" charset="0"/>
                <a:cs typeface="Times New Roman" panose="02020603050405020304" pitchFamily="18" charset="0"/>
              </a:rPr>
              <a:t>C</a:t>
            </a:r>
            <a:r>
              <a:rPr lang="en-IN" b="0" dirty="0">
                <a:solidFill>
                  <a:srgbClr val="273239"/>
                </a:solidFill>
                <a:effectLst/>
                <a:latin typeface="Times New Roman" panose="02020603050405020304" pitchFamily="18" charset="0"/>
                <a:cs typeface="Times New Roman" panose="02020603050405020304" pitchFamily="18" charset="0"/>
              </a:rPr>
              <a:t>][j])</a:t>
            </a:r>
          </a:p>
          <a:p>
            <a:pPr algn="l" rtl="0" fontAlgn="base">
              <a:spcAft>
                <a:spcPts val="750"/>
              </a:spcAft>
            </a:pPr>
            <a:endParaRPr lang="en-IN" sz="1600" i="1" dirty="0">
              <a:solidFill>
                <a:srgbClr val="273239"/>
              </a:solidFill>
              <a:latin typeface="Nunito" pitchFamily="2" charset="0"/>
            </a:endParaRPr>
          </a:p>
          <a:p>
            <a:pPr algn="l" rtl="0" fontAlgn="base">
              <a:spcAft>
                <a:spcPts val="750"/>
              </a:spcAft>
            </a:pPr>
            <a:endParaRPr lang="en-IN" sz="1600" b="0" i="1" dirty="0">
              <a:solidFill>
                <a:srgbClr val="273239"/>
              </a:solidFill>
              <a:effectLst/>
              <a:latin typeface="Nunito" pitchFamily="2" charset="0"/>
            </a:endParaRPr>
          </a:p>
          <a:p>
            <a:br>
              <a:rPr lang="en-IN" sz="1400" dirty="0"/>
            </a:br>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27E8F384-5018-9F8A-1A6E-EC8F4D743EDB}"/>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A51FD9FB-3C67-0D4E-37C8-AFE1054ABB23}"/>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AC60279F-3F1A-566B-BE0C-BD106B1C6A50}"/>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1E69C66F-657F-CE3A-8151-D346D5F6BDE3}"/>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1719FD75-4322-4088-D669-AF5FE72EAD80}"/>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7686F045-F155-3A97-F258-2F047C5FEC17}"/>
              </a:ext>
            </a:extLst>
          </p:cNvPr>
          <p:cNvPicPr/>
          <p:nvPr/>
        </p:nvPicPr>
        <p:blipFill>
          <a:blip r:embed="rId5" cstate="print"/>
          <a:stretch>
            <a:fillRect/>
          </a:stretch>
        </p:blipFill>
        <p:spPr>
          <a:xfrm>
            <a:off x="117763" y="25"/>
            <a:ext cx="2473036" cy="947267"/>
          </a:xfrm>
          <a:prstGeom prst="rect">
            <a:avLst/>
          </a:prstGeom>
        </p:spPr>
      </p:pic>
      <p:pic>
        <p:nvPicPr>
          <p:cNvPr id="13314" name="Picture 2" descr="step4drawio">
            <a:extLst>
              <a:ext uri="{FF2B5EF4-FFF2-40B4-BE49-F238E27FC236}">
                <a16:creationId xmlns:a16="http://schemas.microsoft.com/office/drawing/2014/main" id="{CB67C245-AA3C-6B82-6203-8553A14AF4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1735" y="2830236"/>
            <a:ext cx="6867525" cy="3352800"/>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5CB3FA12-B898-4EDB-8B5F-2AE9F8C23362}"/>
              </a:ext>
            </a:extLst>
          </p:cNvPr>
          <p:cNvSpPr>
            <a:spLocks noGrp="1"/>
          </p:cNvSpPr>
          <p:nvPr>
            <p:ph type="dt" sz="half" idx="6"/>
          </p:nvPr>
        </p:nvSpPr>
        <p:spPr/>
        <p:txBody>
          <a:bodyPr/>
          <a:lstStyle/>
          <a:p>
            <a:pPr marL="12700">
              <a:lnSpc>
                <a:spcPts val="1240"/>
              </a:lnSpc>
            </a:pPr>
            <a:fld id="{7E10AB55-3B39-4237-AA19-F0C7740F7348}" type="datetime1">
              <a:rPr lang="en-US" spc="-25" smtClean="0"/>
              <a:t>7/8/2026</a:t>
            </a:fld>
            <a:endParaRPr lang="en-IN" spc="-25" dirty="0"/>
          </a:p>
        </p:txBody>
      </p:sp>
      <p:sp>
        <p:nvSpPr>
          <p:cNvPr id="10" name="Footer Placeholder 9">
            <a:extLst>
              <a:ext uri="{FF2B5EF4-FFF2-40B4-BE49-F238E27FC236}">
                <a16:creationId xmlns:a16="http://schemas.microsoft.com/office/drawing/2014/main" id="{3CE48336-B2A3-4B43-A682-6AA7DA7A17EA}"/>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0490596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BAB388-04F6-08EF-055B-EB5ED93921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28CE1FE-601C-35C2-F710-183FA34EBD88}"/>
              </a:ext>
            </a:extLst>
          </p:cNvPr>
          <p:cNvSpPr txBox="1">
            <a:spLocks noGrp="1"/>
          </p:cNvSpPr>
          <p:nvPr>
            <p:ph type="body" idx="1"/>
          </p:nvPr>
        </p:nvSpPr>
        <p:spPr>
          <a:xfrm>
            <a:off x="866152" y="1207348"/>
            <a:ext cx="11429999" cy="3192541"/>
          </a:xfrm>
          <a:prstGeom prst="rect">
            <a:avLst/>
          </a:prstGeom>
        </p:spPr>
        <p:txBody>
          <a:bodyPr vert="horz" wrap="square" lIns="0" tIns="12065" rIns="0" bIns="0" rtlCol="0">
            <a:spAutoFit/>
          </a:bodyPr>
          <a:lstStyle/>
          <a:p>
            <a:pPr algn="l" rtl="0" fontAlgn="base">
              <a:spcAft>
                <a:spcPts val="750"/>
              </a:spcAft>
            </a:pPr>
            <a:r>
              <a:rPr lang="en-IN" b="1" u="sng" dirty="0">
                <a:solidFill>
                  <a:srgbClr val="273239"/>
                </a:solidFill>
                <a:effectLst/>
                <a:latin typeface="Times New Roman" panose="02020603050405020304" pitchFamily="18" charset="0"/>
                <a:cs typeface="Times New Roman" panose="02020603050405020304" pitchFamily="18" charset="0"/>
              </a:rPr>
              <a:t>Step 5</a:t>
            </a:r>
            <a:r>
              <a:rPr lang="en-IN" b="0" dirty="0">
                <a:solidFill>
                  <a:srgbClr val="273239"/>
                </a:solidFill>
                <a:effectLst/>
                <a:latin typeface="Times New Roman" panose="02020603050405020304" pitchFamily="18" charset="0"/>
                <a:cs typeface="Times New Roman" panose="02020603050405020304" pitchFamily="18" charset="0"/>
              </a:rPr>
              <a:t>: Treat node </a:t>
            </a:r>
            <a:r>
              <a:rPr lang="en-IN" b="1" dirty="0">
                <a:solidFill>
                  <a:srgbClr val="273239"/>
                </a:solidFill>
                <a:effectLst/>
                <a:latin typeface="Times New Roman" panose="02020603050405020304" pitchFamily="18" charset="0"/>
                <a:cs typeface="Times New Roman" panose="02020603050405020304" pitchFamily="18" charset="0"/>
              </a:rPr>
              <a:t>D </a:t>
            </a:r>
            <a:r>
              <a:rPr lang="en-IN" b="0" dirty="0">
                <a:solidFill>
                  <a:srgbClr val="273239"/>
                </a:solidFill>
                <a:effectLst/>
                <a:latin typeface="Times New Roman" panose="02020603050405020304" pitchFamily="18" charset="0"/>
                <a:cs typeface="Times New Roman" panose="02020603050405020304" pitchFamily="18" charset="0"/>
              </a:rPr>
              <a:t>as an intermediate node and calculate the Distance[][] for every {</a:t>
            </a:r>
            <a:r>
              <a:rPr lang="en-IN" b="0" dirty="0" err="1">
                <a:solidFill>
                  <a:srgbClr val="273239"/>
                </a:solidFill>
                <a:effectLst/>
                <a:latin typeface="Times New Roman" panose="02020603050405020304" pitchFamily="18" charset="0"/>
                <a:cs typeface="Times New Roman" panose="02020603050405020304" pitchFamily="18" charset="0"/>
              </a:rPr>
              <a:t>i,j</a:t>
            </a:r>
            <a:r>
              <a:rPr lang="en-IN" b="0" dirty="0">
                <a:solidFill>
                  <a:srgbClr val="273239"/>
                </a:solidFill>
                <a:effectLst/>
                <a:latin typeface="Times New Roman" panose="02020603050405020304" pitchFamily="18" charset="0"/>
                <a:cs typeface="Times New Roman" panose="02020603050405020304" pitchFamily="18" charset="0"/>
              </a:rPr>
              <a:t>} node pair using the formula:</a:t>
            </a:r>
          </a:p>
          <a:p>
            <a:pPr algn="l" rtl="0" fontAlgn="base">
              <a:spcAft>
                <a:spcPts val="750"/>
              </a:spcAft>
            </a:pP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 from </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 to</a:t>
            </a:r>
            <a:r>
              <a:rPr lang="en-IN" b="1" dirty="0">
                <a:solidFill>
                  <a:srgbClr val="273239"/>
                </a:solidFill>
                <a:effectLst/>
                <a:latin typeface="Times New Roman" panose="02020603050405020304" pitchFamily="18" charset="0"/>
                <a:cs typeface="Times New Roman" panose="02020603050405020304" pitchFamily="18" charset="0"/>
              </a:rPr>
              <a:t> D</a:t>
            </a:r>
            <a:r>
              <a:rPr lang="en-IN" b="0" dirty="0">
                <a:solidFill>
                  <a:srgbClr val="273239"/>
                </a:solidFill>
                <a:effectLst/>
                <a:latin typeface="Times New Roman" panose="02020603050405020304" pitchFamily="18" charset="0"/>
                <a:cs typeface="Times New Roman" panose="02020603050405020304" pitchFamily="18" charset="0"/>
              </a:rPr>
              <a:t>) + (Distance from </a:t>
            </a:r>
            <a:r>
              <a:rPr lang="en-IN" b="1" dirty="0">
                <a:solidFill>
                  <a:srgbClr val="273239"/>
                </a:solidFill>
                <a:effectLst/>
                <a:latin typeface="Times New Roman" panose="02020603050405020304" pitchFamily="18" charset="0"/>
                <a:cs typeface="Times New Roman" panose="02020603050405020304" pitchFamily="18" charset="0"/>
              </a:rPr>
              <a:t>D </a:t>
            </a:r>
            <a:r>
              <a:rPr lang="en-IN" b="0" dirty="0">
                <a:solidFill>
                  <a:srgbClr val="273239"/>
                </a:solidFill>
                <a:effectLst/>
                <a:latin typeface="Times New Roman" panose="02020603050405020304" pitchFamily="18" charset="0"/>
                <a:cs typeface="Times New Roman" panose="02020603050405020304" pitchFamily="18" charset="0"/>
              </a:rPr>
              <a:t>to j ))</a:t>
            </a:r>
            <a:br>
              <a:rPr lang="en-IN" b="0" dirty="0">
                <a:solidFill>
                  <a:srgbClr val="273239"/>
                </a:solidFill>
                <a:effectLst/>
                <a:latin typeface="Times New Roman" panose="02020603050405020304" pitchFamily="18" charset="0"/>
                <a:cs typeface="Times New Roman" panose="02020603050405020304" pitchFamily="18" charset="0"/>
              </a:rPr>
            </a:b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a:t>
            </a:r>
            <a:r>
              <a:rPr lang="en-IN" b="1" dirty="0">
                <a:solidFill>
                  <a:srgbClr val="273239"/>
                </a:solidFill>
                <a:effectLst/>
                <a:latin typeface="Times New Roman" panose="02020603050405020304" pitchFamily="18" charset="0"/>
                <a:cs typeface="Times New Roman" panose="02020603050405020304" pitchFamily="18" charset="0"/>
              </a:rPr>
              <a:t>D</a:t>
            </a:r>
            <a:r>
              <a:rPr lang="en-IN" b="0" dirty="0">
                <a:solidFill>
                  <a:srgbClr val="273239"/>
                </a:solidFill>
                <a:effectLst/>
                <a:latin typeface="Times New Roman" panose="02020603050405020304" pitchFamily="18" charset="0"/>
                <a:cs typeface="Times New Roman" panose="02020603050405020304" pitchFamily="18" charset="0"/>
              </a:rPr>
              <a:t>] + Distance[</a:t>
            </a:r>
            <a:r>
              <a:rPr lang="en-IN" b="1" dirty="0">
                <a:solidFill>
                  <a:srgbClr val="273239"/>
                </a:solidFill>
                <a:effectLst/>
                <a:latin typeface="Times New Roman" panose="02020603050405020304" pitchFamily="18" charset="0"/>
                <a:cs typeface="Times New Roman" panose="02020603050405020304" pitchFamily="18" charset="0"/>
              </a:rPr>
              <a:t>D</a:t>
            </a:r>
            <a:r>
              <a:rPr lang="en-IN" b="0" dirty="0">
                <a:solidFill>
                  <a:srgbClr val="273239"/>
                </a:solidFill>
                <a:effectLst/>
                <a:latin typeface="Times New Roman" panose="02020603050405020304" pitchFamily="18" charset="0"/>
                <a:cs typeface="Times New Roman" panose="02020603050405020304" pitchFamily="18" charset="0"/>
              </a:rPr>
              <a:t>][j])</a:t>
            </a:r>
          </a:p>
          <a:p>
            <a:pPr algn="l" rtl="0" fontAlgn="base">
              <a:spcAft>
                <a:spcPts val="750"/>
              </a:spcAft>
            </a:pPr>
            <a:endParaRPr lang="en-IN" sz="1600" i="1" dirty="0">
              <a:solidFill>
                <a:srgbClr val="273239"/>
              </a:solidFill>
              <a:latin typeface="Nunito" pitchFamily="2" charset="0"/>
            </a:endParaRPr>
          </a:p>
          <a:p>
            <a:pPr algn="l" rtl="0" fontAlgn="base">
              <a:spcAft>
                <a:spcPts val="750"/>
              </a:spcAft>
            </a:pPr>
            <a:endParaRPr lang="en-IN" sz="1600" b="0" i="1" dirty="0">
              <a:solidFill>
                <a:srgbClr val="273239"/>
              </a:solidFill>
              <a:effectLst/>
              <a:latin typeface="Nunito" pitchFamily="2" charset="0"/>
            </a:endParaRPr>
          </a:p>
          <a:p>
            <a:br>
              <a:rPr lang="en-IN" sz="1400" dirty="0"/>
            </a:br>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705D7061-B311-7C78-ECBF-263AAFFBF28C}"/>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7E90601C-F50C-28FE-071B-55E0329BF7FC}"/>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84BF31FD-A12C-8A1E-391D-92AA97E7955E}"/>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082F3990-6D44-1224-0B08-BE4A38670EA4}"/>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D21746F7-2EAF-49A0-7F19-5F6187CCF05C}"/>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0E76BFF9-3C79-8F62-D04B-7CAB01E68B80}"/>
              </a:ext>
            </a:extLst>
          </p:cNvPr>
          <p:cNvPicPr/>
          <p:nvPr/>
        </p:nvPicPr>
        <p:blipFill>
          <a:blip r:embed="rId5" cstate="print"/>
          <a:stretch>
            <a:fillRect/>
          </a:stretch>
        </p:blipFill>
        <p:spPr>
          <a:xfrm>
            <a:off x="117763" y="25"/>
            <a:ext cx="2473036" cy="947267"/>
          </a:xfrm>
          <a:prstGeom prst="rect">
            <a:avLst/>
          </a:prstGeom>
        </p:spPr>
      </p:pic>
      <p:pic>
        <p:nvPicPr>
          <p:cNvPr id="15362" name="Picture 2" descr="Lightbox">
            <a:extLst>
              <a:ext uri="{FF2B5EF4-FFF2-40B4-BE49-F238E27FC236}">
                <a16:creationId xmlns:a16="http://schemas.microsoft.com/office/drawing/2014/main" id="{328A43EB-F761-AFFB-6D62-08949C8A43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2238" y="2743200"/>
            <a:ext cx="6867525" cy="3657600"/>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B3C6C7CA-37B5-47E9-B0F2-E933243E0DAE}"/>
              </a:ext>
            </a:extLst>
          </p:cNvPr>
          <p:cNvSpPr>
            <a:spLocks noGrp="1"/>
          </p:cNvSpPr>
          <p:nvPr>
            <p:ph type="dt" sz="half" idx="6"/>
          </p:nvPr>
        </p:nvSpPr>
        <p:spPr/>
        <p:txBody>
          <a:bodyPr/>
          <a:lstStyle/>
          <a:p>
            <a:pPr marL="12700">
              <a:lnSpc>
                <a:spcPts val="1240"/>
              </a:lnSpc>
            </a:pPr>
            <a:fld id="{78FA9132-F6F1-46F9-8FF2-6833E7E57611}" type="datetime1">
              <a:rPr lang="en-US" spc="-25" smtClean="0"/>
              <a:t>7/8/2026</a:t>
            </a:fld>
            <a:endParaRPr lang="en-IN" spc="-25" dirty="0"/>
          </a:p>
        </p:txBody>
      </p:sp>
      <p:sp>
        <p:nvSpPr>
          <p:cNvPr id="10" name="Footer Placeholder 9">
            <a:extLst>
              <a:ext uri="{FF2B5EF4-FFF2-40B4-BE49-F238E27FC236}">
                <a16:creationId xmlns:a16="http://schemas.microsoft.com/office/drawing/2014/main" id="{DB89E4EF-8C7E-4D83-AF15-3D6325D128AB}"/>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44256950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FA4797-3D67-F5D7-6A05-A6D7B1C307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9FDD0D-53CD-F94E-F1BC-F7A67E2B956E}"/>
              </a:ext>
            </a:extLst>
          </p:cNvPr>
          <p:cNvSpPr txBox="1">
            <a:spLocks noGrp="1"/>
          </p:cNvSpPr>
          <p:nvPr>
            <p:ph type="body" idx="1"/>
          </p:nvPr>
        </p:nvSpPr>
        <p:spPr>
          <a:xfrm>
            <a:off x="685800" y="1218029"/>
            <a:ext cx="11429999" cy="3192541"/>
          </a:xfrm>
          <a:prstGeom prst="rect">
            <a:avLst/>
          </a:prstGeom>
        </p:spPr>
        <p:txBody>
          <a:bodyPr vert="horz" wrap="square" lIns="0" tIns="12065" rIns="0" bIns="0" rtlCol="0">
            <a:spAutoFit/>
          </a:bodyPr>
          <a:lstStyle/>
          <a:p>
            <a:pPr algn="l" rtl="0" fontAlgn="base">
              <a:spcAft>
                <a:spcPts val="750"/>
              </a:spcAft>
            </a:pPr>
            <a:r>
              <a:rPr lang="en-IN" b="1" u="sng" dirty="0">
                <a:solidFill>
                  <a:srgbClr val="273239"/>
                </a:solidFill>
                <a:effectLst/>
                <a:latin typeface="Times New Roman" panose="02020603050405020304" pitchFamily="18" charset="0"/>
                <a:cs typeface="Times New Roman" panose="02020603050405020304" pitchFamily="18" charset="0"/>
              </a:rPr>
              <a:t>Step 6</a:t>
            </a:r>
            <a:r>
              <a:rPr lang="en-IN" b="0" dirty="0">
                <a:solidFill>
                  <a:srgbClr val="273239"/>
                </a:solidFill>
                <a:effectLst/>
                <a:latin typeface="Times New Roman" panose="02020603050405020304" pitchFamily="18" charset="0"/>
                <a:cs typeface="Times New Roman" panose="02020603050405020304" pitchFamily="18" charset="0"/>
              </a:rPr>
              <a:t>: Treat node </a:t>
            </a:r>
            <a:r>
              <a:rPr lang="en-IN" b="1" dirty="0">
                <a:solidFill>
                  <a:srgbClr val="273239"/>
                </a:solidFill>
                <a:effectLst/>
                <a:latin typeface="Times New Roman" panose="02020603050405020304" pitchFamily="18" charset="0"/>
                <a:cs typeface="Times New Roman" panose="02020603050405020304" pitchFamily="18" charset="0"/>
              </a:rPr>
              <a:t>E </a:t>
            </a:r>
            <a:r>
              <a:rPr lang="en-IN" b="0" dirty="0">
                <a:solidFill>
                  <a:srgbClr val="273239"/>
                </a:solidFill>
                <a:effectLst/>
                <a:latin typeface="Times New Roman" panose="02020603050405020304" pitchFamily="18" charset="0"/>
                <a:cs typeface="Times New Roman" panose="02020603050405020304" pitchFamily="18" charset="0"/>
              </a:rPr>
              <a:t>as an intermediate node and calculate the Distance[][] for every {</a:t>
            </a:r>
            <a:r>
              <a:rPr lang="en-IN" b="0" dirty="0" err="1">
                <a:solidFill>
                  <a:srgbClr val="273239"/>
                </a:solidFill>
                <a:effectLst/>
                <a:latin typeface="Times New Roman" panose="02020603050405020304" pitchFamily="18" charset="0"/>
                <a:cs typeface="Times New Roman" panose="02020603050405020304" pitchFamily="18" charset="0"/>
              </a:rPr>
              <a:t>i,j</a:t>
            </a:r>
            <a:r>
              <a:rPr lang="en-IN" b="0" dirty="0">
                <a:solidFill>
                  <a:srgbClr val="273239"/>
                </a:solidFill>
                <a:effectLst/>
                <a:latin typeface="Times New Roman" panose="02020603050405020304" pitchFamily="18" charset="0"/>
                <a:cs typeface="Times New Roman" panose="02020603050405020304" pitchFamily="18" charset="0"/>
              </a:rPr>
              <a:t>} node pair using the formula:</a:t>
            </a:r>
          </a:p>
          <a:p>
            <a:pPr algn="l" rtl="0" fontAlgn="base">
              <a:spcAft>
                <a:spcPts val="750"/>
              </a:spcAft>
            </a:pP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 from </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 to </a:t>
            </a:r>
            <a:r>
              <a:rPr lang="en-IN" b="1" dirty="0">
                <a:solidFill>
                  <a:srgbClr val="273239"/>
                </a:solidFill>
                <a:effectLst/>
                <a:latin typeface="Times New Roman" panose="02020603050405020304" pitchFamily="18" charset="0"/>
                <a:cs typeface="Times New Roman" panose="02020603050405020304" pitchFamily="18" charset="0"/>
              </a:rPr>
              <a:t>E</a:t>
            </a:r>
            <a:r>
              <a:rPr lang="en-IN" b="0" dirty="0">
                <a:solidFill>
                  <a:srgbClr val="273239"/>
                </a:solidFill>
                <a:effectLst/>
                <a:latin typeface="Times New Roman" panose="02020603050405020304" pitchFamily="18" charset="0"/>
                <a:cs typeface="Times New Roman" panose="02020603050405020304" pitchFamily="18" charset="0"/>
              </a:rPr>
              <a:t>) + (Distance from </a:t>
            </a:r>
            <a:r>
              <a:rPr lang="en-IN" b="1" dirty="0">
                <a:solidFill>
                  <a:srgbClr val="273239"/>
                </a:solidFill>
                <a:effectLst/>
                <a:latin typeface="Times New Roman" panose="02020603050405020304" pitchFamily="18" charset="0"/>
                <a:cs typeface="Times New Roman" panose="02020603050405020304" pitchFamily="18" charset="0"/>
              </a:rPr>
              <a:t>E</a:t>
            </a:r>
            <a:r>
              <a:rPr lang="en-IN" b="0" dirty="0">
                <a:solidFill>
                  <a:srgbClr val="273239"/>
                </a:solidFill>
                <a:effectLst/>
                <a:latin typeface="Times New Roman" panose="02020603050405020304" pitchFamily="18" charset="0"/>
                <a:cs typeface="Times New Roman" panose="02020603050405020304" pitchFamily="18" charset="0"/>
              </a:rPr>
              <a:t> to j ))</a:t>
            </a:r>
            <a:br>
              <a:rPr lang="en-IN" b="0" dirty="0">
                <a:solidFill>
                  <a:srgbClr val="273239"/>
                </a:solidFill>
                <a:effectLst/>
                <a:latin typeface="Times New Roman" panose="02020603050405020304" pitchFamily="18" charset="0"/>
                <a:cs typeface="Times New Roman" panose="02020603050405020304" pitchFamily="18" charset="0"/>
              </a:rPr>
            </a:br>
            <a:r>
              <a:rPr lang="en-IN" b="0" dirty="0">
                <a:solidFill>
                  <a:srgbClr val="273239"/>
                </a:solidFill>
                <a:effectLst/>
                <a:latin typeface="Times New Roman" panose="02020603050405020304" pitchFamily="18" charset="0"/>
                <a:cs typeface="Times New Roman" panose="02020603050405020304" pitchFamily="18" charset="0"/>
              </a:rPr>
              <a:t>=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 minimum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][j], Distance[</a:t>
            </a:r>
            <a:r>
              <a:rPr lang="en-IN" b="0" dirty="0" err="1">
                <a:solidFill>
                  <a:srgbClr val="273239"/>
                </a:solidFill>
                <a:effectLst/>
                <a:latin typeface="Times New Roman" panose="02020603050405020304" pitchFamily="18" charset="0"/>
                <a:cs typeface="Times New Roman" panose="02020603050405020304" pitchFamily="18" charset="0"/>
              </a:rPr>
              <a:t>i</a:t>
            </a:r>
            <a:r>
              <a:rPr lang="en-IN" b="0" dirty="0">
                <a:solidFill>
                  <a:srgbClr val="273239"/>
                </a:solidFill>
                <a:effectLst/>
                <a:latin typeface="Times New Roman" panose="02020603050405020304" pitchFamily="18" charset="0"/>
                <a:cs typeface="Times New Roman" panose="02020603050405020304" pitchFamily="18" charset="0"/>
              </a:rPr>
              <a:t>][</a:t>
            </a:r>
            <a:r>
              <a:rPr lang="en-IN" b="1" dirty="0">
                <a:solidFill>
                  <a:srgbClr val="273239"/>
                </a:solidFill>
                <a:effectLst/>
                <a:latin typeface="Times New Roman" panose="02020603050405020304" pitchFamily="18" charset="0"/>
                <a:cs typeface="Times New Roman" panose="02020603050405020304" pitchFamily="18" charset="0"/>
              </a:rPr>
              <a:t>E</a:t>
            </a:r>
            <a:r>
              <a:rPr lang="en-IN" b="0" dirty="0">
                <a:solidFill>
                  <a:srgbClr val="273239"/>
                </a:solidFill>
                <a:effectLst/>
                <a:latin typeface="Times New Roman" panose="02020603050405020304" pitchFamily="18" charset="0"/>
                <a:cs typeface="Times New Roman" panose="02020603050405020304" pitchFamily="18" charset="0"/>
              </a:rPr>
              <a:t>] + Distance[</a:t>
            </a:r>
            <a:r>
              <a:rPr lang="en-IN" b="1" dirty="0">
                <a:solidFill>
                  <a:srgbClr val="273239"/>
                </a:solidFill>
                <a:effectLst/>
                <a:latin typeface="Times New Roman" panose="02020603050405020304" pitchFamily="18" charset="0"/>
                <a:cs typeface="Times New Roman" panose="02020603050405020304" pitchFamily="18" charset="0"/>
              </a:rPr>
              <a:t>E</a:t>
            </a:r>
            <a:r>
              <a:rPr lang="en-IN" b="0" dirty="0">
                <a:solidFill>
                  <a:srgbClr val="273239"/>
                </a:solidFill>
                <a:effectLst/>
                <a:latin typeface="Times New Roman" panose="02020603050405020304" pitchFamily="18" charset="0"/>
                <a:cs typeface="Times New Roman" panose="02020603050405020304" pitchFamily="18" charset="0"/>
              </a:rPr>
              <a:t>][j])</a:t>
            </a:r>
          </a:p>
          <a:p>
            <a:pPr algn="l" rtl="0" fontAlgn="base">
              <a:spcAft>
                <a:spcPts val="750"/>
              </a:spcAft>
            </a:pPr>
            <a:endParaRPr lang="en-IN" sz="1600" i="1" dirty="0">
              <a:solidFill>
                <a:srgbClr val="273239"/>
              </a:solidFill>
              <a:latin typeface="Nunito" pitchFamily="2" charset="0"/>
            </a:endParaRPr>
          </a:p>
          <a:p>
            <a:pPr algn="l" rtl="0" fontAlgn="base">
              <a:spcAft>
                <a:spcPts val="750"/>
              </a:spcAft>
            </a:pPr>
            <a:endParaRPr lang="en-IN" sz="1600" b="0" i="1" dirty="0">
              <a:solidFill>
                <a:srgbClr val="273239"/>
              </a:solidFill>
              <a:effectLst/>
              <a:latin typeface="Nunito" pitchFamily="2" charset="0"/>
            </a:endParaRPr>
          </a:p>
          <a:p>
            <a:br>
              <a:rPr lang="en-IN" sz="1400" dirty="0"/>
            </a:br>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F500896F-31DA-F056-3016-343B48E80B24}"/>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8CD324F8-9810-061B-C71E-299E3926E29E}"/>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048AE420-E320-2063-E4F6-85D6304528C7}"/>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01AD8877-96CE-7A40-B7E2-A0117D0819CD}"/>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46F9CAC6-E34C-8BCE-CE3A-BC725BA28638}"/>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EAE50F0C-FE90-6EC0-BF41-4A6A82443E62}"/>
              </a:ext>
            </a:extLst>
          </p:cNvPr>
          <p:cNvPicPr/>
          <p:nvPr/>
        </p:nvPicPr>
        <p:blipFill>
          <a:blip r:embed="rId5" cstate="print"/>
          <a:stretch>
            <a:fillRect/>
          </a:stretch>
        </p:blipFill>
        <p:spPr>
          <a:xfrm>
            <a:off x="117763" y="25"/>
            <a:ext cx="2473036" cy="947267"/>
          </a:xfrm>
          <a:prstGeom prst="rect">
            <a:avLst/>
          </a:prstGeom>
        </p:spPr>
      </p:pic>
      <p:pic>
        <p:nvPicPr>
          <p:cNvPr id="16386" name="Picture 2" descr="Lightbox">
            <a:extLst>
              <a:ext uri="{FF2B5EF4-FFF2-40B4-BE49-F238E27FC236}">
                <a16:creationId xmlns:a16="http://schemas.microsoft.com/office/drawing/2014/main" id="{05F86B3E-DD11-4A44-549F-C541F331C2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2814299"/>
            <a:ext cx="6867525" cy="3505200"/>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9F894804-1C31-449B-A8F1-2F42FB64DEB1}"/>
              </a:ext>
            </a:extLst>
          </p:cNvPr>
          <p:cNvSpPr>
            <a:spLocks noGrp="1"/>
          </p:cNvSpPr>
          <p:nvPr>
            <p:ph type="dt" sz="half" idx="6"/>
          </p:nvPr>
        </p:nvSpPr>
        <p:spPr/>
        <p:txBody>
          <a:bodyPr/>
          <a:lstStyle/>
          <a:p>
            <a:pPr marL="12700">
              <a:lnSpc>
                <a:spcPts val="1240"/>
              </a:lnSpc>
            </a:pPr>
            <a:fld id="{C1F850DE-6307-46E7-8453-842101ED6D9B}" type="datetime1">
              <a:rPr lang="en-US" spc="-25" smtClean="0"/>
              <a:t>7/8/2026</a:t>
            </a:fld>
            <a:endParaRPr lang="en-IN" spc="-25" dirty="0"/>
          </a:p>
        </p:txBody>
      </p:sp>
      <p:sp>
        <p:nvSpPr>
          <p:cNvPr id="10" name="Footer Placeholder 9">
            <a:extLst>
              <a:ext uri="{FF2B5EF4-FFF2-40B4-BE49-F238E27FC236}">
                <a16:creationId xmlns:a16="http://schemas.microsoft.com/office/drawing/2014/main" id="{05565819-DF9F-4FE5-9F7D-1F4D2BC0160E}"/>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3710042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DEA6BB1-C5F2-D872-D77E-591EE0A295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1C6C2A-084D-048A-DD7D-E5D1720A7C2E}"/>
              </a:ext>
            </a:extLst>
          </p:cNvPr>
          <p:cNvSpPr txBox="1">
            <a:spLocks noGrp="1"/>
          </p:cNvSpPr>
          <p:nvPr>
            <p:ph type="body" idx="1"/>
          </p:nvPr>
        </p:nvSpPr>
        <p:spPr>
          <a:xfrm>
            <a:off x="685800" y="1233966"/>
            <a:ext cx="11201399" cy="2064027"/>
          </a:xfrm>
          <a:prstGeom prst="rect">
            <a:avLst/>
          </a:prstGeom>
        </p:spPr>
        <p:txBody>
          <a:bodyPr vert="horz" wrap="square" lIns="0" tIns="12065" rIns="0" bIns="0" rtlCol="0">
            <a:spAutoFit/>
          </a:bodyPr>
          <a:lstStyle/>
          <a:p>
            <a:pPr algn="l" rtl="0" fontAlgn="base">
              <a:spcAft>
                <a:spcPts val="750"/>
              </a:spcAft>
            </a:pPr>
            <a:r>
              <a:rPr lang="en-US" b="1" u="sng" dirty="0">
                <a:solidFill>
                  <a:srgbClr val="273239"/>
                </a:solidFill>
                <a:effectLst/>
                <a:latin typeface="Times New Roman" panose="02020603050405020304" pitchFamily="18" charset="0"/>
                <a:cs typeface="Times New Roman" panose="02020603050405020304" pitchFamily="18" charset="0"/>
              </a:rPr>
              <a:t>Step 7</a:t>
            </a:r>
            <a:r>
              <a:rPr lang="en-US" b="0" dirty="0">
                <a:solidFill>
                  <a:srgbClr val="273239"/>
                </a:solidFill>
                <a:effectLst/>
                <a:latin typeface="Times New Roman" panose="02020603050405020304" pitchFamily="18" charset="0"/>
                <a:cs typeface="Times New Roman" panose="02020603050405020304" pitchFamily="18" charset="0"/>
              </a:rPr>
              <a:t>: Since all the nodes have been treated as an intermediate node, we can now return the updated Distance[][] matrix as our answer matrix.</a:t>
            </a:r>
            <a:endParaRPr lang="en-IN" dirty="0">
              <a:solidFill>
                <a:srgbClr val="273239"/>
              </a:solidFill>
              <a:latin typeface="Times New Roman" panose="02020603050405020304" pitchFamily="18" charset="0"/>
              <a:cs typeface="Times New Roman" panose="02020603050405020304" pitchFamily="18" charset="0"/>
            </a:endParaRPr>
          </a:p>
          <a:p>
            <a:pPr algn="l" rtl="0" fontAlgn="base">
              <a:spcAft>
                <a:spcPts val="750"/>
              </a:spcAft>
            </a:pPr>
            <a:endParaRPr lang="en-IN" sz="1600" b="0" i="1" dirty="0">
              <a:solidFill>
                <a:srgbClr val="273239"/>
              </a:solidFill>
              <a:effectLst/>
              <a:latin typeface="Nunito" pitchFamily="2" charset="0"/>
            </a:endParaRPr>
          </a:p>
          <a:p>
            <a:br>
              <a:rPr lang="en-IN" sz="1400" dirty="0"/>
            </a:br>
            <a:br>
              <a:rPr lang="en-US" sz="1200" dirty="0"/>
            </a:br>
            <a:endParaRPr lang="en-US" sz="2000" b="0" i="0" dirty="0">
              <a:effectLst/>
              <a:latin typeface="Arimo"/>
            </a:endParaRPr>
          </a:p>
          <a:p>
            <a:pPr algn="just"/>
            <a:r>
              <a:rPr lang="en-US" sz="1400" dirty="0"/>
              <a:t>.</a:t>
            </a:r>
          </a:p>
        </p:txBody>
      </p:sp>
      <p:grpSp>
        <p:nvGrpSpPr>
          <p:cNvPr id="3" name="object 3">
            <a:extLst>
              <a:ext uri="{FF2B5EF4-FFF2-40B4-BE49-F238E27FC236}">
                <a16:creationId xmlns:a16="http://schemas.microsoft.com/office/drawing/2014/main" id="{C7EA8378-737B-D530-97EA-7616BCD48FE6}"/>
              </a:ext>
            </a:extLst>
          </p:cNvPr>
          <p:cNvGrpSpPr/>
          <p:nvPr/>
        </p:nvGrpSpPr>
        <p:grpSpPr>
          <a:xfrm>
            <a:off x="2871735" y="135341"/>
            <a:ext cx="9334500" cy="963930"/>
            <a:chOff x="2857498" y="0"/>
            <a:chExt cx="9334500" cy="963930"/>
          </a:xfrm>
        </p:grpSpPr>
        <p:pic>
          <p:nvPicPr>
            <p:cNvPr id="4" name="object 4">
              <a:extLst>
                <a:ext uri="{FF2B5EF4-FFF2-40B4-BE49-F238E27FC236}">
                  <a16:creationId xmlns:a16="http://schemas.microsoft.com/office/drawing/2014/main" id="{2BF662B8-2593-4997-236C-1A83E0554273}"/>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74C0B12B-72A1-0A6F-AE89-D370FE8364F3}"/>
                </a:ext>
              </a:extLst>
            </p:cNvPr>
            <p:cNvPicPr/>
            <p:nvPr/>
          </p:nvPicPr>
          <p:blipFill>
            <a:blip r:embed="rId3" cstate="print"/>
            <a:stretch>
              <a:fillRect/>
            </a:stretch>
          </p:blipFill>
          <p:spPr>
            <a:xfrm>
              <a:off x="6566915" y="111252"/>
              <a:ext cx="2028444" cy="827532"/>
            </a:xfrm>
            <a:prstGeom prst="rect">
              <a:avLst/>
            </a:prstGeom>
          </p:spPr>
        </p:pic>
        <p:pic>
          <p:nvPicPr>
            <p:cNvPr id="6" name="object 6">
              <a:extLst>
                <a:ext uri="{FF2B5EF4-FFF2-40B4-BE49-F238E27FC236}">
                  <a16:creationId xmlns:a16="http://schemas.microsoft.com/office/drawing/2014/main" id="{736D150F-9FA4-4FD5-242A-7DCBA8DFD0F8}"/>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E05DB1CF-F456-42D0-946E-ACF429348EEC}"/>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lang="en-IN" sz="2800" b="1" dirty="0">
                <a:effectLst/>
                <a:latin typeface="Calibri" panose="020F0502020204030204" pitchFamily="34" charset="0"/>
                <a:ea typeface="Times New Roman" panose="02020603050405020304" pitchFamily="18" charset="0"/>
              </a:rPr>
              <a:t>Floyd Warshall’s Algorithm.</a:t>
            </a:r>
            <a:endParaRPr sz="2800" b="1" dirty="0">
              <a:latin typeface="Calibri"/>
              <a:cs typeface="Calibri"/>
            </a:endParaRPr>
          </a:p>
        </p:txBody>
      </p:sp>
      <p:pic>
        <p:nvPicPr>
          <p:cNvPr id="8" name="object 8">
            <a:extLst>
              <a:ext uri="{FF2B5EF4-FFF2-40B4-BE49-F238E27FC236}">
                <a16:creationId xmlns:a16="http://schemas.microsoft.com/office/drawing/2014/main" id="{43D5678C-E2F4-17C1-4A05-E93650D21FA9}"/>
              </a:ext>
            </a:extLst>
          </p:cNvPr>
          <p:cNvPicPr/>
          <p:nvPr/>
        </p:nvPicPr>
        <p:blipFill>
          <a:blip r:embed="rId5" cstate="print"/>
          <a:stretch>
            <a:fillRect/>
          </a:stretch>
        </p:blipFill>
        <p:spPr>
          <a:xfrm>
            <a:off x="117763" y="25"/>
            <a:ext cx="2473036" cy="947267"/>
          </a:xfrm>
          <a:prstGeom prst="rect">
            <a:avLst/>
          </a:prstGeom>
        </p:spPr>
      </p:pic>
      <p:pic>
        <p:nvPicPr>
          <p:cNvPr id="17410" name="Picture 2" descr="Lightbox">
            <a:extLst>
              <a:ext uri="{FF2B5EF4-FFF2-40B4-BE49-F238E27FC236}">
                <a16:creationId xmlns:a16="http://schemas.microsoft.com/office/drawing/2014/main" id="{F7453DE7-000D-ABC9-068E-728EA5477E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9436" y="2221061"/>
            <a:ext cx="6105525" cy="3581400"/>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32A45593-7C19-4BC8-B08D-992CCD59CECE}"/>
              </a:ext>
            </a:extLst>
          </p:cNvPr>
          <p:cNvSpPr>
            <a:spLocks noGrp="1"/>
          </p:cNvSpPr>
          <p:nvPr>
            <p:ph type="dt" sz="half" idx="6"/>
          </p:nvPr>
        </p:nvSpPr>
        <p:spPr/>
        <p:txBody>
          <a:bodyPr/>
          <a:lstStyle/>
          <a:p>
            <a:pPr marL="12700">
              <a:lnSpc>
                <a:spcPts val="1240"/>
              </a:lnSpc>
            </a:pPr>
            <a:fld id="{73B28E36-30EE-4EC0-AD90-7F5774F800ED}" type="datetime1">
              <a:rPr lang="en-US" spc="-25" smtClean="0"/>
              <a:t>7/8/2026</a:t>
            </a:fld>
            <a:endParaRPr lang="en-IN" spc="-25" dirty="0"/>
          </a:p>
        </p:txBody>
      </p:sp>
      <p:sp>
        <p:nvSpPr>
          <p:cNvPr id="10" name="Footer Placeholder 9">
            <a:extLst>
              <a:ext uri="{FF2B5EF4-FFF2-40B4-BE49-F238E27FC236}">
                <a16:creationId xmlns:a16="http://schemas.microsoft.com/office/drawing/2014/main" id="{9B116D62-D434-4DF0-8A94-A71D44138C5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36006534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057400" y="1142936"/>
            <a:ext cx="8229600" cy="4526280"/>
          </a:xfrm>
          <a:custGeom>
            <a:avLst/>
            <a:gdLst/>
            <a:ahLst/>
            <a:cxnLst/>
            <a:rect l="l" t="t" r="r" b="b"/>
            <a:pathLst>
              <a:path w="8229600" h="4526280">
                <a:moveTo>
                  <a:pt x="0" y="4526026"/>
                </a:moveTo>
                <a:lnTo>
                  <a:pt x="8229600" y="4526026"/>
                </a:lnTo>
                <a:lnTo>
                  <a:pt x="8229600" y="0"/>
                </a:lnTo>
                <a:lnTo>
                  <a:pt x="0" y="0"/>
                </a:lnTo>
                <a:lnTo>
                  <a:pt x="0" y="4526026"/>
                </a:lnTo>
                <a:close/>
              </a:path>
            </a:pathLst>
          </a:custGeom>
          <a:ln w="9524">
            <a:solidFill>
              <a:srgbClr val="000000"/>
            </a:solidFill>
          </a:ln>
        </p:spPr>
        <p:txBody>
          <a:bodyPr wrap="square" lIns="0" tIns="0" rIns="0" bIns="0" rtlCol="0"/>
          <a:lstStyle/>
          <a:p>
            <a:endParaRPr/>
          </a:p>
        </p:txBody>
      </p:sp>
      <p:sp>
        <p:nvSpPr>
          <p:cNvPr id="3" name="object 3"/>
          <p:cNvSpPr txBox="1"/>
          <p:nvPr/>
        </p:nvSpPr>
        <p:spPr>
          <a:xfrm>
            <a:off x="2136394" y="1465296"/>
            <a:ext cx="7345045" cy="2176878"/>
          </a:xfrm>
          <a:prstGeom prst="rect">
            <a:avLst/>
          </a:prstGeom>
        </p:spPr>
        <p:txBody>
          <a:bodyPr vert="horz" wrap="square" lIns="0" tIns="73025" rIns="0" bIns="0" rtlCol="0">
            <a:spAutoFit/>
          </a:bodyPr>
          <a:lstStyle/>
          <a:p>
            <a:pPr marL="354965" indent="-342265">
              <a:lnSpc>
                <a:spcPct val="100000"/>
              </a:lnSpc>
              <a:spcBef>
                <a:spcPts val="575"/>
              </a:spcBef>
              <a:buFont typeface="Arial MT"/>
              <a:buChar char="•"/>
              <a:tabLst>
                <a:tab pos="354965" algn="l"/>
              </a:tabLst>
            </a:pPr>
            <a:r>
              <a:rPr lang="en-IN" sz="2000" u="sng" spc="-20" dirty="0">
                <a:solidFill>
                  <a:srgbClr val="0000FF"/>
                </a:solidFill>
                <a:uFill>
                  <a:solidFill>
                    <a:srgbClr val="0000FF"/>
                  </a:solidFill>
                </a:uFill>
                <a:latin typeface="Calibri"/>
                <a:cs typeface="Calibri"/>
              </a:rPr>
              <a:t>https://youtu.be/59fUtYYz7ZU?si=nmF1URnA52X3eiCS</a:t>
            </a:r>
            <a:endParaRPr sz="2000" dirty="0">
              <a:latin typeface="Calibri"/>
              <a:cs typeface="Calibri"/>
            </a:endParaRPr>
          </a:p>
          <a:p>
            <a:pPr marL="354965" indent="-342265">
              <a:lnSpc>
                <a:spcPct val="100000"/>
              </a:lnSpc>
              <a:spcBef>
                <a:spcPts val="480"/>
              </a:spcBef>
              <a:buClr>
                <a:srgbClr val="000000"/>
              </a:buClr>
              <a:buFont typeface="Arial MT"/>
              <a:buChar char="•"/>
              <a:tabLst>
                <a:tab pos="354965" algn="l"/>
              </a:tabLst>
            </a:pPr>
            <a:r>
              <a:rPr lang="en-IN" sz="2000" u="sng" spc="-10" dirty="0">
                <a:solidFill>
                  <a:srgbClr val="0000FF"/>
                </a:solidFill>
                <a:uFill>
                  <a:solidFill>
                    <a:srgbClr val="0000FF"/>
                  </a:solidFill>
                </a:uFill>
                <a:latin typeface="Calibri"/>
                <a:cs typeface="Calibri"/>
                <a:hlinkClick r:id="rId2"/>
              </a:rPr>
              <a:t>https://youtu.be/TwdjOQMTaQ4?si=6db12akzF2AAYufC</a:t>
            </a:r>
            <a:r>
              <a:rPr sz="2000" u="sng" spc="-10" dirty="0">
                <a:solidFill>
                  <a:srgbClr val="0000FF"/>
                </a:solidFill>
                <a:uFill>
                  <a:solidFill>
                    <a:srgbClr val="0000FF"/>
                  </a:solidFill>
                </a:uFill>
                <a:latin typeface="Calibri"/>
                <a:cs typeface="Calibri"/>
                <a:hlinkClick r:id="rId2"/>
              </a:rPr>
              <a:t>https://www.youtube.com/watch?v=9NJNsWwkg54</a:t>
            </a:r>
            <a:endParaRPr lang="en-US" sz="2000" u="sng" spc="-10" dirty="0">
              <a:solidFill>
                <a:srgbClr val="0000FF"/>
              </a:solidFill>
              <a:uFill>
                <a:solidFill>
                  <a:srgbClr val="0000FF"/>
                </a:solidFill>
              </a:uFill>
              <a:latin typeface="Calibri"/>
              <a:cs typeface="Calibri"/>
            </a:endParaRPr>
          </a:p>
          <a:p>
            <a:pPr marL="354965" indent="-342265">
              <a:lnSpc>
                <a:spcPct val="100000"/>
              </a:lnSpc>
              <a:spcBef>
                <a:spcPts val="480"/>
              </a:spcBef>
              <a:buClr>
                <a:srgbClr val="000000"/>
              </a:buClr>
              <a:buFont typeface="Arial MT"/>
              <a:buChar char="•"/>
              <a:tabLst>
                <a:tab pos="354965" algn="l"/>
              </a:tabLst>
            </a:pPr>
            <a:r>
              <a:rPr lang="en-IN" sz="2000" dirty="0">
                <a:latin typeface="Calibri"/>
                <a:cs typeface="Calibri"/>
                <a:hlinkClick r:id="rId3"/>
              </a:rPr>
              <a:t>https://youtu.be/EaK6aslcC5g?si=GxPmvbDChavAwNtx</a:t>
            </a:r>
            <a:endParaRPr lang="en-IN" sz="2000" u="sng" spc="-10" dirty="0">
              <a:solidFill>
                <a:srgbClr val="0000FF"/>
              </a:solidFill>
              <a:uFill>
                <a:solidFill>
                  <a:srgbClr val="0000FF"/>
                </a:solidFill>
              </a:uFill>
              <a:latin typeface="Calibri"/>
              <a:cs typeface="Calibri"/>
            </a:endParaRPr>
          </a:p>
          <a:p>
            <a:pPr marL="354965" indent="-342265">
              <a:lnSpc>
                <a:spcPct val="100000"/>
              </a:lnSpc>
              <a:spcBef>
                <a:spcPts val="480"/>
              </a:spcBef>
              <a:buClr>
                <a:srgbClr val="000000"/>
              </a:buClr>
              <a:buFont typeface="Arial MT"/>
              <a:buChar char="•"/>
              <a:tabLst>
                <a:tab pos="354965" algn="l"/>
              </a:tabLst>
            </a:pPr>
            <a:r>
              <a:rPr lang="en-IN" sz="2000" dirty="0">
                <a:latin typeface="Calibri"/>
                <a:cs typeface="Calibri"/>
                <a:hlinkClick r:id="rId4"/>
              </a:rPr>
              <a:t>https://onlinecourses.nptel.ac.in/noc25_cs23/course</a:t>
            </a:r>
            <a:endParaRPr lang="en-IN" sz="2000" u="sng" spc="-10" dirty="0">
              <a:solidFill>
                <a:srgbClr val="0000FF"/>
              </a:solidFill>
              <a:uFill>
                <a:solidFill>
                  <a:srgbClr val="0000FF"/>
                </a:solidFill>
              </a:uFill>
              <a:latin typeface="Calibri"/>
              <a:cs typeface="Calibri"/>
            </a:endParaRPr>
          </a:p>
          <a:p>
            <a:pPr marL="12700">
              <a:lnSpc>
                <a:spcPct val="100000"/>
              </a:lnSpc>
              <a:spcBef>
                <a:spcPts val="480"/>
              </a:spcBef>
              <a:buClr>
                <a:srgbClr val="000000"/>
              </a:buClr>
              <a:tabLst>
                <a:tab pos="354965" algn="l"/>
              </a:tabLst>
            </a:pPr>
            <a:endParaRPr sz="2000" dirty="0">
              <a:latin typeface="Calibri"/>
              <a:cs typeface="Calibri"/>
            </a:endParaRPr>
          </a:p>
        </p:txBody>
      </p:sp>
      <p:grpSp>
        <p:nvGrpSpPr>
          <p:cNvPr id="4" name="object 4"/>
          <p:cNvGrpSpPr/>
          <p:nvPr/>
        </p:nvGrpSpPr>
        <p:grpSpPr>
          <a:xfrm>
            <a:off x="2843783" y="0"/>
            <a:ext cx="9348470" cy="1152525"/>
            <a:chOff x="2843783" y="0"/>
            <a:chExt cx="9348470" cy="1152525"/>
          </a:xfrm>
        </p:grpSpPr>
        <p:pic>
          <p:nvPicPr>
            <p:cNvPr id="5" name="object 5"/>
            <p:cNvPicPr/>
            <p:nvPr/>
          </p:nvPicPr>
          <p:blipFill>
            <a:blip r:embed="rId5" cstate="print"/>
            <a:stretch>
              <a:fillRect/>
            </a:stretch>
          </p:blipFill>
          <p:spPr>
            <a:xfrm>
              <a:off x="2857498" y="0"/>
              <a:ext cx="9334501" cy="963309"/>
            </a:xfrm>
            <a:prstGeom prst="rect">
              <a:avLst/>
            </a:prstGeom>
          </p:spPr>
        </p:pic>
        <p:pic>
          <p:nvPicPr>
            <p:cNvPr id="6" name="object 6"/>
            <p:cNvPicPr/>
            <p:nvPr/>
          </p:nvPicPr>
          <p:blipFill>
            <a:blip r:embed="rId6" cstate="print"/>
            <a:stretch>
              <a:fillRect/>
            </a:stretch>
          </p:blipFill>
          <p:spPr>
            <a:xfrm>
              <a:off x="2843783" y="0"/>
              <a:ext cx="9348216" cy="1152144"/>
            </a:xfrm>
            <a:prstGeom prst="rect">
              <a:avLst/>
            </a:prstGeom>
          </p:spPr>
        </p:pic>
        <p:pic>
          <p:nvPicPr>
            <p:cNvPr id="7" name="object 7"/>
            <p:cNvPicPr/>
            <p:nvPr/>
          </p:nvPicPr>
          <p:blipFill>
            <a:blip r:embed="rId7" cstate="print"/>
            <a:stretch>
              <a:fillRect/>
            </a:stretch>
          </p:blipFill>
          <p:spPr>
            <a:xfrm>
              <a:off x="2895599" y="25"/>
              <a:ext cx="9296400" cy="909040"/>
            </a:xfrm>
            <a:prstGeom prst="rect">
              <a:avLst/>
            </a:prstGeom>
          </p:spPr>
        </p:pic>
      </p:grpSp>
      <p:sp>
        <p:nvSpPr>
          <p:cNvPr id="8" name="object 8"/>
          <p:cNvSpPr txBox="1">
            <a:spLocks noGrp="1"/>
          </p:cNvSpPr>
          <p:nvPr>
            <p:ph type="title"/>
          </p:nvPr>
        </p:nvSpPr>
        <p:spPr>
          <a:xfrm>
            <a:off x="2895600" y="25"/>
            <a:ext cx="9296400" cy="909319"/>
          </a:xfrm>
          <a:prstGeom prst="rect">
            <a:avLst/>
          </a:prstGeom>
          <a:ln w="9525">
            <a:solidFill>
              <a:srgbClr val="46AAC5"/>
            </a:solidFill>
          </a:ln>
        </p:spPr>
        <p:txBody>
          <a:bodyPr vert="horz" wrap="square" lIns="0" tIns="3810" rIns="0" bIns="0" rtlCol="0">
            <a:spAutoFit/>
          </a:bodyPr>
          <a:lstStyle/>
          <a:p>
            <a:pPr marL="4158615" marR="198120" indent="-3953510">
              <a:lnSpc>
                <a:spcPct val="100000"/>
              </a:lnSpc>
              <a:spcBef>
                <a:spcPts val="30"/>
              </a:spcBef>
            </a:pPr>
            <a:r>
              <a:rPr sz="2800" dirty="0">
                <a:latin typeface="Calibri"/>
                <a:cs typeface="Calibri"/>
              </a:rPr>
              <a:t>Video</a:t>
            </a:r>
            <a:r>
              <a:rPr sz="2800" spc="-55" dirty="0">
                <a:latin typeface="Calibri"/>
                <a:cs typeface="Calibri"/>
              </a:rPr>
              <a:t> </a:t>
            </a:r>
            <a:r>
              <a:rPr sz="2800" dirty="0">
                <a:latin typeface="Calibri"/>
                <a:cs typeface="Calibri"/>
              </a:rPr>
              <a:t>Links,</a:t>
            </a:r>
            <a:r>
              <a:rPr sz="2800" spc="-40" dirty="0">
                <a:latin typeface="Calibri"/>
                <a:cs typeface="Calibri"/>
              </a:rPr>
              <a:t> </a:t>
            </a:r>
            <a:r>
              <a:rPr sz="2800" spc="-20" dirty="0">
                <a:latin typeface="Calibri"/>
                <a:cs typeface="Calibri"/>
              </a:rPr>
              <a:t>Youtube</a:t>
            </a:r>
            <a:r>
              <a:rPr sz="2800" spc="-40" dirty="0">
                <a:latin typeface="Calibri"/>
                <a:cs typeface="Calibri"/>
              </a:rPr>
              <a:t> </a:t>
            </a:r>
            <a:r>
              <a:rPr sz="2800" dirty="0">
                <a:latin typeface="Calibri"/>
                <a:cs typeface="Calibri"/>
              </a:rPr>
              <a:t>&amp;</a:t>
            </a:r>
            <a:r>
              <a:rPr sz="2800" spc="-60" dirty="0">
                <a:latin typeface="Calibri"/>
                <a:cs typeface="Calibri"/>
              </a:rPr>
              <a:t> </a:t>
            </a:r>
            <a:r>
              <a:rPr sz="2800" dirty="0">
                <a:latin typeface="Calibri"/>
                <a:cs typeface="Calibri"/>
              </a:rPr>
              <a:t>NPTEL</a:t>
            </a:r>
            <a:r>
              <a:rPr sz="2800" spc="-40" dirty="0">
                <a:latin typeface="Calibri"/>
                <a:cs typeface="Calibri"/>
              </a:rPr>
              <a:t> </a:t>
            </a:r>
            <a:r>
              <a:rPr sz="2800" dirty="0">
                <a:latin typeface="Calibri"/>
                <a:cs typeface="Calibri"/>
              </a:rPr>
              <a:t>Video</a:t>
            </a:r>
            <a:r>
              <a:rPr sz="2800" spc="-50" dirty="0">
                <a:latin typeface="Calibri"/>
                <a:cs typeface="Calibri"/>
              </a:rPr>
              <a:t> </a:t>
            </a:r>
            <a:r>
              <a:rPr sz="2800" dirty="0">
                <a:latin typeface="Calibri"/>
                <a:cs typeface="Calibri"/>
              </a:rPr>
              <a:t>Links</a:t>
            </a:r>
            <a:r>
              <a:rPr sz="2800" spc="-40" dirty="0">
                <a:latin typeface="Calibri"/>
                <a:cs typeface="Calibri"/>
              </a:rPr>
              <a:t> </a:t>
            </a:r>
            <a:r>
              <a:rPr sz="2800" dirty="0">
                <a:latin typeface="Calibri"/>
                <a:cs typeface="Calibri"/>
              </a:rPr>
              <a:t>and</a:t>
            </a:r>
            <a:r>
              <a:rPr sz="2800" spc="-45" dirty="0">
                <a:latin typeface="Calibri"/>
                <a:cs typeface="Calibri"/>
              </a:rPr>
              <a:t> </a:t>
            </a:r>
            <a:r>
              <a:rPr sz="2800" dirty="0">
                <a:latin typeface="Calibri"/>
                <a:cs typeface="Calibri"/>
              </a:rPr>
              <a:t>Online</a:t>
            </a:r>
            <a:r>
              <a:rPr sz="2800" spc="-45" dirty="0">
                <a:latin typeface="Calibri"/>
                <a:cs typeface="Calibri"/>
              </a:rPr>
              <a:t> </a:t>
            </a:r>
            <a:r>
              <a:rPr sz="2800" spc="-10" dirty="0">
                <a:latin typeface="Calibri"/>
                <a:cs typeface="Calibri"/>
              </a:rPr>
              <a:t>Courses Details</a:t>
            </a:r>
            <a:endParaRPr sz="2800">
              <a:latin typeface="Calibri"/>
              <a:cs typeface="Calibri"/>
            </a:endParaRPr>
          </a:p>
        </p:txBody>
      </p:sp>
      <p:pic>
        <p:nvPicPr>
          <p:cNvPr id="9" name="object 9"/>
          <p:cNvPicPr/>
          <p:nvPr/>
        </p:nvPicPr>
        <p:blipFill>
          <a:blip r:embed="rId8" cstate="print"/>
          <a:stretch>
            <a:fillRect/>
          </a:stretch>
        </p:blipFill>
        <p:spPr>
          <a:xfrm>
            <a:off x="117763" y="25"/>
            <a:ext cx="2473036" cy="947267"/>
          </a:xfrm>
          <a:prstGeom prst="rect">
            <a:avLst/>
          </a:prstGeom>
        </p:spPr>
      </p:pic>
      <p:sp>
        <p:nvSpPr>
          <p:cNvPr id="10" name="Date Placeholder 9">
            <a:extLst>
              <a:ext uri="{FF2B5EF4-FFF2-40B4-BE49-F238E27FC236}">
                <a16:creationId xmlns:a16="http://schemas.microsoft.com/office/drawing/2014/main" id="{EF819748-764B-4ABB-9441-2387B6FF9D4B}"/>
              </a:ext>
            </a:extLst>
          </p:cNvPr>
          <p:cNvSpPr>
            <a:spLocks noGrp="1"/>
          </p:cNvSpPr>
          <p:nvPr>
            <p:ph type="dt" sz="half" idx="6"/>
          </p:nvPr>
        </p:nvSpPr>
        <p:spPr/>
        <p:txBody>
          <a:bodyPr/>
          <a:lstStyle/>
          <a:p>
            <a:pPr marL="12700">
              <a:lnSpc>
                <a:spcPts val="1240"/>
              </a:lnSpc>
            </a:pPr>
            <a:fld id="{12B61332-4230-4F19-B994-7573E6111549}" type="datetime1">
              <a:rPr lang="en-US" spc="-25" smtClean="0"/>
              <a:t>7/8/2026</a:t>
            </a:fld>
            <a:endParaRPr lang="en-IN" spc="-25" dirty="0"/>
          </a:p>
        </p:txBody>
      </p:sp>
      <p:sp>
        <p:nvSpPr>
          <p:cNvPr id="11" name="Footer Placeholder 10">
            <a:extLst>
              <a:ext uri="{FF2B5EF4-FFF2-40B4-BE49-F238E27FC236}">
                <a16:creationId xmlns:a16="http://schemas.microsoft.com/office/drawing/2014/main" id="{6EA887D7-EF59-403B-9708-7C6E7D92692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00200" y="1080261"/>
            <a:ext cx="8258428" cy="4801956"/>
          </a:xfrm>
          <a:prstGeom prst="rect">
            <a:avLst/>
          </a:prstGeom>
        </p:spPr>
        <p:txBody>
          <a:bodyPr vert="horz" wrap="square" lIns="0" tIns="92075" rIns="0" bIns="0" rtlCol="0">
            <a:spAutoFit/>
          </a:bodyPr>
          <a:lstStyle/>
          <a:p>
            <a:pPr eaLnBrk="1" hangingPunct="1"/>
            <a:r>
              <a:rPr lang="en-US" altLang="en-US" dirty="0">
                <a:latin typeface="+mj-lt"/>
              </a:rPr>
              <a:t>    </a:t>
            </a:r>
            <a:r>
              <a:rPr lang="en-US" altLang="en-US" dirty="0">
                <a:latin typeface="Times New Roman" panose="02020603050405020304" pitchFamily="18" charset="0"/>
                <a:cs typeface="Times New Roman" panose="02020603050405020304" pitchFamily="18" charset="0"/>
              </a:rPr>
              <a:t>Q1 Kruskal’s algorithm is used to ______</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 find minimum spanning tree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(b) find single source shortest path</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(c) find all pair shortest path algorithm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(d) traverse the graph</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      Q2 Kruskal’s algorithm is a ______</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 divide and conquer algorithm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(b) dynamic programming algorithm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(c) greedy algorithm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(d) approximation algorithm</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        Q3 Which of the following is true?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 Prim’s algorithm initializes with a vertex</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b) Prim’s algorithm initializes with a edge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c) Prim’s algorithm initializes with a vertex which has smallest edge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d) Prim’s algorithm initializes with a forest</a:t>
            </a:r>
          </a:p>
        </p:txBody>
      </p:sp>
      <p:grpSp>
        <p:nvGrpSpPr>
          <p:cNvPr id="3" name="object 3"/>
          <p:cNvGrpSpPr/>
          <p:nvPr/>
        </p:nvGrpSpPr>
        <p:grpSpPr>
          <a:xfrm>
            <a:off x="2857498" y="0"/>
            <a:ext cx="9334500" cy="963930"/>
            <a:chOff x="2857498" y="0"/>
            <a:chExt cx="9334500" cy="963930"/>
          </a:xfrm>
        </p:grpSpPr>
        <p:pic>
          <p:nvPicPr>
            <p:cNvPr id="4" name="object 4"/>
            <p:cNvPicPr/>
            <p:nvPr/>
          </p:nvPicPr>
          <p:blipFill>
            <a:blip r:embed="rId2" cstate="print"/>
            <a:stretch>
              <a:fillRect/>
            </a:stretch>
          </p:blipFill>
          <p:spPr>
            <a:xfrm>
              <a:off x="2857498" y="0"/>
              <a:ext cx="9334501" cy="963309"/>
            </a:xfrm>
            <a:prstGeom prst="rect">
              <a:avLst/>
            </a:prstGeom>
          </p:spPr>
        </p:pic>
        <p:pic>
          <p:nvPicPr>
            <p:cNvPr id="5" name="object 5"/>
            <p:cNvPicPr/>
            <p:nvPr/>
          </p:nvPicPr>
          <p:blipFill>
            <a:blip r:embed="rId3" cstate="print"/>
            <a:stretch>
              <a:fillRect/>
            </a:stretch>
          </p:blipFill>
          <p:spPr>
            <a:xfrm>
              <a:off x="6853427" y="111252"/>
              <a:ext cx="1458468" cy="827532"/>
            </a:xfrm>
            <a:prstGeom prst="rect">
              <a:avLst/>
            </a:prstGeom>
          </p:spPr>
        </p:pic>
        <p:pic>
          <p:nvPicPr>
            <p:cNvPr id="6" name="object 6"/>
            <p:cNvPicPr/>
            <p:nvPr/>
          </p:nvPicPr>
          <p:blipFill>
            <a:blip r:embed="rId4" cstate="print"/>
            <a:stretch>
              <a:fillRect/>
            </a:stretch>
          </p:blipFill>
          <p:spPr>
            <a:xfrm>
              <a:off x="2895599" y="25"/>
              <a:ext cx="9296400" cy="909040"/>
            </a:xfrm>
            <a:prstGeom prst="rect">
              <a:avLst/>
            </a:prstGeom>
          </p:spPr>
        </p:pic>
      </p:grpSp>
      <p:sp>
        <p:nvSpPr>
          <p:cNvPr id="7" name="object 7"/>
          <p:cNvSpPr txBox="1">
            <a:spLocks noGrp="1"/>
          </p:cNvSpPr>
          <p:nvPr>
            <p:ph type="title"/>
          </p:nvPr>
        </p:nvSpPr>
        <p:spPr>
          <a:xfrm>
            <a:off x="2895600" y="25"/>
            <a:ext cx="9296400" cy="909319"/>
          </a:xfrm>
          <a:prstGeom prst="rect">
            <a:avLst/>
          </a:prstGeom>
          <a:ln w="9525">
            <a:solidFill>
              <a:srgbClr val="46AAC5"/>
            </a:solidFill>
          </a:ln>
        </p:spPr>
        <p:txBody>
          <a:bodyPr vert="horz" wrap="square" lIns="0" tIns="217804" rIns="0" bIns="0" rtlCol="0">
            <a:spAutoFit/>
          </a:bodyPr>
          <a:lstStyle/>
          <a:p>
            <a:pPr marL="1270" algn="ctr">
              <a:lnSpc>
                <a:spcPct val="100000"/>
              </a:lnSpc>
              <a:spcBef>
                <a:spcPts val="1714"/>
              </a:spcBef>
            </a:pPr>
            <a:r>
              <a:rPr sz="2800" spc="-20" dirty="0">
                <a:latin typeface="Calibri"/>
                <a:cs typeface="Calibri"/>
              </a:rPr>
              <a:t>MCQs</a:t>
            </a:r>
            <a:endParaRPr sz="2800">
              <a:latin typeface="Calibri"/>
              <a:cs typeface="Calibri"/>
            </a:endParaRPr>
          </a:p>
        </p:txBody>
      </p:sp>
      <p:pic>
        <p:nvPicPr>
          <p:cNvPr id="8" name="object 8"/>
          <p:cNvPicPr/>
          <p:nvPr/>
        </p:nvPicPr>
        <p:blipFill>
          <a:blip r:embed="rId5" cstate="print"/>
          <a:stretch>
            <a:fillRect/>
          </a:stretch>
        </p:blipFill>
        <p:spPr>
          <a:xfrm>
            <a:off x="117763" y="25"/>
            <a:ext cx="2473036" cy="947267"/>
          </a:xfrm>
          <a:prstGeom prst="rect">
            <a:avLst/>
          </a:prstGeom>
        </p:spPr>
      </p:pic>
      <p:sp>
        <p:nvSpPr>
          <p:cNvPr id="9" name="Date Placeholder 8">
            <a:extLst>
              <a:ext uri="{FF2B5EF4-FFF2-40B4-BE49-F238E27FC236}">
                <a16:creationId xmlns:a16="http://schemas.microsoft.com/office/drawing/2014/main" id="{9E746CBC-7288-4819-BB79-2B1305C9D68C}"/>
              </a:ext>
            </a:extLst>
          </p:cNvPr>
          <p:cNvSpPr>
            <a:spLocks noGrp="1"/>
          </p:cNvSpPr>
          <p:nvPr>
            <p:ph type="dt" sz="half" idx="6"/>
          </p:nvPr>
        </p:nvSpPr>
        <p:spPr/>
        <p:txBody>
          <a:bodyPr/>
          <a:lstStyle/>
          <a:p>
            <a:pPr marL="12700">
              <a:lnSpc>
                <a:spcPts val="1240"/>
              </a:lnSpc>
            </a:pPr>
            <a:fld id="{DFD34C83-6D61-4BA9-B768-59B8A5CCA85A}" type="datetime1">
              <a:rPr lang="en-US" spc="-25" smtClean="0"/>
              <a:t>7/8/2026</a:t>
            </a:fld>
            <a:endParaRPr lang="en-IN" spc="-25" dirty="0"/>
          </a:p>
        </p:txBody>
      </p:sp>
      <p:sp>
        <p:nvSpPr>
          <p:cNvPr id="10" name="Footer Placeholder 9">
            <a:extLst>
              <a:ext uri="{FF2B5EF4-FFF2-40B4-BE49-F238E27FC236}">
                <a16:creationId xmlns:a16="http://schemas.microsoft.com/office/drawing/2014/main" id="{69FAC15E-F910-45EE-9015-AD991291280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76400" y="1130020"/>
            <a:ext cx="7812024" cy="4783361"/>
          </a:xfrm>
          <a:prstGeom prst="rect">
            <a:avLst/>
          </a:prstGeom>
        </p:spPr>
        <p:txBody>
          <a:bodyPr vert="horz" wrap="square" lIns="0" tIns="73660" rIns="0" bIns="0" rtlCol="0">
            <a:spAutoFit/>
          </a:bodyPr>
          <a:lstStyle/>
          <a:p>
            <a:pPr eaLnBrk="1" hangingPunct="1">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Q4 Prim’s algorithm is a ______</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(a) Divide and conquer algorithm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(b) Greedy algorithm</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 Dynamic Programming</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 Approximation algorithm</a:t>
            </a:r>
          </a:p>
          <a:p>
            <a:pPr eaLnBrk="1" hangingPunct="1">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Q5 Dijkstra’s Algorithm is used to solve _____________ problems.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(a) All pair shortest path</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(b) Single source shortest path</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 Network flow</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 Sorting</a:t>
            </a:r>
          </a:p>
          <a:p>
            <a:pPr eaLnBrk="1" hangingPunct="1">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Q6 Dijkstra’s Algorithm cannot be applied on ______________</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(a) Directed and weighted graphs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(b) Graphs having negative weight function</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 Unweighted graphs</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(d) Undirected and unweighted graphs</a:t>
            </a:r>
          </a:p>
        </p:txBody>
      </p:sp>
      <p:grpSp>
        <p:nvGrpSpPr>
          <p:cNvPr id="3" name="object 3"/>
          <p:cNvGrpSpPr/>
          <p:nvPr/>
        </p:nvGrpSpPr>
        <p:grpSpPr>
          <a:xfrm>
            <a:off x="2857498" y="0"/>
            <a:ext cx="9334500" cy="963930"/>
            <a:chOff x="2857498" y="0"/>
            <a:chExt cx="9334500" cy="963930"/>
          </a:xfrm>
        </p:grpSpPr>
        <p:pic>
          <p:nvPicPr>
            <p:cNvPr id="4" name="object 4"/>
            <p:cNvPicPr/>
            <p:nvPr/>
          </p:nvPicPr>
          <p:blipFill>
            <a:blip r:embed="rId2" cstate="print"/>
            <a:stretch>
              <a:fillRect/>
            </a:stretch>
          </p:blipFill>
          <p:spPr>
            <a:xfrm>
              <a:off x="2857498" y="0"/>
              <a:ext cx="9334501" cy="963309"/>
            </a:xfrm>
            <a:prstGeom prst="rect">
              <a:avLst/>
            </a:prstGeom>
          </p:spPr>
        </p:pic>
        <p:pic>
          <p:nvPicPr>
            <p:cNvPr id="5" name="object 5"/>
            <p:cNvPicPr/>
            <p:nvPr/>
          </p:nvPicPr>
          <p:blipFill>
            <a:blip r:embed="rId3" cstate="print"/>
            <a:stretch>
              <a:fillRect/>
            </a:stretch>
          </p:blipFill>
          <p:spPr>
            <a:xfrm>
              <a:off x="6853427" y="111252"/>
              <a:ext cx="1458468" cy="827532"/>
            </a:xfrm>
            <a:prstGeom prst="rect">
              <a:avLst/>
            </a:prstGeom>
          </p:spPr>
        </p:pic>
        <p:pic>
          <p:nvPicPr>
            <p:cNvPr id="6" name="object 6"/>
            <p:cNvPicPr/>
            <p:nvPr/>
          </p:nvPicPr>
          <p:blipFill>
            <a:blip r:embed="rId4" cstate="print"/>
            <a:stretch>
              <a:fillRect/>
            </a:stretch>
          </p:blipFill>
          <p:spPr>
            <a:xfrm>
              <a:off x="2895599" y="25"/>
              <a:ext cx="9296400" cy="909040"/>
            </a:xfrm>
            <a:prstGeom prst="rect">
              <a:avLst/>
            </a:prstGeom>
          </p:spPr>
        </p:pic>
      </p:grpSp>
      <p:sp>
        <p:nvSpPr>
          <p:cNvPr id="7" name="object 7"/>
          <p:cNvSpPr txBox="1">
            <a:spLocks noGrp="1"/>
          </p:cNvSpPr>
          <p:nvPr>
            <p:ph type="title"/>
          </p:nvPr>
        </p:nvSpPr>
        <p:spPr>
          <a:xfrm>
            <a:off x="2895600" y="25"/>
            <a:ext cx="9296400" cy="909319"/>
          </a:xfrm>
          <a:prstGeom prst="rect">
            <a:avLst/>
          </a:prstGeom>
          <a:ln w="9525">
            <a:solidFill>
              <a:srgbClr val="46AAC5"/>
            </a:solidFill>
          </a:ln>
        </p:spPr>
        <p:txBody>
          <a:bodyPr vert="horz" wrap="square" lIns="0" tIns="217804" rIns="0" bIns="0" rtlCol="0">
            <a:spAutoFit/>
          </a:bodyPr>
          <a:lstStyle/>
          <a:p>
            <a:pPr marL="1270" algn="ctr">
              <a:lnSpc>
                <a:spcPct val="100000"/>
              </a:lnSpc>
              <a:spcBef>
                <a:spcPts val="1714"/>
              </a:spcBef>
            </a:pPr>
            <a:r>
              <a:rPr sz="2800" spc="-20" dirty="0">
                <a:latin typeface="Calibri"/>
                <a:cs typeface="Calibri"/>
              </a:rPr>
              <a:t>MCQs</a:t>
            </a:r>
            <a:endParaRPr sz="2800">
              <a:latin typeface="Calibri"/>
              <a:cs typeface="Calibri"/>
            </a:endParaRPr>
          </a:p>
        </p:txBody>
      </p:sp>
      <p:pic>
        <p:nvPicPr>
          <p:cNvPr id="8" name="object 8"/>
          <p:cNvPicPr/>
          <p:nvPr/>
        </p:nvPicPr>
        <p:blipFill>
          <a:blip r:embed="rId5" cstate="print"/>
          <a:stretch>
            <a:fillRect/>
          </a:stretch>
        </p:blipFill>
        <p:spPr>
          <a:xfrm>
            <a:off x="117763" y="25"/>
            <a:ext cx="2473036" cy="947267"/>
          </a:xfrm>
          <a:prstGeom prst="rect">
            <a:avLst/>
          </a:prstGeom>
        </p:spPr>
      </p:pic>
      <p:sp>
        <p:nvSpPr>
          <p:cNvPr id="9" name="Date Placeholder 8">
            <a:extLst>
              <a:ext uri="{FF2B5EF4-FFF2-40B4-BE49-F238E27FC236}">
                <a16:creationId xmlns:a16="http://schemas.microsoft.com/office/drawing/2014/main" id="{420C847E-7DEE-4F1F-90E7-3EE2FE51DB33}"/>
              </a:ext>
            </a:extLst>
          </p:cNvPr>
          <p:cNvSpPr>
            <a:spLocks noGrp="1"/>
          </p:cNvSpPr>
          <p:nvPr>
            <p:ph type="dt" sz="half" idx="6"/>
          </p:nvPr>
        </p:nvSpPr>
        <p:spPr/>
        <p:txBody>
          <a:bodyPr/>
          <a:lstStyle/>
          <a:p>
            <a:pPr marL="12700">
              <a:lnSpc>
                <a:spcPts val="1240"/>
              </a:lnSpc>
            </a:pPr>
            <a:fld id="{58601E05-334A-43DD-AA6C-9DAB5FCAB6DE}" type="datetime1">
              <a:rPr lang="en-US" spc="-25" smtClean="0"/>
              <a:t>7/8/2026</a:t>
            </a:fld>
            <a:endParaRPr lang="en-IN" spc="-25" dirty="0"/>
          </a:p>
        </p:txBody>
      </p:sp>
      <p:sp>
        <p:nvSpPr>
          <p:cNvPr id="10" name="Footer Placeholder 9">
            <a:extLst>
              <a:ext uri="{FF2B5EF4-FFF2-40B4-BE49-F238E27FC236}">
                <a16:creationId xmlns:a16="http://schemas.microsoft.com/office/drawing/2014/main" id="{988D2E04-D779-400C-83C2-5E5D201325D3}"/>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8295" y="1495470"/>
            <a:ext cx="8912606" cy="1249060"/>
          </a:xfrm>
          <a:prstGeom prst="rect">
            <a:avLst/>
          </a:prstGeom>
        </p:spPr>
        <p:txBody>
          <a:bodyPr vert="horz" wrap="square" lIns="0" tIns="78740" rIns="0" bIns="0" rtlCol="0">
            <a:spAutoFit/>
          </a:bodyPr>
          <a:lstStyle/>
          <a:p>
            <a:r>
              <a:rPr dirty="0">
                <a:latin typeface="Times New Roman" panose="02020603050405020304" pitchFamily="18" charset="0"/>
                <a:cs typeface="Times New Roman" panose="02020603050405020304" pitchFamily="18" charset="0"/>
              </a:rPr>
              <a:t>Q.1)</a:t>
            </a:r>
            <a:r>
              <a:rPr lang="en-US" dirty="0">
                <a:latin typeface="Times New Roman" panose="02020603050405020304" pitchFamily="18" charset="0"/>
                <a:cs typeface="Times New Roman" panose="02020603050405020304" pitchFamily="18" charset="0"/>
              </a:rPr>
              <a:t>What is minimum spanning tree? Explain any one of minimum  spanning tree   algorithm with example.</a:t>
            </a:r>
          </a:p>
          <a:p>
            <a:endParaRPr lang="en-US" sz="2200" spc="-10" dirty="0">
              <a:latin typeface="Calibri"/>
              <a:cs typeface="Calibri"/>
            </a:endParaRPr>
          </a:p>
          <a:p>
            <a:r>
              <a:rPr spc="-10" dirty="0">
                <a:latin typeface="Times New Roman" panose="02020603050405020304" pitchFamily="18" charset="0"/>
                <a:cs typeface="Times New Roman" panose="02020603050405020304" pitchFamily="18" charset="0"/>
              </a:rPr>
              <a:t>Q-</a:t>
            </a:r>
            <a:r>
              <a:rPr dirty="0">
                <a:latin typeface="Times New Roman" panose="02020603050405020304" pitchFamily="18" charset="0"/>
                <a:cs typeface="Times New Roman" panose="02020603050405020304" pitchFamily="18" charset="0"/>
              </a:rPr>
              <a:t>2)</a:t>
            </a:r>
          </a:p>
        </p:txBody>
      </p:sp>
      <p:grpSp>
        <p:nvGrpSpPr>
          <p:cNvPr id="3" name="object 3"/>
          <p:cNvGrpSpPr/>
          <p:nvPr/>
        </p:nvGrpSpPr>
        <p:grpSpPr>
          <a:xfrm>
            <a:off x="2857498" y="0"/>
            <a:ext cx="9334500" cy="963930"/>
            <a:chOff x="2857498" y="0"/>
            <a:chExt cx="9334500" cy="963930"/>
          </a:xfrm>
        </p:grpSpPr>
        <p:pic>
          <p:nvPicPr>
            <p:cNvPr id="4" name="object 4"/>
            <p:cNvPicPr/>
            <p:nvPr/>
          </p:nvPicPr>
          <p:blipFill>
            <a:blip r:embed="rId2" cstate="print"/>
            <a:stretch>
              <a:fillRect/>
            </a:stretch>
          </p:blipFill>
          <p:spPr>
            <a:xfrm>
              <a:off x="2857498" y="0"/>
              <a:ext cx="9334501" cy="963309"/>
            </a:xfrm>
            <a:prstGeom prst="rect">
              <a:avLst/>
            </a:prstGeom>
          </p:spPr>
        </p:pic>
        <p:pic>
          <p:nvPicPr>
            <p:cNvPr id="5" name="object 5"/>
            <p:cNvPicPr/>
            <p:nvPr/>
          </p:nvPicPr>
          <p:blipFill>
            <a:blip r:embed="rId3" cstate="print"/>
            <a:stretch>
              <a:fillRect/>
            </a:stretch>
          </p:blipFill>
          <p:spPr>
            <a:xfrm>
              <a:off x="5743955" y="111252"/>
              <a:ext cx="3592067" cy="827532"/>
            </a:xfrm>
            <a:prstGeom prst="rect">
              <a:avLst/>
            </a:prstGeom>
          </p:spPr>
        </p:pic>
        <p:pic>
          <p:nvPicPr>
            <p:cNvPr id="6" name="object 6"/>
            <p:cNvPicPr/>
            <p:nvPr/>
          </p:nvPicPr>
          <p:blipFill>
            <a:blip r:embed="rId4" cstate="print"/>
            <a:stretch>
              <a:fillRect/>
            </a:stretch>
          </p:blipFill>
          <p:spPr>
            <a:xfrm>
              <a:off x="2895599" y="25"/>
              <a:ext cx="9296400" cy="909040"/>
            </a:xfrm>
            <a:prstGeom prst="rect">
              <a:avLst/>
            </a:prstGeom>
          </p:spPr>
        </p:pic>
      </p:grpSp>
      <p:sp>
        <p:nvSpPr>
          <p:cNvPr id="7" name="object 7"/>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sz="2800" dirty="0">
                <a:latin typeface="Calibri"/>
                <a:cs typeface="Calibri"/>
              </a:rPr>
              <a:t>Weekly</a:t>
            </a:r>
            <a:r>
              <a:rPr sz="2800" spc="-125" dirty="0">
                <a:latin typeface="Calibri"/>
                <a:cs typeface="Calibri"/>
              </a:rPr>
              <a:t> </a:t>
            </a:r>
            <a:r>
              <a:rPr sz="2800" spc="-10" dirty="0">
                <a:latin typeface="Calibri"/>
                <a:cs typeface="Calibri"/>
              </a:rPr>
              <a:t>Assignment</a:t>
            </a:r>
            <a:endParaRPr sz="2800" dirty="0">
              <a:latin typeface="Calibri"/>
              <a:cs typeface="Calibri"/>
            </a:endParaRPr>
          </a:p>
        </p:txBody>
      </p:sp>
      <p:pic>
        <p:nvPicPr>
          <p:cNvPr id="8" name="object 8"/>
          <p:cNvPicPr/>
          <p:nvPr/>
        </p:nvPicPr>
        <p:blipFill>
          <a:blip r:embed="rId5" cstate="print"/>
          <a:stretch>
            <a:fillRect/>
          </a:stretch>
        </p:blipFill>
        <p:spPr>
          <a:xfrm>
            <a:off x="117763" y="25"/>
            <a:ext cx="2473036" cy="947267"/>
          </a:xfrm>
          <a:prstGeom prst="rect">
            <a:avLst/>
          </a:prstGeom>
        </p:spPr>
      </p:pic>
      <p:pic>
        <p:nvPicPr>
          <p:cNvPr id="11" name="Picture 10">
            <a:extLst>
              <a:ext uri="{FF2B5EF4-FFF2-40B4-BE49-F238E27FC236}">
                <a16:creationId xmlns:a16="http://schemas.microsoft.com/office/drawing/2014/main" id="{137D70DC-3006-903A-B3AF-CD13BEEB0FCC}"/>
              </a:ext>
            </a:extLst>
          </p:cNvPr>
          <p:cNvPicPr>
            <a:picLocks noChangeAspect="1"/>
          </p:cNvPicPr>
          <p:nvPr/>
        </p:nvPicPr>
        <p:blipFill>
          <a:blip r:embed="rId6"/>
          <a:stretch>
            <a:fillRect/>
          </a:stretch>
        </p:blipFill>
        <p:spPr>
          <a:xfrm>
            <a:off x="2286000" y="2578376"/>
            <a:ext cx="8077200" cy="2762383"/>
          </a:xfrm>
          <a:prstGeom prst="rect">
            <a:avLst/>
          </a:prstGeom>
        </p:spPr>
      </p:pic>
      <p:sp>
        <p:nvSpPr>
          <p:cNvPr id="9" name="Date Placeholder 8">
            <a:extLst>
              <a:ext uri="{FF2B5EF4-FFF2-40B4-BE49-F238E27FC236}">
                <a16:creationId xmlns:a16="http://schemas.microsoft.com/office/drawing/2014/main" id="{EB445D6A-388E-4219-ACCF-8AF16EA0A764}"/>
              </a:ext>
            </a:extLst>
          </p:cNvPr>
          <p:cNvSpPr>
            <a:spLocks noGrp="1"/>
          </p:cNvSpPr>
          <p:nvPr>
            <p:ph type="dt" sz="half" idx="6"/>
          </p:nvPr>
        </p:nvSpPr>
        <p:spPr/>
        <p:txBody>
          <a:bodyPr/>
          <a:lstStyle/>
          <a:p>
            <a:pPr marL="12700">
              <a:lnSpc>
                <a:spcPts val="1240"/>
              </a:lnSpc>
            </a:pPr>
            <a:fld id="{FE4848C4-02D6-400A-A621-602F724DA824}" type="datetime1">
              <a:rPr lang="en-US" spc="-25" smtClean="0"/>
              <a:t>7/8/2026</a:t>
            </a:fld>
            <a:endParaRPr lang="en-IN" spc="-25" dirty="0"/>
          </a:p>
        </p:txBody>
      </p:sp>
      <p:sp>
        <p:nvSpPr>
          <p:cNvPr id="10" name="Footer Placeholder 9">
            <a:extLst>
              <a:ext uri="{FF2B5EF4-FFF2-40B4-BE49-F238E27FC236}">
                <a16:creationId xmlns:a16="http://schemas.microsoft.com/office/drawing/2014/main" id="{C6A9C4CA-2807-422A-8828-9B8B71A9841F}"/>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B35D3C-8F29-AE78-6409-40A4FB84D0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1D8C20-DF42-7CE3-9523-E1F6D3161049}"/>
              </a:ext>
            </a:extLst>
          </p:cNvPr>
          <p:cNvSpPr txBox="1"/>
          <p:nvPr/>
        </p:nvSpPr>
        <p:spPr>
          <a:xfrm>
            <a:off x="2060194" y="1144650"/>
            <a:ext cx="8074025" cy="4142160"/>
          </a:xfrm>
          <a:prstGeom prst="rect">
            <a:avLst/>
          </a:prstGeom>
        </p:spPr>
        <p:txBody>
          <a:bodyPr vert="horz" wrap="square" lIns="0" tIns="78740" rIns="0" bIns="0" rtlCol="0">
            <a:spAutoFit/>
          </a:bodyPr>
          <a:lstStyle/>
          <a:p>
            <a:r>
              <a:rPr sz="2200" dirty="0">
                <a:latin typeface="Calibri"/>
                <a:cs typeface="Calibri"/>
              </a:rPr>
              <a:t>Q</a:t>
            </a:r>
            <a:r>
              <a:rPr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3</a:t>
            </a:r>
            <a:r>
              <a:rPr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Explain Kruskal’s algorithm and find MST Of the Graph </a:t>
            </a:r>
          </a:p>
          <a:p>
            <a:endParaRPr lang="en-US" sz="2200" dirty="0">
              <a:latin typeface="Calibri"/>
              <a:cs typeface="Calibri"/>
            </a:endParaRPr>
          </a:p>
          <a:p>
            <a:endParaRPr lang="en-US" sz="2200" spc="-10" dirty="0">
              <a:latin typeface="Calibri"/>
              <a:cs typeface="Calibri"/>
            </a:endParaRPr>
          </a:p>
          <a:p>
            <a:endParaRPr lang="en-IN" sz="2200" dirty="0">
              <a:latin typeface="Calibri"/>
              <a:cs typeface="Calibri"/>
            </a:endParaRPr>
          </a:p>
          <a:p>
            <a:endParaRPr lang="en-IN" sz="2200" dirty="0">
              <a:latin typeface="Calibri"/>
              <a:cs typeface="Calibri"/>
            </a:endParaRPr>
          </a:p>
          <a:p>
            <a:endParaRPr lang="en-IN" sz="2200" dirty="0">
              <a:latin typeface="Calibri"/>
              <a:cs typeface="Calibri"/>
            </a:endParaRPr>
          </a:p>
          <a:p>
            <a:endParaRPr lang="en-IN" sz="2200" dirty="0">
              <a:latin typeface="Calibri"/>
              <a:cs typeface="Calibri"/>
            </a:endParaRPr>
          </a:p>
          <a:p>
            <a:endParaRPr lang="en-IN" sz="2200" dirty="0">
              <a:latin typeface="Calibri"/>
              <a:cs typeface="Calibri"/>
            </a:endParaRPr>
          </a:p>
          <a:p>
            <a:r>
              <a:rPr lang="en-IN" sz="2200" spc="-10" dirty="0">
                <a:latin typeface="Calibri"/>
                <a:cs typeface="Calibri"/>
              </a:rPr>
              <a:t>Q-4</a:t>
            </a:r>
            <a:r>
              <a:rPr lang="en-IN" sz="2200" dirty="0">
                <a:latin typeface="Calibri"/>
                <a:cs typeface="Calibri"/>
              </a:rPr>
              <a:t>)</a:t>
            </a:r>
          </a:p>
          <a:p>
            <a:endParaRPr lang="en-IN" sz="2200" dirty="0">
              <a:latin typeface="Calibri"/>
              <a:cs typeface="Calibri"/>
            </a:endParaRPr>
          </a:p>
          <a:p>
            <a:endParaRPr lang="en-IN" sz="2200" dirty="0">
              <a:latin typeface="Calibri"/>
              <a:cs typeface="Calibri"/>
            </a:endParaRPr>
          </a:p>
          <a:p>
            <a:r>
              <a:rPr lang="en-IN" sz="2200" dirty="0">
                <a:latin typeface="Calibri"/>
                <a:cs typeface="Calibri"/>
              </a:rPr>
              <a:t>	</a:t>
            </a:r>
          </a:p>
        </p:txBody>
      </p:sp>
      <p:grpSp>
        <p:nvGrpSpPr>
          <p:cNvPr id="3" name="object 3">
            <a:extLst>
              <a:ext uri="{FF2B5EF4-FFF2-40B4-BE49-F238E27FC236}">
                <a16:creationId xmlns:a16="http://schemas.microsoft.com/office/drawing/2014/main" id="{827996A4-20FC-CE4A-E7BC-B611818C53E4}"/>
              </a:ext>
            </a:extLst>
          </p:cNvPr>
          <p:cNvGrpSpPr/>
          <p:nvPr/>
        </p:nvGrpSpPr>
        <p:grpSpPr>
          <a:xfrm>
            <a:off x="2857498" y="0"/>
            <a:ext cx="9334500" cy="963930"/>
            <a:chOff x="2857498" y="0"/>
            <a:chExt cx="9334500" cy="963930"/>
          </a:xfrm>
        </p:grpSpPr>
        <p:pic>
          <p:nvPicPr>
            <p:cNvPr id="4" name="object 4">
              <a:extLst>
                <a:ext uri="{FF2B5EF4-FFF2-40B4-BE49-F238E27FC236}">
                  <a16:creationId xmlns:a16="http://schemas.microsoft.com/office/drawing/2014/main" id="{38D542E0-D944-A7C1-C7AC-BE94E2213428}"/>
                </a:ext>
              </a:extLst>
            </p:cNvPr>
            <p:cNvPicPr/>
            <p:nvPr/>
          </p:nvPicPr>
          <p:blipFill>
            <a:blip r:embed="rId2" cstate="print"/>
            <a:stretch>
              <a:fillRect/>
            </a:stretch>
          </p:blipFill>
          <p:spPr>
            <a:xfrm>
              <a:off x="2857498" y="0"/>
              <a:ext cx="9334501" cy="963309"/>
            </a:xfrm>
            <a:prstGeom prst="rect">
              <a:avLst/>
            </a:prstGeom>
          </p:spPr>
        </p:pic>
        <p:pic>
          <p:nvPicPr>
            <p:cNvPr id="5" name="object 5">
              <a:extLst>
                <a:ext uri="{FF2B5EF4-FFF2-40B4-BE49-F238E27FC236}">
                  <a16:creationId xmlns:a16="http://schemas.microsoft.com/office/drawing/2014/main" id="{31F1BA7A-C4D9-D3D0-905E-4A72FFDDB856}"/>
                </a:ext>
              </a:extLst>
            </p:cNvPr>
            <p:cNvPicPr/>
            <p:nvPr/>
          </p:nvPicPr>
          <p:blipFill>
            <a:blip r:embed="rId3" cstate="print"/>
            <a:stretch>
              <a:fillRect/>
            </a:stretch>
          </p:blipFill>
          <p:spPr>
            <a:xfrm>
              <a:off x="5743955" y="111252"/>
              <a:ext cx="3592067" cy="827532"/>
            </a:xfrm>
            <a:prstGeom prst="rect">
              <a:avLst/>
            </a:prstGeom>
          </p:spPr>
        </p:pic>
        <p:pic>
          <p:nvPicPr>
            <p:cNvPr id="6" name="object 6">
              <a:extLst>
                <a:ext uri="{FF2B5EF4-FFF2-40B4-BE49-F238E27FC236}">
                  <a16:creationId xmlns:a16="http://schemas.microsoft.com/office/drawing/2014/main" id="{CC7F0BE0-D988-7BE1-860F-F7A9B5220480}"/>
                </a:ext>
              </a:extLst>
            </p:cNvPr>
            <p:cNvPicPr/>
            <p:nvPr/>
          </p:nvPicPr>
          <p:blipFill>
            <a:blip r:embed="rId4" cstate="print"/>
            <a:stretch>
              <a:fillRect/>
            </a:stretch>
          </p:blipFill>
          <p:spPr>
            <a:xfrm>
              <a:off x="2895599" y="25"/>
              <a:ext cx="9296400" cy="909040"/>
            </a:xfrm>
            <a:prstGeom prst="rect">
              <a:avLst/>
            </a:prstGeom>
          </p:spPr>
        </p:pic>
      </p:grpSp>
      <p:sp>
        <p:nvSpPr>
          <p:cNvPr id="7" name="object 7">
            <a:extLst>
              <a:ext uri="{FF2B5EF4-FFF2-40B4-BE49-F238E27FC236}">
                <a16:creationId xmlns:a16="http://schemas.microsoft.com/office/drawing/2014/main" id="{FA8CEF60-7DA7-6EE9-8B4E-5C3624E9E37D}"/>
              </a:ext>
            </a:extLst>
          </p:cNvPr>
          <p:cNvSpPr txBox="1">
            <a:spLocks noGrp="1"/>
          </p:cNvSpPr>
          <p:nvPr>
            <p:ph type="title"/>
          </p:nvPr>
        </p:nvSpPr>
        <p:spPr>
          <a:xfrm>
            <a:off x="2895600" y="25"/>
            <a:ext cx="9296400" cy="650818"/>
          </a:xfrm>
          <a:prstGeom prst="rect">
            <a:avLst/>
          </a:prstGeom>
          <a:ln w="9525">
            <a:solidFill>
              <a:srgbClr val="46AAC5"/>
            </a:solidFill>
          </a:ln>
        </p:spPr>
        <p:txBody>
          <a:bodyPr vert="horz" wrap="square" lIns="0" tIns="217804" rIns="0" bIns="0" rtlCol="0">
            <a:spAutoFit/>
          </a:bodyPr>
          <a:lstStyle/>
          <a:p>
            <a:pPr algn="ctr">
              <a:lnSpc>
                <a:spcPct val="100000"/>
              </a:lnSpc>
              <a:spcBef>
                <a:spcPts val="1714"/>
              </a:spcBef>
            </a:pPr>
            <a:r>
              <a:rPr sz="2800" dirty="0">
                <a:latin typeface="Calibri"/>
                <a:cs typeface="Calibri"/>
              </a:rPr>
              <a:t>Weekly</a:t>
            </a:r>
            <a:r>
              <a:rPr sz="2800" spc="-125" dirty="0">
                <a:latin typeface="Calibri"/>
                <a:cs typeface="Calibri"/>
              </a:rPr>
              <a:t> </a:t>
            </a:r>
            <a:r>
              <a:rPr sz="2800" spc="-10" dirty="0">
                <a:latin typeface="Calibri"/>
                <a:cs typeface="Calibri"/>
              </a:rPr>
              <a:t>Assignment</a:t>
            </a:r>
            <a:endParaRPr sz="2800" dirty="0">
              <a:latin typeface="Calibri"/>
              <a:cs typeface="Calibri"/>
            </a:endParaRPr>
          </a:p>
        </p:txBody>
      </p:sp>
      <p:pic>
        <p:nvPicPr>
          <p:cNvPr id="8" name="object 8">
            <a:extLst>
              <a:ext uri="{FF2B5EF4-FFF2-40B4-BE49-F238E27FC236}">
                <a16:creationId xmlns:a16="http://schemas.microsoft.com/office/drawing/2014/main" id="{E175E79B-95A5-BE5A-E0EB-487AEEF15258}"/>
              </a:ext>
            </a:extLst>
          </p:cNvPr>
          <p:cNvPicPr/>
          <p:nvPr/>
        </p:nvPicPr>
        <p:blipFill>
          <a:blip r:embed="rId5" cstate="print"/>
          <a:stretch>
            <a:fillRect/>
          </a:stretch>
        </p:blipFill>
        <p:spPr>
          <a:xfrm>
            <a:off x="117763" y="25"/>
            <a:ext cx="2473036" cy="947267"/>
          </a:xfrm>
          <a:prstGeom prst="rect">
            <a:avLst/>
          </a:prstGeom>
        </p:spPr>
      </p:pic>
      <p:pic>
        <p:nvPicPr>
          <p:cNvPr id="10" name="Picture 9">
            <a:extLst>
              <a:ext uri="{FF2B5EF4-FFF2-40B4-BE49-F238E27FC236}">
                <a16:creationId xmlns:a16="http://schemas.microsoft.com/office/drawing/2014/main" id="{A5D7A0F7-7108-4B8C-5C4B-5A85F4B36B66}"/>
              </a:ext>
            </a:extLst>
          </p:cNvPr>
          <p:cNvPicPr>
            <a:picLocks noChangeAspect="1"/>
          </p:cNvPicPr>
          <p:nvPr/>
        </p:nvPicPr>
        <p:blipFill>
          <a:blip r:embed="rId6"/>
          <a:stretch>
            <a:fillRect/>
          </a:stretch>
        </p:blipFill>
        <p:spPr>
          <a:xfrm>
            <a:off x="3581400" y="1600200"/>
            <a:ext cx="4549534" cy="1828800"/>
          </a:xfrm>
          <a:prstGeom prst="rect">
            <a:avLst/>
          </a:prstGeom>
        </p:spPr>
      </p:pic>
      <p:pic>
        <p:nvPicPr>
          <p:cNvPr id="13" name="Picture 12">
            <a:extLst>
              <a:ext uri="{FF2B5EF4-FFF2-40B4-BE49-F238E27FC236}">
                <a16:creationId xmlns:a16="http://schemas.microsoft.com/office/drawing/2014/main" id="{9E5972A7-2BF5-4722-2219-B36DA8AA3735}"/>
              </a:ext>
            </a:extLst>
          </p:cNvPr>
          <p:cNvPicPr>
            <a:picLocks noChangeAspect="1"/>
          </p:cNvPicPr>
          <p:nvPr/>
        </p:nvPicPr>
        <p:blipFill>
          <a:blip r:embed="rId7"/>
          <a:stretch>
            <a:fillRect/>
          </a:stretch>
        </p:blipFill>
        <p:spPr>
          <a:xfrm>
            <a:off x="2895599" y="3733800"/>
            <a:ext cx="7315201" cy="2819400"/>
          </a:xfrm>
          <a:prstGeom prst="rect">
            <a:avLst/>
          </a:prstGeom>
        </p:spPr>
      </p:pic>
      <p:sp>
        <p:nvSpPr>
          <p:cNvPr id="9" name="Date Placeholder 8">
            <a:extLst>
              <a:ext uri="{FF2B5EF4-FFF2-40B4-BE49-F238E27FC236}">
                <a16:creationId xmlns:a16="http://schemas.microsoft.com/office/drawing/2014/main" id="{7AEE97BA-FDDD-40A8-9F49-0E53993543F4}"/>
              </a:ext>
            </a:extLst>
          </p:cNvPr>
          <p:cNvSpPr>
            <a:spLocks noGrp="1"/>
          </p:cNvSpPr>
          <p:nvPr>
            <p:ph type="dt" sz="half" idx="6"/>
          </p:nvPr>
        </p:nvSpPr>
        <p:spPr/>
        <p:txBody>
          <a:bodyPr/>
          <a:lstStyle/>
          <a:p>
            <a:pPr marL="12700">
              <a:lnSpc>
                <a:spcPts val="1240"/>
              </a:lnSpc>
            </a:pPr>
            <a:fld id="{2CC61FC8-4E6C-424D-BDB0-BAE60FE1ED3E}" type="datetime1">
              <a:rPr lang="en-US" spc="-25" smtClean="0"/>
              <a:t>7/8/2026</a:t>
            </a:fld>
            <a:endParaRPr lang="en-IN" spc="-25" dirty="0"/>
          </a:p>
        </p:txBody>
      </p:sp>
      <p:sp>
        <p:nvSpPr>
          <p:cNvPr id="11" name="Footer Placeholder 10">
            <a:extLst>
              <a:ext uri="{FF2B5EF4-FFF2-40B4-BE49-F238E27FC236}">
                <a16:creationId xmlns:a16="http://schemas.microsoft.com/office/drawing/2014/main" id="{82609FEB-126B-49FC-A4F1-FD274B407484}"/>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extLst>
      <p:ext uri="{BB962C8B-B14F-4D97-AF65-F5344CB8AC3E}">
        <p14:creationId xmlns:p14="http://schemas.microsoft.com/office/powerpoint/2010/main" val="13037303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060194" y="787044"/>
            <a:ext cx="8072120" cy="3809376"/>
          </a:xfrm>
          <a:prstGeom prst="rect">
            <a:avLst/>
          </a:prstGeom>
        </p:spPr>
        <p:txBody>
          <a:bodyPr vert="horz" wrap="square" lIns="0" tIns="79375" rIns="0" bIns="0" rtlCol="0">
            <a:spAutoFit/>
          </a:bodyPr>
          <a:lstStyle/>
          <a:p>
            <a:pPr marL="12700">
              <a:lnSpc>
                <a:spcPct val="100000"/>
              </a:lnSpc>
              <a:spcBef>
                <a:spcPts val="625"/>
              </a:spcBef>
            </a:pPr>
            <a:endParaRPr lang="en-US" sz="2200" dirty="0">
              <a:latin typeface="Calibri"/>
              <a:cs typeface="Calibri"/>
            </a:endParaRPr>
          </a:p>
          <a:p>
            <a:pPr marL="12700">
              <a:lnSpc>
                <a:spcPct val="100000"/>
              </a:lnSpc>
              <a:spcBef>
                <a:spcPts val="625"/>
              </a:spcBef>
            </a:pPr>
            <a:r>
              <a:rPr sz="2200" dirty="0">
                <a:latin typeface="Calibri"/>
                <a:cs typeface="Calibri"/>
              </a:rPr>
              <a:t>We</a:t>
            </a:r>
            <a:r>
              <a:rPr sz="2200" spc="-85" dirty="0">
                <a:latin typeface="Calibri"/>
                <a:cs typeface="Calibri"/>
              </a:rPr>
              <a:t> </a:t>
            </a:r>
            <a:r>
              <a:rPr sz="2200" spc="-10" dirty="0">
                <a:latin typeface="Calibri"/>
                <a:cs typeface="Calibri"/>
              </a:rPr>
              <a:t>looked</a:t>
            </a:r>
            <a:r>
              <a:rPr sz="2200" spc="-95" dirty="0">
                <a:latin typeface="Calibri"/>
                <a:cs typeface="Calibri"/>
              </a:rPr>
              <a:t> </a:t>
            </a:r>
            <a:r>
              <a:rPr sz="2200" spc="-25" dirty="0">
                <a:latin typeface="Calibri"/>
                <a:cs typeface="Calibri"/>
              </a:rPr>
              <a:t>at</a:t>
            </a:r>
            <a:endParaRPr sz="2200" dirty="0">
              <a:latin typeface="Calibri"/>
              <a:cs typeface="Calibri"/>
            </a:endParaRPr>
          </a:p>
          <a:p>
            <a:pPr marL="354965" indent="-342265">
              <a:lnSpc>
                <a:spcPct val="100000"/>
              </a:lnSpc>
              <a:spcBef>
                <a:spcPts val="530"/>
              </a:spcBef>
              <a:buFont typeface="Arial MT"/>
              <a:buChar char="•"/>
              <a:tabLst>
                <a:tab pos="354965" algn="l"/>
              </a:tabLst>
            </a:pPr>
            <a:r>
              <a:rPr sz="2000" dirty="0">
                <a:latin typeface="Times New Roman" panose="02020603050405020304" pitchFamily="18" charset="0"/>
                <a:cs typeface="Times New Roman" panose="02020603050405020304" pitchFamily="18" charset="0"/>
              </a:rPr>
              <a:t>Basic</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Introduction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5" dirty="0">
                <a:latin typeface="Times New Roman" panose="02020603050405020304" pitchFamily="18" charset="0"/>
                <a:cs typeface="Times New Roman" panose="02020603050405020304" pitchFamily="18" charset="0"/>
              </a:rPr>
              <a:t> </a:t>
            </a:r>
            <a:r>
              <a:rPr lang="en-US" sz="2000" spc="-55" dirty="0">
                <a:latin typeface="Times New Roman" panose="02020603050405020304" pitchFamily="18" charset="0"/>
                <a:cs typeface="Times New Roman" panose="02020603050405020304" pitchFamily="18" charset="0"/>
              </a:rPr>
              <a:t>GRAPHS &amp; terminology used.</a:t>
            </a:r>
            <a:endParaRPr sz="2000" dirty="0">
              <a:latin typeface="Times New Roman" panose="02020603050405020304" pitchFamily="18" charset="0"/>
              <a:cs typeface="Times New Roman" panose="02020603050405020304" pitchFamily="18" charset="0"/>
            </a:endParaRPr>
          </a:p>
          <a:p>
            <a:pPr marL="354965" indent="-342265">
              <a:lnSpc>
                <a:spcPct val="100000"/>
              </a:lnSpc>
              <a:spcBef>
                <a:spcPts val="530"/>
              </a:spcBef>
              <a:buFont typeface="Arial MT"/>
              <a:buChar char="•"/>
              <a:tabLst>
                <a:tab pos="354965" algn="l"/>
                <a:tab pos="1468120" algn="l"/>
              </a:tabLst>
            </a:pPr>
            <a:r>
              <a:rPr lang="en-US" sz="2000" dirty="0">
                <a:latin typeface="Times New Roman" panose="02020603050405020304" pitchFamily="18" charset="0"/>
                <a:cs typeface="Times New Roman" panose="02020603050405020304" pitchFamily="18" charset="0"/>
              </a:rPr>
              <a:t>Different Graphs Representation</a:t>
            </a:r>
            <a:endParaRPr sz="2000" dirty="0">
              <a:latin typeface="Times New Roman" panose="02020603050405020304" pitchFamily="18" charset="0"/>
              <a:cs typeface="Times New Roman" panose="02020603050405020304" pitchFamily="18" charset="0"/>
            </a:endParaRPr>
          </a:p>
          <a:p>
            <a:pPr marL="355600" marR="5080" indent="-342900">
              <a:lnSpc>
                <a:spcPct val="100000"/>
              </a:lnSpc>
              <a:spcBef>
                <a:spcPts val="525"/>
              </a:spcBef>
              <a:buFont typeface="Arial MT"/>
              <a:buChar char="•"/>
              <a:tabLst>
                <a:tab pos="355600" algn="l"/>
                <a:tab pos="6197600" algn="l"/>
                <a:tab pos="7150100" algn="l"/>
                <a:tab pos="771398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Graph Traversal : </a:t>
            </a:r>
            <a:r>
              <a:rPr lang="en-US" sz="2000" spc="-25" dirty="0">
                <a:latin typeface="Times New Roman" panose="02020603050405020304" pitchFamily="18" charset="0"/>
                <a:cs typeface="Times New Roman" panose="02020603050405020304" pitchFamily="18" charset="0"/>
              </a:rPr>
              <a:t>Depth first search and Breadth First search</a:t>
            </a:r>
          </a:p>
          <a:p>
            <a:pPr marL="354965" indent="-342265">
              <a:lnSpc>
                <a:spcPct val="100000"/>
              </a:lnSpc>
              <a:spcBef>
                <a:spcPts val="530"/>
              </a:spcBef>
              <a:buFont typeface="Arial MT"/>
              <a:buChar char="•"/>
              <a:tabLst>
                <a:tab pos="354965" algn="l"/>
              </a:tabLst>
            </a:pPr>
            <a:r>
              <a:rPr lang="en-US" sz="2000" dirty="0">
                <a:latin typeface="Times New Roman" panose="02020603050405020304" pitchFamily="18" charset="0"/>
                <a:cs typeface="Times New Roman" panose="02020603050405020304" pitchFamily="18" charset="0"/>
              </a:rPr>
              <a:t>Spanning Trees / Minimum Spanning Trees</a:t>
            </a:r>
            <a:endParaRPr sz="2000" dirty="0">
              <a:latin typeface="Times New Roman" panose="02020603050405020304" pitchFamily="18" charset="0"/>
              <a:cs typeface="Times New Roman" panose="02020603050405020304" pitchFamily="18" charset="0"/>
            </a:endParaRPr>
          </a:p>
          <a:p>
            <a:pPr marL="355600" marR="5080" indent="-342900">
              <a:lnSpc>
                <a:spcPct val="100000"/>
              </a:lnSpc>
              <a:spcBef>
                <a:spcPts val="530"/>
              </a:spcBef>
              <a:buFont typeface="Arial MT"/>
              <a:buChar char="•"/>
              <a:tabLst>
                <a:tab pos="355600" algn="l"/>
                <a:tab pos="1582420" algn="l"/>
                <a:tab pos="2646045" algn="l"/>
                <a:tab pos="3467735" algn="l"/>
                <a:tab pos="4057650" algn="l"/>
                <a:tab pos="4958080" algn="l"/>
                <a:tab pos="6870065" algn="l"/>
                <a:tab pos="7357745"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Prim’ s and Kruskal’s algorithm</a:t>
            </a:r>
            <a:r>
              <a:rPr sz="2000" spc="-1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54965" indent="-342265">
              <a:lnSpc>
                <a:spcPct val="100000"/>
              </a:lnSpc>
              <a:spcBef>
                <a:spcPts val="530"/>
              </a:spcBef>
              <a:buFont typeface="Arial MT"/>
              <a:buChar char="•"/>
              <a:tabLst>
                <a:tab pos="354965"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Dijkstra Algorithm</a:t>
            </a:r>
          </a:p>
          <a:p>
            <a:pPr marL="354965" indent="-342265">
              <a:lnSpc>
                <a:spcPct val="100000"/>
              </a:lnSpc>
              <a:spcBef>
                <a:spcPts val="530"/>
              </a:spcBef>
              <a:buFont typeface="Arial MT"/>
              <a:buChar char="•"/>
              <a:tabLst>
                <a:tab pos="354965"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Bellman Ford Algorithm</a:t>
            </a:r>
          </a:p>
          <a:p>
            <a:pPr marL="354965" indent="-342265">
              <a:lnSpc>
                <a:spcPct val="100000"/>
              </a:lnSpc>
              <a:spcBef>
                <a:spcPts val="530"/>
              </a:spcBef>
              <a:buFont typeface="Arial MT"/>
              <a:buChar char="•"/>
              <a:tabLst>
                <a:tab pos="354965"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Floyd Warshall’s Algorithm</a:t>
            </a:r>
            <a:endParaRPr sz="2000"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2848355" y="0"/>
            <a:ext cx="9344025" cy="972819"/>
            <a:chOff x="2848355" y="0"/>
            <a:chExt cx="9344025" cy="972819"/>
          </a:xfrm>
        </p:grpSpPr>
        <p:pic>
          <p:nvPicPr>
            <p:cNvPr id="4" name="object 4"/>
            <p:cNvPicPr/>
            <p:nvPr/>
          </p:nvPicPr>
          <p:blipFill>
            <a:blip r:embed="rId2" cstate="print"/>
            <a:stretch>
              <a:fillRect/>
            </a:stretch>
          </p:blipFill>
          <p:spPr>
            <a:xfrm>
              <a:off x="2848355" y="0"/>
              <a:ext cx="9343644" cy="972312"/>
            </a:xfrm>
            <a:prstGeom prst="rect">
              <a:avLst/>
            </a:prstGeom>
          </p:spPr>
        </p:pic>
        <p:pic>
          <p:nvPicPr>
            <p:cNvPr id="5" name="object 5"/>
            <p:cNvPicPr/>
            <p:nvPr/>
          </p:nvPicPr>
          <p:blipFill>
            <a:blip r:embed="rId3" cstate="print"/>
            <a:stretch>
              <a:fillRect/>
            </a:stretch>
          </p:blipFill>
          <p:spPr>
            <a:xfrm>
              <a:off x="6600444" y="111252"/>
              <a:ext cx="1879092" cy="827532"/>
            </a:xfrm>
            <a:prstGeom prst="rect">
              <a:avLst/>
            </a:prstGeom>
          </p:spPr>
        </p:pic>
        <p:pic>
          <p:nvPicPr>
            <p:cNvPr id="6" name="object 6"/>
            <p:cNvPicPr/>
            <p:nvPr/>
          </p:nvPicPr>
          <p:blipFill>
            <a:blip r:embed="rId4" cstate="print"/>
            <a:stretch>
              <a:fillRect/>
            </a:stretch>
          </p:blipFill>
          <p:spPr>
            <a:xfrm>
              <a:off x="2895599" y="25"/>
              <a:ext cx="9296400" cy="909040"/>
            </a:xfrm>
            <a:prstGeom prst="rect">
              <a:avLst/>
            </a:prstGeom>
          </p:spPr>
        </p:pic>
      </p:grpSp>
      <p:sp>
        <p:nvSpPr>
          <p:cNvPr id="7" name="object 7"/>
          <p:cNvSpPr txBox="1">
            <a:spLocks noGrp="1"/>
          </p:cNvSpPr>
          <p:nvPr>
            <p:ph type="title"/>
          </p:nvPr>
        </p:nvSpPr>
        <p:spPr>
          <a:xfrm>
            <a:off x="2895600" y="25"/>
            <a:ext cx="9296400" cy="909319"/>
          </a:xfrm>
          <a:prstGeom prst="rect">
            <a:avLst/>
          </a:prstGeom>
          <a:ln w="9525">
            <a:solidFill>
              <a:srgbClr val="46AAC5"/>
            </a:solidFill>
          </a:ln>
        </p:spPr>
        <p:txBody>
          <a:bodyPr vert="horz" wrap="square" lIns="0" tIns="217804" rIns="0" bIns="0" rtlCol="0">
            <a:spAutoFit/>
          </a:bodyPr>
          <a:lstStyle/>
          <a:p>
            <a:pPr marL="635" algn="ctr">
              <a:lnSpc>
                <a:spcPct val="100000"/>
              </a:lnSpc>
              <a:spcBef>
                <a:spcPts val="1714"/>
              </a:spcBef>
            </a:pPr>
            <a:r>
              <a:rPr sz="2800" spc="-10" dirty="0">
                <a:latin typeface="Calibri"/>
                <a:cs typeface="Calibri"/>
              </a:rPr>
              <a:t>Summary</a:t>
            </a:r>
            <a:endParaRPr sz="2800">
              <a:latin typeface="Calibri"/>
              <a:cs typeface="Calibri"/>
            </a:endParaRPr>
          </a:p>
        </p:txBody>
      </p:sp>
      <p:pic>
        <p:nvPicPr>
          <p:cNvPr id="8" name="object 8"/>
          <p:cNvPicPr/>
          <p:nvPr/>
        </p:nvPicPr>
        <p:blipFill>
          <a:blip r:embed="rId5" cstate="print"/>
          <a:stretch>
            <a:fillRect/>
          </a:stretch>
        </p:blipFill>
        <p:spPr>
          <a:xfrm>
            <a:off x="0" y="25"/>
            <a:ext cx="2590799" cy="947267"/>
          </a:xfrm>
          <a:prstGeom prst="rect">
            <a:avLst/>
          </a:prstGeom>
        </p:spPr>
      </p:pic>
      <p:sp>
        <p:nvSpPr>
          <p:cNvPr id="9" name="Date Placeholder 8">
            <a:extLst>
              <a:ext uri="{FF2B5EF4-FFF2-40B4-BE49-F238E27FC236}">
                <a16:creationId xmlns:a16="http://schemas.microsoft.com/office/drawing/2014/main" id="{E72D4DE7-D3F5-4C3F-BD0B-A3A2E49FA1C1}"/>
              </a:ext>
            </a:extLst>
          </p:cNvPr>
          <p:cNvSpPr>
            <a:spLocks noGrp="1"/>
          </p:cNvSpPr>
          <p:nvPr>
            <p:ph type="dt" sz="half" idx="6"/>
          </p:nvPr>
        </p:nvSpPr>
        <p:spPr/>
        <p:txBody>
          <a:bodyPr/>
          <a:lstStyle/>
          <a:p>
            <a:pPr marL="12700">
              <a:lnSpc>
                <a:spcPts val="1240"/>
              </a:lnSpc>
            </a:pPr>
            <a:fld id="{FC857F58-D999-41FA-8118-222B8D233EEF}" type="datetime1">
              <a:rPr lang="en-US" spc="-25" smtClean="0"/>
              <a:t>7/8/2026</a:t>
            </a:fld>
            <a:endParaRPr lang="en-IN" spc="-25" dirty="0"/>
          </a:p>
        </p:txBody>
      </p:sp>
      <p:sp>
        <p:nvSpPr>
          <p:cNvPr id="10" name="Footer Placeholder 9">
            <a:extLst>
              <a:ext uri="{FF2B5EF4-FFF2-40B4-BE49-F238E27FC236}">
                <a16:creationId xmlns:a16="http://schemas.microsoft.com/office/drawing/2014/main" id="{6B4C3F8A-BCB1-401A-A795-43024646C01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52601" y="1371600"/>
            <a:ext cx="8241982" cy="3552254"/>
          </a:xfrm>
          <a:prstGeom prst="rect">
            <a:avLst/>
          </a:prstGeom>
        </p:spPr>
        <p:txBody>
          <a:bodyPr vert="horz" wrap="square" lIns="0" tIns="12700" rIns="0" bIns="0" rtlCol="0">
            <a:spAutoFit/>
          </a:bodyPr>
          <a:lstStyle/>
          <a:p>
            <a:pPr marL="342900" lvl="0" indent="-342900">
              <a:lnSpc>
                <a:spcPct val="115000"/>
              </a:lnSpc>
              <a:spcAft>
                <a:spcPts val="0"/>
              </a:spcAft>
              <a:buFont typeface="Arial" panose="020B0604020202020204" pitchFamily="34" charset="0"/>
              <a:buChar char="•"/>
            </a:pPr>
            <a:r>
              <a:rPr lang="en-US" sz="2000" dirty="0">
                <a:latin typeface="+mj-lt"/>
                <a:ea typeface="Calibri" panose="020F0502020204030204" pitchFamily="34" charset="0"/>
                <a:cs typeface="Times New Roman" panose="02020603050405020304" pitchFamily="18" charset="0"/>
              </a:rPr>
              <a:t>Thomas H. </a:t>
            </a:r>
            <a:r>
              <a:rPr lang="en-US" sz="2000" dirty="0" err="1">
                <a:latin typeface="+mj-lt"/>
                <a:ea typeface="Calibri" panose="020F0502020204030204" pitchFamily="34" charset="0"/>
                <a:cs typeface="Times New Roman" panose="02020603050405020304" pitchFamily="18" charset="0"/>
              </a:rPr>
              <a:t>Coreman</a:t>
            </a:r>
            <a:r>
              <a:rPr lang="en-US" sz="2000" dirty="0">
                <a:latin typeface="+mj-lt"/>
                <a:ea typeface="Calibri" panose="020F0502020204030204" pitchFamily="34" charset="0"/>
                <a:cs typeface="Times New Roman" panose="02020603050405020304" pitchFamily="18" charset="0"/>
              </a:rPr>
              <a:t>, Charles E. </a:t>
            </a:r>
            <a:r>
              <a:rPr lang="en-US" sz="2000" dirty="0" err="1">
                <a:latin typeface="+mj-lt"/>
                <a:ea typeface="Calibri" panose="020F0502020204030204" pitchFamily="34" charset="0"/>
                <a:cs typeface="Times New Roman" panose="02020603050405020304" pitchFamily="18" charset="0"/>
              </a:rPr>
              <a:t>Leiserson</a:t>
            </a:r>
            <a:r>
              <a:rPr lang="en-US" sz="2000" dirty="0">
                <a:latin typeface="+mj-lt"/>
                <a:ea typeface="Calibri" panose="020F0502020204030204" pitchFamily="34" charset="0"/>
                <a:cs typeface="Times New Roman" panose="02020603050405020304" pitchFamily="18" charset="0"/>
              </a:rPr>
              <a:t> and Ronald L. Rivest, “Introduction to </a:t>
            </a:r>
            <a:endParaRPr lang="en-IN" sz="2000" dirty="0">
              <a:latin typeface="+mj-lt"/>
              <a:ea typeface="Calibri" panose="020F0502020204030204" pitchFamily="34" charset="0"/>
              <a:cs typeface="Times New Roman" panose="02020603050405020304" pitchFamily="18" charset="0"/>
            </a:endParaRPr>
          </a:p>
          <a:p>
            <a:pPr marL="457200">
              <a:lnSpc>
                <a:spcPct val="115000"/>
              </a:lnSpc>
              <a:spcAft>
                <a:spcPts val="0"/>
              </a:spcAft>
            </a:pPr>
            <a:r>
              <a:rPr lang="en-US" sz="2000" dirty="0">
                <a:latin typeface="+mj-lt"/>
                <a:ea typeface="Calibri" panose="020F0502020204030204" pitchFamily="34" charset="0"/>
                <a:cs typeface="Times New Roman" panose="02020603050405020304" pitchFamily="18" charset="0"/>
              </a:rPr>
              <a:t>Algorithms”, </a:t>
            </a:r>
            <a:r>
              <a:rPr lang="en-US" sz="2000" dirty="0" err="1">
                <a:latin typeface="+mj-lt"/>
                <a:ea typeface="Calibri" panose="020F0502020204030204" pitchFamily="34" charset="0"/>
                <a:cs typeface="Times New Roman" panose="02020603050405020304" pitchFamily="18" charset="0"/>
              </a:rPr>
              <a:t>Printice</a:t>
            </a:r>
            <a:r>
              <a:rPr lang="en-US" sz="2000" dirty="0">
                <a:latin typeface="+mj-lt"/>
                <a:ea typeface="Calibri" panose="020F0502020204030204" pitchFamily="34" charset="0"/>
                <a:cs typeface="Times New Roman" panose="02020603050405020304" pitchFamily="18" charset="0"/>
              </a:rPr>
              <a:t> Hall of India.</a:t>
            </a:r>
            <a:endParaRPr lang="en-IN"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0"/>
              </a:spcAft>
              <a:buFont typeface="Arial" panose="020B0604020202020204" pitchFamily="34" charset="0"/>
              <a:buChar char="•"/>
            </a:pPr>
            <a:r>
              <a:rPr lang="en-US" sz="2000" dirty="0">
                <a:latin typeface="+mj-lt"/>
                <a:ea typeface="Calibri" panose="020F0502020204030204" pitchFamily="34" charset="0"/>
                <a:cs typeface="Times New Roman" panose="02020603050405020304" pitchFamily="18" charset="0"/>
              </a:rPr>
              <a:t>E. Horowitz &amp; S Sahni, "Fundamentals of Computer Algorithms", </a:t>
            </a:r>
            <a:endParaRPr lang="en-IN"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0"/>
              </a:spcAft>
              <a:buFont typeface="Arial" panose="020B0604020202020204" pitchFamily="34" charset="0"/>
              <a:buChar char="•"/>
            </a:pPr>
            <a:r>
              <a:rPr lang="en-US" sz="2000" dirty="0">
                <a:latin typeface="+mj-lt"/>
                <a:ea typeface="Calibri" panose="020F0502020204030204" pitchFamily="34" charset="0"/>
                <a:cs typeface="Times New Roman" panose="02020603050405020304" pitchFamily="18" charset="0"/>
              </a:rPr>
              <a:t>Aho, Hopcraft, Ullman, “The Design and Analysis of Computer Algorithms” Pearson Education, 2008.</a:t>
            </a:r>
            <a:endParaRPr lang="en-IN"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0"/>
              </a:spcAft>
              <a:buFont typeface="Arial" panose="020B0604020202020204" pitchFamily="34" charset="0"/>
              <a:buChar char="•"/>
            </a:pPr>
            <a:r>
              <a:rPr lang="en-US" sz="2000" dirty="0">
                <a:latin typeface="+mj-lt"/>
                <a:ea typeface="Calibri" panose="020F0502020204030204" pitchFamily="34" charset="0"/>
                <a:cs typeface="Times New Roman" panose="02020603050405020304" pitchFamily="18" charset="0"/>
              </a:rPr>
              <a:t>LEE “Design &amp; Analysis of Algorithms(POD)”, McGraw Hill</a:t>
            </a:r>
            <a:endParaRPr lang="en-IN"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0"/>
              </a:spcAft>
              <a:buFont typeface="Arial" panose="020B0604020202020204" pitchFamily="34" charset="0"/>
              <a:buChar char="•"/>
            </a:pPr>
            <a:r>
              <a:rPr lang="en-US" sz="2000" dirty="0">
                <a:latin typeface="+mj-lt"/>
                <a:ea typeface="Calibri" panose="020F0502020204030204" pitchFamily="34" charset="0"/>
                <a:cs typeface="Times New Roman" panose="02020603050405020304" pitchFamily="18" charset="0"/>
              </a:rPr>
              <a:t>Richard </a:t>
            </a:r>
            <a:r>
              <a:rPr lang="en-US" sz="2000" dirty="0" err="1">
                <a:latin typeface="+mj-lt"/>
                <a:ea typeface="Calibri" panose="020F0502020204030204" pitchFamily="34" charset="0"/>
                <a:cs typeface="Times New Roman" panose="02020603050405020304" pitchFamily="18" charset="0"/>
              </a:rPr>
              <a:t>E.Neopolitan</a:t>
            </a:r>
            <a:r>
              <a:rPr lang="en-US" sz="2000" dirty="0">
                <a:latin typeface="+mj-lt"/>
                <a:ea typeface="Calibri" panose="020F0502020204030204" pitchFamily="34" charset="0"/>
                <a:cs typeface="Times New Roman" panose="02020603050405020304" pitchFamily="18" charset="0"/>
              </a:rPr>
              <a:t> ‘Foundations of Algorithms” Jones &amp; Bartlett Learning.</a:t>
            </a:r>
            <a:endParaRPr lang="en-IN"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Arial" panose="020B0604020202020204" pitchFamily="34" charset="0"/>
              <a:buChar char="•"/>
            </a:pPr>
            <a:r>
              <a:rPr lang="en-US" sz="2000" dirty="0">
                <a:latin typeface="+mj-lt"/>
                <a:ea typeface="Calibri" panose="020F0502020204030204" pitchFamily="34" charset="0"/>
                <a:cs typeface="Times New Roman" panose="02020603050405020304" pitchFamily="18" charset="0"/>
              </a:rPr>
              <a:t>Gilles Brassard and Paul Bratley, Algorithmics: Theory and Practice, Prentice Hall, 1995.</a:t>
            </a:r>
            <a:endParaRPr lang="en-IN" sz="2000" dirty="0">
              <a:latin typeface="+mj-lt"/>
              <a:ea typeface="Calibri" panose="020F0502020204030204" pitchFamily="34" charset="0"/>
              <a:cs typeface="Times New Roman" panose="02020603050405020304" pitchFamily="18" charset="0"/>
            </a:endParaRPr>
          </a:p>
        </p:txBody>
      </p:sp>
      <p:pic>
        <p:nvPicPr>
          <p:cNvPr id="3" name="object 3"/>
          <p:cNvPicPr/>
          <p:nvPr/>
        </p:nvPicPr>
        <p:blipFill>
          <a:blip r:embed="rId2" cstate="print"/>
          <a:stretch>
            <a:fillRect/>
          </a:stretch>
        </p:blipFill>
        <p:spPr>
          <a:xfrm>
            <a:off x="114300" y="25"/>
            <a:ext cx="2400299" cy="947267"/>
          </a:xfrm>
          <a:prstGeom prst="rect">
            <a:avLst/>
          </a:prstGeom>
        </p:spPr>
      </p:pic>
      <p:grpSp>
        <p:nvGrpSpPr>
          <p:cNvPr id="4" name="object 4"/>
          <p:cNvGrpSpPr/>
          <p:nvPr/>
        </p:nvGrpSpPr>
        <p:grpSpPr>
          <a:xfrm>
            <a:off x="2857492" y="12110"/>
            <a:ext cx="9291955" cy="989330"/>
            <a:chOff x="2857492" y="12110"/>
            <a:chExt cx="9291955" cy="989330"/>
          </a:xfrm>
        </p:grpSpPr>
        <p:pic>
          <p:nvPicPr>
            <p:cNvPr id="5" name="object 5"/>
            <p:cNvPicPr/>
            <p:nvPr/>
          </p:nvPicPr>
          <p:blipFill>
            <a:blip r:embed="rId3" cstate="print"/>
            <a:stretch>
              <a:fillRect/>
            </a:stretch>
          </p:blipFill>
          <p:spPr>
            <a:xfrm>
              <a:off x="2857492" y="12110"/>
              <a:ext cx="9291842" cy="989225"/>
            </a:xfrm>
            <a:prstGeom prst="rect">
              <a:avLst/>
            </a:prstGeom>
          </p:spPr>
        </p:pic>
        <p:pic>
          <p:nvPicPr>
            <p:cNvPr id="6" name="object 6"/>
            <p:cNvPicPr/>
            <p:nvPr/>
          </p:nvPicPr>
          <p:blipFill>
            <a:blip r:embed="rId4" cstate="print"/>
            <a:stretch>
              <a:fillRect/>
            </a:stretch>
          </p:blipFill>
          <p:spPr>
            <a:xfrm>
              <a:off x="6455663" y="146304"/>
              <a:ext cx="2173224" cy="827532"/>
            </a:xfrm>
            <a:prstGeom prst="rect">
              <a:avLst/>
            </a:prstGeom>
          </p:spPr>
        </p:pic>
        <p:pic>
          <p:nvPicPr>
            <p:cNvPr id="7" name="object 7"/>
            <p:cNvPicPr/>
            <p:nvPr/>
          </p:nvPicPr>
          <p:blipFill>
            <a:blip r:embed="rId5" cstate="print"/>
            <a:stretch>
              <a:fillRect/>
            </a:stretch>
          </p:blipFill>
          <p:spPr>
            <a:xfrm>
              <a:off x="2895599" y="30861"/>
              <a:ext cx="9220200" cy="916432"/>
            </a:xfrm>
            <a:prstGeom prst="rect">
              <a:avLst/>
            </a:prstGeom>
          </p:spPr>
        </p:pic>
      </p:grpSp>
      <p:sp>
        <p:nvSpPr>
          <p:cNvPr id="8" name="object 8"/>
          <p:cNvSpPr txBox="1">
            <a:spLocks noGrp="1"/>
          </p:cNvSpPr>
          <p:nvPr>
            <p:ph type="title"/>
          </p:nvPr>
        </p:nvSpPr>
        <p:spPr>
          <a:xfrm>
            <a:off x="2895600" y="30861"/>
            <a:ext cx="9220200" cy="916940"/>
          </a:xfrm>
          <a:prstGeom prst="rect">
            <a:avLst/>
          </a:prstGeom>
          <a:ln w="9525">
            <a:solidFill>
              <a:srgbClr val="46AAC5"/>
            </a:solidFill>
          </a:ln>
        </p:spPr>
        <p:txBody>
          <a:bodyPr vert="horz" wrap="square" lIns="0" tIns="221615" rIns="0" bIns="0" rtlCol="0">
            <a:spAutoFit/>
          </a:bodyPr>
          <a:lstStyle/>
          <a:p>
            <a:pPr algn="ctr">
              <a:lnSpc>
                <a:spcPct val="100000"/>
              </a:lnSpc>
              <a:spcBef>
                <a:spcPts val="1745"/>
              </a:spcBef>
            </a:pPr>
            <a:r>
              <a:rPr sz="2800" spc="-10" dirty="0">
                <a:latin typeface="Calibri"/>
                <a:cs typeface="Calibri"/>
              </a:rPr>
              <a:t>References</a:t>
            </a:r>
            <a:endParaRPr sz="2800" dirty="0">
              <a:latin typeface="Calibri"/>
              <a:cs typeface="Calibri"/>
            </a:endParaRPr>
          </a:p>
        </p:txBody>
      </p:sp>
      <p:sp>
        <p:nvSpPr>
          <p:cNvPr id="9" name="Date Placeholder 8">
            <a:extLst>
              <a:ext uri="{FF2B5EF4-FFF2-40B4-BE49-F238E27FC236}">
                <a16:creationId xmlns:a16="http://schemas.microsoft.com/office/drawing/2014/main" id="{0571BACC-EAAB-49B0-900D-3E95B32EC2F5}"/>
              </a:ext>
            </a:extLst>
          </p:cNvPr>
          <p:cNvSpPr>
            <a:spLocks noGrp="1"/>
          </p:cNvSpPr>
          <p:nvPr>
            <p:ph type="dt" sz="half" idx="6"/>
          </p:nvPr>
        </p:nvSpPr>
        <p:spPr/>
        <p:txBody>
          <a:bodyPr/>
          <a:lstStyle/>
          <a:p>
            <a:pPr marL="12700">
              <a:lnSpc>
                <a:spcPts val="1240"/>
              </a:lnSpc>
            </a:pPr>
            <a:fld id="{F3FAC086-D518-4804-A7EA-65F429B92EC5}" type="datetime1">
              <a:rPr lang="en-US" spc="-25" smtClean="0"/>
              <a:t>7/8/2026</a:t>
            </a:fld>
            <a:endParaRPr lang="en-IN" spc="-25" dirty="0"/>
          </a:p>
        </p:txBody>
      </p:sp>
      <p:sp>
        <p:nvSpPr>
          <p:cNvPr id="10" name="Footer Placeholder 9">
            <a:extLst>
              <a:ext uri="{FF2B5EF4-FFF2-40B4-BE49-F238E27FC236}">
                <a16:creationId xmlns:a16="http://schemas.microsoft.com/office/drawing/2014/main" id="{B5B70932-53F9-4D85-9F28-0CECDB891FE5}"/>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931735" y="1524000"/>
            <a:ext cx="5375529" cy="2944876"/>
            <a:chOff x="4378071" y="1398524"/>
            <a:chExt cx="3541395" cy="589915"/>
          </a:xfrm>
        </p:grpSpPr>
        <p:pic>
          <p:nvPicPr>
            <p:cNvPr id="3" name="object 3"/>
            <p:cNvPicPr/>
            <p:nvPr/>
          </p:nvPicPr>
          <p:blipFill>
            <a:blip r:embed="rId2" cstate="print"/>
            <a:stretch>
              <a:fillRect/>
            </a:stretch>
          </p:blipFill>
          <p:spPr>
            <a:xfrm>
              <a:off x="4383405" y="1403858"/>
              <a:ext cx="3530727" cy="579119"/>
            </a:xfrm>
            <a:prstGeom prst="rect">
              <a:avLst/>
            </a:prstGeom>
          </p:spPr>
        </p:pic>
        <p:pic>
          <p:nvPicPr>
            <p:cNvPr id="4" name="object 4"/>
            <p:cNvPicPr/>
            <p:nvPr/>
          </p:nvPicPr>
          <p:blipFill>
            <a:blip r:embed="rId3" cstate="print"/>
            <a:stretch>
              <a:fillRect/>
            </a:stretch>
          </p:blipFill>
          <p:spPr>
            <a:xfrm>
              <a:off x="5367020" y="1799209"/>
              <a:ext cx="142367" cy="116205"/>
            </a:xfrm>
            <a:prstGeom prst="rect">
              <a:avLst/>
            </a:prstGeom>
          </p:spPr>
        </p:pic>
        <p:sp>
          <p:nvSpPr>
            <p:cNvPr id="5" name="object 5"/>
            <p:cNvSpPr/>
            <p:nvPr/>
          </p:nvSpPr>
          <p:spPr>
            <a:xfrm>
              <a:off x="4383405" y="1403858"/>
              <a:ext cx="3531235" cy="579120"/>
            </a:xfrm>
            <a:custGeom>
              <a:avLst/>
              <a:gdLst/>
              <a:ahLst/>
              <a:cxnLst/>
              <a:rect l="l" t="t" r="r" b="b"/>
              <a:pathLst>
                <a:path w="3531234" h="579119">
                  <a:moveTo>
                    <a:pt x="2907792" y="248792"/>
                  </a:moveTo>
                  <a:lnTo>
                    <a:pt x="2867660" y="257301"/>
                  </a:lnTo>
                  <a:lnTo>
                    <a:pt x="2834276" y="290314"/>
                  </a:lnTo>
                  <a:lnTo>
                    <a:pt x="2820421" y="332414"/>
                  </a:lnTo>
                  <a:lnTo>
                    <a:pt x="2817368" y="372490"/>
                  </a:lnTo>
                  <a:lnTo>
                    <a:pt x="2817651" y="385679"/>
                  </a:lnTo>
                  <a:lnTo>
                    <a:pt x="2824434" y="433123"/>
                  </a:lnTo>
                  <a:lnTo>
                    <a:pt x="2841843" y="469570"/>
                  </a:lnTo>
                  <a:lnTo>
                    <a:pt x="2882820" y="494538"/>
                  </a:lnTo>
                  <a:lnTo>
                    <a:pt x="2906141" y="496824"/>
                  </a:lnTo>
                  <a:lnTo>
                    <a:pt x="2917400" y="496300"/>
                  </a:lnTo>
                  <a:lnTo>
                    <a:pt x="2954845" y="483776"/>
                  </a:lnTo>
                  <a:lnTo>
                    <a:pt x="2984468" y="446484"/>
                  </a:lnTo>
                  <a:lnTo>
                    <a:pt x="2995231" y="401161"/>
                  </a:lnTo>
                  <a:lnTo>
                    <a:pt x="2996565" y="373633"/>
                  </a:lnTo>
                  <a:lnTo>
                    <a:pt x="2996301" y="360445"/>
                  </a:lnTo>
                  <a:lnTo>
                    <a:pt x="2989770" y="313001"/>
                  </a:lnTo>
                  <a:lnTo>
                    <a:pt x="2972218" y="276552"/>
                  </a:lnTo>
                  <a:lnTo>
                    <a:pt x="2931382" y="251174"/>
                  </a:lnTo>
                  <a:lnTo>
                    <a:pt x="2907792" y="248792"/>
                  </a:lnTo>
                  <a:close/>
                </a:path>
                <a:path w="3531234" h="579119">
                  <a:moveTo>
                    <a:pt x="3233674" y="174370"/>
                  </a:moveTo>
                  <a:lnTo>
                    <a:pt x="3243706" y="174370"/>
                  </a:lnTo>
                  <a:lnTo>
                    <a:pt x="3252089" y="174751"/>
                  </a:lnTo>
                  <a:lnTo>
                    <a:pt x="3258566" y="175387"/>
                  </a:lnTo>
                  <a:lnTo>
                    <a:pt x="3265170" y="176021"/>
                  </a:lnTo>
                  <a:lnTo>
                    <a:pt x="3270377" y="177037"/>
                  </a:lnTo>
                  <a:lnTo>
                    <a:pt x="3274314" y="178434"/>
                  </a:lnTo>
                  <a:lnTo>
                    <a:pt x="3278378" y="179831"/>
                  </a:lnTo>
                  <a:lnTo>
                    <a:pt x="3281172" y="181482"/>
                  </a:lnTo>
                  <a:lnTo>
                    <a:pt x="3282696" y="183514"/>
                  </a:lnTo>
                  <a:lnTo>
                    <a:pt x="3284347" y="185674"/>
                  </a:lnTo>
                  <a:lnTo>
                    <a:pt x="3285236" y="187959"/>
                  </a:lnTo>
                  <a:lnTo>
                    <a:pt x="3285236" y="190753"/>
                  </a:lnTo>
                  <a:lnTo>
                    <a:pt x="3285236" y="397001"/>
                  </a:lnTo>
                  <a:lnTo>
                    <a:pt x="3288919" y="440816"/>
                  </a:lnTo>
                  <a:lnTo>
                    <a:pt x="3308746" y="476376"/>
                  </a:lnTo>
                  <a:lnTo>
                    <a:pt x="3346577" y="489457"/>
                  </a:lnTo>
                  <a:lnTo>
                    <a:pt x="3356409" y="488574"/>
                  </a:lnTo>
                  <a:lnTo>
                    <a:pt x="3396166" y="467205"/>
                  </a:lnTo>
                  <a:lnTo>
                    <a:pt x="3428492" y="433450"/>
                  </a:lnTo>
                  <a:lnTo>
                    <a:pt x="3428492" y="190753"/>
                  </a:lnTo>
                  <a:lnTo>
                    <a:pt x="3428492" y="187959"/>
                  </a:lnTo>
                  <a:lnTo>
                    <a:pt x="3454654" y="175387"/>
                  </a:lnTo>
                  <a:lnTo>
                    <a:pt x="3461258" y="174751"/>
                  </a:lnTo>
                  <a:lnTo>
                    <a:pt x="3469513" y="174370"/>
                  </a:lnTo>
                  <a:lnTo>
                    <a:pt x="3479673" y="174370"/>
                  </a:lnTo>
                  <a:lnTo>
                    <a:pt x="3489705" y="174370"/>
                  </a:lnTo>
                  <a:lnTo>
                    <a:pt x="3498088" y="174751"/>
                  </a:lnTo>
                  <a:lnTo>
                    <a:pt x="3504565" y="175387"/>
                  </a:lnTo>
                  <a:lnTo>
                    <a:pt x="3511169" y="176021"/>
                  </a:lnTo>
                  <a:lnTo>
                    <a:pt x="3530727" y="187959"/>
                  </a:lnTo>
                  <a:lnTo>
                    <a:pt x="3530727" y="190753"/>
                  </a:lnTo>
                  <a:lnTo>
                    <a:pt x="3530727" y="555751"/>
                  </a:lnTo>
                  <a:lnTo>
                    <a:pt x="3530727" y="558545"/>
                  </a:lnTo>
                  <a:lnTo>
                    <a:pt x="3530092" y="560958"/>
                  </a:lnTo>
                  <a:lnTo>
                    <a:pt x="3528695" y="562990"/>
                  </a:lnTo>
                  <a:lnTo>
                    <a:pt x="3527425" y="565022"/>
                  </a:lnTo>
                  <a:lnTo>
                    <a:pt x="3525012" y="566674"/>
                  </a:lnTo>
                  <a:lnTo>
                    <a:pt x="3521583" y="568070"/>
                  </a:lnTo>
                  <a:lnTo>
                    <a:pt x="3518154" y="569467"/>
                  </a:lnTo>
                  <a:lnTo>
                    <a:pt x="3513709" y="570483"/>
                  </a:lnTo>
                  <a:lnTo>
                    <a:pt x="3508121" y="571118"/>
                  </a:lnTo>
                  <a:lnTo>
                    <a:pt x="3502533" y="571880"/>
                  </a:lnTo>
                  <a:lnTo>
                    <a:pt x="3495421" y="572134"/>
                  </a:lnTo>
                  <a:lnTo>
                    <a:pt x="3487039" y="572134"/>
                  </a:lnTo>
                  <a:lnTo>
                    <a:pt x="3478022" y="572134"/>
                  </a:lnTo>
                  <a:lnTo>
                    <a:pt x="3470655" y="571880"/>
                  </a:lnTo>
                  <a:lnTo>
                    <a:pt x="3465068" y="571118"/>
                  </a:lnTo>
                  <a:lnTo>
                    <a:pt x="3459479" y="570483"/>
                  </a:lnTo>
                  <a:lnTo>
                    <a:pt x="3444875" y="562990"/>
                  </a:lnTo>
                  <a:lnTo>
                    <a:pt x="3443478" y="560958"/>
                  </a:lnTo>
                  <a:lnTo>
                    <a:pt x="3442843" y="558545"/>
                  </a:lnTo>
                  <a:lnTo>
                    <a:pt x="3442843" y="555751"/>
                  </a:lnTo>
                  <a:lnTo>
                    <a:pt x="3442843" y="513714"/>
                  </a:lnTo>
                  <a:lnTo>
                    <a:pt x="3412283" y="542274"/>
                  </a:lnTo>
                  <a:lnTo>
                    <a:pt x="3365410" y="569904"/>
                  </a:lnTo>
                  <a:lnTo>
                    <a:pt x="3316351" y="579119"/>
                  </a:lnTo>
                  <a:lnTo>
                    <a:pt x="3298253" y="578356"/>
                  </a:lnTo>
                  <a:lnTo>
                    <a:pt x="3253104" y="566801"/>
                  </a:lnTo>
                  <a:lnTo>
                    <a:pt x="3220225" y="543369"/>
                  </a:lnTo>
                  <a:lnTo>
                    <a:pt x="3198272" y="510301"/>
                  </a:lnTo>
                  <a:lnTo>
                    <a:pt x="3186297" y="469136"/>
                  </a:lnTo>
                  <a:lnTo>
                    <a:pt x="3182493" y="414146"/>
                  </a:lnTo>
                  <a:lnTo>
                    <a:pt x="3182493" y="190753"/>
                  </a:lnTo>
                  <a:lnTo>
                    <a:pt x="3182493" y="187959"/>
                  </a:lnTo>
                  <a:lnTo>
                    <a:pt x="3183254" y="185674"/>
                  </a:lnTo>
                  <a:lnTo>
                    <a:pt x="3184779" y="183514"/>
                  </a:lnTo>
                  <a:lnTo>
                    <a:pt x="3186176" y="181482"/>
                  </a:lnTo>
                  <a:lnTo>
                    <a:pt x="3208909" y="175387"/>
                  </a:lnTo>
                  <a:lnTo>
                    <a:pt x="3215513" y="174751"/>
                  </a:lnTo>
                  <a:lnTo>
                    <a:pt x="3223768" y="174370"/>
                  </a:lnTo>
                  <a:lnTo>
                    <a:pt x="3233674" y="174370"/>
                  </a:lnTo>
                  <a:close/>
                </a:path>
                <a:path w="3531234" h="579119">
                  <a:moveTo>
                    <a:pt x="2911475" y="167386"/>
                  </a:moveTo>
                  <a:lnTo>
                    <a:pt x="2957306" y="170719"/>
                  </a:lnTo>
                  <a:lnTo>
                    <a:pt x="2996565" y="180720"/>
                  </a:lnTo>
                  <a:lnTo>
                    <a:pt x="3043606" y="207688"/>
                  </a:lnTo>
                  <a:lnTo>
                    <a:pt x="3076654" y="248523"/>
                  </a:lnTo>
                  <a:lnTo>
                    <a:pt x="3096180" y="302740"/>
                  </a:lnTo>
                  <a:lnTo>
                    <a:pt x="3101895" y="345896"/>
                  </a:lnTo>
                  <a:lnTo>
                    <a:pt x="3102610" y="369569"/>
                  </a:lnTo>
                  <a:lnTo>
                    <a:pt x="3101846" y="392384"/>
                  </a:lnTo>
                  <a:lnTo>
                    <a:pt x="3095698" y="434917"/>
                  </a:lnTo>
                  <a:lnTo>
                    <a:pt x="3083387" y="473235"/>
                  </a:lnTo>
                  <a:lnTo>
                    <a:pt x="3053079" y="521080"/>
                  </a:lnTo>
                  <a:lnTo>
                    <a:pt x="3008520" y="555621"/>
                  </a:lnTo>
                  <a:lnTo>
                    <a:pt x="2970823" y="570601"/>
                  </a:lnTo>
                  <a:lnTo>
                    <a:pt x="2926818" y="578169"/>
                  </a:lnTo>
                  <a:lnTo>
                    <a:pt x="2902458" y="579119"/>
                  </a:lnTo>
                  <a:lnTo>
                    <a:pt x="2878881" y="578284"/>
                  </a:lnTo>
                  <a:lnTo>
                    <a:pt x="2836539" y="571565"/>
                  </a:lnTo>
                  <a:lnTo>
                    <a:pt x="2800508" y="558131"/>
                  </a:lnTo>
                  <a:lnTo>
                    <a:pt x="2757931" y="526288"/>
                  </a:lnTo>
                  <a:lnTo>
                    <a:pt x="2729249" y="481014"/>
                  </a:lnTo>
                  <a:lnTo>
                    <a:pt x="2717752" y="443408"/>
                  </a:lnTo>
                  <a:lnTo>
                    <a:pt x="2712037" y="400442"/>
                  </a:lnTo>
                  <a:lnTo>
                    <a:pt x="2711323" y="376936"/>
                  </a:lnTo>
                  <a:lnTo>
                    <a:pt x="2712106" y="354099"/>
                  </a:lnTo>
                  <a:lnTo>
                    <a:pt x="2718341" y="311427"/>
                  </a:lnTo>
                  <a:lnTo>
                    <a:pt x="2730819" y="272946"/>
                  </a:lnTo>
                  <a:lnTo>
                    <a:pt x="2761234" y="225297"/>
                  </a:lnTo>
                  <a:lnTo>
                    <a:pt x="2805739" y="190882"/>
                  </a:lnTo>
                  <a:lnTo>
                    <a:pt x="2843216" y="175904"/>
                  </a:lnTo>
                  <a:lnTo>
                    <a:pt x="2887118" y="168336"/>
                  </a:lnTo>
                  <a:lnTo>
                    <a:pt x="2911475" y="167386"/>
                  </a:lnTo>
                  <a:close/>
                </a:path>
                <a:path w="3531234" h="579119">
                  <a:moveTo>
                    <a:pt x="1540129" y="167386"/>
                  </a:moveTo>
                  <a:lnTo>
                    <a:pt x="1589420" y="174297"/>
                  </a:lnTo>
                  <a:lnTo>
                    <a:pt x="1626060" y="194151"/>
                  </a:lnTo>
                  <a:lnTo>
                    <a:pt x="1651607" y="224002"/>
                  </a:lnTo>
                  <a:lnTo>
                    <a:pt x="1667002" y="262381"/>
                  </a:lnTo>
                  <a:lnTo>
                    <a:pt x="1673538" y="311155"/>
                  </a:lnTo>
                  <a:lnTo>
                    <a:pt x="1673987" y="330326"/>
                  </a:lnTo>
                  <a:lnTo>
                    <a:pt x="1673987" y="555751"/>
                  </a:lnTo>
                  <a:lnTo>
                    <a:pt x="1673987" y="558545"/>
                  </a:lnTo>
                  <a:lnTo>
                    <a:pt x="1673098" y="560958"/>
                  </a:lnTo>
                  <a:lnTo>
                    <a:pt x="1671447" y="562990"/>
                  </a:lnTo>
                  <a:lnTo>
                    <a:pt x="1669923" y="565022"/>
                  </a:lnTo>
                  <a:lnTo>
                    <a:pt x="1667129" y="566674"/>
                  </a:lnTo>
                  <a:lnTo>
                    <a:pt x="1663319" y="568070"/>
                  </a:lnTo>
                  <a:lnTo>
                    <a:pt x="1659509" y="569467"/>
                  </a:lnTo>
                  <a:lnTo>
                    <a:pt x="1654302" y="570483"/>
                  </a:lnTo>
                  <a:lnTo>
                    <a:pt x="1647571" y="571118"/>
                  </a:lnTo>
                  <a:lnTo>
                    <a:pt x="1640840" y="571880"/>
                  </a:lnTo>
                  <a:lnTo>
                    <a:pt x="1632585" y="572134"/>
                  </a:lnTo>
                  <a:lnTo>
                    <a:pt x="1622806" y="572134"/>
                  </a:lnTo>
                  <a:lnTo>
                    <a:pt x="1612646" y="572134"/>
                  </a:lnTo>
                  <a:lnTo>
                    <a:pt x="1604264" y="571880"/>
                  </a:lnTo>
                  <a:lnTo>
                    <a:pt x="1597660" y="571118"/>
                  </a:lnTo>
                  <a:lnTo>
                    <a:pt x="1590929" y="570483"/>
                  </a:lnTo>
                  <a:lnTo>
                    <a:pt x="1585722" y="569467"/>
                  </a:lnTo>
                  <a:lnTo>
                    <a:pt x="1581912" y="568070"/>
                  </a:lnTo>
                  <a:lnTo>
                    <a:pt x="1578102" y="566674"/>
                  </a:lnTo>
                  <a:lnTo>
                    <a:pt x="1575308" y="565022"/>
                  </a:lnTo>
                  <a:lnTo>
                    <a:pt x="1573657" y="562990"/>
                  </a:lnTo>
                  <a:lnTo>
                    <a:pt x="1572006" y="560958"/>
                  </a:lnTo>
                  <a:lnTo>
                    <a:pt x="1571244" y="558545"/>
                  </a:lnTo>
                  <a:lnTo>
                    <a:pt x="1571244" y="555751"/>
                  </a:lnTo>
                  <a:lnTo>
                    <a:pt x="1571244" y="347471"/>
                  </a:lnTo>
                  <a:lnTo>
                    <a:pt x="1567307" y="305688"/>
                  </a:lnTo>
                  <a:lnTo>
                    <a:pt x="1544828" y="266953"/>
                  </a:lnTo>
                  <a:lnTo>
                    <a:pt x="1509776" y="257047"/>
                  </a:lnTo>
                  <a:lnTo>
                    <a:pt x="1499941" y="257933"/>
                  </a:lnTo>
                  <a:lnTo>
                    <a:pt x="1460033" y="279354"/>
                  </a:lnTo>
                  <a:lnTo>
                    <a:pt x="1428369" y="313054"/>
                  </a:lnTo>
                  <a:lnTo>
                    <a:pt x="1428369" y="555751"/>
                  </a:lnTo>
                  <a:lnTo>
                    <a:pt x="1428369" y="558545"/>
                  </a:lnTo>
                  <a:lnTo>
                    <a:pt x="1417574" y="568070"/>
                  </a:lnTo>
                  <a:lnTo>
                    <a:pt x="1413637" y="569467"/>
                  </a:lnTo>
                  <a:lnTo>
                    <a:pt x="1408303" y="570483"/>
                  </a:lnTo>
                  <a:lnTo>
                    <a:pt x="1401826" y="571118"/>
                  </a:lnTo>
                  <a:lnTo>
                    <a:pt x="1395222" y="571880"/>
                  </a:lnTo>
                  <a:lnTo>
                    <a:pt x="1386967" y="572134"/>
                  </a:lnTo>
                  <a:lnTo>
                    <a:pt x="1376807" y="572134"/>
                  </a:lnTo>
                  <a:lnTo>
                    <a:pt x="1366774" y="572134"/>
                  </a:lnTo>
                  <a:lnTo>
                    <a:pt x="1358392" y="571880"/>
                  </a:lnTo>
                  <a:lnTo>
                    <a:pt x="1351915" y="571118"/>
                  </a:lnTo>
                  <a:lnTo>
                    <a:pt x="1345311" y="570483"/>
                  </a:lnTo>
                  <a:lnTo>
                    <a:pt x="1325245" y="558545"/>
                  </a:lnTo>
                  <a:lnTo>
                    <a:pt x="1325245" y="555751"/>
                  </a:lnTo>
                  <a:lnTo>
                    <a:pt x="1325245" y="190753"/>
                  </a:lnTo>
                  <a:lnTo>
                    <a:pt x="1325245" y="187959"/>
                  </a:lnTo>
                  <a:lnTo>
                    <a:pt x="1325880" y="185674"/>
                  </a:lnTo>
                  <a:lnTo>
                    <a:pt x="1348359" y="175387"/>
                  </a:lnTo>
                  <a:lnTo>
                    <a:pt x="1353947" y="174751"/>
                  </a:lnTo>
                  <a:lnTo>
                    <a:pt x="1360932" y="174370"/>
                  </a:lnTo>
                  <a:lnTo>
                    <a:pt x="1369441" y="174370"/>
                  </a:lnTo>
                  <a:lnTo>
                    <a:pt x="1378204" y="174370"/>
                  </a:lnTo>
                  <a:lnTo>
                    <a:pt x="1385443" y="174751"/>
                  </a:lnTo>
                  <a:lnTo>
                    <a:pt x="1391158" y="175387"/>
                  </a:lnTo>
                  <a:lnTo>
                    <a:pt x="1396873" y="176021"/>
                  </a:lnTo>
                  <a:lnTo>
                    <a:pt x="1413256" y="187959"/>
                  </a:lnTo>
                  <a:lnTo>
                    <a:pt x="1413256" y="190753"/>
                  </a:lnTo>
                  <a:lnTo>
                    <a:pt x="1413256" y="232917"/>
                  </a:lnTo>
                  <a:lnTo>
                    <a:pt x="1443815" y="204247"/>
                  </a:lnTo>
                  <a:lnTo>
                    <a:pt x="1490658" y="176601"/>
                  </a:lnTo>
                  <a:lnTo>
                    <a:pt x="1523321" y="168409"/>
                  </a:lnTo>
                  <a:lnTo>
                    <a:pt x="1540129" y="167386"/>
                  </a:lnTo>
                  <a:close/>
                </a:path>
                <a:path w="3531234" h="579119">
                  <a:moveTo>
                    <a:pt x="1060577" y="167386"/>
                  </a:moveTo>
                  <a:lnTo>
                    <a:pt x="1100375" y="169481"/>
                  </a:lnTo>
                  <a:lnTo>
                    <a:pt x="1148554" y="180528"/>
                  </a:lnTo>
                  <a:lnTo>
                    <a:pt x="1184148" y="201549"/>
                  </a:lnTo>
                  <a:lnTo>
                    <a:pt x="1207579" y="233302"/>
                  </a:lnTo>
                  <a:lnTo>
                    <a:pt x="1219517" y="276383"/>
                  </a:lnTo>
                  <a:lnTo>
                    <a:pt x="1221740" y="311530"/>
                  </a:lnTo>
                  <a:lnTo>
                    <a:pt x="1221740" y="557021"/>
                  </a:lnTo>
                  <a:lnTo>
                    <a:pt x="1221740" y="560831"/>
                  </a:lnTo>
                  <a:lnTo>
                    <a:pt x="1220470" y="563879"/>
                  </a:lnTo>
                  <a:lnTo>
                    <a:pt x="1217676" y="566038"/>
                  </a:lnTo>
                  <a:lnTo>
                    <a:pt x="1215009" y="568197"/>
                  </a:lnTo>
                  <a:lnTo>
                    <a:pt x="1178814" y="572134"/>
                  </a:lnTo>
                  <a:lnTo>
                    <a:pt x="1170215" y="572059"/>
                  </a:lnTo>
                  <a:lnTo>
                    <a:pt x="1136650" y="560831"/>
                  </a:lnTo>
                  <a:lnTo>
                    <a:pt x="1136650" y="557021"/>
                  </a:lnTo>
                  <a:lnTo>
                    <a:pt x="1136650" y="527938"/>
                  </a:lnTo>
                  <a:lnTo>
                    <a:pt x="1099341" y="558228"/>
                  </a:lnTo>
                  <a:lnTo>
                    <a:pt x="1054846" y="575770"/>
                  </a:lnTo>
                  <a:lnTo>
                    <a:pt x="1021207" y="579119"/>
                  </a:lnTo>
                  <a:lnTo>
                    <a:pt x="1006996" y="578645"/>
                  </a:lnTo>
                  <a:lnTo>
                    <a:pt x="967867" y="571626"/>
                  </a:lnTo>
                  <a:lnTo>
                    <a:pt x="925703" y="549020"/>
                  </a:lnTo>
                  <a:lnTo>
                    <a:pt x="898017" y="512063"/>
                  </a:lnTo>
                  <a:lnTo>
                    <a:pt x="888855" y="474737"/>
                  </a:lnTo>
                  <a:lnTo>
                    <a:pt x="888238" y="460501"/>
                  </a:lnTo>
                  <a:lnTo>
                    <a:pt x="889021" y="445025"/>
                  </a:lnTo>
                  <a:lnTo>
                    <a:pt x="900684" y="405002"/>
                  </a:lnTo>
                  <a:lnTo>
                    <a:pt x="926294" y="374284"/>
                  </a:lnTo>
                  <a:lnTo>
                    <a:pt x="965692" y="352774"/>
                  </a:lnTo>
                  <a:lnTo>
                    <a:pt x="1018686" y="340167"/>
                  </a:lnTo>
                  <a:lnTo>
                    <a:pt x="1061462" y="336496"/>
                  </a:lnTo>
                  <a:lnTo>
                    <a:pt x="1085088" y="336041"/>
                  </a:lnTo>
                  <a:lnTo>
                    <a:pt x="1120648" y="336041"/>
                  </a:lnTo>
                  <a:lnTo>
                    <a:pt x="1120648" y="313943"/>
                  </a:lnTo>
                  <a:lnTo>
                    <a:pt x="1114933" y="275208"/>
                  </a:lnTo>
                  <a:lnTo>
                    <a:pt x="1084453" y="249681"/>
                  </a:lnTo>
                  <a:lnTo>
                    <a:pt x="1051560" y="245617"/>
                  </a:lnTo>
                  <a:lnTo>
                    <a:pt x="1038963" y="245975"/>
                  </a:lnTo>
                  <a:lnTo>
                    <a:pt x="995648" y="254263"/>
                  </a:lnTo>
                  <a:lnTo>
                    <a:pt x="955341" y="270668"/>
                  </a:lnTo>
                  <a:lnTo>
                    <a:pt x="936752" y="280542"/>
                  </a:lnTo>
                  <a:lnTo>
                    <a:pt x="931037" y="282447"/>
                  </a:lnTo>
                  <a:lnTo>
                    <a:pt x="926719" y="282447"/>
                  </a:lnTo>
                  <a:lnTo>
                    <a:pt x="923671" y="282447"/>
                  </a:lnTo>
                  <a:lnTo>
                    <a:pt x="921004" y="281431"/>
                  </a:lnTo>
                  <a:lnTo>
                    <a:pt x="908304" y="247395"/>
                  </a:lnTo>
                  <a:lnTo>
                    <a:pt x="908304" y="241045"/>
                  </a:lnTo>
                  <a:lnTo>
                    <a:pt x="908304" y="232663"/>
                  </a:lnTo>
                  <a:lnTo>
                    <a:pt x="918083" y="207771"/>
                  </a:lnTo>
                  <a:lnTo>
                    <a:pt x="921893" y="203707"/>
                  </a:lnTo>
                  <a:lnTo>
                    <a:pt x="962366" y="184473"/>
                  </a:lnTo>
                  <a:lnTo>
                    <a:pt x="1002520" y="173372"/>
                  </a:lnTo>
                  <a:lnTo>
                    <a:pt x="1048575" y="167626"/>
                  </a:lnTo>
                  <a:lnTo>
                    <a:pt x="1060577" y="167386"/>
                  </a:lnTo>
                  <a:close/>
                </a:path>
                <a:path w="3531234" h="579119">
                  <a:moveTo>
                    <a:pt x="15875" y="40131"/>
                  </a:moveTo>
                  <a:lnTo>
                    <a:pt x="389128" y="40131"/>
                  </a:lnTo>
                  <a:lnTo>
                    <a:pt x="391668" y="40131"/>
                  </a:lnTo>
                  <a:lnTo>
                    <a:pt x="393827" y="40893"/>
                  </a:lnTo>
                  <a:lnTo>
                    <a:pt x="395986" y="42417"/>
                  </a:lnTo>
                  <a:lnTo>
                    <a:pt x="398018" y="43814"/>
                  </a:lnTo>
                  <a:lnTo>
                    <a:pt x="399669" y="46354"/>
                  </a:lnTo>
                  <a:lnTo>
                    <a:pt x="401066" y="49783"/>
                  </a:lnTo>
                  <a:lnTo>
                    <a:pt x="402463" y="53086"/>
                  </a:lnTo>
                  <a:lnTo>
                    <a:pt x="403479" y="57657"/>
                  </a:lnTo>
                  <a:lnTo>
                    <a:pt x="404114" y="63500"/>
                  </a:lnTo>
                  <a:lnTo>
                    <a:pt x="404749" y="69214"/>
                  </a:lnTo>
                  <a:lnTo>
                    <a:pt x="405130" y="76072"/>
                  </a:lnTo>
                  <a:lnTo>
                    <a:pt x="405130" y="84327"/>
                  </a:lnTo>
                  <a:lnTo>
                    <a:pt x="405130" y="92201"/>
                  </a:lnTo>
                  <a:lnTo>
                    <a:pt x="404749" y="98932"/>
                  </a:lnTo>
                  <a:lnTo>
                    <a:pt x="404114" y="104520"/>
                  </a:lnTo>
                  <a:lnTo>
                    <a:pt x="403479" y="110236"/>
                  </a:lnTo>
                  <a:lnTo>
                    <a:pt x="402463" y="114680"/>
                  </a:lnTo>
                  <a:lnTo>
                    <a:pt x="401066" y="118109"/>
                  </a:lnTo>
                  <a:lnTo>
                    <a:pt x="399669" y="121538"/>
                  </a:lnTo>
                  <a:lnTo>
                    <a:pt x="398018" y="124078"/>
                  </a:lnTo>
                  <a:lnTo>
                    <a:pt x="395986" y="125602"/>
                  </a:lnTo>
                  <a:lnTo>
                    <a:pt x="393827" y="127253"/>
                  </a:lnTo>
                  <a:lnTo>
                    <a:pt x="391668" y="128142"/>
                  </a:lnTo>
                  <a:lnTo>
                    <a:pt x="389128" y="128142"/>
                  </a:lnTo>
                  <a:lnTo>
                    <a:pt x="256540" y="128142"/>
                  </a:lnTo>
                  <a:lnTo>
                    <a:pt x="256540" y="554989"/>
                  </a:lnTo>
                  <a:lnTo>
                    <a:pt x="256540" y="557656"/>
                  </a:lnTo>
                  <a:lnTo>
                    <a:pt x="255650" y="560196"/>
                  </a:lnTo>
                  <a:lnTo>
                    <a:pt x="253873" y="562355"/>
                  </a:lnTo>
                  <a:lnTo>
                    <a:pt x="252095" y="564514"/>
                  </a:lnTo>
                  <a:lnTo>
                    <a:pt x="249174" y="566292"/>
                  </a:lnTo>
                  <a:lnTo>
                    <a:pt x="245110" y="567689"/>
                  </a:lnTo>
                  <a:lnTo>
                    <a:pt x="241046" y="569087"/>
                  </a:lnTo>
                  <a:lnTo>
                    <a:pt x="235458" y="570102"/>
                  </a:lnTo>
                  <a:lnTo>
                    <a:pt x="202565" y="572134"/>
                  </a:lnTo>
                  <a:lnTo>
                    <a:pt x="195085" y="572063"/>
                  </a:lnTo>
                  <a:lnTo>
                    <a:pt x="160020" y="567689"/>
                  </a:lnTo>
                  <a:lnTo>
                    <a:pt x="155829" y="566292"/>
                  </a:lnTo>
                  <a:lnTo>
                    <a:pt x="152908" y="564514"/>
                  </a:lnTo>
                  <a:lnTo>
                    <a:pt x="151130" y="562355"/>
                  </a:lnTo>
                  <a:lnTo>
                    <a:pt x="149352" y="560196"/>
                  </a:lnTo>
                  <a:lnTo>
                    <a:pt x="148462" y="557656"/>
                  </a:lnTo>
                  <a:lnTo>
                    <a:pt x="148462" y="554989"/>
                  </a:lnTo>
                  <a:lnTo>
                    <a:pt x="148462" y="128142"/>
                  </a:lnTo>
                  <a:lnTo>
                    <a:pt x="15875" y="128142"/>
                  </a:lnTo>
                  <a:lnTo>
                    <a:pt x="13208" y="128142"/>
                  </a:lnTo>
                  <a:lnTo>
                    <a:pt x="10922" y="127253"/>
                  </a:lnTo>
                  <a:lnTo>
                    <a:pt x="9017" y="125602"/>
                  </a:lnTo>
                  <a:lnTo>
                    <a:pt x="7112" y="124078"/>
                  </a:lnTo>
                  <a:lnTo>
                    <a:pt x="5461" y="121538"/>
                  </a:lnTo>
                  <a:lnTo>
                    <a:pt x="4064" y="118109"/>
                  </a:lnTo>
                  <a:lnTo>
                    <a:pt x="2667" y="114680"/>
                  </a:lnTo>
                  <a:lnTo>
                    <a:pt x="1650" y="110236"/>
                  </a:lnTo>
                  <a:lnTo>
                    <a:pt x="1016" y="104520"/>
                  </a:lnTo>
                  <a:lnTo>
                    <a:pt x="254" y="98932"/>
                  </a:lnTo>
                  <a:lnTo>
                    <a:pt x="0" y="92201"/>
                  </a:lnTo>
                  <a:lnTo>
                    <a:pt x="0" y="84327"/>
                  </a:lnTo>
                  <a:lnTo>
                    <a:pt x="0" y="76072"/>
                  </a:lnTo>
                  <a:lnTo>
                    <a:pt x="254" y="69214"/>
                  </a:lnTo>
                  <a:lnTo>
                    <a:pt x="1016" y="63500"/>
                  </a:lnTo>
                  <a:lnTo>
                    <a:pt x="1650" y="57657"/>
                  </a:lnTo>
                  <a:lnTo>
                    <a:pt x="2667" y="53086"/>
                  </a:lnTo>
                  <a:lnTo>
                    <a:pt x="4064" y="49783"/>
                  </a:lnTo>
                  <a:lnTo>
                    <a:pt x="5461" y="46354"/>
                  </a:lnTo>
                  <a:lnTo>
                    <a:pt x="7112" y="43814"/>
                  </a:lnTo>
                  <a:lnTo>
                    <a:pt x="9017" y="42417"/>
                  </a:lnTo>
                  <a:lnTo>
                    <a:pt x="10922" y="40893"/>
                  </a:lnTo>
                  <a:lnTo>
                    <a:pt x="13208" y="40131"/>
                  </a:lnTo>
                  <a:lnTo>
                    <a:pt x="15875" y="40131"/>
                  </a:lnTo>
                  <a:close/>
                </a:path>
                <a:path w="3531234" h="579119">
                  <a:moveTo>
                    <a:pt x="2376931" y="37718"/>
                  </a:moveTo>
                  <a:lnTo>
                    <a:pt x="2420366" y="40004"/>
                  </a:lnTo>
                  <a:lnTo>
                    <a:pt x="2499233" y="187070"/>
                  </a:lnTo>
                  <a:lnTo>
                    <a:pt x="2516251" y="226694"/>
                  </a:lnTo>
                  <a:lnTo>
                    <a:pt x="2533269" y="270509"/>
                  </a:lnTo>
                  <a:lnTo>
                    <a:pt x="2534030" y="270509"/>
                  </a:lnTo>
                  <a:lnTo>
                    <a:pt x="2550033" y="227583"/>
                  </a:lnTo>
                  <a:lnTo>
                    <a:pt x="2566035" y="187832"/>
                  </a:lnTo>
                  <a:lnTo>
                    <a:pt x="2624074" y="58546"/>
                  </a:lnTo>
                  <a:lnTo>
                    <a:pt x="2625471" y="54228"/>
                  </a:lnTo>
                  <a:lnTo>
                    <a:pt x="2660951" y="38147"/>
                  </a:lnTo>
                  <a:lnTo>
                    <a:pt x="2683383" y="37718"/>
                  </a:lnTo>
                  <a:lnTo>
                    <a:pt x="2694433" y="37770"/>
                  </a:lnTo>
                  <a:lnTo>
                    <a:pt x="2734183" y="41147"/>
                  </a:lnTo>
                  <a:lnTo>
                    <a:pt x="2737230" y="44068"/>
                  </a:lnTo>
                  <a:lnTo>
                    <a:pt x="2740405" y="46862"/>
                  </a:lnTo>
                  <a:lnTo>
                    <a:pt x="2741168" y="51180"/>
                  </a:lnTo>
                  <a:lnTo>
                    <a:pt x="2739517" y="56895"/>
                  </a:lnTo>
                  <a:lnTo>
                    <a:pt x="2737866" y="62611"/>
                  </a:lnTo>
                  <a:lnTo>
                    <a:pt x="2734564" y="70357"/>
                  </a:lnTo>
                  <a:lnTo>
                    <a:pt x="2729738" y="80263"/>
                  </a:lnTo>
                  <a:lnTo>
                    <a:pt x="2584830" y="368807"/>
                  </a:lnTo>
                  <a:lnTo>
                    <a:pt x="2584830" y="554989"/>
                  </a:lnTo>
                  <a:lnTo>
                    <a:pt x="2584830" y="557656"/>
                  </a:lnTo>
                  <a:lnTo>
                    <a:pt x="2583942" y="560196"/>
                  </a:lnTo>
                  <a:lnTo>
                    <a:pt x="2582164" y="562355"/>
                  </a:lnTo>
                  <a:lnTo>
                    <a:pt x="2580386" y="564514"/>
                  </a:lnTo>
                  <a:lnTo>
                    <a:pt x="2538208" y="572063"/>
                  </a:lnTo>
                  <a:lnTo>
                    <a:pt x="2530729" y="572134"/>
                  </a:lnTo>
                  <a:lnTo>
                    <a:pt x="2523158" y="572063"/>
                  </a:lnTo>
                  <a:lnTo>
                    <a:pt x="2488056" y="567689"/>
                  </a:lnTo>
                  <a:lnTo>
                    <a:pt x="2483739" y="566292"/>
                  </a:lnTo>
                  <a:lnTo>
                    <a:pt x="2480818" y="564514"/>
                  </a:lnTo>
                  <a:lnTo>
                    <a:pt x="2479167" y="562355"/>
                  </a:lnTo>
                  <a:lnTo>
                    <a:pt x="2477516" y="560196"/>
                  </a:lnTo>
                  <a:lnTo>
                    <a:pt x="2476754" y="557656"/>
                  </a:lnTo>
                  <a:lnTo>
                    <a:pt x="2476754" y="554989"/>
                  </a:lnTo>
                  <a:lnTo>
                    <a:pt x="2476754" y="368807"/>
                  </a:lnTo>
                  <a:lnTo>
                    <a:pt x="2331847" y="80263"/>
                  </a:lnTo>
                  <a:lnTo>
                    <a:pt x="2320290" y="51053"/>
                  </a:lnTo>
                  <a:lnTo>
                    <a:pt x="2321179" y="46862"/>
                  </a:lnTo>
                  <a:lnTo>
                    <a:pt x="2324354" y="44068"/>
                  </a:lnTo>
                  <a:lnTo>
                    <a:pt x="2327402" y="41147"/>
                  </a:lnTo>
                  <a:lnTo>
                    <a:pt x="2366291" y="37770"/>
                  </a:lnTo>
                  <a:lnTo>
                    <a:pt x="2376931" y="37718"/>
                  </a:lnTo>
                  <a:close/>
                </a:path>
                <a:path w="3531234" h="579119">
                  <a:moveTo>
                    <a:pt x="1826387" y="0"/>
                  </a:moveTo>
                  <a:lnTo>
                    <a:pt x="1836547" y="0"/>
                  </a:lnTo>
                  <a:lnTo>
                    <a:pt x="1844802" y="380"/>
                  </a:lnTo>
                  <a:lnTo>
                    <a:pt x="1851406" y="1269"/>
                  </a:lnTo>
                  <a:lnTo>
                    <a:pt x="1857883" y="2031"/>
                  </a:lnTo>
                  <a:lnTo>
                    <a:pt x="1863217" y="3175"/>
                  </a:lnTo>
                  <a:lnTo>
                    <a:pt x="1867154" y="4699"/>
                  </a:lnTo>
                  <a:lnTo>
                    <a:pt x="1871091" y="6222"/>
                  </a:lnTo>
                  <a:lnTo>
                    <a:pt x="1873885" y="8000"/>
                  </a:lnTo>
                  <a:lnTo>
                    <a:pt x="1875536" y="10287"/>
                  </a:lnTo>
                  <a:lnTo>
                    <a:pt x="1877187" y="12445"/>
                  </a:lnTo>
                  <a:lnTo>
                    <a:pt x="1877949" y="14858"/>
                  </a:lnTo>
                  <a:lnTo>
                    <a:pt x="1877949" y="17652"/>
                  </a:lnTo>
                  <a:lnTo>
                    <a:pt x="1877949" y="338074"/>
                  </a:lnTo>
                  <a:lnTo>
                    <a:pt x="1986026" y="192786"/>
                  </a:lnTo>
                  <a:lnTo>
                    <a:pt x="1988185" y="189483"/>
                  </a:lnTo>
                  <a:lnTo>
                    <a:pt x="1990598" y="186689"/>
                  </a:lnTo>
                  <a:lnTo>
                    <a:pt x="2032396" y="174640"/>
                  </a:lnTo>
                  <a:lnTo>
                    <a:pt x="2046605" y="174370"/>
                  </a:lnTo>
                  <a:lnTo>
                    <a:pt x="2053861" y="174440"/>
                  </a:lnTo>
                  <a:lnTo>
                    <a:pt x="2088896" y="178434"/>
                  </a:lnTo>
                  <a:lnTo>
                    <a:pt x="2093214" y="179831"/>
                  </a:lnTo>
                  <a:lnTo>
                    <a:pt x="2096135" y="181482"/>
                  </a:lnTo>
                  <a:lnTo>
                    <a:pt x="2097786" y="183514"/>
                  </a:lnTo>
                  <a:lnTo>
                    <a:pt x="2099437" y="185674"/>
                  </a:lnTo>
                  <a:lnTo>
                    <a:pt x="2100199" y="188087"/>
                  </a:lnTo>
                  <a:lnTo>
                    <a:pt x="2100199" y="191134"/>
                  </a:lnTo>
                  <a:lnTo>
                    <a:pt x="2100199" y="195199"/>
                  </a:lnTo>
                  <a:lnTo>
                    <a:pt x="2099183" y="199643"/>
                  </a:lnTo>
                  <a:lnTo>
                    <a:pt x="2097151" y="204215"/>
                  </a:lnTo>
                  <a:lnTo>
                    <a:pt x="2095119" y="208914"/>
                  </a:lnTo>
                  <a:lnTo>
                    <a:pt x="2092071" y="213740"/>
                  </a:lnTo>
                  <a:lnTo>
                    <a:pt x="2087880" y="218947"/>
                  </a:lnTo>
                  <a:lnTo>
                    <a:pt x="1981073" y="340105"/>
                  </a:lnTo>
                  <a:lnTo>
                    <a:pt x="2104771" y="531240"/>
                  </a:lnTo>
                  <a:lnTo>
                    <a:pt x="2107946" y="536701"/>
                  </a:lnTo>
                  <a:lnTo>
                    <a:pt x="2110359" y="541401"/>
                  </a:lnTo>
                  <a:lnTo>
                    <a:pt x="2111883" y="545338"/>
                  </a:lnTo>
                  <a:lnTo>
                    <a:pt x="2113407" y="549275"/>
                  </a:lnTo>
                  <a:lnTo>
                    <a:pt x="2114169" y="552957"/>
                  </a:lnTo>
                  <a:lnTo>
                    <a:pt x="2114169" y="556259"/>
                  </a:lnTo>
                  <a:lnTo>
                    <a:pt x="2114169" y="558926"/>
                  </a:lnTo>
                  <a:lnTo>
                    <a:pt x="2113407" y="561339"/>
                  </a:lnTo>
                  <a:lnTo>
                    <a:pt x="2111883" y="563371"/>
                  </a:lnTo>
                  <a:lnTo>
                    <a:pt x="2110359" y="565403"/>
                  </a:lnTo>
                  <a:lnTo>
                    <a:pt x="2068746" y="572083"/>
                  </a:lnTo>
                  <a:lnTo>
                    <a:pt x="2060956" y="572134"/>
                  </a:lnTo>
                  <a:lnTo>
                    <a:pt x="2052956" y="572087"/>
                  </a:lnTo>
                  <a:lnTo>
                    <a:pt x="2016506" y="568705"/>
                  </a:lnTo>
                  <a:lnTo>
                    <a:pt x="2012061" y="567436"/>
                  </a:lnTo>
                  <a:lnTo>
                    <a:pt x="1999488" y="554989"/>
                  </a:lnTo>
                  <a:lnTo>
                    <a:pt x="1877949" y="362584"/>
                  </a:lnTo>
                  <a:lnTo>
                    <a:pt x="1877949" y="555751"/>
                  </a:lnTo>
                  <a:lnTo>
                    <a:pt x="1877949" y="558545"/>
                  </a:lnTo>
                  <a:lnTo>
                    <a:pt x="1877187" y="560958"/>
                  </a:lnTo>
                  <a:lnTo>
                    <a:pt x="1875536" y="562990"/>
                  </a:lnTo>
                  <a:lnTo>
                    <a:pt x="1873885" y="565022"/>
                  </a:lnTo>
                  <a:lnTo>
                    <a:pt x="1871091" y="566674"/>
                  </a:lnTo>
                  <a:lnTo>
                    <a:pt x="1867154" y="568070"/>
                  </a:lnTo>
                  <a:lnTo>
                    <a:pt x="1863217" y="569467"/>
                  </a:lnTo>
                  <a:lnTo>
                    <a:pt x="1857883" y="570483"/>
                  </a:lnTo>
                  <a:lnTo>
                    <a:pt x="1851406" y="571118"/>
                  </a:lnTo>
                  <a:lnTo>
                    <a:pt x="1844802" y="571880"/>
                  </a:lnTo>
                  <a:lnTo>
                    <a:pt x="1836547" y="572134"/>
                  </a:lnTo>
                  <a:lnTo>
                    <a:pt x="1826387" y="572134"/>
                  </a:lnTo>
                  <a:lnTo>
                    <a:pt x="1816354" y="572134"/>
                  </a:lnTo>
                  <a:lnTo>
                    <a:pt x="1807972" y="571880"/>
                  </a:lnTo>
                  <a:lnTo>
                    <a:pt x="1801495" y="571118"/>
                  </a:lnTo>
                  <a:lnTo>
                    <a:pt x="1794891" y="570483"/>
                  </a:lnTo>
                  <a:lnTo>
                    <a:pt x="1774825" y="558545"/>
                  </a:lnTo>
                  <a:lnTo>
                    <a:pt x="1774825" y="555751"/>
                  </a:lnTo>
                  <a:lnTo>
                    <a:pt x="1774825" y="17652"/>
                  </a:lnTo>
                  <a:lnTo>
                    <a:pt x="1774825" y="14858"/>
                  </a:lnTo>
                  <a:lnTo>
                    <a:pt x="1775587" y="12445"/>
                  </a:lnTo>
                  <a:lnTo>
                    <a:pt x="1777238" y="10287"/>
                  </a:lnTo>
                  <a:lnTo>
                    <a:pt x="1778889" y="8000"/>
                  </a:lnTo>
                  <a:lnTo>
                    <a:pt x="1801495" y="1269"/>
                  </a:lnTo>
                  <a:lnTo>
                    <a:pt x="1807972" y="380"/>
                  </a:lnTo>
                  <a:lnTo>
                    <a:pt x="1816354" y="0"/>
                  </a:lnTo>
                  <a:lnTo>
                    <a:pt x="1826387" y="0"/>
                  </a:lnTo>
                  <a:close/>
                </a:path>
                <a:path w="3531234" h="579119">
                  <a:moveTo>
                    <a:pt x="512699" y="0"/>
                  </a:moveTo>
                  <a:lnTo>
                    <a:pt x="522859" y="0"/>
                  </a:lnTo>
                  <a:lnTo>
                    <a:pt x="531114" y="380"/>
                  </a:lnTo>
                  <a:lnTo>
                    <a:pt x="537718" y="1269"/>
                  </a:lnTo>
                  <a:lnTo>
                    <a:pt x="544195" y="2031"/>
                  </a:lnTo>
                  <a:lnTo>
                    <a:pt x="549529" y="3175"/>
                  </a:lnTo>
                  <a:lnTo>
                    <a:pt x="553466" y="4699"/>
                  </a:lnTo>
                  <a:lnTo>
                    <a:pt x="557403" y="6222"/>
                  </a:lnTo>
                  <a:lnTo>
                    <a:pt x="560197" y="8000"/>
                  </a:lnTo>
                  <a:lnTo>
                    <a:pt x="561848" y="10287"/>
                  </a:lnTo>
                  <a:lnTo>
                    <a:pt x="563499" y="12445"/>
                  </a:lnTo>
                  <a:lnTo>
                    <a:pt x="564261" y="14858"/>
                  </a:lnTo>
                  <a:lnTo>
                    <a:pt x="564261" y="17652"/>
                  </a:lnTo>
                  <a:lnTo>
                    <a:pt x="564261" y="219328"/>
                  </a:lnTo>
                  <a:lnTo>
                    <a:pt x="604748" y="187575"/>
                  </a:lnTo>
                  <a:lnTo>
                    <a:pt x="646684" y="170624"/>
                  </a:lnTo>
                  <a:lnTo>
                    <a:pt x="676021" y="167386"/>
                  </a:lnTo>
                  <a:lnTo>
                    <a:pt x="693880" y="168149"/>
                  </a:lnTo>
                  <a:lnTo>
                    <a:pt x="738886" y="179704"/>
                  </a:lnTo>
                  <a:lnTo>
                    <a:pt x="771657" y="203136"/>
                  </a:lnTo>
                  <a:lnTo>
                    <a:pt x="793718" y="236315"/>
                  </a:lnTo>
                  <a:lnTo>
                    <a:pt x="805914" y="277971"/>
                  </a:lnTo>
                  <a:lnTo>
                    <a:pt x="809879" y="331977"/>
                  </a:lnTo>
                  <a:lnTo>
                    <a:pt x="809879" y="555751"/>
                  </a:lnTo>
                  <a:lnTo>
                    <a:pt x="809879" y="558545"/>
                  </a:lnTo>
                  <a:lnTo>
                    <a:pt x="808990" y="560958"/>
                  </a:lnTo>
                  <a:lnTo>
                    <a:pt x="807339" y="562990"/>
                  </a:lnTo>
                  <a:lnTo>
                    <a:pt x="805815" y="565022"/>
                  </a:lnTo>
                  <a:lnTo>
                    <a:pt x="803021" y="566674"/>
                  </a:lnTo>
                  <a:lnTo>
                    <a:pt x="799211" y="568070"/>
                  </a:lnTo>
                  <a:lnTo>
                    <a:pt x="795401" y="569467"/>
                  </a:lnTo>
                  <a:lnTo>
                    <a:pt x="790194" y="570483"/>
                  </a:lnTo>
                  <a:lnTo>
                    <a:pt x="783463" y="571118"/>
                  </a:lnTo>
                  <a:lnTo>
                    <a:pt x="776732" y="571880"/>
                  </a:lnTo>
                  <a:lnTo>
                    <a:pt x="768477" y="572134"/>
                  </a:lnTo>
                  <a:lnTo>
                    <a:pt x="758698" y="572134"/>
                  </a:lnTo>
                  <a:lnTo>
                    <a:pt x="748538" y="572134"/>
                  </a:lnTo>
                  <a:lnTo>
                    <a:pt x="740156" y="571880"/>
                  </a:lnTo>
                  <a:lnTo>
                    <a:pt x="733552" y="571118"/>
                  </a:lnTo>
                  <a:lnTo>
                    <a:pt x="726821" y="570483"/>
                  </a:lnTo>
                  <a:lnTo>
                    <a:pt x="721614" y="569467"/>
                  </a:lnTo>
                  <a:lnTo>
                    <a:pt x="717804" y="568070"/>
                  </a:lnTo>
                  <a:lnTo>
                    <a:pt x="713994" y="566674"/>
                  </a:lnTo>
                  <a:lnTo>
                    <a:pt x="711200" y="565022"/>
                  </a:lnTo>
                  <a:lnTo>
                    <a:pt x="709549" y="562990"/>
                  </a:lnTo>
                  <a:lnTo>
                    <a:pt x="707898" y="560958"/>
                  </a:lnTo>
                  <a:lnTo>
                    <a:pt x="707136" y="558545"/>
                  </a:lnTo>
                  <a:lnTo>
                    <a:pt x="707136" y="555751"/>
                  </a:lnTo>
                  <a:lnTo>
                    <a:pt x="707136" y="347471"/>
                  </a:lnTo>
                  <a:lnTo>
                    <a:pt x="703199" y="305688"/>
                  </a:lnTo>
                  <a:lnTo>
                    <a:pt x="680720" y="266953"/>
                  </a:lnTo>
                  <a:lnTo>
                    <a:pt x="645668" y="257047"/>
                  </a:lnTo>
                  <a:lnTo>
                    <a:pt x="635833" y="257933"/>
                  </a:lnTo>
                  <a:lnTo>
                    <a:pt x="595925" y="279354"/>
                  </a:lnTo>
                  <a:lnTo>
                    <a:pt x="564261" y="313054"/>
                  </a:lnTo>
                  <a:lnTo>
                    <a:pt x="564261" y="555751"/>
                  </a:lnTo>
                  <a:lnTo>
                    <a:pt x="564261" y="558545"/>
                  </a:lnTo>
                  <a:lnTo>
                    <a:pt x="553466" y="568070"/>
                  </a:lnTo>
                  <a:lnTo>
                    <a:pt x="549529" y="569467"/>
                  </a:lnTo>
                  <a:lnTo>
                    <a:pt x="544195" y="570483"/>
                  </a:lnTo>
                  <a:lnTo>
                    <a:pt x="537718" y="571118"/>
                  </a:lnTo>
                  <a:lnTo>
                    <a:pt x="531114" y="571880"/>
                  </a:lnTo>
                  <a:lnTo>
                    <a:pt x="522859" y="572134"/>
                  </a:lnTo>
                  <a:lnTo>
                    <a:pt x="512699" y="572134"/>
                  </a:lnTo>
                  <a:lnTo>
                    <a:pt x="502666" y="572134"/>
                  </a:lnTo>
                  <a:lnTo>
                    <a:pt x="494284" y="571880"/>
                  </a:lnTo>
                  <a:lnTo>
                    <a:pt x="487807" y="571118"/>
                  </a:lnTo>
                  <a:lnTo>
                    <a:pt x="481203" y="570483"/>
                  </a:lnTo>
                  <a:lnTo>
                    <a:pt x="461137" y="558545"/>
                  </a:lnTo>
                  <a:lnTo>
                    <a:pt x="461137" y="555751"/>
                  </a:lnTo>
                  <a:lnTo>
                    <a:pt x="461137" y="17652"/>
                  </a:lnTo>
                  <a:lnTo>
                    <a:pt x="461137" y="14858"/>
                  </a:lnTo>
                  <a:lnTo>
                    <a:pt x="461899" y="12445"/>
                  </a:lnTo>
                  <a:lnTo>
                    <a:pt x="463550" y="10287"/>
                  </a:lnTo>
                  <a:lnTo>
                    <a:pt x="465200" y="8000"/>
                  </a:lnTo>
                  <a:lnTo>
                    <a:pt x="487807" y="1269"/>
                  </a:lnTo>
                  <a:lnTo>
                    <a:pt x="494284" y="380"/>
                  </a:lnTo>
                  <a:lnTo>
                    <a:pt x="502666" y="0"/>
                  </a:lnTo>
                  <a:lnTo>
                    <a:pt x="512699" y="0"/>
                  </a:lnTo>
                  <a:close/>
                </a:path>
              </a:pathLst>
            </a:custGeom>
            <a:ln w="10668">
              <a:solidFill>
                <a:srgbClr val="4579B8"/>
              </a:solidFill>
            </a:ln>
          </p:spPr>
          <p:txBody>
            <a:bodyPr wrap="square" lIns="0" tIns="0" rIns="0" bIns="0" rtlCol="0"/>
            <a:lstStyle/>
            <a:p>
              <a:endParaRPr/>
            </a:p>
          </p:txBody>
        </p:sp>
      </p:grpSp>
      <p:pic>
        <p:nvPicPr>
          <p:cNvPr id="6" name="object 6"/>
          <p:cNvPicPr/>
          <p:nvPr/>
        </p:nvPicPr>
        <p:blipFill>
          <a:blip r:embed="rId4" cstate="print"/>
          <a:stretch>
            <a:fillRect/>
          </a:stretch>
        </p:blipFill>
        <p:spPr>
          <a:xfrm>
            <a:off x="131618" y="25"/>
            <a:ext cx="2763981" cy="947267"/>
          </a:xfrm>
          <a:prstGeom prst="rect">
            <a:avLst/>
          </a:prstGeom>
        </p:spPr>
      </p:pic>
      <p:sp>
        <p:nvSpPr>
          <p:cNvPr id="7" name="Date Placeholder 6">
            <a:extLst>
              <a:ext uri="{FF2B5EF4-FFF2-40B4-BE49-F238E27FC236}">
                <a16:creationId xmlns:a16="http://schemas.microsoft.com/office/drawing/2014/main" id="{D77E7E99-6124-4B91-97AE-691F5BB0719D}"/>
              </a:ext>
            </a:extLst>
          </p:cNvPr>
          <p:cNvSpPr>
            <a:spLocks noGrp="1"/>
          </p:cNvSpPr>
          <p:nvPr>
            <p:ph type="dt" sz="half" idx="6"/>
          </p:nvPr>
        </p:nvSpPr>
        <p:spPr/>
        <p:txBody>
          <a:bodyPr/>
          <a:lstStyle/>
          <a:p>
            <a:pPr marL="12700">
              <a:lnSpc>
                <a:spcPts val="1240"/>
              </a:lnSpc>
            </a:pPr>
            <a:fld id="{A386C749-AEC9-42C0-ABAA-F941C50FACB2}" type="datetime1">
              <a:rPr lang="en-US" spc="-25" smtClean="0"/>
              <a:t>7/8/2026</a:t>
            </a:fld>
            <a:endParaRPr lang="en-IN" spc="-25" dirty="0"/>
          </a:p>
        </p:txBody>
      </p:sp>
      <p:sp>
        <p:nvSpPr>
          <p:cNvPr id="8" name="Footer Placeholder 7">
            <a:extLst>
              <a:ext uri="{FF2B5EF4-FFF2-40B4-BE49-F238E27FC236}">
                <a16:creationId xmlns:a16="http://schemas.microsoft.com/office/drawing/2014/main" id="{F5B923A7-6E62-44D3-A569-383D533BFF4C}"/>
              </a:ext>
            </a:extLst>
          </p:cNvPr>
          <p:cNvSpPr>
            <a:spLocks noGrp="1"/>
          </p:cNvSpPr>
          <p:nvPr>
            <p:ph type="ftr" sz="quarter" idx="5"/>
          </p:nvPr>
        </p:nvSpPr>
        <p:spPr/>
        <p:txBody>
          <a:bodyPr/>
          <a:lstStyle/>
          <a:p>
            <a:pPr marL="12700">
              <a:lnSpc>
                <a:spcPts val="1240"/>
              </a:lnSpc>
            </a:pPr>
            <a:r>
              <a:rPr lang="en-IN" spc="-10"/>
              <a:t>KeshavSharma         CSE</a:t>
            </a:r>
            <a:endParaRPr lang="en-IN" spc="-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1363</TotalTime>
  <Words>7264</Words>
  <Application>Microsoft Office PowerPoint</Application>
  <PresentationFormat>Widescreen</PresentationFormat>
  <Paragraphs>1101</Paragraphs>
  <Slides>121</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121</vt:i4>
      </vt:variant>
    </vt:vector>
  </HeadingPairs>
  <TitlesOfParts>
    <vt:vector size="135" baseType="lpstr">
      <vt:lpstr>Arial</vt:lpstr>
      <vt:lpstr>Arial MT</vt:lpstr>
      <vt:lpstr>Arimo</vt:lpstr>
      <vt:lpstr>Calibri</vt:lpstr>
      <vt:lpstr>Calibri (Body)</vt:lpstr>
      <vt:lpstr>Nunito</vt:lpstr>
      <vt:lpstr>Roboto Condensed</vt:lpstr>
      <vt:lpstr>Segoe UI</vt:lpstr>
      <vt:lpstr>Source Sans 3</vt:lpstr>
      <vt:lpstr>Times New Roman</vt:lpstr>
      <vt:lpstr>var(--ff-lato)</vt:lpstr>
      <vt:lpstr>Verdana</vt:lpstr>
      <vt:lpstr>Wingdings</vt:lpstr>
      <vt:lpstr>Office Theme</vt:lpstr>
      <vt:lpstr>Noida Institute of Engineering and Technology, Greater Noida</vt:lpstr>
      <vt:lpstr>Faculty Introduction</vt:lpstr>
      <vt:lpstr>Evaluation Scheme</vt:lpstr>
      <vt:lpstr>PowerPoint Presentation</vt:lpstr>
      <vt:lpstr>End </vt:lpstr>
      <vt:lpstr>End SemEevsateluratQiouneSsctihoenmePaper Templates</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Adjacency List Graph                          Adjacency List Graph Representation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Floyd Warshall’s Algorithm.</vt:lpstr>
      <vt:lpstr>Floyd Warshall’s Algorithm.</vt:lpstr>
      <vt:lpstr>Floyd Warshall’s Algorithm.</vt:lpstr>
      <vt:lpstr>Floyd Warshall’s Algorithm.</vt:lpstr>
      <vt:lpstr>Floyd Warshall’s Algorithm.</vt:lpstr>
      <vt:lpstr>Floyd Warshall’s Algorithm.</vt:lpstr>
      <vt:lpstr>Floyd Warshall’s Algorithm.</vt:lpstr>
      <vt:lpstr>Floyd Warshall’s Algorithm.</vt:lpstr>
      <vt:lpstr>Floyd Warshall’s Algorithm.</vt:lpstr>
      <vt:lpstr>Floyd Warshall’s Algorithm.</vt:lpstr>
      <vt:lpstr>Floyd Warshall’s Algorithm.</vt:lpstr>
      <vt:lpstr>Video Links, Youtube &amp; NPTEL Video Links and Online Courses Details</vt:lpstr>
      <vt:lpstr>MCQs</vt:lpstr>
      <vt:lpstr>MCQs</vt:lpstr>
      <vt:lpstr>Weekly Assignment</vt:lpstr>
      <vt:lpstr>Weekly Assignment</vt:lpstr>
      <vt:lpstr>Summary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keshav kaushik</cp:lastModifiedBy>
  <cp:revision>106</cp:revision>
  <dcterms:created xsi:type="dcterms:W3CDTF">2025-01-03T07:52:48Z</dcterms:created>
  <dcterms:modified xsi:type="dcterms:W3CDTF">2026-07-08T06:47:30Z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2024-09-26T00:00:00Z</vt:filetime>
  </property>
  <property fmtid="{D5CDD505-2E9C-101B-9397-08002B2CF9AE}" pid="3" name="Creator">
    <vt:lpwstr>Microsoft® PowerPoint® for Microsoft 365</vt:lpwstr>
  </property>
  <property fmtid="{D5CDD505-2E9C-101B-9397-08002B2CF9AE}" pid="4" name="LastSaved">
    <vt:filetime>2025-01-03T00:00:00Z</vt:filetime>
  </property>
  <property fmtid="{D5CDD505-2E9C-101B-9397-08002B2CF9AE}" pid="5" name="Producer">
    <vt:lpwstr>Microsoft® PowerPoint® for Microsoft 365</vt:lpwstr>
  </property>
</Properties>
</file>