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1"/>
  </p:notesMasterIdLst>
  <p:handoutMasterIdLst>
    <p:handoutMasterId r:id="rId192"/>
  </p:handoutMasterIdLst>
  <p:sldIdLst>
    <p:sldId id="1124" r:id="rId2"/>
    <p:sldId id="615" r:id="rId3"/>
    <p:sldId id="616" r:id="rId4"/>
    <p:sldId id="617" r:id="rId5"/>
    <p:sldId id="618" r:id="rId6"/>
    <p:sldId id="619" r:id="rId7"/>
    <p:sldId id="620" r:id="rId8"/>
    <p:sldId id="621" r:id="rId9"/>
    <p:sldId id="622" r:id="rId10"/>
    <p:sldId id="623" r:id="rId11"/>
    <p:sldId id="624" r:id="rId12"/>
    <p:sldId id="625" r:id="rId13"/>
    <p:sldId id="626" r:id="rId14"/>
    <p:sldId id="627" r:id="rId15"/>
    <p:sldId id="258" r:id="rId16"/>
    <p:sldId id="629" r:id="rId17"/>
    <p:sldId id="630" r:id="rId18"/>
    <p:sldId id="631" r:id="rId19"/>
    <p:sldId id="632" r:id="rId20"/>
    <p:sldId id="633" r:id="rId21"/>
    <p:sldId id="634" r:id="rId22"/>
    <p:sldId id="635" r:id="rId23"/>
    <p:sldId id="641" r:id="rId24"/>
    <p:sldId id="642" r:id="rId25"/>
    <p:sldId id="356" r:id="rId26"/>
    <p:sldId id="257" r:id="rId27"/>
    <p:sldId id="326" r:id="rId28"/>
    <p:sldId id="327" r:id="rId29"/>
    <p:sldId id="272"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1031" r:id="rId45"/>
    <p:sldId id="299" r:id="rId46"/>
    <p:sldId id="300" r:id="rId47"/>
    <p:sldId id="1033" r:id="rId48"/>
    <p:sldId id="1042" r:id="rId49"/>
    <p:sldId id="309" r:id="rId50"/>
    <p:sldId id="302" r:id="rId51"/>
    <p:sldId id="303" r:id="rId52"/>
    <p:sldId id="304" r:id="rId53"/>
    <p:sldId id="305" r:id="rId54"/>
    <p:sldId id="306" r:id="rId55"/>
    <p:sldId id="307" r:id="rId56"/>
    <p:sldId id="486" r:id="rId57"/>
    <p:sldId id="1047" r:id="rId58"/>
    <p:sldId id="1045" r:id="rId59"/>
    <p:sldId id="1046" r:id="rId60"/>
    <p:sldId id="1049" r:id="rId61"/>
    <p:sldId id="1050" r:id="rId62"/>
    <p:sldId id="1048" r:id="rId63"/>
    <p:sldId id="1051" r:id="rId64"/>
    <p:sldId id="313" r:id="rId65"/>
    <p:sldId id="1068" r:id="rId66"/>
    <p:sldId id="314" r:id="rId67"/>
    <p:sldId id="317" r:id="rId68"/>
    <p:sldId id="315" r:id="rId69"/>
    <p:sldId id="372" r:id="rId70"/>
    <p:sldId id="371" r:id="rId71"/>
    <p:sldId id="316" r:id="rId72"/>
    <p:sldId id="1073" r:id="rId73"/>
    <p:sldId id="1071" r:id="rId74"/>
    <p:sldId id="1072" r:id="rId75"/>
    <p:sldId id="377" r:id="rId76"/>
    <p:sldId id="1069" r:id="rId77"/>
    <p:sldId id="378" r:id="rId78"/>
    <p:sldId id="379" r:id="rId79"/>
    <p:sldId id="380" r:id="rId80"/>
    <p:sldId id="381" r:id="rId81"/>
    <p:sldId id="382" r:id="rId82"/>
    <p:sldId id="1113" r:id="rId83"/>
    <p:sldId id="1114" r:id="rId84"/>
    <p:sldId id="1115" r:id="rId85"/>
    <p:sldId id="1116" r:id="rId86"/>
    <p:sldId id="1117" r:id="rId87"/>
    <p:sldId id="1118" r:id="rId88"/>
    <p:sldId id="1119" r:id="rId89"/>
    <p:sldId id="1120" r:id="rId90"/>
    <p:sldId id="1121" r:id="rId91"/>
    <p:sldId id="1122" r:id="rId92"/>
    <p:sldId id="1123" r:id="rId93"/>
    <p:sldId id="383" r:id="rId94"/>
    <p:sldId id="384" r:id="rId95"/>
    <p:sldId id="386" r:id="rId96"/>
    <p:sldId id="385" r:id="rId97"/>
    <p:sldId id="388" r:id="rId98"/>
    <p:sldId id="387" r:id="rId99"/>
    <p:sldId id="389" r:id="rId100"/>
    <p:sldId id="390" r:id="rId101"/>
    <p:sldId id="391" r:id="rId102"/>
    <p:sldId id="392" r:id="rId103"/>
    <p:sldId id="393" r:id="rId104"/>
    <p:sldId id="394" r:id="rId105"/>
    <p:sldId id="395" r:id="rId106"/>
    <p:sldId id="396" r:id="rId107"/>
    <p:sldId id="397" r:id="rId108"/>
    <p:sldId id="398" r:id="rId109"/>
    <p:sldId id="399" r:id="rId110"/>
    <p:sldId id="400" r:id="rId111"/>
    <p:sldId id="401" r:id="rId112"/>
    <p:sldId id="403" r:id="rId113"/>
    <p:sldId id="402" r:id="rId114"/>
    <p:sldId id="405" r:id="rId115"/>
    <p:sldId id="404" r:id="rId116"/>
    <p:sldId id="408" r:id="rId117"/>
    <p:sldId id="407" r:id="rId118"/>
    <p:sldId id="406" r:id="rId119"/>
    <p:sldId id="410" r:id="rId120"/>
    <p:sldId id="409" r:id="rId121"/>
    <p:sldId id="415" r:id="rId122"/>
    <p:sldId id="417" r:id="rId123"/>
    <p:sldId id="418" r:id="rId124"/>
    <p:sldId id="416" r:id="rId125"/>
    <p:sldId id="479" r:id="rId126"/>
    <p:sldId id="480" r:id="rId127"/>
    <p:sldId id="1125" r:id="rId128"/>
    <p:sldId id="424" r:id="rId129"/>
    <p:sldId id="423" r:id="rId130"/>
    <p:sldId id="422" r:id="rId131"/>
    <p:sldId id="421" r:id="rId132"/>
    <p:sldId id="420" r:id="rId133"/>
    <p:sldId id="419" r:id="rId134"/>
    <p:sldId id="481" r:id="rId135"/>
    <p:sldId id="482" r:id="rId136"/>
    <p:sldId id="483" r:id="rId137"/>
    <p:sldId id="1074" r:id="rId138"/>
    <p:sldId id="1075" r:id="rId139"/>
    <p:sldId id="1076" r:id="rId140"/>
    <p:sldId id="1077" r:id="rId141"/>
    <p:sldId id="1078" r:id="rId142"/>
    <p:sldId id="1079" r:id="rId143"/>
    <p:sldId id="1080" r:id="rId144"/>
    <p:sldId id="1081" r:id="rId145"/>
    <p:sldId id="1082" r:id="rId146"/>
    <p:sldId id="1083" r:id="rId147"/>
    <p:sldId id="1084" r:id="rId148"/>
    <p:sldId id="1085" r:id="rId149"/>
    <p:sldId id="1086" r:id="rId150"/>
    <p:sldId id="1087" r:id="rId151"/>
    <p:sldId id="1088" r:id="rId152"/>
    <p:sldId id="1089" r:id="rId153"/>
    <p:sldId id="1090" r:id="rId154"/>
    <p:sldId id="1091" r:id="rId155"/>
    <p:sldId id="1092" r:id="rId156"/>
    <p:sldId id="1093" r:id="rId157"/>
    <p:sldId id="1094" r:id="rId158"/>
    <p:sldId id="1096" r:id="rId159"/>
    <p:sldId id="1097" r:id="rId160"/>
    <p:sldId id="1098" r:id="rId161"/>
    <p:sldId id="1099" r:id="rId162"/>
    <p:sldId id="1100" r:id="rId163"/>
    <p:sldId id="1101" r:id="rId164"/>
    <p:sldId id="1102" r:id="rId165"/>
    <p:sldId id="1103" r:id="rId166"/>
    <p:sldId id="1104" r:id="rId167"/>
    <p:sldId id="1105" r:id="rId168"/>
    <p:sldId id="1106" r:id="rId169"/>
    <p:sldId id="1107" r:id="rId170"/>
    <p:sldId id="1108" r:id="rId171"/>
    <p:sldId id="1109" r:id="rId172"/>
    <p:sldId id="1110" r:id="rId173"/>
    <p:sldId id="1111" r:id="rId174"/>
    <p:sldId id="1112" r:id="rId175"/>
    <p:sldId id="434" r:id="rId176"/>
    <p:sldId id="335" r:id="rId177"/>
    <p:sldId id="435" r:id="rId178"/>
    <p:sldId id="357" r:id="rId179"/>
    <p:sldId id="439" r:id="rId180"/>
    <p:sldId id="275" r:id="rId181"/>
    <p:sldId id="274" r:id="rId182"/>
    <p:sldId id="437" r:id="rId183"/>
    <p:sldId id="438" r:id="rId184"/>
    <p:sldId id="436" r:id="rId185"/>
    <p:sldId id="321" r:id="rId186"/>
    <p:sldId id="322" r:id="rId187"/>
    <p:sldId id="265" r:id="rId188"/>
    <p:sldId id="283" r:id="rId189"/>
    <p:sldId id="324" r:id="rId1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eeba  Kazim" initials="AK" lastIdx="1" clrIdx="0">
    <p:extLst>
      <p:ext uri="{19B8F6BF-5375-455C-9EA6-DF929625EA0E}">
        <p15:presenceInfo xmlns:p15="http://schemas.microsoft.com/office/powerpoint/2012/main" userId="Areeba  Kazi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00FF"/>
    <a:srgbClr val="ECE4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4676"/>
  </p:normalViewPr>
  <p:slideViewPr>
    <p:cSldViewPr>
      <p:cViewPr>
        <p:scale>
          <a:sx n="75" d="100"/>
          <a:sy n="75" d="100"/>
        </p:scale>
        <p:origin x="984" y="12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handoutMaster" Target="handoutMasters/handout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commentAuthors" Target="commentAuthor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viewProps" Target="view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0-21T10:38:25.341" idx="1">
    <p:pos x="10" y="10"/>
    <p:text/>
    <p:extLst>
      <p:ext uri="{C676402C-5697-4E1C-873F-D02D1690AC5C}">
        <p15:threadingInfo xmlns:p15="http://schemas.microsoft.com/office/powerpoint/2012/main" timeZoneBias="-330"/>
      </p:ext>
    </p:extLst>
  </p:cm>
</p:cmLst>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1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1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1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1" qsCatId="simple" csTypeId="urn:microsoft.com/office/officeart/2005/8/colors/colorful1#1" csCatId="colorful" phldr="1"/>
      <dgm:spPr/>
      <dgm:t>
        <a:bodyPr/>
        <a:lstStyle/>
        <a:p>
          <a:endParaRPr lang="en-IN"/>
        </a:p>
      </dgm:t>
    </dgm:pt>
    <dgm:pt modelId="{18CE3E0E-3290-422E-BD32-E1AD8CB2C6E4}">
      <dgm:prSet custT="1"/>
      <dgm:spPr/>
      <dgm:t>
        <a:bodyPr/>
        <a:lstStyle/>
        <a:p>
          <a:pPr algn="l"/>
          <a:r>
            <a:rPr lang="en-US" sz="2400" b="1" dirty="0"/>
            <a:t>Module 1.1: Trees</a:t>
          </a:r>
        </a:p>
        <a:p>
          <a:pPr algn="just"/>
          <a:r>
            <a:rPr lang="en-US" sz="2400" b="1" dirty="0"/>
            <a:t>Basic terminology </a:t>
          </a:r>
          <a:r>
            <a:rPr lang="en-US" sz="2400" dirty="0"/>
            <a:t>used with Tree, Binary Trees, Binary Tree Representation: Array Representation and Pointer (Linked List) Representation, Binary Search Tree, Strictly Binary Tree, Complete Binary Tree, An Extended Binary Trees. Tree Traversal algorithms: In-order, Pre-order and Post-order. Constructing Binary Tree from given Tree Traversal, Operation of Insertion, Deletion, Searching &amp; Modification of data in Binary Search tree, Binary Heaps, Heap sort, Threaded Binary trees, Traversing Threaded Binary trees, AVL Tree.</a:t>
          </a:r>
        </a:p>
        <a:p>
          <a:pPr algn="just"/>
          <a:r>
            <a:rPr lang="en-US" sz="2400" b="1" dirty="0"/>
            <a:t>Module 1.2: Application of Trees</a:t>
          </a:r>
          <a:endParaRPr lang="en-US" sz="2400" dirty="0"/>
        </a:p>
        <a:p>
          <a:pPr algn="just"/>
          <a:r>
            <a:rPr lang="en-US" sz="2400" dirty="0"/>
            <a:t>B-Tree &amp; Binary Heaps, Heap sort.</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954874" custLinFactNeighborX="-239" custLinFactNeighborY="-980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2" qsCatId="simple" csTypeId="urn:microsoft.com/office/officeart/2005/8/colors/colorful1#2" csCatId="colorful" phldr="1"/>
      <dgm:spPr/>
      <dgm:t>
        <a:bodyPr/>
        <a:lstStyle/>
        <a:p>
          <a:endParaRPr lang="en-IN"/>
        </a:p>
      </dgm:t>
    </dgm:pt>
    <dgm:pt modelId="{18CE3E0E-3290-422E-BD32-E1AD8CB2C6E4}">
      <dgm:prSet custT="1"/>
      <dgm:spPr/>
      <dgm:t>
        <a:bodyPr/>
        <a:lstStyle/>
        <a:p>
          <a:pPr algn="l" rtl="0"/>
          <a:r>
            <a:rPr lang="en-US" sz="2400" b="1" dirty="0"/>
            <a:t>Module 2.1: Graphs</a:t>
          </a:r>
        </a:p>
        <a:p>
          <a:pPr algn="just" rtl="0"/>
          <a:r>
            <a:rPr lang="en-US" sz="2400" dirty="0"/>
            <a:t>Terminology used with Graph, Data Structure for Graph Representations: Adjacency matrices, Adjacency List. Graph Traversal: Depth First Search and Breadth First Search. Connected Component, Spanning Trees.</a:t>
          </a:r>
        </a:p>
        <a:p>
          <a:pPr algn="just"/>
          <a:r>
            <a:rPr lang="en-US" sz="2400" b="1" dirty="0"/>
            <a:t>Module 2.2: Algorithms on Graphs</a:t>
          </a:r>
        </a:p>
        <a:p>
          <a:pPr algn="just"/>
          <a:r>
            <a:rPr lang="en-US" sz="2400" dirty="0"/>
            <a:t>Minimum Cost Spanning Trees: Prim’ s and Kruskal’s algorithm. Directed- Acyclic Graph, Transitive Closure and Shortest Path algorithms: Dijkstra Algorithm, Bellman Ford Algorithm, Floyd </a:t>
          </a:r>
          <a:r>
            <a:rPr lang="en-US" sz="2400" dirty="0" err="1"/>
            <a:t>Warshall’s</a:t>
          </a:r>
          <a:r>
            <a:rPr lang="en-US" sz="2400" dirty="0"/>
            <a:t> Algorithm.</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707740" custLinFactNeighborX="-239" custLinFactNeighborY="-980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3" qsCatId="simple" csTypeId="urn:microsoft.com/office/officeart/2005/8/colors/colorful1#3" csCatId="colorful" phldr="1"/>
      <dgm:spPr/>
      <dgm:t>
        <a:bodyPr/>
        <a:lstStyle/>
        <a:p>
          <a:endParaRPr lang="en-IN"/>
        </a:p>
      </dgm:t>
    </dgm:pt>
    <dgm:pt modelId="{18CE3E0E-3290-422E-BD32-E1AD8CB2C6E4}">
      <dgm:prSet custT="1"/>
      <dgm:spPr/>
      <dgm:t>
        <a:bodyPr/>
        <a:lstStyle/>
        <a:p>
          <a:pPr algn="l"/>
          <a:r>
            <a:rPr lang="en-US" sz="2400" b="1" dirty="0"/>
            <a:t>Module 3.1: Dynamic Programming</a:t>
          </a:r>
        </a:p>
        <a:p>
          <a:pPr algn="just"/>
          <a:r>
            <a:rPr lang="en-US" sz="2400" dirty="0"/>
            <a:t>Dynamic Programming concepts 0/1 Knapsack, Longest Common Sub Sequence, Matrix Chain Multiplication, Resource Allocation Problem.</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125794" custLinFactNeighborY="-62567">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4" qsCatId="simple" csTypeId="urn:microsoft.com/office/officeart/2005/8/colors/colorful1#4" csCatId="colorful" phldr="1"/>
      <dgm:spPr/>
      <dgm:t>
        <a:bodyPr/>
        <a:lstStyle/>
        <a:p>
          <a:endParaRPr lang="en-IN"/>
        </a:p>
      </dgm:t>
    </dgm:pt>
    <dgm:pt modelId="{18CE3E0E-3290-422E-BD32-E1AD8CB2C6E4}">
      <dgm:prSet custT="1"/>
      <dgm:spPr/>
      <dgm:t>
        <a:bodyPr/>
        <a:lstStyle/>
        <a:p>
          <a:pPr algn="just"/>
          <a:r>
            <a:rPr lang="en-US" sz="2400" b="1" dirty="0"/>
            <a:t>Module 4.1: Backtracking</a:t>
          </a:r>
        </a:p>
        <a:p>
          <a:pPr algn="just"/>
          <a:r>
            <a:rPr lang="en-US" sz="2400" dirty="0"/>
            <a:t>Backtracking, Branch, and Bound with Examples Such as Travelling Salesman Problem, Graph </a:t>
          </a:r>
          <a:r>
            <a:rPr lang="en-US" sz="2400" dirty="0" err="1"/>
            <a:t>Colouring</a:t>
          </a:r>
          <a:r>
            <a:rPr lang="en-US" sz="2400" dirty="0"/>
            <a:t>, n-Queen Problem, Hamiltonian Cycles, and Sum of Subsets.</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700900" custLinFactNeighborY="-93000">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5" qsCatId="simple" csTypeId="urn:microsoft.com/office/officeart/2005/8/colors/colorful1#5" csCatId="colorful" phldr="1"/>
      <dgm:spPr/>
      <dgm:t>
        <a:bodyPr/>
        <a:lstStyle/>
        <a:p>
          <a:endParaRPr lang="en-IN"/>
        </a:p>
      </dgm:t>
    </dgm:pt>
    <dgm:pt modelId="{18CE3E0E-3290-422E-BD32-E1AD8CB2C6E4}">
      <dgm:prSet custT="1"/>
      <dgm:spPr/>
      <dgm:t>
        <a:bodyPr/>
        <a:lstStyle/>
        <a:p>
          <a:r>
            <a:rPr lang="en-US" sz="2400" b="1" dirty="0"/>
            <a:t>Module 5.1</a:t>
          </a:r>
        </a:p>
        <a:p>
          <a:r>
            <a:rPr lang="en-US" sz="2400" dirty="0"/>
            <a:t>Red-Black Trees, B – Trees, B+ Trees, Binomial Heaps, Fibonacci Heaps, Trees.</a:t>
          </a:r>
          <a:endParaRPr lang="en-IN" sz="24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623788" custLinFactY="-2424" custLinFactNeighborX="0" custLinFactNeighborY="-100000">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1" qsCatId="simple" csTypeId="urn:microsoft.com/office/officeart/2005/8/colors/accent1_2#1" csCatId="accent1" phldr="1"/>
      <dgm:spPr/>
      <dgm:t>
        <a:bodyPr/>
        <a:lstStyle/>
        <a:p>
          <a:endParaRPr lang="en-US"/>
        </a:p>
      </dgm:t>
    </dgm:pt>
    <dgm:pt modelId="{2852B10B-00B9-451F-A96F-1537BD3BDF24}">
      <dgm:prSet phldrT="[Text]"/>
      <dgm:spPr/>
      <dgm:t>
        <a:bodyPr/>
        <a:lstStyle/>
        <a:p>
          <a:r>
            <a:rPr lang="en-US" b="1" dirty="0"/>
            <a:t>COMPUTER SCIENCE AND ENGINEERING</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OPTIMIZATION:</a:t>
          </a:r>
          <a:r>
            <a:rPr lang="en-US" b="1" dirty="0"/>
            <a:t> Enhancing performance of software and hardware through efficient algorithms</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DATABASE MANAGEMENT: </a:t>
          </a:r>
          <a:r>
            <a:rPr lang="en-US" b="1" dirty="0"/>
            <a:t>Use data structure like B-tree and hashing for efficient data storage and retrieval.</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NETWORKING: </a:t>
          </a:r>
          <a:r>
            <a:rPr lang="en-US" b="1" dirty="0"/>
            <a:t>Algorithms for routing, data compression and error detection.</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OPERATING SYSTEM: </a:t>
          </a:r>
          <a:r>
            <a:rPr lang="en-US" b="1" dirty="0"/>
            <a:t>Implementation of scheduling algorithm, memory management and file management. </a:t>
          </a:r>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pt>
    <dgm:pt modelId="{5C900078-3CD9-46D7-A69F-4C1815AE860B}" type="pres">
      <dgm:prSet presAssocID="{3091D8FC-A318-4D2B-839D-4ED87A57DD07}" presName="tile2" presStyleLbl="node1" presStyleIdx="1" presStyleCnt="4"/>
      <dgm:spPr/>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pt>
    <dgm:pt modelId="{4C496C99-D86F-4E04-941C-A5FE406D7FCC}" type="pres">
      <dgm:prSet presAssocID="{3091D8FC-A318-4D2B-839D-4ED87A57DD07}" presName="tile3" presStyleLbl="node1" presStyleIdx="2" presStyleCnt="4" custLinFactNeighborX="-925" custLinFactNeighborY="7586"/>
      <dgm:spPr/>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pt>
    <dgm:pt modelId="{93903204-2F7A-4394-A19A-33A5726AFA76}" type="pres">
      <dgm:prSet presAssocID="{3091D8FC-A318-4D2B-839D-4ED87A57DD07}" presName="tile4" presStyleLbl="node1" presStyleIdx="3" presStyleCnt="4"/>
      <dgm:spPr/>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pt>
    <dgm:pt modelId="{63A8F6F2-A05F-43B9-AC56-57482BCE9428}" type="pres">
      <dgm:prSet presAssocID="{3091D8FC-A318-4D2B-839D-4ED87A57DD07}" presName="centerTile" presStyleLbl="fgShp" presStyleIdx="0" presStyleCnt="1">
        <dgm:presLayoutVars>
          <dgm:chMax val="0"/>
          <dgm:chPref val="0"/>
        </dgm:presLayoutVars>
      </dgm:prSet>
      <dgm:spPr/>
    </dgm:pt>
  </dgm:ptLst>
  <dgm:cxnLst>
    <dgm:cxn modelId="{2A389400-B8B0-4129-B28B-5F9D90A62BCD}" srcId="{2852B10B-00B9-451F-A96F-1537BD3BDF24}" destId="{338EB083-A2C3-4892-BEF3-72CA1F9EB413}" srcOrd="0" destOrd="0" parTransId="{2FD76FD4-4D61-4654-A66B-171ED391978F}" sibTransId="{77C47FDC-84FD-4B75-AE5F-3F0047D3AFBC}"/>
    <dgm:cxn modelId="{0B86280D-1D5B-4F49-ADD1-947C6D8A1FA1}" srcId="{3091D8FC-A318-4D2B-839D-4ED87A57DD07}" destId="{2852B10B-00B9-451F-A96F-1537BD3BDF24}" srcOrd="0" destOrd="0" parTransId="{87EE7D85-C0A0-4EE0-870D-822B8CBC21D4}" sibTransId="{93696E8E-B8DB-4120-9012-8CDFDACBA04C}"/>
    <dgm:cxn modelId="{03F2852F-B844-4D2A-859D-559F51343B01}" type="presOf" srcId="{E0D12DE0-7197-4908-BFEB-6F01CBFF5600}" destId="{BBE5B3CF-E6B7-4C7E-ABFD-DC52F191D699}" srcOrd="1" destOrd="0" presId="urn:microsoft.com/office/officeart/2005/8/layout/matrix1"/>
    <dgm:cxn modelId="{2D70A13A-0334-4363-B09D-D0EA8AE7F568}" type="presOf" srcId="{5845372D-3072-45FD-A178-F656F269F00A}" destId="{E1C73F7A-B7CB-4C36-A605-E91F22DE139C}" srcOrd="1" destOrd="0" presId="urn:microsoft.com/office/officeart/2005/8/layout/matrix1"/>
    <dgm:cxn modelId="{1884715F-AE63-4C9D-B824-314D75CD789F}" type="presOf" srcId="{338EB083-A2C3-4892-BEF3-72CA1F9EB413}" destId="{CA449B83-9A68-4AD1-B37B-940D2AEA4F24}" srcOrd="0"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80160F51-6275-48BE-B1E9-86401442B1D0}" srcId="{2852B10B-00B9-451F-A96F-1537BD3BDF24}" destId="{C4C1E16C-5C8F-44BC-B87A-71FCC575947F}" srcOrd="3" destOrd="0" parTransId="{EB974377-B2B7-491F-ABA5-1A9619D9B5E8}" sibTransId="{71C68B90-1851-4C12-89EC-E1FEF49DEBDF}"/>
    <dgm:cxn modelId="{F40F2683-341D-4A59-B4F8-93E0DFD0A8A8}" type="presOf" srcId="{5845372D-3072-45FD-A178-F656F269F00A}" destId="{5C900078-3CD9-46D7-A69F-4C1815AE860B}" srcOrd="0" destOrd="0" presId="urn:microsoft.com/office/officeart/2005/8/layout/matrix1"/>
    <dgm:cxn modelId="{BF74DFA5-489D-4846-9FCA-9A0717BDE958}" srcId="{2852B10B-00B9-451F-A96F-1537BD3BDF24}" destId="{5845372D-3072-45FD-A178-F656F269F00A}" srcOrd="1" destOrd="0" parTransId="{9A4BF17E-2CE7-4A86-9E18-1D59815F5613}" sibTransId="{D9214A7C-F420-4A31-8E4A-1A600FF001D7}"/>
    <dgm:cxn modelId="{309A9FC3-6C75-4433-BFB5-4C5E5E9FD6C7}" type="presOf" srcId="{3091D8FC-A318-4D2B-839D-4ED87A57DD07}" destId="{39A0C6F0-C259-4073-957D-6C6D6872E2BC}"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2" qsCatId="simple" csTypeId="urn:microsoft.com/office/officeart/2005/8/colors/accent1_2#2" csCatId="accent1" phldr="1"/>
      <dgm:spPr/>
      <dgm:t>
        <a:bodyPr/>
        <a:lstStyle/>
        <a:p>
          <a:endParaRPr lang="en-US"/>
        </a:p>
      </dgm:t>
    </dgm:pt>
    <dgm:pt modelId="{2852B10B-00B9-451F-A96F-1537BD3BDF24}">
      <dgm:prSet phldrT="[Text]"/>
      <dgm:spPr/>
      <dgm:t>
        <a:bodyPr/>
        <a:lstStyle/>
        <a:p>
          <a:r>
            <a:rPr lang="en-US" b="1" dirty="0"/>
            <a:t>COMPUTER SCIENCE AND ENGINEERING (AI)</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MACHINE LEARNING:</a:t>
          </a:r>
          <a:r>
            <a:rPr lang="en-US" b="1" dirty="0"/>
            <a:t> Use of algorithms like decision tree, neural networks and clustering for learning of data.</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NATURE LANGUAGE PROCESSING: </a:t>
          </a:r>
          <a:r>
            <a:rPr lang="en-US" b="1" u="none" dirty="0"/>
            <a:t>Algorithms for parsing, sentiment analysis and machine translation.</a:t>
          </a:r>
          <a:endParaRPr lang="en-US" u="none"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SEARCH ALGORITHMS: </a:t>
          </a:r>
          <a:r>
            <a:rPr lang="en-US" b="1" u="none" dirty="0"/>
            <a:t>Implementing A*, Minimax for problem-solving and game-playing</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PATTERN RECOGNISTION: </a:t>
          </a:r>
          <a:r>
            <a:rPr lang="en-US" b="1" u="none" dirty="0"/>
            <a:t>Efficiently classify and detect patterns in data using suitable data structures</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pt>
    <dgm:pt modelId="{5C900078-3CD9-46D7-A69F-4C1815AE860B}" type="pres">
      <dgm:prSet presAssocID="{3091D8FC-A318-4D2B-839D-4ED87A57DD07}" presName="tile2" presStyleLbl="node1" presStyleIdx="1" presStyleCnt="4"/>
      <dgm:spPr/>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pt>
    <dgm:pt modelId="{4C496C99-D86F-4E04-941C-A5FE406D7FCC}" type="pres">
      <dgm:prSet presAssocID="{3091D8FC-A318-4D2B-839D-4ED87A57DD07}" presName="tile3" presStyleLbl="node1" presStyleIdx="2" presStyleCnt="4"/>
      <dgm:spPr/>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pt>
    <dgm:pt modelId="{93903204-2F7A-4394-A19A-33A5726AFA76}" type="pres">
      <dgm:prSet presAssocID="{3091D8FC-A318-4D2B-839D-4ED87A57DD07}" presName="tile4" presStyleLbl="node1" presStyleIdx="3" presStyleCnt="4"/>
      <dgm:spPr/>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pt>
    <dgm:pt modelId="{63A8F6F2-A05F-43B9-AC56-57482BCE9428}" type="pres">
      <dgm:prSet presAssocID="{3091D8FC-A318-4D2B-839D-4ED87A57DD07}" presName="centerTile" presStyleLbl="fgShp" presStyleIdx="0" presStyleCnt="1">
        <dgm:presLayoutVars>
          <dgm:chMax val="0"/>
          <dgm:chPref val="0"/>
        </dgm:presLayoutVars>
      </dgm:prSet>
      <dgm:spPr/>
    </dgm:pt>
  </dgm:ptLst>
  <dgm:cxnLst>
    <dgm:cxn modelId="{2A389400-B8B0-4129-B28B-5F9D90A62BCD}" srcId="{2852B10B-00B9-451F-A96F-1537BD3BDF24}" destId="{338EB083-A2C3-4892-BEF3-72CA1F9EB413}" srcOrd="0" destOrd="0" parTransId="{2FD76FD4-4D61-4654-A66B-171ED391978F}" sibTransId="{77C47FDC-84FD-4B75-AE5F-3F0047D3AFBC}"/>
    <dgm:cxn modelId="{0B86280D-1D5B-4F49-ADD1-947C6D8A1FA1}" srcId="{3091D8FC-A318-4D2B-839D-4ED87A57DD07}" destId="{2852B10B-00B9-451F-A96F-1537BD3BDF24}" srcOrd="0" destOrd="0" parTransId="{87EE7D85-C0A0-4EE0-870D-822B8CBC21D4}" sibTransId="{93696E8E-B8DB-4120-9012-8CDFDACBA04C}"/>
    <dgm:cxn modelId="{03F2852F-B844-4D2A-859D-559F51343B01}" type="presOf" srcId="{E0D12DE0-7197-4908-BFEB-6F01CBFF5600}" destId="{BBE5B3CF-E6B7-4C7E-ABFD-DC52F191D699}" srcOrd="1" destOrd="0" presId="urn:microsoft.com/office/officeart/2005/8/layout/matrix1"/>
    <dgm:cxn modelId="{2D70A13A-0334-4363-B09D-D0EA8AE7F568}" type="presOf" srcId="{5845372D-3072-45FD-A178-F656F269F00A}" destId="{E1C73F7A-B7CB-4C36-A605-E91F22DE139C}" srcOrd="1" destOrd="0" presId="urn:microsoft.com/office/officeart/2005/8/layout/matrix1"/>
    <dgm:cxn modelId="{1884715F-AE63-4C9D-B824-314D75CD789F}" type="presOf" srcId="{338EB083-A2C3-4892-BEF3-72CA1F9EB413}" destId="{CA449B83-9A68-4AD1-B37B-940D2AEA4F24}" srcOrd="0"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80160F51-6275-48BE-B1E9-86401442B1D0}" srcId="{2852B10B-00B9-451F-A96F-1537BD3BDF24}" destId="{C4C1E16C-5C8F-44BC-B87A-71FCC575947F}" srcOrd="3" destOrd="0" parTransId="{EB974377-B2B7-491F-ABA5-1A9619D9B5E8}" sibTransId="{71C68B90-1851-4C12-89EC-E1FEF49DEBDF}"/>
    <dgm:cxn modelId="{F40F2683-341D-4A59-B4F8-93E0DFD0A8A8}" type="presOf" srcId="{5845372D-3072-45FD-A178-F656F269F00A}" destId="{5C900078-3CD9-46D7-A69F-4C1815AE860B}" srcOrd="0" destOrd="0" presId="urn:microsoft.com/office/officeart/2005/8/layout/matrix1"/>
    <dgm:cxn modelId="{BF74DFA5-489D-4846-9FCA-9A0717BDE958}" srcId="{2852B10B-00B9-451F-A96F-1537BD3BDF24}" destId="{5845372D-3072-45FD-A178-F656F269F00A}" srcOrd="1" destOrd="0" parTransId="{9A4BF17E-2CE7-4A86-9E18-1D59815F5613}" sibTransId="{D9214A7C-F420-4A31-8E4A-1A600FF001D7}"/>
    <dgm:cxn modelId="{309A9FC3-6C75-4433-BFB5-4C5E5E9FD6C7}" type="presOf" srcId="{3091D8FC-A318-4D2B-839D-4ED87A57DD07}" destId="{39A0C6F0-C259-4073-957D-6C6D6872E2BC}"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3" qsCatId="simple" csTypeId="urn:microsoft.com/office/officeart/2005/8/colors/accent1_2#3" csCatId="accent1" phldr="1"/>
      <dgm:spPr/>
      <dgm:t>
        <a:bodyPr/>
        <a:lstStyle/>
        <a:p>
          <a:endParaRPr lang="en-US"/>
        </a:p>
      </dgm:t>
    </dgm:pt>
    <dgm:pt modelId="{2852B10B-00B9-451F-A96F-1537BD3BDF24}">
      <dgm:prSet phldrT="[Text]"/>
      <dgm:spPr/>
      <dgm:t>
        <a:bodyPr/>
        <a:lstStyle/>
        <a:p>
          <a:r>
            <a:rPr lang="en-US" b="1" dirty="0"/>
            <a:t>COMPUTER SCIENCE AND ENGINEERING(AIML)</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DEEP LEARNING:</a:t>
          </a:r>
          <a:r>
            <a:rPr lang="en-US" b="1" dirty="0"/>
            <a:t> Implement and optimize neural network architectures.</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REINFORCEMENT LEARNING: </a:t>
          </a:r>
          <a:r>
            <a:rPr lang="en-US" b="1" u="none" dirty="0"/>
            <a:t>Algorithms like Q-training for decision making strategy development</a:t>
          </a:r>
          <a:r>
            <a:rPr lang="en-US" b="1" dirty="0"/>
            <a:t>.</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FEATURE ENGINEERING: </a:t>
          </a:r>
          <a:r>
            <a:rPr lang="en-US" b="1" u="none" dirty="0"/>
            <a:t>Use data structures for efficient feature extraction and selection.</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MODEL EVALUATION: </a:t>
          </a:r>
          <a:r>
            <a:rPr lang="en-US" b="1" u="none" dirty="0"/>
            <a:t>Algorithms for cross-validation and hyper parameter tuning to enhance model performance.</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pt>
    <dgm:pt modelId="{5C900078-3CD9-46D7-A69F-4C1815AE860B}" type="pres">
      <dgm:prSet presAssocID="{3091D8FC-A318-4D2B-839D-4ED87A57DD07}" presName="tile2" presStyleLbl="node1" presStyleIdx="1" presStyleCnt="4"/>
      <dgm:spPr/>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pt>
    <dgm:pt modelId="{4C496C99-D86F-4E04-941C-A5FE406D7FCC}" type="pres">
      <dgm:prSet presAssocID="{3091D8FC-A318-4D2B-839D-4ED87A57DD07}" presName="tile3" presStyleLbl="node1" presStyleIdx="2" presStyleCnt="4" custLinFactNeighborX="-925" custLinFactNeighborY="7586"/>
      <dgm:spPr/>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pt>
    <dgm:pt modelId="{93903204-2F7A-4394-A19A-33A5726AFA76}" type="pres">
      <dgm:prSet presAssocID="{3091D8FC-A318-4D2B-839D-4ED87A57DD07}" presName="tile4" presStyleLbl="node1" presStyleIdx="3" presStyleCnt="4"/>
      <dgm:spPr/>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pt>
    <dgm:pt modelId="{63A8F6F2-A05F-43B9-AC56-57482BCE9428}" type="pres">
      <dgm:prSet presAssocID="{3091D8FC-A318-4D2B-839D-4ED87A57DD07}" presName="centerTile" presStyleLbl="fgShp" presStyleIdx="0" presStyleCnt="1">
        <dgm:presLayoutVars>
          <dgm:chMax val="0"/>
          <dgm:chPref val="0"/>
        </dgm:presLayoutVars>
      </dgm:prSet>
      <dgm:spPr/>
    </dgm:pt>
  </dgm:ptLst>
  <dgm:cxnLst>
    <dgm:cxn modelId="{2A389400-B8B0-4129-B28B-5F9D90A62BCD}" srcId="{2852B10B-00B9-451F-A96F-1537BD3BDF24}" destId="{338EB083-A2C3-4892-BEF3-72CA1F9EB413}" srcOrd="0" destOrd="0" parTransId="{2FD76FD4-4D61-4654-A66B-171ED391978F}" sibTransId="{77C47FDC-84FD-4B75-AE5F-3F0047D3AFBC}"/>
    <dgm:cxn modelId="{0B86280D-1D5B-4F49-ADD1-947C6D8A1FA1}" srcId="{3091D8FC-A318-4D2B-839D-4ED87A57DD07}" destId="{2852B10B-00B9-451F-A96F-1537BD3BDF24}" srcOrd="0" destOrd="0" parTransId="{87EE7D85-C0A0-4EE0-870D-822B8CBC21D4}" sibTransId="{93696E8E-B8DB-4120-9012-8CDFDACBA04C}"/>
    <dgm:cxn modelId="{03F2852F-B844-4D2A-859D-559F51343B01}" type="presOf" srcId="{E0D12DE0-7197-4908-BFEB-6F01CBFF5600}" destId="{BBE5B3CF-E6B7-4C7E-ABFD-DC52F191D699}" srcOrd="1" destOrd="0" presId="urn:microsoft.com/office/officeart/2005/8/layout/matrix1"/>
    <dgm:cxn modelId="{2D70A13A-0334-4363-B09D-D0EA8AE7F568}" type="presOf" srcId="{5845372D-3072-45FD-A178-F656F269F00A}" destId="{E1C73F7A-B7CB-4C36-A605-E91F22DE139C}" srcOrd="1" destOrd="0" presId="urn:microsoft.com/office/officeart/2005/8/layout/matrix1"/>
    <dgm:cxn modelId="{1884715F-AE63-4C9D-B824-314D75CD789F}" type="presOf" srcId="{338EB083-A2C3-4892-BEF3-72CA1F9EB413}" destId="{CA449B83-9A68-4AD1-B37B-940D2AEA4F24}" srcOrd="0"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80160F51-6275-48BE-B1E9-86401442B1D0}" srcId="{2852B10B-00B9-451F-A96F-1537BD3BDF24}" destId="{C4C1E16C-5C8F-44BC-B87A-71FCC575947F}" srcOrd="3" destOrd="0" parTransId="{EB974377-B2B7-491F-ABA5-1A9619D9B5E8}" sibTransId="{71C68B90-1851-4C12-89EC-E1FEF49DEBDF}"/>
    <dgm:cxn modelId="{F40F2683-341D-4A59-B4F8-93E0DFD0A8A8}" type="presOf" srcId="{5845372D-3072-45FD-A178-F656F269F00A}" destId="{5C900078-3CD9-46D7-A69F-4C1815AE860B}" srcOrd="0" destOrd="0" presId="urn:microsoft.com/office/officeart/2005/8/layout/matrix1"/>
    <dgm:cxn modelId="{BF74DFA5-489D-4846-9FCA-9A0717BDE958}" srcId="{2852B10B-00B9-451F-A96F-1537BD3BDF24}" destId="{5845372D-3072-45FD-A178-F656F269F00A}" srcOrd="1" destOrd="0" parTransId="{9A4BF17E-2CE7-4A86-9E18-1D59815F5613}" sibTransId="{D9214A7C-F420-4A31-8E4A-1A600FF001D7}"/>
    <dgm:cxn modelId="{309A9FC3-6C75-4433-BFB5-4C5E5E9FD6C7}" type="presOf" srcId="{3091D8FC-A318-4D2B-839D-4ED87A57DD07}" destId="{39A0C6F0-C259-4073-957D-6C6D6872E2BC}"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4" qsCatId="simple" csTypeId="urn:microsoft.com/office/officeart/2005/8/colors/accent1_2#4" csCatId="accent1" phldr="1"/>
      <dgm:spPr/>
      <dgm:t>
        <a:bodyPr/>
        <a:lstStyle/>
        <a:p>
          <a:endParaRPr lang="en-US"/>
        </a:p>
      </dgm:t>
    </dgm:pt>
    <dgm:pt modelId="{2852B10B-00B9-451F-A96F-1537BD3BDF24}">
      <dgm:prSet phldrT="[Text]"/>
      <dgm:spPr/>
      <dgm:t>
        <a:bodyPr/>
        <a:lstStyle/>
        <a:p>
          <a:r>
            <a:rPr lang="en-US" b="1" dirty="0"/>
            <a:t>COMPUTER SCIENCE AND ENGINEERING(DS)</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DATA MINING: </a:t>
          </a:r>
          <a:r>
            <a:rPr lang="en-US" b="1" u="none" dirty="0"/>
            <a:t>Algorithm for clustering, classification and association rule learning. </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BIG-DATA ANALYTICS:</a:t>
          </a:r>
          <a:r>
            <a:rPr lang="en-US" b="1" u="none" dirty="0"/>
            <a:t> Data Structures like Hadoop Distributed File System (HDFS) and </a:t>
          </a:r>
          <a:r>
            <a:rPr lang="en-US" b="1" u="none" dirty="0" err="1"/>
            <a:t>MapReduce</a:t>
          </a:r>
          <a:r>
            <a:rPr lang="en-US" b="1" u="none" dirty="0"/>
            <a:t> Algorithms.</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PREDICTIVE ANALYSIS: </a:t>
          </a:r>
          <a:r>
            <a:rPr lang="en-US" b="1" u="none" dirty="0"/>
            <a:t>Use time-series algorithms and regression model to forecast trends.</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DATA CLEANING: </a:t>
          </a:r>
          <a:r>
            <a:rPr lang="en-US" b="1" u="none" dirty="0"/>
            <a:t>Efficiently handle and preprocess large datasets using suitable data structures.</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pt>
    <dgm:pt modelId="{5C900078-3CD9-46D7-A69F-4C1815AE860B}" type="pres">
      <dgm:prSet presAssocID="{3091D8FC-A318-4D2B-839D-4ED87A57DD07}" presName="tile2" presStyleLbl="node1" presStyleIdx="1" presStyleCnt="4"/>
      <dgm:spPr/>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pt>
    <dgm:pt modelId="{4C496C99-D86F-4E04-941C-A5FE406D7FCC}" type="pres">
      <dgm:prSet presAssocID="{3091D8FC-A318-4D2B-839D-4ED87A57DD07}" presName="tile3" presStyleLbl="node1" presStyleIdx="2" presStyleCnt="4" custLinFactNeighborX="-925" custLinFactNeighborY="7586"/>
      <dgm:spPr/>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pt>
    <dgm:pt modelId="{93903204-2F7A-4394-A19A-33A5726AFA76}" type="pres">
      <dgm:prSet presAssocID="{3091D8FC-A318-4D2B-839D-4ED87A57DD07}" presName="tile4" presStyleLbl="node1" presStyleIdx="3" presStyleCnt="4"/>
      <dgm:spPr/>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pt>
    <dgm:pt modelId="{63A8F6F2-A05F-43B9-AC56-57482BCE9428}" type="pres">
      <dgm:prSet presAssocID="{3091D8FC-A318-4D2B-839D-4ED87A57DD07}" presName="centerTile" presStyleLbl="fgShp" presStyleIdx="0" presStyleCnt="1">
        <dgm:presLayoutVars>
          <dgm:chMax val="0"/>
          <dgm:chPref val="0"/>
        </dgm:presLayoutVars>
      </dgm:prSet>
      <dgm:spPr/>
    </dgm:pt>
  </dgm:ptLst>
  <dgm:cxnLst>
    <dgm:cxn modelId="{2A389400-B8B0-4129-B28B-5F9D90A62BCD}" srcId="{2852B10B-00B9-451F-A96F-1537BD3BDF24}" destId="{338EB083-A2C3-4892-BEF3-72CA1F9EB413}" srcOrd="0" destOrd="0" parTransId="{2FD76FD4-4D61-4654-A66B-171ED391978F}" sibTransId="{77C47FDC-84FD-4B75-AE5F-3F0047D3AFBC}"/>
    <dgm:cxn modelId="{0B86280D-1D5B-4F49-ADD1-947C6D8A1FA1}" srcId="{3091D8FC-A318-4D2B-839D-4ED87A57DD07}" destId="{2852B10B-00B9-451F-A96F-1537BD3BDF24}" srcOrd="0" destOrd="0" parTransId="{87EE7D85-C0A0-4EE0-870D-822B8CBC21D4}" sibTransId="{93696E8E-B8DB-4120-9012-8CDFDACBA04C}"/>
    <dgm:cxn modelId="{03F2852F-B844-4D2A-859D-559F51343B01}" type="presOf" srcId="{E0D12DE0-7197-4908-BFEB-6F01CBFF5600}" destId="{BBE5B3CF-E6B7-4C7E-ABFD-DC52F191D699}" srcOrd="1" destOrd="0" presId="urn:microsoft.com/office/officeart/2005/8/layout/matrix1"/>
    <dgm:cxn modelId="{2D70A13A-0334-4363-B09D-D0EA8AE7F568}" type="presOf" srcId="{5845372D-3072-45FD-A178-F656F269F00A}" destId="{E1C73F7A-B7CB-4C36-A605-E91F22DE139C}" srcOrd="1" destOrd="0" presId="urn:microsoft.com/office/officeart/2005/8/layout/matrix1"/>
    <dgm:cxn modelId="{1884715F-AE63-4C9D-B824-314D75CD789F}" type="presOf" srcId="{338EB083-A2C3-4892-BEF3-72CA1F9EB413}" destId="{CA449B83-9A68-4AD1-B37B-940D2AEA4F24}" srcOrd="0"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80160F51-6275-48BE-B1E9-86401442B1D0}" srcId="{2852B10B-00B9-451F-A96F-1537BD3BDF24}" destId="{C4C1E16C-5C8F-44BC-B87A-71FCC575947F}" srcOrd="3" destOrd="0" parTransId="{EB974377-B2B7-491F-ABA5-1A9619D9B5E8}" sibTransId="{71C68B90-1851-4C12-89EC-E1FEF49DEBDF}"/>
    <dgm:cxn modelId="{F40F2683-341D-4A59-B4F8-93E0DFD0A8A8}" type="presOf" srcId="{5845372D-3072-45FD-A178-F656F269F00A}" destId="{5C900078-3CD9-46D7-A69F-4C1815AE860B}" srcOrd="0" destOrd="0" presId="urn:microsoft.com/office/officeart/2005/8/layout/matrix1"/>
    <dgm:cxn modelId="{BF74DFA5-489D-4846-9FCA-9A0717BDE958}" srcId="{2852B10B-00B9-451F-A96F-1537BD3BDF24}" destId="{5845372D-3072-45FD-A178-F656F269F00A}" srcOrd="1" destOrd="0" parTransId="{9A4BF17E-2CE7-4A86-9E18-1D59815F5613}" sibTransId="{D9214A7C-F420-4A31-8E4A-1A600FF001D7}"/>
    <dgm:cxn modelId="{309A9FC3-6C75-4433-BFB5-4C5E5E9FD6C7}" type="presOf" srcId="{3091D8FC-A318-4D2B-839D-4ED87A57DD07}" destId="{39A0C6F0-C259-4073-957D-6C6D6872E2BC}"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5" qsCatId="simple" csTypeId="urn:microsoft.com/office/officeart/2005/8/colors/accent1_2#5" csCatId="accent1" phldr="1"/>
      <dgm:spPr/>
      <dgm:t>
        <a:bodyPr/>
        <a:lstStyle/>
        <a:p>
          <a:endParaRPr lang="en-US"/>
        </a:p>
      </dgm:t>
    </dgm:pt>
    <dgm:pt modelId="{2852B10B-00B9-451F-A96F-1537BD3BDF24}">
      <dgm:prSet phldrT="[Text]"/>
      <dgm:spPr/>
      <dgm:t>
        <a:bodyPr/>
        <a:lstStyle/>
        <a:p>
          <a:r>
            <a:rPr lang="en-US" b="1" dirty="0"/>
            <a:t>COMPUTER SCIENCE AND ENGINEERING(</a:t>
          </a:r>
          <a:r>
            <a:rPr lang="en-US" b="1" dirty="0" err="1"/>
            <a:t>IoT</a:t>
          </a:r>
          <a:r>
            <a:rPr lang="en-US" b="1" dirty="0"/>
            <a:t>)</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SENSOR DATA PROCESSING:</a:t>
          </a:r>
          <a:r>
            <a:rPr lang="en-US" b="1" u="none" dirty="0"/>
            <a:t> Algorithms for real-time data collection, filtering and analysis.</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NETWORK PROTOCOLS:</a:t>
          </a:r>
          <a:r>
            <a:rPr lang="en-US" b="1" u="none" dirty="0"/>
            <a:t> Design and Analysis of Algorithms for efficient data transmission in </a:t>
          </a:r>
          <a:r>
            <a:rPr lang="en-US" b="1" u="none" dirty="0" err="1"/>
            <a:t>IoT</a:t>
          </a:r>
          <a:r>
            <a:rPr lang="en-US" b="1" u="none" dirty="0"/>
            <a:t> networks.</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EDGE COMPUTING: </a:t>
          </a:r>
          <a:r>
            <a:rPr lang="en-US" b="1" u="none" dirty="0"/>
            <a:t>Optimize algorithms for data processing on edge devices.</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SECURITY: </a:t>
          </a:r>
          <a:r>
            <a:rPr lang="en-US" b="1" u="none" dirty="0"/>
            <a:t>Implementing algorithms for encryption, authentication and intrusion detection in </a:t>
          </a:r>
          <a:r>
            <a:rPr lang="en-US" b="1" u="none" dirty="0" err="1"/>
            <a:t>IoT</a:t>
          </a:r>
          <a:r>
            <a:rPr lang="en-US" b="1" u="none" dirty="0"/>
            <a:t> system.</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pt>
    <dgm:pt modelId="{5C900078-3CD9-46D7-A69F-4C1815AE860B}" type="pres">
      <dgm:prSet presAssocID="{3091D8FC-A318-4D2B-839D-4ED87A57DD07}" presName="tile2" presStyleLbl="node1" presStyleIdx="1" presStyleCnt="4"/>
      <dgm:spPr/>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pt>
    <dgm:pt modelId="{4C496C99-D86F-4E04-941C-A5FE406D7FCC}" type="pres">
      <dgm:prSet presAssocID="{3091D8FC-A318-4D2B-839D-4ED87A57DD07}" presName="tile3" presStyleLbl="node1" presStyleIdx="2" presStyleCnt="4" custLinFactNeighborX="-925" custLinFactNeighborY="7586"/>
      <dgm:spPr/>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pt>
    <dgm:pt modelId="{93903204-2F7A-4394-A19A-33A5726AFA76}" type="pres">
      <dgm:prSet presAssocID="{3091D8FC-A318-4D2B-839D-4ED87A57DD07}" presName="tile4" presStyleLbl="node1" presStyleIdx="3" presStyleCnt="4"/>
      <dgm:spPr/>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pt>
    <dgm:pt modelId="{63A8F6F2-A05F-43B9-AC56-57482BCE9428}" type="pres">
      <dgm:prSet presAssocID="{3091D8FC-A318-4D2B-839D-4ED87A57DD07}" presName="centerTile" presStyleLbl="fgShp" presStyleIdx="0" presStyleCnt="1">
        <dgm:presLayoutVars>
          <dgm:chMax val="0"/>
          <dgm:chPref val="0"/>
        </dgm:presLayoutVars>
      </dgm:prSet>
      <dgm:spPr/>
    </dgm:pt>
  </dgm:ptLst>
  <dgm:cxnLst>
    <dgm:cxn modelId="{2A389400-B8B0-4129-B28B-5F9D90A62BCD}" srcId="{2852B10B-00B9-451F-A96F-1537BD3BDF24}" destId="{338EB083-A2C3-4892-BEF3-72CA1F9EB413}" srcOrd="0" destOrd="0" parTransId="{2FD76FD4-4D61-4654-A66B-171ED391978F}" sibTransId="{77C47FDC-84FD-4B75-AE5F-3F0047D3AFBC}"/>
    <dgm:cxn modelId="{0B86280D-1D5B-4F49-ADD1-947C6D8A1FA1}" srcId="{3091D8FC-A318-4D2B-839D-4ED87A57DD07}" destId="{2852B10B-00B9-451F-A96F-1537BD3BDF24}" srcOrd="0" destOrd="0" parTransId="{87EE7D85-C0A0-4EE0-870D-822B8CBC21D4}" sibTransId="{93696E8E-B8DB-4120-9012-8CDFDACBA04C}"/>
    <dgm:cxn modelId="{03F2852F-B844-4D2A-859D-559F51343B01}" type="presOf" srcId="{E0D12DE0-7197-4908-BFEB-6F01CBFF5600}" destId="{BBE5B3CF-E6B7-4C7E-ABFD-DC52F191D699}" srcOrd="1" destOrd="0" presId="urn:microsoft.com/office/officeart/2005/8/layout/matrix1"/>
    <dgm:cxn modelId="{2D70A13A-0334-4363-B09D-D0EA8AE7F568}" type="presOf" srcId="{5845372D-3072-45FD-A178-F656F269F00A}" destId="{E1C73F7A-B7CB-4C36-A605-E91F22DE139C}" srcOrd="1" destOrd="0" presId="urn:microsoft.com/office/officeart/2005/8/layout/matrix1"/>
    <dgm:cxn modelId="{1884715F-AE63-4C9D-B824-314D75CD789F}" type="presOf" srcId="{338EB083-A2C3-4892-BEF3-72CA1F9EB413}" destId="{CA449B83-9A68-4AD1-B37B-940D2AEA4F24}" srcOrd="0"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80160F51-6275-48BE-B1E9-86401442B1D0}" srcId="{2852B10B-00B9-451F-A96F-1537BD3BDF24}" destId="{C4C1E16C-5C8F-44BC-B87A-71FCC575947F}" srcOrd="3" destOrd="0" parTransId="{EB974377-B2B7-491F-ABA5-1A9619D9B5E8}" sibTransId="{71C68B90-1851-4C12-89EC-E1FEF49DEBDF}"/>
    <dgm:cxn modelId="{F40F2683-341D-4A59-B4F8-93E0DFD0A8A8}" type="presOf" srcId="{5845372D-3072-45FD-A178-F656F269F00A}" destId="{5C900078-3CD9-46D7-A69F-4C1815AE860B}" srcOrd="0" destOrd="0" presId="urn:microsoft.com/office/officeart/2005/8/layout/matrix1"/>
    <dgm:cxn modelId="{BF74DFA5-489D-4846-9FCA-9A0717BDE958}" srcId="{2852B10B-00B9-451F-A96F-1537BD3BDF24}" destId="{5845372D-3072-45FD-A178-F656F269F00A}" srcOrd="1" destOrd="0" parTransId="{9A4BF17E-2CE7-4A86-9E18-1D59815F5613}" sibTransId="{D9214A7C-F420-4A31-8E4A-1A600FF001D7}"/>
    <dgm:cxn modelId="{309A9FC3-6C75-4433-BFB5-4C5E5E9FD6C7}" type="presOf" srcId="{3091D8FC-A318-4D2B-839D-4ED87A57DD07}" destId="{39A0C6F0-C259-4073-957D-6C6D6872E2BC}"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6" qsCatId="simple" csTypeId="urn:microsoft.com/office/officeart/2005/8/colors/accent1_2#6" csCatId="accent1" phldr="1"/>
      <dgm:spPr/>
      <dgm:t>
        <a:bodyPr/>
        <a:lstStyle/>
        <a:p>
          <a:endParaRPr lang="en-US"/>
        </a:p>
      </dgm:t>
    </dgm:pt>
    <dgm:pt modelId="{2852B10B-00B9-451F-A96F-1537BD3BDF24}">
      <dgm:prSet phldrT="[Text]"/>
      <dgm:spPr/>
      <dgm:t>
        <a:bodyPr/>
        <a:lstStyle/>
        <a:p>
          <a:r>
            <a:rPr lang="en-US" b="1" dirty="0"/>
            <a:t>COMPUTER SCIENCE AND ENGINEERING (CYBER SECURITY)</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CRYPTOGRAPHY: </a:t>
          </a:r>
          <a:r>
            <a:rPr lang="en-US" b="1" u="none" dirty="0"/>
            <a:t>Design and analyze algorithms for secure communication.</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INTRUSION DETECTION: </a:t>
          </a:r>
          <a:r>
            <a:rPr lang="en-US" b="1" u="none" dirty="0"/>
            <a:t>Use of data structures for pattern matching to detect unauthorized access.</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MALWARE ANALYSIS: </a:t>
          </a:r>
          <a:r>
            <a:rPr lang="en-US" b="1" u="none" dirty="0"/>
            <a:t>Algorithms to detect and analyze malicious code.</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NETWORK SECURITY: </a:t>
          </a:r>
          <a:r>
            <a:rPr lang="en-US" b="1" u="none" dirty="0"/>
            <a:t>Implement and analyze algorithms for firewall and secure routing protocols</a:t>
          </a:r>
          <a:endParaRPr lang="en-US" b="1" dirty="0"/>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pt>
    <dgm:pt modelId="{5C900078-3CD9-46D7-A69F-4C1815AE860B}" type="pres">
      <dgm:prSet presAssocID="{3091D8FC-A318-4D2B-839D-4ED87A57DD07}" presName="tile2" presStyleLbl="node1" presStyleIdx="1" presStyleCnt="4"/>
      <dgm:spPr/>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pt>
    <dgm:pt modelId="{4C496C99-D86F-4E04-941C-A5FE406D7FCC}" type="pres">
      <dgm:prSet presAssocID="{3091D8FC-A318-4D2B-839D-4ED87A57DD07}" presName="tile3" presStyleLbl="node1" presStyleIdx="2" presStyleCnt="4" custLinFactNeighborX="-925" custLinFactNeighborY="7586"/>
      <dgm:spPr/>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pt>
    <dgm:pt modelId="{93903204-2F7A-4394-A19A-33A5726AFA76}" type="pres">
      <dgm:prSet presAssocID="{3091D8FC-A318-4D2B-839D-4ED87A57DD07}" presName="tile4" presStyleLbl="node1" presStyleIdx="3" presStyleCnt="4"/>
      <dgm:spPr/>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pt>
    <dgm:pt modelId="{63A8F6F2-A05F-43B9-AC56-57482BCE9428}" type="pres">
      <dgm:prSet presAssocID="{3091D8FC-A318-4D2B-839D-4ED87A57DD07}" presName="centerTile" presStyleLbl="fgShp" presStyleIdx="0" presStyleCnt="1">
        <dgm:presLayoutVars>
          <dgm:chMax val="0"/>
          <dgm:chPref val="0"/>
        </dgm:presLayoutVars>
      </dgm:prSet>
      <dgm:spPr/>
    </dgm:pt>
  </dgm:ptLst>
  <dgm:cxnLst>
    <dgm:cxn modelId="{2A389400-B8B0-4129-B28B-5F9D90A62BCD}" srcId="{2852B10B-00B9-451F-A96F-1537BD3BDF24}" destId="{338EB083-A2C3-4892-BEF3-72CA1F9EB413}" srcOrd="0" destOrd="0" parTransId="{2FD76FD4-4D61-4654-A66B-171ED391978F}" sibTransId="{77C47FDC-84FD-4B75-AE5F-3F0047D3AFBC}"/>
    <dgm:cxn modelId="{0B86280D-1D5B-4F49-ADD1-947C6D8A1FA1}" srcId="{3091D8FC-A318-4D2B-839D-4ED87A57DD07}" destId="{2852B10B-00B9-451F-A96F-1537BD3BDF24}" srcOrd="0" destOrd="0" parTransId="{87EE7D85-C0A0-4EE0-870D-822B8CBC21D4}" sibTransId="{93696E8E-B8DB-4120-9012-8CDFDACBA04C}"/>
    <dgm:cxn modelId="{03F2852F-B844-4D2A-859D-559F51343B01}" type="presOf" srcId="{E0D12DE0-7197-4908-BFEB-6F01CBFF5600}" destId="{BBE5B3CF-E6B7-4C7E-ABFD-DC52F191D699}" srcOrd="1" destOrd="0" presId="urn:microsoft.com/office/officeart/2005/8/layout/matrix1"/>
    <dgm:cxn modelId="{2D70A13A-0334-4363-B09D-D0EA8AE7F568}" type="presOf" srcId="{5845372D-3072-45FD-A178-F656F269F00A}" destId="{E1C73F7A-B7CB-4C36-A605-E91F22DE139C}" srcOrd="1" destOrd="0" presId="urn:microsoft.com/office/officeart/2005/8/layout/matrix1"/>
    <dgm:cxn modelId="{1884715F-AE63-4C9D-B824-314D75CD789F}" type="presOf" srcId="{338EB083-A2C3-4892-BEF3-72CA1F9EB413}" destId="{CA449B83-9A68-4AD1-B37B-940D2AEA4F24}" srcOrd="0"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80160F51-6275-48BE-B1E9-86401442B1D0}" srcId="{2852B10B-00B9-451F-A96F-1537BD3BDF24}" destId="{C4C1E16C-5C8F-44BC-B87A-71FCC575947F}" srcOrd="3" destOrd="0" parTransId="{EB974377-B2B7-491F-ABA5-1A9619D9B5E8}" sibTransId="{71C68B90-1851-4C12-89EC-E1FEF49DEBDF}"/>
    <dgm:cxn modelId="{F40F2683-341D-4A59-B4F8-93E0DFD0A8A8}" type="presOf" srcId="{5845372D-3072-45FD-A178-F656F269F00A}" destId="{5C900078-3CD9-46D7-A69F-4C1815AE860B}" srcOrd="0" destOrd="0" presId="urn:microsoft.com/office/officeart/2005/8/layout/matrix1"/>
    <dgm:cxn modelId="{BF74DFA5-489D-4846-9FCA-9A0717BDE958}" srcId="{2852B10B-00B9-451F-A96F-1537BD3BDF24}" destId="{5845372D-3072-45FD-A178-F656F269F00A}" srcOrd="1" destOrd="0" parTransId="{9A4BF17E-2CE7-4A86-9E18-1D59815F5613}" sibTransId="{D9214A7C-F420-4A31-8E4A-1A600FF001D7}"/>
    <dgm:cxn modelId="{309A9FC3-6C75-4433-BFB5-4C5E5E9FD6C7}" type="presOf" srcId="{3091D8FC-A318-4D2B-839D-4ED87A57DD07}" destId="{39A0C6F0-C259-4073-957D-6C6D6872E2BC}"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3d1#1" qsCatId="3D" csTypeId="urn:microsoft.com/office/officeart/2005/8/colors/colorful2#1" csCatId="colorful" phldr="1"/>
      <dgm:spPr/>
      <dgm:t>
        <a:bodyPr/>
        <a:lstStyle/>
        <a:p>
          <a:endParaRPr lang="en-IN"/>
        </a:p>
      </dgm:t>
    </dgm:pt>
    <dgm:pt modelId="{02C141FE-9ABF-48FD-9848-42A0EFA33222}">
      <dgm:prSet custT="1"/>
      <dgm:spPr>
        <a:solidFill>
          <a:schemeClr val="accent5">
            <a:lumMod val="40000"/>
            <a:lumOff val="60000"/>
          </a:schemeClr>
        </a:solidFill>
      </dgm:spPr>
      <dgm:t>
        <a:bodyPr/>
        <a:lstStyle/>
        <a:p>
          <a:r>
            <a:rPr lang="en-IN" sz="1700" b="1" kern="1200" dirty="0">
              <a:solidFill>
                <a:schemeClr val="tx1"/>
              </a:solidFill>
            </a:rPr>
            <a:t>CO1 : </a:t>
          </a:r>
          <a:r>
            <a:rPr lang="en-US" sz="2000" kern="1200" dirty="0">
              <a:solidFill>
                <a:prstClr val="black"/>
              </a:solidFill>
              <a:latin typeface="Calibri"/>
              <a:ea typeface="+mn-ea"/>
              <a:cs typeface="+mn-cs"/>
            </a:rPr>
            <a:t>Apply tree structures effectively demonstrating proficiency in tree operations and algorithms.</a:t>
          </a:r>
          <a:endParaRPr lang="en-IN" sz="2000" kern="1200" dirty="0">
            <a:solidFill>
              <a:prstClr val="black"/>
            </a:solidFill>
            <a:latin typeface="Calibri"/>
            <a:ea typeface="+mn-ea"/>
            <a:cs typeface="+mn-cs"/>
          </a:endParaRPr>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custScaleY="289718">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6" qsCatId="simple" csTypeId="urn:microsoft.com/office/officeart/2005/8/colors/accent1_2#7" csCatId="accent1" phldr="1"/>
      <dgm:spPr/>
      <dgm:t>
        <a:bodyPr/>
        <a:lstStyle/>
        <a:p>
          <a:endParaRPr lang="en-IN"/>
        </a:p>
      </dgm:t>
    </dgm:pt>
    <dgm:pt modelId="{E7AAAF9E-D416-49AE-8611-65377A7DE939}">
      <dgm:prSet custT="1"/>
      <dgm:spPr/>
      <dgm:t>
        <a:bodyPr/>
        <a:lstStyle/>
        <a:p>
          <a:r>
            <a:rPr lang="en-US" sz="1600" b="1" kern="1200" dirty="0"/>
            <a:t>CO2 </a:t>
          </a:r>
          <a:r>
            <a:rPr lang="en-US" sz="2000" kern="1200" dirty="0">
              <a:solidFill>
                <a:prstClr val="black"/>
              </a:solidFill>
              <a:latin typeface="Calibri"/>
              <a:ea typeface="+mn-ea"/>
              <a:cs typeface="+mn-cs"/>
            </a:rPr>
            <a:t>: Analyze the graph data structure and implement various operations for problem solving.</a:t>
          </a:r>
          <a:endParaRPr lang="en-IN" sz="2000" kern="1200" dirty="0">
            <a:solidFill>
              <a:prstClr val="black"/>
            </a:solidFill>
            <a:latin typeface="Calibri"/>
            <a:ea typeface="+mn-ea"/>
            <a:cs typeface="+mn-cs"/>
          </a:endParaRPr>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custScaleY="302230" custLinFactNeighborX="4762" custLinFactNeighborY="88207">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7" qsCatId="simple" csTypeId="urn:microsoft.com/office/officeart/2005/8/colors/accent1_2#8" csCatId="accent1" phldr="1"/>
      <dgm:spPr/>
      <dgm:t>
        <a:bodyPr/>
        <a:lstStyle/>
        <a:p>
          <a:endParaRPr lang="en-IN"/>
        </a:p>
      </dgm:t>
    </dgm:pt>
    <dgm:pt modelId="{FCBD3793-394C-48FC-B28C-1D09533E7BA0}">
      <dgm:prSet custT="1"/>
      <dgm:spPr/>
      <dgm:t>
        <a:bodyPr/>
        <a:lstStyle/>
        <a:p>
          <a:r>
            <a:rPr lang="en-IN" sz="1600" b="1" kern="1200" dirty="0"/>
            <a:t>CO3 : </a:t>
          </a:r>
          <a:r>
            <a:rPr lang="en-US" sz="2000" kern="1200" dirty="0">
              <a:solidFill>
                <a:prstClr val="black"/>
              </a:solidFill>
              <a:latin typeface="Calibri"/>
              <a:ea typeface="+mn-ea"/>
              <a:cs typeface="+mn-cs"/>
            </a:rPr>
            <a:t>Implementation and analysis of dynamic programming for efficient problem-solving across diverse contexts.</a:t>
          </a:r>
          <a:endParaRPr lang="en-IN" sz="2000" kern="1200" dirty="0">
            <a:solidFill>
              <a:prstClr val="black"/>
            </a:solidFill>
            <a:latin typeface="Calibri"/>
            <a:ea typeface="+mn-ea"/>
            <a:cs typeface="+mn-cs"/>
          </a:endParaRPr>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custScaleY="258798" custLinFactNeighborX="2941" custLinFactNeighborY="-20">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8" qsCatId="simple" csTypeId="urn:microsoft.com/office/officeart/2005/8/colors/accent1_2#9" csCatId="accent1" phldr="1"/>
      <dgm:spPr/>
      <dgm:t>
        <a:bodyPr/>
        <a:lstStyle/>
        <a:p>
          <a:endParaRPr lang="en-IN"/>
        </a:p>
      </dgm:t>
    </dgm:pt>
    <dgm:pt modelId="{F2B2203F-2FAE-49B7-A1D5-9CD1B5127346}">
      <dgm:prSet custT="1"/>
      <dgm:spPr/>
      <dgm:t>
        <a:bodyPr/>
        <a:lstStyle/>
        <a:p>
          <a:r>
            <a:rPr lang="en-US" sz="1600" b="1" kern="1200" dirty="0"/>
            <a:t>CO4 : </a:t>
          </a:r>
          <a:r>
            <a:rPr lang="en-US" sz="2000" kern="1200" dirty="0">
              <a:solidFill>
                <a:prstClr val="black"/>
              </a:solidFill>
              <a:latin typeface="Calibri"/>
              <a:ea typeface="+mn-ea"/>
              <a:cs typeface="+mn-cs"/>
            </a:rPr>
            <a:t>Apply efficient backtracking and branch &amp;bound techniques across diverse problem-solving scenarios.</a:t>
          </a:r>
          <a:endParaRPr lang="en-IN" sz="2000" kern="1200" dirty="0">
            <a:solidFill>
              <a:prstClr val="black"/>
            </a:solidFill>
            <a:latin typeface="Calibri"/>
            <a:ea typeface="+mn-ea"/>
            <a:cs typeface="+mn-cs"/>
          </a:endParaRPr>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9" qsCatId="simple" csTypeId="urn:microsoft.com/office/officeart/2005/8/colors/accent1_2#10" csCatId="accent1" phldr="1"/>
      <dgm:spPr/>
      <dgm:t>
        <a:bodyPr/>
        <a:lstStyle/>
        <a:p>
          <a:endParaRPr lang="en-IN"/>
        </a:p>
      </dgm:t>
    </dgm:pt>
    <dgm:pt modelId="{502B59D9-8C99-44C9-B85F-4596BFA6E16F}">
      <dgm:prSet custT="1"/>
      <dgm:spPr/>
      <dgm:t>
        <a:bodyPr/>
        <a:lstStyle/>
        <a:p>
          <a:r>
            <a:rPr lang="en-IN" sz="1600" b="1" dirty="0"/>
            <a:t>CO5</a:t>
          </a:r>
          <a:r>
            <a:rPr lang="en-IN" sz="1800" b="1" dirty="0"/>
            <a:t> </a:t>
          </a:r>
          <a:r>
            <a:rPr lang="en-IN" sz="2500" b="0" dirty="0"/>
            <a:t>: </a:t>
          </a:r>
          <a:r>
            <a:rPr lang="en-US" sz="2000" dirty="0"/>
            <a:t>Understand advanced data structures, their implementation and application for efficient data manipulation and retrieval.</a:t>
          </a:r>
          <a:endParaRPr lang="en-IN" sz="2000" b="1"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ScaleY="56667" custLinFactNeighborY="-9545">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10" qsCatId="simple" csTypeId="urn:microsoft.com/office/officeart/2005/8/colors/accent1_2#11" csCatId="accent1"/>
      <dgm:spPr/>
      <dgm:t>
        <a:bodyPr/>
        <a:lstStyle/>
        <a:p>
          <a:endParaRPr lang="en-IN"/>
        </a:p>
      </dgm:t>
    </dgm:pt>
    <dgm:pt modelId="{02C141FE-9ABF-48FD-9848-42A0EFA33222}">
      <dgm:prSet/>
      <dgm:spPr/>
      <dgm:t>
        <a:bodyPr/>
        <a:lstStyle/>
        <a:p>
          <a:r>
            <a:rPr lang="en-IN" b="1" dirty="0"/>
            <a:t>PO1 : </a:t>
          </a:r>
          <a:r>
            <a:rPr lang="en-US" b="1" dirty="0"/>
            <a:t>Engineering Knowledge</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11" qsCatId="simple" csTypeId="urn:microsoft.com/office/officeart/2005/8/colors/accent1_2#12" csCatId="accent1"/>
      <dgm:spPr/>
      <dgm:t>
        <a:bodyPr/>
        <a:lstStyle/>
        <a:p>
          <a:endParaRPr lang="en-IN"/>
        </a:p>
      </dgm:t>
    </dgm:pt>
    <dgm:pt modelId="{E7AAAF9E-D416-49AE-8611-65377A7DE939}">
      <dgm:prSet/>
      <dgm:spPr/>
      <dgm:t>
        <a:bodyPr/>
        <a:lstStyle/>
        <a:p>
          <a:r>
            <a:rPr lang="en-US" b="1" dirty="0"/>
            <a:t>PO2 : Problem Analysis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12" qsCatId="simple" csTypeId="urn:microsoft.com/office/officeart/2005/8/colors/accent1_2#13" csCatId="accent1"/>
      <dgm:spPr/>
      <dgm:t>
        <a:bodyPr/>
        <a:lstStyle/>
        <a:p>
          <a:endParaRPr lang="en-IN"/>
        </a:p>
      </dgm:t>
    </dgm:pt>
    <dgm:pt modelId="{FCBD3793-394C-48FC-B28C-1D09533E7BA0}">
      <dgm:prSet/>
      <dgm:spPr/>
      <dgm:t>
        <a:bodyPr/>
        <a:lstStyle/>
        <a:p>
          <a:r>
            <a:rPr lang="en-IN" b="1" dirty="0"/>
            <a:t>PO3 : </a:t>
          </a:r>
          <a:r>
            <a:rPr lang="en-US" b="1" dirty="0"/>
            <a:t>Design/Development of solutions</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13" qsCatId="simple" csTypeId="urn:microsoft.com/office/officeart/2005/8/colors/accent1_2#14" csCatId="accent1"/>
      <dgm:spPr/>
      <dgm:t>
        <a:bodyPr/>
        <a:lstStyle/>
        <a:p>
          <a:endParaRPr lang="en-IN"/>
        </a:p>
      </dgm:t>
    </dgm:pt>
    <dgm:pt modelId="{F2B2203F-2FAE-49B7-A1D5-9CD1B5127346}">
      <dgm:prSet/>
      <dgm:spPr/>
      <dgm:t>
        <a:bodyPr/>
        <a:lstStyle/>
        <a:p>
          <a:r>
            <a:rPr lang="en-US" b="1" dirty="0"/>
            <a:t>PO4 : Conduct Investigations of complex problems</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14" qsCatId="simple" csTypeId="urn:microsoft.com/office/officeart/2005/8/colors/accent1_2#15" csCatId="accent1" phldr="1"/>
      <dgm:spPr/>
      <dgm:t>
        <a:bodyPr/>
        <a:lstStyle/>
        <a:p>
          <a:endParaRPr lang="en-IN"/>
        </a:p>
      </dgm:t>
    </dgm:pt>
    <dgm:pt modelId="{502B59D9-8C99-44C9-B85F-4596BFA6E16F}">
      <dgm:prSet/>
      <dgm:spPr/>
      <dgm:t>
        <a:bodyPr/>
        <a:lstStyle/>
        <a:p>
          <a:r>
            <a:rPr lang="en-IN" b="1" dirty="0"/>
            <a:t>PO5 : </a:t>
          </a:r>
          <a:r>
            <a:rPr lang="en-US" b="1" dirty="0"/>
            <a:t>Modern tool usage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15" qsCatId="simple" csTypeId="urn:microsoft.com/office/officeart/2005/8/colors/accent1_2#16" csCatId="accent1" phldr="1"/>
      <dgm:spPr/>
      <dgm:t>
        <a:bodyPr/>
        <a:lstStyle/>
        <a:p>
          <a:endParaRPr lang="en-IN"/>
        </a:p>
      </dgm:t>
    </dgm:pt>
    <dgm:pt modelId="{FBA19F7D-578A-464D-ADE6-D3D08AEFD9D5}">
      <dgm:prSet custT="1"/>
      <dgm:spPr/>
      <dgm:t>
        <a:bodyPr/>
        <a:lstStyle/>
        <a:p>
          <a:r>
            <a:rPr lang="en-US" sz="2800" b="1" dirty="0"/>
            <a:t>PO6 : The engineer and society</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Y="4529">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16" qsCatId="simple" csTypeId="urn:microsoft.com/office/officeart/2005/8/colors/accent1_2#17" csCatId="accent1"/>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Lst>
  <dgm:cxnLst>
    <dgm:cxn modelId="{EFF34B82-60AD-4AB7-9ADE-08B4C2F23B48}" type="presOf" srcId="{9A6AA7B5-1491-47C8-85E4-E5E8FDD6D065}" destId="{685F4F69-7D82-4DED-A9A8-7071B724DF0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17" qsCatId="simple" csTypeId="urn:microsoft.com/office/officeart/2005/8/colors/accent1_2#18" csCatId="accent1" phldr="1"/>
      <dgm:spPr/>
      <dgm:t>
        <a:bodyPr/>
        <a:lstStyle/>
        <a:p>
          <a:endParaRPr lang="en-IN"/>
        </a:p>
      </dgm:t>
    </dgm:pt>
    <dgm:pt modelId="{02C141FE-9ABF-48FD-9848-42A0EFA33222}">
      <dgm:prSet/>
      <dgm:spPr/>
      <dgm:t>
        <a:bodyPr/>
        <a:lstStyle/>
        <a:p>
          <a:r>
            <a:rPr lang="en-IN" b="1" dirty="0">
              <a:latin typeface="+mn-lt"/>
            </a:rPr>
            <a:t>PO7 : </a:t>
          </a:r>
          <a:r>
            <a:rPr lang="en-US" b="1" dirty="0">
              <a:latin typeface="+mn-lt"/>
              <a:ea typeface="Calibri" panose="020F0502020204030204" pitchFamily="34" charset="0"/>
            </a:rPr>
            <a:t>Environment and sustainability</a:t>
          </a:r>
          <a:endParaRPr lang="en-IN" b="1" dirty="0">
            <a:latin typeface="+mn-lt"/>
          </a:endParaRPr>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18" qsCatId="simple" csTypeId="urn:microsoft.com/office/officeart/2005/8/colors/accent1_2#19" csCatId="accent1" phldr="1"/>
      <dgm:spPr/>
      <dgm:t>
        <a:bodyPr/>
        <a:lstStyle/>
        <a:p>
          <a:endParaRPr lang="en-IN"/>
        </a:p>
      </dgm:t>
    </dgm:pt>
    <dgm:pt modelId="{E7AAAF9E-D416-49AE-8611-65377A7DE939}">
      <dgm:prSet/>
      <dgm:spPr/>
      <dgm:t>
        <a:bodyPr/>
        <a:lstStyle/>
        <a:p>
          <a:r>
            <a:rPr lang="en-US" b="1" dirty="0">
              <a:latin typeface="+mn-lt"/>
              <a:ea typeface="Times New Roman" panose="02020603050405020304" pitchFamily="18" charset="0"/>
              <a:cs typeface="Times New Roman" panose="02020603050405020304" pitchFamily="18" charset="0"/>
            </a:rPr>
            <a:t>PO8 : Ethics</a:t>
          </a:r>
          <a:endParaRPr lang="en-IN" b="1" dirty="0">
            <a:latin typeface="+mn-lt"/>
          </a:endParaRPr>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19" qsCatId="simple" csTypeId="urn:microsoft.com/office/officeart/2005/8/colors/accent1_2#20" csCatId="accent1" phldr="1"/>
      <dgm:spPr/>
      <dgm:t>
        <a:bodyPr/>
        <a:lstStyle/>
        <a:p>
          <a:endParaRPr lang="en-IN"/>
        </a:p>
      </dgm:t>
    </dgm:pt>
    <dgm:pt modelId="{FCBD3793-394C-48FC-B28C-1D09533E7BA0}">
      <dgm:prSet/>
      <dgm:spPr/>
      <dgm:t>
        <a:bodyPr/>
        <a:lstStyle/>
        <a:p>
          <a:r>
            <a:rPr lang="en-US" b="1" dirty="0">
              <a:latin typeface="+mn-lt"/>
              <a:ea typeface="Times New Roman" panose="02020603050405020304" pitchFamily="18" charset="0"/>
              <a:cs typeface="Times New Roman" panose="02020603050405020304" pitchFamily="18" charset="0"/>
            </a:rPr>
            <a:t>PO9 : Individual and teamwork</a:t>
          </a:r>
          <a:endParaRPr lang="en-IN" dirty="0">
            <a:latin typeface="+mn-lt"/>
          </a:endParaRPr>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20" qsCatId="simple" csTypeId="urn:microsoft.com/office/officeart/2005/8/colors/accent1_2#21" csCatId="accent1" phldr="1"/>
      <dgm:spPr/>
      <dgm:t>
        <a:bodyPr/>
        <a:lstStyle/>
        <a:p>
          <a:endParaRPr lang="en-IN"/>
        </a:p>
      </dgm:t>
    </dgm:pt>
    <dgm:pt modelId="{F2B2203F-2FAE-49B7-A1D5-9CD1B5127346}">
      <dgm:prSet/>
      <dgm:spPr/>
      <dgm:t>
        <a:bodyPr/>
        <a:lstStyle/>
        <a:p>
          <a:r>
            <a:rPr lang="en-IN" b="1" dirty="0">
              <a:latin typeface="+mn-lt"/>
            </a:rPr>
            <a:t>PO10 : </a:t>
          </a:r>
          <a:r>
            <a:rPr lang="en-US" b="1" dirty="0">
              <a:latin typeface="+mn-lt"/>
              <a:ea typeface="Times New Roman" panose="02020603050405020304" pitchFamily="18" charset="0"/>
              <a:cs typeface="Times New Roman" panose="02020603050405020304" pitchFamily="18" charset="0"/>
            </a:rPr>
            <a:t>Communication</a:t>
          </a:r>
          <a:endParaRPr lang="en-IN" dirty="0">
            <a:latin typeface="+mn-lt"/>
          </a:endParaRPr>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21" qsCatId="simple" csTypeId="urn:microsoft.com/office/officeart/2005/8/colors/accent1_2#22" csCatId="accent1" phldr="1"/>
      <dgm:spPr/>
      <dgm:t>
        <a:bodyPr/>
        <a:lstStyle/>
        <a:p>
          <a:endParaRPr lang="en-IN"/>
        </a:p>
      </dgm:t>
    </dgm:pt>
    <dgm:pt modelId="{502B59D9-8C99-44C9-B85F-4596BFA6E16F}">
      <dgm:prSet/>
      <dgm:spPr/>
      <dgm:t>
        <a:bodyPr/>
        <a:lstStyle/>
        <a:p>
          <a:r>
            <a:rPr lang="en-US" b="1" dirty="0">
              <a:latin typeface="+mn-lt"/>
              <a:ea typeface="Times New Roman" panose="02020603050405020304" pitchFamily="18" charset="0"/>
              <a:cs typeface="Times New Roman" panose="02020603050405020304" pitchFamily="18" charset="0"/>
            </a:rPr>
            <a:t>PO11 : Project management and finance</a:t>
          </a:r>
          <a:endParaRPr lang="en-IN" dirty="0">
            <a:latin typeface="+mn-lt"/>
          </a:endParaRPr>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X="62000" custLinFactNeighborY="46618">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0"/>
          <a:ext cx="10744200" cy="4134571"/>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Module 1.1: Trees</a:t>
          </a:r>
        </a:p>
        <a:p>
          <a:pPr marL="0" lvl="0" indent="0" algn="just" defTabSz="1066800">
            <a:lnSpc>
              <a:spcPct val="90000"/>
            </a:lnSpc>
            <a:spcBef>
              <a:spcPct val="0"/>
            </a:spcBef>
            <a:spcAft>
              <a:spcPct val="35000"/>
            </a:spcAft>
            <a:buNone/>
          </a:pPr>
          <a:r>
            <a:rPr lang="en-US" sz="2400" b="1" kern="1200" dirty="0"/>
            <a:t>Basic terminology </a:t>
          </a:r>
          <a:r>
            <a:rPr lang="en-US" sz="2400" kern="1200" dirty="0"/>
            <a:t>used with Tree, Binary Trees, Binary Tree Representation: Array Representation and Pointer (Linked List) Representation, Binary Search Tree, Strictly Binary Tree, Complete Binary Tree, An Extended Binary Trees. Tree Traversal algorithms: In-order, Pre-order and Post-order. Constructing Binary Tree from given Tree Traversal, Operation of Insertion, Deletion, Searching &amp; Modification of data in Binary Search tree, Binary Heaps, Heap sort, Threaded Binary trees, Traversing Threaded Binary trees, AVL Tree.</a:t>
          </a:r>
        </a:p>
        <a:p>
          <a:pPr marL="0" lvl="0" indent="0" algn="just" defTabSz="1066800">
            <a:lnSpc>
              <a:spcPct val="90000"/>
            </a:lnSpc>
            <a:spcBef>
              <a:spcPct val="0"/>
            </a:spcBef>
            <a:spcAft>
              <a:spcPct val="35000"/>
            </a:spcAft>
            <a:buNone/>
          </a:pPr>
          <a:r>
            <a:rPr lang="en-US" sz="2400" b="1" kern="1200" dirty="0"/>
            <a:t>Module 1.2: Application of Trees</a:t>
          </a:r>
          <a:endParaRPr lang="en-US" sz="2400" kern="1200" dirty="0"/>
        </a:p>
        <a:p>
          <a:pPr marL="0" lvl="0" indent="0" algn="just" defTabSz="1066800">
            <a:lnSpc>
              <a:spcPct val="90000"/>
            </a:lnSpc>
            <a:spcBef>
              <a:spcPct val="0"/>
            </a:spcBef>
            <a:spcAft>
              <a:spcPct val="35000"/>
            </a:spcAft>
            <a:buNone/>
          </a:pPr>
          <a:r>
            <a:rPr lang="en-US" sz="2400" kern="1200" dirty="0"/>
            <a:t>B-Tree &amp; Binary Heaps, Heap sort.</a:t>
          </a:r>
          <a:endParaRPr lang="en-IN" sz="2400" kern="1200" dirty="0"/>
        </a:p>
      </dsp:txBody>
      <dsp:txXfrm>
        <a:off x="201833" y="201833"/>
        <a:ext cx="10340534" cy="37309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0"/>
          <a:ext cx="10744200" cy="4134571"/>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1" kern="1200" dirty="0"/>
            <a:t>Module 2.1: Graphs</a:t>
          </a:r>
        </a:p>
        <a:p>
          <a:pPr marL="0" lvl="0" indent="0" algn="just" defTabSz="1066800" rtl="0">
            <a:lnSpc>
              <a:spcPct val="90000"/>
            </a:lnSpc>
            <a:spcBef>
              <a:spcPct val="0"/>
            </a:spcBef>
            <a:spcAft>
              <a:spcPct val="35000"/>
            </a:spcAft>
            <a:buNone/>
          </a:pPr>
          <a:r>
            <a:rPr lang="en-US" sz="2400" kern="1200" dirty="0"/>
            <a:t>Terminology used with Graph, Data Structure for Graph Representations: Adjacency matrices, Adjacency List. Graph Traversal: Depth First Search and Breadth First Search. Connected Component, Spanning Trees.</a:t>
          </a:r>
        </a:p>
        <a:p>
          <a:pPr marL="0" lvl="0" indent="0" algn="just" defTabSz="1066800">
            <a:lnSpc>
              <a:spcPct val="90000"/>
            </a:lnSpc>
            <a:spcBef>
              <a:spcPct val="0"/>
            </a:spcBef>
            <a:spcAft>
              <a:spcPct val="35000"/>
            </a:spcAft>
            <a:buNone/>
          </a:pPr>
          <a:r>
            <a:rPr lang="en-US" sz="2400" b="1" kern="1200" dirty="0"/>
            <a:t>Module 2.2: Algorithms on Graphs</a:t>
          </a:r>
        </a:p>
        <a:p>
          <a:pPr marL="0" lvl="0" indent="0" algn="just" defTabSz="1066800">
            <a:lnSpc>
              <a:spcPct val="90000"/>
            </a:lnSpc>
            <a:spcBef>
              <a:spcPct val="0"/>
            </a:spcBef>
            <a:spcAft>
              <a:spcPct val="35000"/>
            </a:spcAft>
            <a:buNone/>
          </a:pPr>
          <a:r>
            <a:rPr lang="en-US" sz="2400" kern="1200" dirty="0"/>
            <a:t>Minimum Cost Spanning Trees: Prim’ s and Kruskal’s algorithm. Directed- Acyclic Graph, Transitive Closure and Shortest Path algorithms: Dijkstra Algorithm, Bellman Ford Algorithm, Floyd </a:t>
          </a:r>
          <a:r>
            <a:rPr lang="en-US" sz="2400" kern="1200" dirty="0" err="1"/>
            <a:t>Warshall’s</a:t>
          </a:r>
          <a:r>
            <a:rPr lang="en-US" sz="2400" kern="1200" dirty="0"/>
            <a:t> Algorithm.</a:t>
          </a:r>
          <a:endParaRPr lang="en-IN" sz="2400" kern="1200" dirty="0"/>
        </a:p>
      </dsp:txBody>
      <dsp:txXfrm>
        <a:off x="201833" y="201833"/>
        <a:ext cx="10340534" cy="37309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208706"/>
          <a:ext cx="10668000" cy="1865493"/>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Module 3.1: Dynamic Programming</a:t>
          </a:r>
        </a:p>
        <a:p>
          <a:pPr marL="0" lvl="0" indent="0" algn="just" defTabSz="1066800">
            <a:lnSpc>
              <a:spcPct val="90000"/>
            </a:lnSpc>
            <a:spcBef>
              <a:spcPct val="0"/>
            </a:spcBef>
            <a:spcAft>
              <a:spcPct val="35000"/>
            </a:spcAft>
            <a:buNone/>
          </a:pPr>
          <a:r>
            <a:rPr lang="en-US" sz="2400" kern="1200" dirty="0"/>
            <a:t>Dynamic Programming concepts 0/1 Knapsack, Longest Common Sub Sequence, Matrix Chain Multiplication, Resource Allocation Problem.</a:t>
          </a:r>
          <a:endParaRPr lang="en-IN" sz="2400" kern="1200" dirty="0"/>
        </a:p>
      </dsp:txBody>
      <dsp:txXfrm>
        <a:off x="91066" y="299772"/>
        <a:ext cx="10485868" cy="16833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66363"/>
          <a:ext cx="11377749" cy="2785457"/>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b="1" kern="1200" dirty="0"/>
            <a:t>Module 4.1: Backtracking</a:t>
          </a:r>
        </a:p>
        <a:p>
          <a:pPr marL="0" lvl="0" indent="0" algn="just" defTabSz="1066800">
            <a:lnSpc>
              <a:spcPct val="90000"/>
            </a:lnSpc>
            <a:spcBef>
              <a:spcPct val="0"/>
            </a:spcBef>
            <a:spcAft>
              <a:spcPct val="35000"/>
            </a:spcAft>
            <a:buNone/>
          </a:pPr>
          <a:r>
            <a:rPr lang="en-US" sz="2400" kern="1200" dirty="0"/>
            <a:t>Backtracking, Branch, and Bound with Examples Such as Travelling Salesman Problem, Graph </a:t>
          </a:r>
          <a:r>
            <a:rPr lang="en-US" sz="2400" kern="1200" dirty="0" err="1"/>
            <a:t>Colouring</a:t>
          </a:r>
          <a:r>
            <a:rPr lang="en-US" sz="2400" kern="1200" dirty="0"/>
            <a:t>, n-Queen Problem, Hamiltonian Cycles, and Sum of Subsets.</a:t>
          </a:r>
          <a:endParaRPr lang="en-IN" sz="2400" kern="1200" dirty="0"/>
        </a:p>
      </dsp:txBody>
      <dsp:txXfrm>
        <a:off x="135975" y="202338"/>
        <a:ext cx="11105799" cy="25135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1624"/>
          <a:ext cx="10515600" cy="247900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Module 5.1</a:t>
          </a:r>
        </a:p>
        <a:p>
          <a:pPr marL="0" lvl="0" indent="0" algn="l" defTabSz="1066800">
            <a:lnSpc>
              <a:spcPct val="90000"/>
            </a:lnSpc>
            <a:spcBef>
              <a:spcPct val="0"/>
            </a:spcBef>
            <a:spcAft>
              <a:spcPct val="35000"/>
            </a:spcAft>
            <a:buNone/>
          </a:pPr>
          <a:r>
            <a:rPr lang="en-US" sz="2400" kern="1200" dirty="0"/>
            <a:t>Red-Black Trees, B – Trees, B+ Trees, Binomial Heaps, Fibonacci Heaps, Trees.</a:t>
          </a:r>
          <a:endParaRPr lang="en-IN" sz="2400" kern="1200" dirty="0"/>
        </a:p>
      </dsp:txBody>
      <dsp:txXfrm>
        <a:off x="121015" y="172639"/>
        <a:ext cx="10273570" cy="22369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u="sng" kern="1200" dirty="0"/>
            <a:t>OPTIMIZATION:</a:t>
          </a:r>
          <a:r>
            <a:rPr lang="en-US" sz="2500" b="1" kern="1200" dirty="0"/>
            <a:t> Enhancing performance of software and hardware through efficient algorithms</a:t>
          </a:r>
          <a:endParaRPr lang="en-US" sz="25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u="sng" kern="1200" dirty="0"/>
            <a:t>DATABASE MANAGEMENT: </a:t>
          </a:r>
          <a:r>
            <a:rPr lang="en-US" sz="2500" b="1" kern="1200" dirty="0"/>
            <a:t>Use data structure like B-tree and hashing for efficient data storage and retrieval.</a:t>
          </a:r>
          <a:endParaRPr lang="en-US" sz="25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u="sng" kern="1200" dirty="0"/>
            <a:t>NETWORKING: </a:t>
          </a:r>
          <a:r>
            <a:rPr lang="en-US" sz="2500" b="1" kern="1200" dirty="0"/>
            <a:t>Algorithms for routing, data compression and error detection.</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u="sng" kern="1200" dirty="0"/>
            <a:t>OPERATING SYSTEM: </a:t>
          </a:r>
          <a:r>
            <a:rPr lang="en-US" sz="2500" b="1" kern="1200" dirty="0"/>
            <a:t>Implementation of scheduling algorithm, memory management and file management. </a:t>
          </a:r>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t>COMPUTER SCIENCE AND ENGINEERING</a:t>
          </a:r>
        </a:p>
      </dsp:txBody>
      <dsp:txXfrm>
        <a:off x="3970590" y="1831332"/>
        <a:ext cx="3238448" cy="10669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547846" y="-1547846"/>
          <a:ext cx="2376556" cy="5472248"/>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MACHINE LEARNING:</a:t>
          </a:r>
          <a:r>
            <a:rPr lang="en-US" sz="2400" b="1" kern="1200" dirty="0"/>
            <a:t> Use of algorithms like decision tree, neural networks and clustering for learning of data.</a:t>
          </a:r>
          <a:endParaRPr lang="en-US" sz="2400" kern="1200" dirty="0"/>
        </a:p>
      </dsp:txBody>
      <dsp:txXfrm rot="5400000">
        <a:off x="0" y="0"/>
        <a:ext cx="5472248" cy="1782417"/>
      </dsp:txXfrm>
    </dsp:sp>
    <dsp:sp modelId="{5C900078-3CD9-46D7-A69F-4C1815AE860B}">
      <dsp:nvSpPr>
        <dsp:cNvPr id="0" name=""/>
        <dsp:cNvSpPr/>
      </dsp:nvSpPr>
      <dsp:spPr>
        <a:xfrm>
          <a:off x="5472248" y="0"/>
          <a:ext cx="5472248" cy="2376556"/>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NATURE LANGUAGE PROCESSING: </a:t>
          </a:r>
          <a:r>
            <a:rPr lang="en-US" sz="2400" b="1" u="none" kern="1200" dirty="0"/>
            <a:t>Algorithms for parsing, sentiment analysis and machine translation.</a:t>
          </a:r>
          <a:endParaRPr lang="en-US" sz="2400" u="none" kern="1200" dirty="0"/>
        </a:p>
      </dsp:txBody>
      <dsp:txXfrm>
        <a:off x="5472248" y="0"/>
        <a:ext cx="5472248" cy="1782417"/>
      </dsp:txXfrm>
    </dsp:sp>
    <dsp:sp modelId="{4C496C99-D86F-4E04-941C-A5FE406D7FCC}">
      <dsp:nvSpPr>
        <dsp:cNvPr id="0" name=""/>
        <dsp:cNvSpPr/>
      </dsp:nvSpPr>
      <dsp:spPr>
        <a:xfrm rot="10800000">
          <a:off x="0" y="2376556"/>
          <a:ext cx="5472248" cy="2376556"/>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SEARCH ALGORITHMS: </a:t>
          </a:r>
          <a:r>
            <a:rPr lang="en-US" sz="2400" b="1" u="none" kern="1200" dirty="0"/>
            <a:t>Implementing A*, Minimax for problem-solving and game-playing</a:t>
          </a:r>
        </a:p>
      </dsp:txBody>
      <dsp:txXfrm rot="10800000">
        <a:off x="0" y="2970694"/>
        <a:ext cx="5472248" cy="1782417"/>
      </dsp:txXfrm>
    </dsp:sp>
    <dsp:sp modelId="{93903204-2F7A-4394-A19A-33A5726AFA76}">
      <dsp:nvSpPr>
        <dsp:cNvPr id="0" name=""/>
        <dsp:cNvSpPr/>
      </dsp:nvSpPr>
      <dsp:spPr>
        <a:xfrm rot="5400000">
          <a:off x="7020094" y="828709"/>
          <a:ext cx="2376556" cy="5472248"/>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PATTERN RECOGNISTION: </a:t>
          </a:r>
          <a:r>
            <a:rPr lang="en-US" sz="2400" b="1" u="none" kern="1200" dirty="0"/>
            <a:t>Efficiently classify and detect patterns in data using suitable data structures</a:t>
          </a:r>
          <a:endParaRPr lang="en-US" sz="2400" b="1" kern="1200" dirty="0"/>
        </a:p>
      </dsp:txBody>
      <dsp:txXfrm rot="-5400000">
        <a:off x="5472249" y="2970694"/>
        <a:ext cx="5472248" cy="1782417"/>
      </dsp:txXfrm>
    </dsp:sp>
    <dsp:sp modelId="{63A8F6F2-A05F-43B9-AC56-57482BCE9428}">
      <dsp:nvSpPr>
        <dsp:cNvPr id="0" name=""/>
        <dsp:cNvSpPr/>
      </dsp:nvSpPr>
      <dsp:spPr>
        <a:xfrm>
          <a:off x="3830573" y="1782417"/>
          <a:ext cx="3283349" cy="118827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COMPUTER SCIENCE AND ENGINEERING (AI)</a:t>
          </a:r>
        </a:p>
      </dsp:txBody>
      <dsp:txXfrm>
        <a:off x="3888580" y="1840424"/>
        <a:ext cx="3167335" cy="10722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u="sng" kern="1200" dirty="0"/>
            <a:t>DEEP LEARNING:</a:t>
          </a:r>
          <a:r>
            <a:rPr lang="en-US" sz="2200" b="1" kern="1200" dirty="0"/>
            <a:t> Implement and optimize neural network architectures.</a:t>
          </a:r>
          <a:endParaRPr lang="en-US" sz="22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u="sng" kern="1200" dirty="0"/>
            <a:t>REINFORCEMENT LEARNING: </a:t>
          </a:r>
          <a:r>
            <a:rPr lang="en-US" sz="2200" b="1" u="none" kern="1200" dirty="0"/>
            <a:t>Algorithms like Q-training for decision making strategy development</a:t>
          </a:r>
          <a:r>
            <a:rPr lang="en-US" sz="2200" b="1" kern="1200" dirty="0"/>
            <a:t>.</a:t>
          </a:r>
          <a:endParaRPr lang="en-US" sz="22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u="sng" kern="1200" dirty="0"/>
            <a:t>FEATURE ENGINEERING: </a:t>
          </a:r>
          <a:r>
            <a:rPr lang="en-US" sz="2200" b="1" u="none" kern="1200" dirty="0"/>
            <a:t>Use data structures for efficient feature extraction and selection.</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u="sng" kern="1200" dirty="0"/>
            <a:t>MODEL EVALUATION: </a:t>
          </a:r>
          <a:r>
            <a:rPr lang="en-US" sz="2200" b="1" u="none" kern="1200" dirty="0"/>
            <a:t>Algorithms for cross-validation and hyper parameter tuning to enhance model performance.</a:t>
          </a:r>
          <a:endParaRPr lang="en-US" sz="2200" b="1" kern="1200" dirty="0"/>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t>COMPUTER SCIENCE AND ENGINEERING(AIML)</a:t>
          </a:r>
        </a:p>
      </dsp:txBody>
      <dsp:txXfrm>
        <a:off x="3970590" y="1831332"/>
        <a:ext cx="3238448" cy="106696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DATA MINING: </a:t>
          </a:r>
          <a:r>
            <a:rPr lang="en-US" sz="2400" b="1" u="none" kern="1200" dirty="0"/>
            <a:t>Algorithm for clustering, classification and association rule learning. </a:t>
          </a:r>
          <a:endParaRPr lang="en-US" sz="24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BIG-DATA ANALYTICS:</a:t>
          </a:r>
          <a:r>
            <a:rPr lang="en-US" sz="2400" b="1" u="none" kern="1200" dirty="0"/>
            <a:t> Data Structures like Hadoop Distributed File System (HDFS) and </a:t>
          </a:r>
          <a:r>
            <a:rPr lang="en-US" sz="2400" b="1" u="none" kern="1200" dirty="0" err="1"/>
            <a:t>MapReduce</a:t>
          </a:r>
          <a:r>
            <a:rPr lang="en-US" sz="2400" b="1" u="none" kern="1200" dirty="0"/>
            <a:t> Algorithms.</a:t>
          </a:r>
          <a:endParaRPr lang="en-US" sz="24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PREDICTIVE ANALYSIS: </a:t>
          </a:r>
          <a:r>
            <a:rPr lang="en-US" sz="2400" b="1" u="none" kern="1200" dirty="0"/>
            <a:t>Use time-series algorithms and regression model to forecast trends.</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DATA CLEANING: </a:t>
          </a:r>
          <a:r>
            <a:rPr lang="en-US" sz="2400" b="1" u="none" kern="1200" dirty="0"/>
            <a:t>Efficiently handle and preprocess large datasets using suitable data structures.</a:t>
          </a:r>
          <a:endParaRPr lang="en-US" sz="2400" b="1" kern="1200" dirty="0"/>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COMPUTER SCIENCE AND ENGINEERING(DS)</a:t>
          </a:r>
        </a:p>
      </dsp:txBody>
      <dsp:txXfrm>
        <a:off x="3970590" y="1831332"/>
        <a:ext cx="3238448" cy="106696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SENSOR DATA PROCESSING:</a:t>
          </a:r>
          <a:r>
            <a:rPr lang="en-US" sz="2400" b="1" u="none" kern="1200" dirty="0"/>
            <a:t> Algorithms for real-time data collection, filtering and analysis.</a:t>
          </a:r>
          <a:endParaRPr lang="en-US" sz="24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NETWORK PROTOCOLS:</a:t>
          </a:r>
          <a:r>
            <a:rPr lang="en-US" sz="2400" b="1" u="none" kern="1200" dirty="0"/>
            <a:t> Design and Analysis of Algorithms for efficient data transmission in </a:t>
          </a:r>
          <a:r>
            <a:rPr lang="en-US" sz="2400" b="1" u="none" kern="1200" dirty="0" err="1"/>
            <a:t>IoT</a:t>
          </a:r>
          <a:r>
            <a:rPr lang="en-US" sz="2400" b="1" u="none" kern="1200" dirty="0"/>
            <a:t> networks.</a:t>
          </a:r>
          <a:endParaRPr lang="en-US" sz="24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EDGE COMPUTING: </a:t>
          </a:r>
          <a:r>
            <a:rPr lang="en-US" sz="2400" b="1" u="none" kern="1200" dirty="0"/>
            <a:t>Optimize algorithms for data processing on edge devices.</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u="sng" kern="1200" dirty="0"/>
            <a:t>SECURITY: </a:t>
          </a:r>
          <a:r>
            <a:rPr lang="en-US" sz="2400" b="1" u="none" kern="1200" dirty="0"/>
            <a:t>Implementing algorithms for encryption, authentication and intrusion detection in </a:t>
          </a:r>
          <a:r>
            <a:rPr lang="en-US" sz="2400" b="1" u="none" kern="1200" dirty="0" err="1"/>
            <a:t>IoT</a:t>
          </a:r>
          <a:r>
            <a:rPr lang="en-US" sz="2400" b="1" u="none" kern="1200" dirty="0"/>
            <a:t> system.</a:t>
          </a:r>
          <a:endParaRPr lang="en-US" sz="2400" b="1" kern="1200" dirty="0"/>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COMPUTER SCIENCE AND ENGINEERING(</a:t>
          </a:r>
          <a:r>
            <a:rPr lang="en-US" sz="2400" b="1" kern="1200" dirty="0" err="1"/>
            <a:t>IoT</a:t>
          </a:r>
          <a:r>
            <a:rPr lang="en-US" sz="2400" b="1" kern="1200" dirty="0"/>
            <a:t>)</a:t>
          </a:r>
        </a:p>
      </dsp:txBody>
      <dsp:txXfrm>
        <a:off x="3970590" y="1831332"/>
        <a:ext cx="3238448" cy="10669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1612498" y="-161249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b="1" u="sng" kern="1200" dirty="0"/>
            <a:t>CRYPTOGRAPHY: </a:t>
          </a:r>
          <a:r>
            <a:rPr lang="en-US" sz="2100" b="1" u="none" kern="1200" dirty="0"/>
            <a:t>Design and analyze algorithms for secure communication.</a:t>
          </a:r>
          <a:endParaRPr lang="en-US" sz="2100" kern="1200" dirty="0"/>
        </a:p>
      </dsp:txBody>
      <dsp:txXfrm rot="5400000">
        <a:off x="-1" y="1"/>
        <a:ext cx="5589814" cy="1773612"/>
      </dsp:txXfrm>
    </dsp:sp>
    <dsp:sp modelId="{5C900078-3CD9-46D7-A69F-4C1815AE860B}">
      <dsp:nvSpPr>
        <dsp:cNvPr id="0" name=""/>
        <dsp:cNvSpPr/>
      </dsp:nvSpPr>
      <dsp:spPr>
        <a:xfrm>
          <a:off x="5589814" y="0"/>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b="1" u="sng" kern="1200" dirty="0"/>
            <a:t>INTRUSION DETECTION: </a:t>
          </a:r>
          <a:r>
            <a:rPr lang="en-US" sz="2100" b="1" u="none" kern="1200" dirty="0"/>
            <a:t>Use of data structures for pattern matching to detect unauthorized access.</a:t>
          </a:r>
          <a:endParaRPr lang="en-US" sz="2100" kern="1200" dirty="0"/>
        </a:p>
      </dsp:txBody>
      <dsp:txXfrm>
        <a:off x="5589814" y="0"/>
        <a:ext cx="5589814" cy="1773612"/>
      </dsp:txXfrm>
    </dsp:sp>
    <dsp:sp modelId="{4C496C99-D86F-4E04-941C-A5FE406D7FCC}">
      <dsp:nvSpPr>
        <dsp:cNvPr id="0" name=""/>
        <dsp:cNvSpPr/>
      </dsp:nvSpPr>
      <dsp:spPr>
        <a:xfrm rot="10800000">
          <a:off x="0" y="2364817"/>
          <a:ext cx="5589814" cy="2364817"/>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b="1" u="sng" kern="1200" dirty="0"/>
            <a:t>MALWARE ANALYSIS: </a:t>
          </a:r>
          <a:r>
            <a:rPr lang="en-US" sz="2100" b="1" u="none" kern="1200" dirty="0"/>
            <a:t>Algorithms to detect and analyze malicious code.</a:t>
          </a:r>
        </a:p>
      </dsp:txBody>
      <dsp:txXfrm rot="10800000">
        <a:off x="0" y="2956021"/>
        <a:ext cx="5589814" cy="1773612"/>
      </dsp:txXfrm>
    </dsp:sp>
    <dsp:sp modelId="{93903204-2F7A-4394-A19A-33A5726AFA76}">
      <dsp:nvSpPr>
        <dsp:cNvPr id="0" name=""/>
        <dsp:cNvSpPr/>
      </dsp:nvSpPr>
      <dsp:spPr>
        <a:xfrm rot="5400000">
          <a:off x="7202313" y="752318"/>
          <a:ext cx="2364817" cy="558981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b="1" u="sng" kern="1200" dirty="0"/>
            <a:t>NETWORK SECURITY: </a:t>
          </a:r>
          <a:r>
            <a:rPr lang="en-US" sz="2100" b="1" u="none" kern="1200" dirty="0"/>
            <a:t>Implement and analyze algorithms for firewall and secure routing protocols</a:t>
          </a:r>
          <a:endParaRPr lang="en-US" sz="2100" b="1" kern="1200" dirty="0"/>
        </a:p>
      </dsp:txBody>
      <dsp:txXfrm rot="-5400000">
        <a:off x="5589814" y="2956021"/>
        <a:ext cx="5589814" cy="1773612"/>
      </dsp:txXfrm>
    </dsp:sp>
    <dsp:sp modelId="{63A8F6F2-A05F-43B9-AC56-57482BCE9428}">
      <dsp:nvSpPr>
        <dsp:cNvPr id="0" name=""/>
        <dsp:cNvSpPr/>
      </dsp:nvSpPr>
      <dsp:spPr>
        <a:xfrm>
          <a:off x="3912870" y="1773612"/>
          <a:ext cx="3353888" cy="1182408"/>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COMPUTER SCIENCE AND ENGINEERING (CYBER SECURITY)</a:t>
          </a:r>
        </a:p>
      </dsp:txBody>
      <dsp:txXfrm>
        <a:off x="3970590" y="1831332"/>
        <a:ext cx="3238448" cy="106696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41281"/>
          <a:ext cx="10168887" cy="643414"/>
        </a:xfrm>
        <a:prstGeom prst="roundRect">
          <a:avLst/>
        </a:prstGeom>
        <a:solidFill>
          <a:schemeClr val="accent5">
            <a:lumMod val="40000"/>
            <a:lumOff val="6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solidFill>
                <a:schemeClr val="tx1"/>
              </a:solidFill>
            </a:rPr>
            <a:t>CO1 : </a:t>
          </a:r>
          <a:r>
            <a:rPr lang="en-US" sz="2000" kern="1200" dirty="0">
              <a:solidFill>
                <a:prstClr val="black"/>
              </a:solidFill>
              <a:latin typeface="Calibri"/>
              <a:ea typeface="+mn-ea"/>
              <a:cs typeface="+mn-cs"/>
            </a:rPr>
            <a:t>Apply tree structures effectively demonstrating proficiency in tree operations and algorithms.</a:t>
          </a:r>
          <a:endParaRPr lang="en-IN" sz="2000" kern="1200" dirty="0">
            <a:solidFill>
              <a:prstClr val="black"/>
            </a:solidFill>
            <a:latin typeface="Calibri"/>
            <a:ea typeface="+mn-ea"/>
            <a:cs typeface="+mn-cs"/>
          </a:endParaRPr>
        </a:p>
      </dsp:txBody>
      <dsp:txXfrm>
        <a:off x="31409" y="72690"/>
        <a:ext cx="10106069" cy="58059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16274"/>
          <a:ext cx="10168887" cy="65353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CO2 </a:t>
          </a:r>
          <a:r>
            <a:rPr lang="en-US" sz="2000" kern="1200" dirty="0">
              <a:solidFill>
                <a:prstClr val="black"/>
              </a:solidFill>
              <a:latin typeface="Calibri"/>
              <a:ea typeface="+mn-ea"/>
              <a:cs typeface="+mn-cs"/>
            </a:rPr>
            <a:t>: Analyze the graph data structure and implement various operations for problem solving.</a:t>
          </a:r>
          <a:endParaRPr lang="en-IN" sz="2000" kern="1200" dirty="0">
            <a:solidFill>
              <a:prstClr val="black"/>
            </a:solidFill>
            <a:latin typeface="Calibri"/>
            <a:ea typeface="+mn-ea"/>
            <a:cs typeface="+mn-cs"/>
          </a:endParaRPr>
        </a:p>
      </dsp:txBody>
      <dsp:txXfrm>
        <a:off x="31903" y="148177"/>
        <a:ext cx="10105081" cy="58973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14208"/>
          <a:ext cx="10168887" cy="559621"/>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b="1" kern="1200" dirty="0"/>
            <a:t>CO3 : </a:t>
          </a:r>
          <a:r>
            <a:rPr lang="en-US" sz="2000" kern="1200" dirty="0">
              <a:solidFill>
                <a:prstClr val="black"/>
              </a:solidFill>
              <a:latin typeface="Calibri"/>
              <a:ea typeface="+mn-ea"/>
              <a:cs typeface="+mn-cs"/>
            </a:rPr>
            <a:t>Implementation and analysis of dynamic programming for efficient problem-solving across diverse contexts.</a:t>
          </a:r>
          <a:endParaRPr lang="en-IN" sz="2000" kern="1200" dirty="0">
            <a:solidFill>
              <a:prstClr val="black"/>
            </a:solidFill>
            <a:latin typeface="Calibri"/>
            <a:ea typeface="+mn-ea"/>
            <a:cs typeface="+mn-cs"/>
          </a:endParaRPr>
        </a:p>
      </dsp:txBody>
      <dsp:txXfrm>
        <a:off x="27318" y="141526"/>
        <a:ext cx="10114251" cy="50498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350"/>
          <a:ext cx="10168887" cy="67115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CO4 : </a:t>
          </a:r>
          <a:r>
            <a:rPr lang="en-US" sz="2000" kern="1200" dirty="0">
              <a:solidFill>
                <a:prstClr val="black"/>
              </a:solidFill>
              <a:latin typeface="Calibri"/>
              <a:ea typeface="+mn-ea"/>
              <a:cs typeface="+mn-cs"/>
            </a:rPr>
            <a:t>Apply efficient backtracking and branch &amp;bound techniques across diverse problem-solving scenarios.</a:t>
          </a:r>
          <a:endParaRPr lang="en-IN" sz="2000" kern="1200" dirty="0">
            <a:solidFill>
              <a:prstClr val="black"/>
            </a:solidFill>
            <a:latin typeface="Calibri"/>
            <a:ea typeface="+mn-ea"/>
            <a:cs typeface="+mn-cs"/>
          </a:endParaRPr>
        </a:p>
      </dsp:txBody>
      <dsp:txXfrm>
        <a:off x="32763" y="33113"/>
        <a:ext cx="10103361" cy="6056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315159"/>
          <a:ext cx="10168886" cy="67891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b="1" kern="1200" dirty="0"/>
            <a:t>CO5</a:t>
          </a:r>
          <a:r>
            <a:rPr lang="en-IN" sz="1800" b="1" kern="1200" dirty="0"/>
            <a:t> </a:t>
          </a:r>
          <a:r>
            <a:rPr lang="en-IN" sz="2500" b="0" kern="1200" dirty="0"/>
            <a:t>: </a:t>
          </a:r>
          <a:r>
            <a:rPr lang="en-US" sz="2000" kern="1200" dirty="0"/>
            <a:t>Understand advanced data structures, their implementation and application for efficient data manipulation and retrieval.</a:t>
          </a:r>
          <a:endParaRPr lang="en-IN" sz="2000" b="1" kern="1200" dirty="0"/>
        </a:p>
      </dsp:txBody>
      <dsp:txXfrm>
        <a:off x="33142" y="348301"/>
        <a:ext cx="10102602" cy="61263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89916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PO1 : </a:t>
          </a:r>
          <a:r>
            <a:rPr lang="en-US" sz="2800" b="1" kern="1200" dirty="0"/>
            <a:t>Engineering Knowledge</a:t>
          </a:r>
          <a:endParaRPr lang="en-IN" sz="2800" kern="1200" dirty="0"/>
        </a:p>
      </dsp:txBody>
      <dsp:txXfrm>
        <a:off x="32784" y="32919"/>
        <a:ext cx="8926032" cy="60601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8962395"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PO2 : Problem Analysis</a:t>
          </a:r>
          <a:endParaRPr lang="en-IN" sz="2800" kern="1200" dirty="0"/>
        </a:p>
      </dsp:txBody>
      <dsp:txXfrm>
        <a:off x="32784" y="32919"/>
        <a:ext cx="8896827" cy="60601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PO3 : </a:t>
          </a:r>
          <a:r>
            <a:rPr lang="en-US" sz="2800" b="1" kern="1200" dirty="0"/>
            <a:t>Design/Development of solutions</a:t>
          </a:r>
          <a:endParaRPr lang="en-IN" sz="2800" kern="1200" dirty="0"/>
        </a:p>
      </dsp:txBody>
      <dsp:txXfrm>
        <a:off x="32784" y="32919"/>
        <a:ext cx="8896826" cy="6060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35"/>
          <a:ext cx="8991601"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PO4 : Conduct Investigations of complex problems</a:t>
          </a:r>
          <a:endParaRPr lang="en-IN" sz="2800" kern="1200" dirty="0"/>
        </a:p>
      </dsp:txBody>
      <dsp:txXfrm>
        <a:off x="32784" y="32919"/>
        <a:ext cx="8926033" cy="6060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PO5 : </a:t>
          </a:r>
          <a:r>
            <a:rPr lang="en-US" sz="2800" b="1" kern="1200" dirty="0"/>
            <a:t>Modern tool usage</a:t>
          </a:r>
          <a:endParaRPr lang="en-IN" sz="2800" kern="1200" dirty="0"/>
        </a:p>
      </dsp:txBody>
      <dsp:txXfrm>
        <a:off x="32784" y="33054"/>
        <a:ext cx="8896826" cy="60601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656"/>
          <a:ext cx="8962394" cy="67119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PO6 : The engineer and society</a:t>
          </a:r>
          <a:endParaRPr lang="en-IN" sz="2800" kern="1200" dirty="0"/>
        </a:p>
      </dsp:txBody>
      <dsp:txXfrm>
        <a:off x="32765" y="33421"/>
        <a:ext cx="8896864" cy="60566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8962395"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n-lt"/>
            </a:rPr>
            <a:t>PO7 : </a:t>
          </a:r>
          <a:r>
            <a:rPr lang="en-US" sz="2800" b="1" kern="1200" dirty="0">
              <a:latin typeface="+mn-lt"/>
              <a:ea typeface="Calibri" panose="020F0502020204030204" pitchFamily="34" charset="0"/>
            </a:rPr>
            <a:t>Environment and sustainability</a:t>
          </a:r>
          <a:endParaRPr lang="en-IN" sz="2800" b="1" kern="1200" dirty="0">
            <a:latin typeface="+mn-lt"/>
          </a:endParaRPr>
        </a:p>
      </dsp:txBody>
      <dsp:txXfrm>
        <a:off x="32784" y="32919"/>
        <a:ext cx="8896827" cy="60601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n-lt"/>
              <a:ea typeface="Times New Roman" panose="02020603050405020304" pitchFamily="18" charset="0"/>
              <a:cs typeface="Times New Roman" panose="02020603050405020304" pitchFamily="18" charset="0"/>
            </a:rPr>
            <a:t>PO8 : Ethics</a:t>
          </a:r>
          <a:endParaRPr lang="en-IN" sz="2800" b="1" kern="1200" dirty="0">
            <a:latin typeface="+mn-lt"/>
          </a:endParaRPr>
        </a:p>
      </dsp:txBody>
      <dsp:txXfrm>
        <a:off x="32784" y="32919"/>
        <a:ext cx="8896826" cy="60601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n-lt"/>
              <a:ea typeface="Times New Roman" panose="02020603050405020304" pitchFamily="18" charset="0"/>
              <a:cs typeface="Times New Roman" panose="02020603050405020304" pitchFamily="18" charset="0"/>
            </a:rPr>
            <a:t>PO9 : Individual and teamwork</a:t>
          </a:r>
          <a:endParaRPr lang="en-IN" sz="2800" kern="1200" dirty="0">
            <a:latin typeface="+mn-lt"/>
          </a:endParaRPr>
        </a:p>
      </dsp:txBody>
      <dsp:txXfrm>
        <a:off x="32784" y="32919"/>
        <a:ext cx="8896826" cy="60601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35"/>
          <a:ext cx="8962394"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n-lt"/>
            </a:rPr>
            <a:t>PO10 : </a:t>
          </a:r>
          <a:r>
            <a:rPr lang="en-US" sz="2800" b="1" kern="1200" dirty="0">
              <a:latin typeface="+mn-lt"/>
              <a:ea typeface="Times New Roman" panose="02020603050405020304" pitchFamily="18" charset="0"/>
              <a:cs typeface="Times New Roman" panose="02020603050405020304" pitchFamily="18" charset="0"/>
            </a:rPr>
            <a:t>Communication</a:t>
          </a:r>
          <a:endParaRPr lang="en-IN" sz="2800" kern="1200" dirty="0">
            <a:latin typeface="+mn-lt"/>
          </a:endParaRPr>
        </a:p>
      </dsp:txBody>
      <dsp:txXfrm>
        <a:off x="32784" y="32919"/>
        <a:ext cx="8896826" cy="60601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8962393"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n-lt"/>
              <a:ea typeface="Times New Roman" panose="02020603050405020304" pitchFamily="18" charset="0"/>
              <a:cs typeface="Times New Roman" panose="02020603050405020304" pitchFamily="18" charset="0"/>
            </a:rPr>
            <a:t>PO11 : Project management and finance</a:t>
          </a:r>
          <a:endParaRPr lang="en-IN" sz="2800" kern="1200" dirty="0">
            <a:latin typeface="+mn-lt"/>
          </a:endParaRPr>
        </a:p>
      </dsp:txBody>
      <dsp:txXfrm>
        <a:off x="32784" y="33054"/>
        <a:ext cx="8896825" cy="6060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7.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8.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9.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0.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4">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5">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6">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7">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8">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9">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10">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1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12">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1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14">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15">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16">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3#17">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18">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19">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20">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2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8/26/2026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79430254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0-11-09T03:52:08.842"/>
    </inkml:context>
    <inkml:brush xml:id="br0">
      <inkml:brushProperty name="width" value="0.05292" units="cm"/>
      <inkml:brushProperty name="height" value="0.05292" units="cm"/>
    </inkml:brush>
  </inkml:definitions>
  <inkml:trace contextRef="#ctx0" brushRef="#br0">10054 14287 0,'35'0'406,"-17"0"-374,0 0-32,-1 0 15,19 0 1,-19 0 15,1 0-15,0 0-1,-1 0 17,1 0-32,-1 0 62,1 0-31,0 0 16,-18 18 250,0 0-281,0-1-16,0 1 31,0 0 0,0-1 0,0 1-31,0 0 16,0-1 15,0 1-15,0 0 15,0-1-15,0 1-1,0-1 1,0 1 0,0 0 15,0-1-15,0 1 15,0 0-31,0-1 31,0 1-15,0 0 15,0-1 0,0 1-15,0-1-1,0 1 17,0 0-17,0-1 17,0 1-32,0 0 31,0-1-16,0 1-15,0 0 32,0-1-32,0 1 15,0-1 17,0 1-17,0 0 1,0-1-1,0 1 1,0 0 0,0-1-16,0 1 31,0 0-15,0-1-1,0 1 1,0 0-1,0-1 17,0 1-17,0-1 17,0 1-17,0 0 1,0-1 15,0 1 16</inkml:trace>
  <inkml:trace contextRef="#ctx0" brushRef="#br0" timeOffset="40984.87">7267 14305 0,'0'18'344,"0"-1"-328,0 1-1,0 0 1,0-1-16,0 1 15,0 17 1,0 1 0,0-1-1,0 0 1,0 0 0,0-17-1,0 17 1,0 1 15,0-19-15,0 1-1,0 17 1,0-17 0,0 17-1,0 0 1,0 1 15,0 16-15,0-34-1,0 0-15,0-1 16,0 19 0,0-19-1,0 19 1,0-19 15,0 19-15,0-1-1,0-18 1,0 36 0,0-17 15,0-19 0,0 1-31,0 0 16,0-1 15,0 1 0,0-1 16,0 1 16</inkml:trace>
  <inkml:trace contextRef="#ctx0" brushRef="#br0" timeOffset="45543.31">7267 14305 0,'18'0'469,"-1"0"-453,1 0-1,0 0 17,-1 0-17,1 0 17,0 0-17,-1 0 32,1 0-31,-18-18-1,18 18 1,-18-17 15,17 17-15,1 0-1,0 0 64,-1 0-33,-34 0 501,-1 0-484,0 0-48,1 0 17,-1 0-17,0 0 1,1 0 15,-1 0-15,0 0-1,1 0 17,-1 0-32,0 0 47,1 0-32,-1 0 48,1 0-32,-1 0 31,18 17 282,0 1-219,0 0-94,0-1-15,0 1 15,0 0 1,0-1 46,0 1-47</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0-11-16T15:43:41.104"/>
    </inkml:context>
    <inkml:brush xml:id="br0">
      <inkml:brushProperty name="width" value="0.05292" units="cm"/>
      <inkml:brushProperty name="height" value="0.05292" units="cm"/>
    </inkml:brush>
  </inkml:definitions>
  <inkml:trace contextRef="#ctx0" brushRef="#br0">11659 8378 0,'0'-17'328,"18"17"-328,0 0 16,17 0-16,-18 0 31,1 0-31,0 0 16,17-18 15,0 18-15,-17-17-1,0 17 1,-1 0 0,1 0 15,0 0 0,-1 0 16,-34 0 47,-1 0-79,0 0 1,-35 0 0,36 0-1,-1 0 1,0 0-16,-35 17 31,36-17-15,-1 0-1,1 0 1,-1 0 0,18 18-16,-18-18 15,-17 0 17,17 0-17,1 0 1,-1 0 15,0 0-15,1 0-1,-1 0 17,1 17 14,17 1 17,0 0-16,0-1-16,0 1-15,0 0-1,0-1 1,0 1 0,0 0-1,17-18 1,-17 17-1,0 1 1,0-1 15,18-17 1,-18 18-17,17-18 79,1 0-78,0 0 15,-1-18 0,-17 1-15,18 17-16,0 0 15,-1-18 1,19 18 15,-19 0-15,18 0-1,-17 0 1,0 0 0,-1 0-1,1 0 1,0 0-16,-1 18 31,1-18-15,-18 17-16,18-17 31,17 36-15,-35-19 31,18-17-32,-18 18 1,17 0-1,-17-1 17,0 1-17,0 0 17,0-1-17,0 1 1,0 0 15,-17-18-15,17 17-16,-18-17 31,0 18-15,1-1-1,-1-17 1,-17 0-1,35 18 1,-36 0 0,1-18-1,0 17 1,-18-17 0,18 0-1,17 0 1,0 0-1,1 0 1,-1 0 15,0 0-31,1 0 16,-1 0 15,1 0-15,-1 0 31,0 0 0,1 0-16</inkml:trace>
  <inkml:trace contextRef="#ctx0" brushRef="#br0" timeOffset="11067.33">11289 9031 0,'-35'18'312,"17"-1"-312,18 1 16,-35 0-16,17-1 16,-17 36-1,17-35 1,-17 17 0,0 18 15,17-53-16,0 35 1,1-17 0,17 0-1,-18-1-15,0-17 16,1 36 0,-1-19-1,0 1 1,18-1-1,-35 1 1,35 0 0,-17-1-1,-1 19 1,0-36 0,18 17 15,-35 1-16,17 0 17,1 17-17,-1-35 1,18 17 0,-18 1-1,1-18 1,17 18-16,-18 17 31,-17-35-15,35 18-1,0-1 1,-35 1 0,35 0-1,-18-18 16,18 17-31,-18 1 16,18-1-16,-17-17 16,17 18 31,-18-18-32,18 18 1,-18-1-1,18 1 32,-17 0 0,-1-18 0,18 17 0,0 1-16,-18-18-15,18 18 124,-17-18-77,17 17-32,-18-17 94,18 18-109</inkml:trace>
  <inkml:trace contextRef="#ctx0" brushRef="#br0" timeOffset="14145.65">10089 10354 0,'18'-18'375,"-18"1"-375,18-1 16,-18 0 0,0 1-1,35-1 1,-17-17 0,-1 35 15,1 0-31,-18-18 15,18 1 1,-1 17 0,1 0-1,17-18 1,-17 18 0,-1 0-1,1-18 1,0 18-1,-1 0 1,19 0 0,-19 0 15,1 18-15,-1-18-1,-17 18 16,0-1-31,18-17 16,0 71 0,-18-54-1,0 36 1,0 0 0,0-17-1,0-19 1,-18 36-1,18-18 1,-18 1 0,-17-1-1,18 0 1,-1-17 0,-17 17 15,-36 18-16,36-18 1,-18-17 0,18 0-1,17-18 1,-17 0 0,17 17-1,0-17 1,18 18 15,-17-18-15,-1 0-1,1 0 32,52 0 94,18 0-126,-18 0-15,18 0 16,70 18 0,-70-18-1,18 0-15,-18 0 16,35 17 0,-17-17 15,-54 0-31,18 0 31,1 18-15,-1-18 15,-17 0-15,-1 0 15,1 0 0</inkml:trace>
  <inkml:trace contextRef="#ctx0" brushRef="#br0" timeOffset="16584.88">10248 11024 0,'-17'18'219,"-36"52"-204,-18 1-15,18 0 16,0 34 0,-88 54-1,88-88 1,-53 35-1,18-1 1,53-69 0,-18 17-1,-35 35 1,53-53 0,17 0-16,-35 1 15,-18 34 1,36-35 15,0-17-15,0 35-1,-1-35 1,19-1 0,-1 1-1,-17 17 1,17-17 15,0-1-15,1-17 15,17 18-15,-18-18-1,1 18 1,17-1-1,-18-17 48</inkml:trace>
  <inkml:trace contextRef="#ctx0" brushRef="#br0" timeOffset="18598.58">8608 12400 0,'-18'18'250,"18"-1"-250,0 19 16,0-19-1,0 54 1,0-36 0,0-17-1,0 17 1,0-17 0,0 17-1,0 18 1,0-35-1,0 52 1,0-35 0,0-17 15,0 17-15,0-17-1,0 0 1,0-1-16,0 18 31,0-17-15,0 0-1,0-1 1,0 1 0,0 0-1,0-1 16,0 1-31,0 0 47,0-1-31,0 1 15,0 0 63</inkml:trace>
  <inkml:trace contextRef="#ctx0" brushRef="#br0" timeOffset="20519.87">8572 12506 0,'-17'0'266,"-1"35"-250,-17-17-1,0 0-15,17-1 16,-17 18-1,17-17 1,0 0 0,1-1-1,-1-17 1,1 18 15,-1 0-15,0-18-1,1 17 17,17 1 15</inkml:trace>
  <inkml:trace contextRef="#ctx0" brushRef="#br0" timeOffset="31422.01">8255 13229 0,'18'0'344,"-1"0"-329,1 0 16,0-17-15,-1 17 0,1 0 15,-1 0-15,1 0-1,-18-18 1,18 18-1,-1 0 1,1 0 0,0 0 15,-1 0-15,1 0 15,0 0 47,-1 0-31,1 0 31,-1 0-16,1 0-30,0 0 61,-1 0-46,1 0-15,0 0-1,-1 0 0,1 0 32,0 0-32,-1 0 0,1 0 0,0 0-15,-1 0 31,1 0-32,-1 0 48,1 0-16,0 0-32,-1 0 48,1 0-16,0 0 406,-1 0-328</inkml:trace>
  <inkml:trace contextRef="#ctx0" brushRef="#br0" timeOffset="35327.61">10636 11112 0,'0'18'296,"36"17"-296,-1 1 16,0-1 0,-17-17-16,17 17 15,36 35 1,-1 1 15,-35-36-15,54 36-1,-37-1 1,-16-34 0,17 17-1,-36-36 1,1 1 0,0-1-1,-1 19 1,1-19-1,-18 19 1,35-19 0,-35 1-1,18 0 1,-1 17 15,1-17-15,0-1-1,17 18 1,-17-17 0,-1 17-1,1-17 1,17 35 0,-17-35-1,-1-1 1,1 1-1,-18-1 1,0 1 0,18-18-1,-1 18 1,-17-1 0,0 1-1,18-18 1,0 35-1,-1-17 17,-17 0-17,18-18 1,0 17 0,-18 1 15,0-1-16,17-17 1,1 0 31,-18 18-16,17-18 563</inkml:trace>
  <inkml:trace contextRef="#ctx0" brushRef="#br0" timeOffset="38967.49">11377 12453 0,'0'53'250,"0"35"-250,0-17 15,0-18 1,0-18 0,0 53-1,0-35 1,0-35 0,0-1-1,0 1 1,0 0-1,0-1 1,0 1 0,0-1 31,18-17-1,-1 0-14,1-17-17,35-1 1,0-35 0,-36 53-1,36-35 1,-17 17-1,-19 1 1,1-1 0,0 0-1,-1 18 1,1-17 0,17-1-1,-35-17 1,18 17-1,-1 18 1,1-53 0,0 36-1,-18-1 1,17 18 0,-17-18-1,18 1 1,-18-1-1,0 1 48,0 34 62,0 18-109,0-17-1,-18 0 1,18-1-16,0 36 15,0 0 1,0 53 0,0-71-1,0 89 1,18-36 0,-18-53-1,0 1 16,18-1-15,-18 0 15,0-17-15,0-1 0,0 1-1,0 0 16,0-1 16</inkml:trace>
  <inkml:trace contextRef="#ctx0" brushRef="#br0" timeOffset="42372.98">11483 13194 0,'0'18'266,"-35"17"-251,-1-18-15,19 19 16,-54 34-1,54-34 17,-19-19-32,19 18 15,-36 18 1,35-17 0,-35 34-1,0-35 1,18 18-1,0-35 1,17 35 0,-17-35-1,35-1 1,-18 1 0,-17 17-1,17-17 16,1-1 1,17 1-17,-18-18 1,0 0 0,18 18-1,-17-18-15,17 17 16,-18-17 15,0 18-15,18 0 15,-17-18-31,-1 0 31,18 17-15,-18-17-16,18 18 31,0 0 0,-17-18-15,-1 0 46,18 17-62,0 1 47,-17-18-15,-1 0 483,0 17-484,18 1-15,0 0 0,-17-18-1,-1 0 1,18 17 31,-18-17-16,1 0 16</inkml:trace>
  <inkml:trace contextRef="#ctx0" brushRef="#br0" timeOffset="45637.88">10054 14252 0,'0'-17'328,"18"-1"-312,-1 0 0,1 1-16,0 17 31,-1-18-31,1 18 31,0-18-15,-1 18-16,1 0 31,0 0-15,-1 0 15,1 0 0,-1 0 32,1 36-32,-18-19-15,0 1-1,0 0 1,0-1-1,0 1 1,0 17 0,0-17-1,0-1 17,0 1-17,-18 0 1,1-1-1,-1 1 1,18 0 0,0-1-1,-17-17 1,-1 0 31,18 18-32,18-18 110,-1 0-93,1 0-32,-1 0 15,1 0 17,0 0-17,-1 0 16,1 0-15,0 0 0,-1 0 31,1 0-32,-18 18 16,18-18 1,-18 17-32,17-17 31,-17 18-31,18-1 16,-18 1 15,0 0-31,0-1 31,0 1-15,0 0-1,0 17 17,0-17-17,0-1 1,0 1-1,0-1 1,0 1 15,-18-18-31,18 18 16,-17-18 0,17 17-16,0 1 31,-18-18-16,18 18-15,-18-18 0,1 17 16,-1-17 15,0 0-15,1 0 0,-1 0-1,0 0 16,-17 0-15,18 0 0,-1 0-16,0 0 31,-17 0-15,17 0 15,1 0-16,-1 0-15,0 0 16,1 0 0,-1 0 31,1 0-1</inkml:trace>
  <inkml:trace contextRef="#ctx0" brushRef="#br0" timeOffset="87986.42">13882 10319 0,'-35'0'250,"-36"0"-235,36 0 1,-18 0-1,0 0 1,0 0 0,35 0-1,-17 17 1,0 1 0,17-18-1,0 0 1,1 35-1,-1-17 1,-17 0 0,35 17-1,-18-18 1,18 1 0,0 0-1,0 17 1,0 0-1,0-17 1,0 17 0,0-17-1,18 17 1,17-17 0,-17 35-1,-1-53 1,19 35-1,17-17 1,-18-18 0,0 17-1,36 1 17,-1-18-1,1 0-16,-53 0 1,-1-18-16,18 18 16,-17 0-1,17-17 1,1-1 15,-36 0-15,17 1-1,-17-1 17,0 0-17,0 1 1,0-1 0,0 1-1,-35-19 1,0 36-1,-1-35 1,-16 17 0,34 1-16,-17-1 15,-18 18 1,35-18 0,-53 1 15,54 17-16,-1 0-15,-17-18 16,17 18 0,-17 0-1,17-18 17,1 18-17,-19-17 1,36-1-1,-35 18 1,18-35 0,-19 0 15,19-18-15,17 35-1,0 0-15,0-17 16,0-18-1,0 18 1,0 0 0,0-1-1,0 1 1,17 18 15,1-19-15,0 1-1,-1 17 17,-17 1-17,18-1 1,-1 18 31,-17-18-32,18 18 1,-18-17 31,18 17 15,-1 0-30,19 0-1,-19 17-31,1 1 31,17 0-31,-35-1 16,18-17-1,-1 18 1,19 0 0,-19-18-1,-17 17-15,0 1 16,18 0 15,0-18-15,-18 17 15,17-17-15,-17 18-16,18-18 31,-18 17 0,18-17-31,-18 18 16,0 0 15,17-1 16,-17 1-16,18-18-15,-18 18-1,0-1 1,0 1 0,0 0-1,0-1 1,0 1 0,0-1-1,0 1-15,0 0 31,0-1-15,0 1 0,0 0-1,0-1 1,0 1 31,0 0-16,0-1 0,0 1 1,18-18 14,-18 17-30,0 1 31,0 0 78,0-1-47,0 1-31,0 0 15,0-1-15,0 1 0</inkml:trace>
  <inkml:trace contextRef="#ctx0" brushRef="#br0" timeOffset="106681.59">11994 8961 0,'18'0'282,"0"17"-267,17-17-15,-17 18 16,17-1 0,-17 1 15,-1-18-31,1 0 15,35 35 1,0-17 0,-36 0-1,19-1 1,-1 1 0,-18 0-1,19-18 1,-1 35-1,-17-35 1,-1 17 0,36 19-1,-17-19 17,-19 1-1,1 0-16,-1-18 1,19 35 0,-19-17-1,1-1 1,0 1 15,-1-18-15,1 35-1,17-35 1,-17 18 0,-1-1-1,1 1 1,0 0 0,17-1 15,-17 1-16,-1-18 1,1 18-16,0-1 16,-1-17-1,1 0 1,-1 18 0,1 0-1,17-18 1,-35 17-1,36 1 1,-19-1 0,1-17-1,0 0 1,-1 18 15,1 0-15,0-18-1,-18 17 1,17-17 0,1 0-1,-18 18 1,17 0 15,1-18-15,0 0-1,-1 17 32,1-17-31,-18 18 0,18-18 15,-1 0-16,-17 18 1,18-18 0,-18 17 15,18 1 16,-1-18 0</inkml:trace>
  <inkml:trace contextRef="#ctx0" brushRef="#br0" timeOffset="110535.98">13670 10971 0,'-18'36'266,"1"-1"-251,-1-17-15,1 17 16,-19 53-1,19-70 1,-1 35 0,-17-36-1,17 19 1,18-1 0,-35 0 15,35-17-16,-18-18-15,1 35 16,-1-17 0,0 17-1,18-17 1,-17-1 0,-1 1-1,0-1 1,18 19-1,-17-19 1,17 1 0,-36 0-1,19 17 1,-1-17 15,1 17-15,-1-18-1,18 1 1,-18 0 0,1 17-1,-1-35 1,0 53 0,1-35-1,-19-1 1,36 1-1,0 0 1,-17-1 0,-1 1-1,18-1 1,-18 1 31,1 0-32,-1-1 1,18 1 0,0 0-1,-17-18 1,17 17 0,-18 1-1,18 0 48,0-1-48,-18-17-15,18 18 32,-17-18-32,17 17 31,-18-17-16,18 18 1,0 0 15,0-1-15,-18-17 0,18 18-1,-17-18 1,17 18 15,-18-1 32</inkml:trace>
  <inkml:trace contextRef="#ctx0" brushRef="#br0" timeOffset="113660.4">12541 12506 0,'36'0'406,"-19"0"-390,18 0-16,-17 0 15,0 0-15,-1 0 31,1 0-15,35 0 0,-35 0-1,-1 0 1,18 0 0,-17 0-1,0 0 1,-1-18-1,1 18 1,0 0-16,-1 0 16,1-17-1,0 17 1,-1-18 15,1 18 0,-1 0-15,1 0 47,0 0-17,-18 18 142,0-1-188,0 1 16,0 17-1,0 18 1,0-35-1,0 35 1,-18-18 0,0-17-1,1 17 1,17-17 0,0-1-1,0 1 1,0-1-16,-18 1 31,18 0-15,-17-18-1,17 35 1,0-17 0,-18-1-1,18 1 1,-18 0-1,1 17 1,17-18 0,0 19-1,-18-1 17,18-17-17,0-1 1,-18 1 15,18 17-15,0-17-1,0 0 17,-17-1-17,17 1 1,-18-18-1,18 17 1,0 1 47,0 0-17</inkml:trace>
  <inkml:trace contextRef="#ctx0" brushRef="#br0" timeOffset="116035.06">12823 12912 0,'36'17'390,"-1"-17"-374,0 0-1,-17 0 1,17 0 0,-17 0-1,-1 0 1,1 0 0,0 0-1,17 0 1,-17 0 15,-1 0-15,1 0 15,0 0 0,-1 0-15,1 0 62,0 0-47</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0-11-16T15:43:41.104"/>
    </inkml:context>
    <inkml:brush xml:id="br0">
      <inkml:brushProperty name="width" value="0.05292" units="cm"/>
      <inkml:brushProperty name="height" value="0.05292" units="cm"/>
    </inkml:brush>
  </inkml:definitions>
  <inkml:trace contextRef="#ctx0" brushRef="#br0">11659 8378 0,'0'-17'328,"18"17"-328,0 0 16,17 0-16,-18 0 31,1 0-31,0 0 16,17-18 15,0 18-15,-17-17-1,0 17 1,-1 0 0,1 0 15,0 0 0,-1 0 16,-34 0 47,-1 0-79,0 0 1,-35 0 0,36 0-1,-1 0 1,0 0-16,-35 17 31,36-17-15,-1 0-1,1 0 1,-1 0 0,18 18-16,-18-18 15,-17 0 17,17 0-17,1 0 1,-1 0 15,0 0-15,1 0-1,-1 0 17,1 17 14,17 1 17,0 0-16,0-1-16,0 1-15,0 0-1,0-1 1,0 1 0,0 0-1,17-18 1,-17 17-1,0 1 1,0-1 15,18-17 1,-18 18-17,17-18 79,1 0-78,0 0 15,-1-18 0,-17 1-15,18 17-16,0 0 15,-1-18 1,19 18 15,-19 0-15,18 0-1,-17 0 1,0 0 0,-1 0-1,1 0 1,0 0-16,-1 18 31,1-18-15,-18 17-16,18-17 31,17 36-15,-35-19 31,18-17-32,-18 18 1,17 0-1,-17-1 17,0 1-17,0 0 17,0-1-17,0 1 1,0 0 15,-17-18-15,17 17-16,-18-17 31,0 18-15,1-1-1,-1-17 1,-17 0-1,35 18 1,-36 0 0,1-18-1,0 17 1,-18-17 0,18 0-1,17 0 1,0 0-1,1 0 1,-1 0 15,0 0-31,1 0 16,-1 0 15,1 0-15,-1 0 31,0 0 0,1 0-16</inkml:trace>
  <inkml:trace contextRef="#ctx0" brushRef="#br0" timeOffset="11067.33">11289 9031 0,'-35'18'312,"17"-1"-312,18 1 16,-35 0-16,17-1 16,-17 36-1,17-35 1,-17 17 0,0 18 15,17-53-16,0 35 1,1-17 0,17 0-1,-18-1-15,0-17 16,1 36 0,-1-19-1,0 1 1,18-1-1,-35 1 1,35 0 0,-17-1-1,-1 19 1,0-36 0,18 17 15,-35 1-16,17 0 17,1 17-17,-1-35 1,18 17 0,-18 1-1,1-18 1,17 18-16,-18 17 31,-17-35-15,35 18-1,0-1 1,-35 1 0,35 0-1,-18-18 16,18 17-31,-18 1 16,18-1-16,-17-17 16,17 18 31,-18-18-32,18 18 1,-18-1-1,18 1 32,-17 0 0,-1-18 0,18 17 0,0 1-16,-18-18-15,18 18 124,-17-18-77,17 17-32,-18-17 94,18 18-109</inkml:trace>
  <inkml:trace contextRef="#ctx0" brushRef="#br0" timeOffset="14145.65">10089 10354 0,'18'-18'375,"-18"1"-375,18-1 16,-18 0 0,0 1-1,35-1 1,-17-17 0,-1 35 15,1 0-31,-18-18 15,18 1 1,-1 17 0,1 0-1,17-18 1,-17 18 0,-1 0-1,1-18 1,0 18-1,-1 0 1,19 0 0,-19 0 15,1 18-15,-1-18-1,-17 18 16,0-1-31,18-17 16,0 71 0,-18-54-1,0 36 1,0 0 0,0-17-1,0-19 1,-18 36-1,18-18 1,-18 1 0,-17-1-1,18 0 1,-1-17 0,-17 17 15,-36 18-16,36-18 1,-18-17 0,18 0-1,17-18 1,-17 0 0,17 17-1,0-17 1,18 18 15,-17-18-15,-1 0-1,1 0 32,52 0 94,18 0-126,-18 0-15,18 0 16,70 18 0,-70-18-1,18 0-15,-18 0 16,35 17 0,-17-17 15,-54 0-31,18 0 31,1 18-15,-1-18 15,-17 0-15,-1 0 15,1 0 0</inkml:trace>
  <inkml:trace contextRef="#ctx0" brushRef="#br0" timeOffset="16584.88">10248 11024 0,'-17'18'219,"-36"52"-204,-18 1-15,18 0 16,0 34 0,-88 54-1,88-88 1,-53 35-1,18-1 1,53-69 0,-18 17-1,-35 35 1,53-53 0,17 0-16,-35 1 15,-18 34 1,36-35 15,0-17-15,0 35-1,-1-35 1,19-1 0,-1 1-1,-17 17 1,17-17 15,0-1-15,1-17 15,17 18-15,-18-18-1,1 18 1,17-1-1,-18-17 48</inkml:trace>
  <inkml:trace contextRef="#ctx0" brushRef="#br0" timeOffset="18598.58">8608 12400 0,'-18'18'250,"18"-1"-250,0 19 16,0-19-1,0 54 1,0-36 0,0-17-1,0 17 1,0-17 0,0 17-1,0 18 1,0-35-1,0 52 1,0-35 0,0-17 15,0 17-15,0-17-1,0 0 1,0-1-16,0 18 31,0-17-15,0 0-1,0-1 1,0 1 0,0 0-1,0-1 16,0 1-31,0 0 47,0-1-31,0 1 15,0 0 63</inkml:trace>
  <inkml:trace contextRef="#ctx0" brushRef="#br0" timeOffset="20519.87">8572 12506 0,'-17'0'266,"-1"35"-250,-17-17-1,0 0-15,17-1 16,-17 18-1,17-17 1,0 0 0,1-1-1,-1-17 1,1 18 15,-1 0-15,0-18-1,1 17 17,17 1 15</inkml:trace>
  <inkml:trace contextRef="#ctx0" brushRef="#br0" timeOffset="31422.01">8255 13229 0,'18'0'344,"-1"0"-329,1 0 16,0-17-15,-1 17 0,1 0 15,-1 0-15,1 0-1,-18-18 1,18 18-1,-1 0 1,1 0 0,0 0 15,-1 0-15,1 0 15,0 0 47,-1 0-31,1 0 31,-1 0-16,1 0-30,0 0 61,-1 0-46,1 0-15,0 0-1,-1 0 0,1 0 32,0 0-32,-1 0 0,1 0 0,0 0-15,-1 0 31,1 0-32,-1 0 48,1 0-16,0 0-32,-1 0 48,1 0-16,0 0 406,-1 0-328</inkml:trace>
  <inkml:trace contextRef="#ctx0" brushRef="#br0" timeOffset="35327.61">10636 11112 0,'0'18'296,"36"17"-296,-1 1 16,0-1 0,-17-17-16,17 17 15,36 35 1,-1 1 15,-35-36-15,54 36-1,-37-1 1,-16-34 0,17 17-1,-36-36 1,1 1 0,0-1-1,-1 19 1,1-19-1,-18 19 1,35-19 0,-35 1-1,18 0 1,-1 17 15,1-17-15,0-1-1,17 18 1,-17-17 0,-1 17-1,1-17 1,17 35 0,-17-35-1,-1-1 1,1 1-1,-18-1 1,0 1 0,18-18-1,-1 18 1,-17-1 0,0 1-1,18-18 1,0 35-1,-1-17 17,-17 0-17,18-18 1,0 17 0,-18 1 15,0-1-16,17-17 1,1 0 31,-18 18-16,17-18 563</inkml:trace>
  <inkml:trace contextRef="#ctx0" brushRef="#br0" timeOffset="38967.49">11377 12453 0,'0'53'250,"0"35"-250,0-17 15,0-18 1,0-18 0,0 53-1,0-35 1,0-35 0,0-1-1,0 1 1,0 0-1,0-1 1,0 1 0,0-1 31,18-17-1,-1 0-14,1-17-17,35-1 1,0-35 0,-36 53-1,36-35 1,-17 17-1,-19 1 1,1-1 0,0 0-1,-1 18 1,1-17 0,17-1-1,-35-17 1,18 17-1,-1 18 1,1-53 0,0 36-1,-18-1 1,17 18 0,-17-18-1,18 1 1,-18-1-1,0 1 48,0 34 62,0 18-109,0-17-1,-18 0 1,18-1-16,0 36 15,0 0 1,0 53 0,0-71-1,0 89 1,18-36 0,-18-53-1,0 1 16,18-1-15,-18 0 15,0-17-15,0-1 0,0 1-1,0 0 16,0-1 16</inkml:trace>
  <inkml:trace contextRef="#ctx0" brushRef="#br0" timeOffset="42372.98">11483 13194 0,'0'18'266,"-35"17"-251,-1-18-15,19 19 16,-54 34-1,54-34 17,-19-19-32,19 18 15,-36 18 1,35-17 0,-35 34-1,0-35 1,18 18-1,0-35 1,17 35 0,-17-35-1,35-1 1,-18 1 0,-17 17-1,17-17 16,1-1 1,17 1-17,-18-18 1,0 0 0,18 18-1,-17-18-15,17 17 16,-18-17 15,0 18-15,18 0 15,-17-18-31,-1 0 31,18 17-15,-18-17-16,18 18 31,0 0 0,-17-18-15,-1 0 46,18 17-62,0 1 47,-17-18-15,-1 0 483,0 17-484,18 1-15,0 0 0,-17-18-1,-1 0 1,18 17 31,-18-17-16,1 0 16</inkml:trace>
  <inkml:trace contextRef="#ctx0" brushRef="#br0" timeOffset="45637.88">10054 14252 0,'0'-17'328,"18"-1"-312,-1 0 0,1 1-16,0 17 31,-1-18-31,1 18 31,0-18-15,-1 18-16,1 0 31,0 0-15,-1 0 15,1 0 0,-1 0 32,1 36-32,-18-19-15,0 1-1,0 0 1,0-1-1,0 1 1,0 17 0,0-17-1,0-1 17,0 1-17,-18 0 1,1-1-1,-1 1 1,18 0 0,0-1-1,-17-17 1,-1 0 31,18 18-32,18-18 110,-1 0-93,1 0-32,-1 0 15,1 0 17,0 0-17,-1 0 16,1 0-15,0 0 0,-1 0 31,1 0-32,-18 18 16,18-18 1,-18 17-32,17-17 31,-17 18-31,18-1 16,-18 1 15,0 0-31,0-1 31,0 1-15,0 0-1,0 17 17,0-17-17,0-1 1,0 1-1,0-1 1,0 1 15,-18-18-31,18 18 16,-17-18 0,17 17-16,0 1 31,-18-18-16,18 18-15,-18-18 0,1 17 16,-1-17 15,0 0-15,1 0 0,-1 0-1,0 0 16,-17 0-15,18 0 0,-1 0-16,0 0 31,-17 0-15,17 0 15,1 0-16,-1 0-15,0 0 16,1 0 0,-1 0 31,1 0-1</inkml:trace>
  <inkml:trace contextRef="#ctx0" brushRef="#br0" timeOffset="87986.42">13882 10319 0,'-35'0'250,"-36"0"-235,36 0 1,-18 0-1,0 0 1,0 0 0,35 0-1,-17 17 1,0 1 0,17-18-1,0 0 1,1 35-1,-1-17 1,-17 0 0,35 17-1,-18-18 1,18 1 0,0 0-1,0 17 1,0 0-1,0-17 1,0 17 0,0-17-1,18 17 1,17-17 0,-17 35-1,-1-53 1,19 35-1,17-17 1,-18-18 0,0 17-1,36 1 17,-1-18-1,1 0-16,-53 0 1,-1-18-16,18 18 16,-17 0-1,17-17 1,1-1 15,-36 0-15,17 1-1,-17-1 17,0 0-17,0 1 1,0-1 0,0 1-1,-35-19 1,0 36-1,-1-35 1,-16 17 0,34 1-16,-17-1 15,-18 18 1,35-18 0,-53 1 15,54 17-16,-1 0-15,-17-18 16,17 18 0,-17 0-1,17-18 17,1 18-17,-19-17 1,36-1-1,-35 18 1,18-35 0,-19 0 15,19-18-15,17 35-1,0 0-15,0-17 16,0-18-1,0 18 1,0 0 0,0-1-1,0 1 1,17 18 15,1-19-15,0 1-1,-1 17 17,-17 1-17,18-1 1,-1 18 31,-17-18-32,18 18 1,-18-17 31,18 17 15,-1 0-30,19 0-1,-19 17-31,1 1 31,17 0-31,-35-1 16,18-17-1,-1 18 1,19 0 0,-19-18-1,-17 17-15,0 1 16,18 0 15,0-18-15,-18 17 15,17-17-15,-17 18-16,18-18 31,-18 17 0,18-17-31,-18 18 16,0 0 15,17-1 16,-17 1-16,18-18-15,-18 18-1,0-1 1,0 1 0,0 0-1,0-1 1,0 1 0,0-1-1,0 1-15,0 0 31,0-1-15,0 1 0,0 0-1,0-1 1,0 1 31,0 0-16,0-1 0,0 1 1,18-18 14,-18 17-30,0 1 31,0 0 78,0-1-47,0 1-31,0 0 15,0-1-15,0 1 0</inkml:trace>
  <inkml:trace contextRef="#ctx0" brushRef="#br0" timeOffset="106681.59">11994 8961 0,'18'0'282,"0"17"-267,17-17-15,-17 18 16,17-1 0,-17 1 15,-1-18-31,1 0 15,35 35 1,0-17 0,-36 0-1,19-1 1,-1 1 0,-18 0-1,19-18 1,-1 35-1,-17-35 1,-1 17 0,36 19-1,-17-19 17,-19 1-1,1 0-16,-1-18 1,19 35 0,-19-17-1,1-1 1,0 1 15,-1-18-15,1 35-1,17-35 1,-17 18 0,-1-1-1,1 1 1,0 0 0,17-1 15,-17 1-16,-1-18 1,1 18-16,0-1 16,-1-17-1,1 0 1,-1 18 0,1 0-1,17-18 1,-35 17-1,36 1 1,-19-1 0,1-17-1,0 0 1,-1 18 15,1 0-15,0-18-1,-18 17 1,17-17 0,1 0-1,-18 18 1,17 0 15,1-18-15,0 0-1,-1 17 32,1-17-31,-18 18 0,18-18 15,-1 0-16,-17 18 1,18-18 0,-18 17 15,18 1 16,-1-18 0</inkml:trace>
  <inkml:trace contextRef="#ctx0" brushRef="#br0" timeOffset="110535.98">13670 10971 0,'-18'36'266,"1"-1"-251,-1-17-15,1 17 16,-19 53-1,19-70 1,-1 35 0,-17-36-1,17 19 1,18-1 0,-35 0 15,35-17-16,-18-18-15,1 35 16,-1-17 0,0 17-1,18-17 1,-17-1 0,-1 1-1,0-1 1,18 19-1,-17-19 1,17 1 0,-36 0-1,19 17 1,-1-17 15,1 17-15,-1-18-1,18 1 1,-18 0 0,1 17-1,-1-35 1,0 53 0,1-35-1,-19-1 1,36 1-1,0 0 1,-17-1 0,-1 1-1,18-1 1,-18 1 31,1 0-32,-1-1 1,18 1 0,0 0-1,-17-18 1,17 17 0,-18 1-1,18 0 48,0-1-48,-18-17-15,18 18 32,-17-18-32,17 17 31,-18-17-16,18 18 1,0 0 15,0-1-15,-18-17 0,18 18-1,-17-18 1,17 18 15,-18-1 32</inkml:trace>
  <inkml:trace contextRef="#ctx0" brushRef="#br0" timeOffset="113660.4">12541 12506 0,'36'0'406,"-19"0"-390,18 0-16,-17 0 15,0 0-15,-1 0 31,1 0-15,35 0 0,-35 0-1,-1 0 1,18 0 0,-17 0-1,0 0 1,-1-18-1,1 18 1,0 0-16,-1 0 16,1-17-1,0 17 1,-1-18 15,1 18 0,-1 0-15,1 0 47,0 0-17,-18 18 142,0-1-188,0 1 16,0 17-1,0 18 1,0-35-1,0 35 1,-18-18 0,0-17-1,1 17 1,17-17 0,0-1-1,0 1 1,0-1-16,-18 1 31,18 0-15,-17-18-1,17 35 1,0-17 0,-18-1-1,18 1 1,-18 0-1,1 17 1,17-18 0,0 19-1,-18-1 17,18-17-17,0-1 1,-18 1 15,18 17-15,0-17-1,0 0 17,-17-1-17,17 1 1,-18-18-1,18 17 1,0 1 47,0 0-17</inkml:trace>
  <inkml:trace contextRef="#ctx0" brushRef="#br0" timeOffset="116035.06">12823 12912 0,'36'17'390,"-1"-17"-374,0 0-1,-17 0 1,17 0 0,-17 0-1,-1 0 1,1 0 0,0 0-1,17 0 1,-17 0 15,-1 0-15,1 0 15,0 0 0,-1 0-15,1 0 62,0 0-47</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0-11-25T10:27:58.046"/>
    </inkml:context>
    <inkml:brush xml:id="br0">
      <inkml:brushProperty name="width" value="0.05292" units="cm"/>
      <inkml:brushProperty name="height" value="0.05292" units="cm"/>
    </inkml:brush>
  </inkml:definitions>
  <inkml:trace contextRef="#ctx0" brushRef="#br0">1658 8220 0,'0'35'312,"0"-17"-312,0 17 16,0 18-1,0-18 1,0-17 0,0 17-1,0-17 1,0-1 0,0 1-1,0 17 1,0-17 15,0-1 0,0 1-15</inkml:trace>
  <inkml:trace contextRef="#ctx0" brushRef="#br0" timeOffset="2128.31">1799 8132 0,'0'17'375,"18"1"-360,-1-1-15,-17 19 16,18-1-1,0 0 1,-1-17 0,-17 17-1,18-35-15,-18 18 16,0 17 0,0-17-1,0 17 1,0 0-1,0-17 17,0 0-17,0 17 1,0 0 0,0-17-1,-18 17 1,1 0-1,17 1 1,0-19 0,-18 1-1,0 17 1,18 0 15,-17-35-15,-1 18-1,1 0 1,17-1 15,0 1-15,-18 0 0,0-18-1,18 17 1,0 1-1,0 0 1,-17-18 15,-1 17 16</inkml:trace>
  <inkml:trace contextRef="#ctx0" brushRef="#br0" timeOffset="18261.41">2258 8255 0,'0'35'296,"0"-17"-280,0 17 0,0 0-1,0 1 1,0-19 0,0 1-1,0 0-15,0-1 16,0 19-1,0-1 1,0 0 15,0-17-15,0-1 15,0 1-31,0 0 31,0-1-15,0 1-16,0 0 31,0-1-15,0 1 15,0 0-15,0-1-1</inkml:trace>
  <inkml:trace contextRef="#ctx0" brushRef="#br0" timeOffset="20639.71">2611 8273 0,'-18'0'312,"0"17"-296,18 1 0,-17-18-1,17 18 1,-18 17 0,0-18-1,18 1 1,0 0-1,0 17 1,0-17 0,0-1-1,0 19 1,18-19 0,-18 1-16,18-1 15,-1 19 1,1-1 15,0 0 0,-1-35-15,1 18 0,-18 0-16,17-18 15,1 17 1,0-17-1,-1 18 1,1-18 0,0 0-1,-1 0 17,19 0-17,-19 0 1,-17-18-1,18-35 17,-1 53-17,-17-35-15,0-18 32,0 35-17,0 1-15,0-18 16,-17-1-1,17 19 1,-18-19 0,1 19-1,-1-19 1,0 36 0,1-35-1,-1 18 1,0 17-1,1-18 17,-19 0-17,19 18 17,-1-17-17,1 17 1,-1-18-1,0 18 1,1 0 15,-1 0-15,0 0 0</inkml:trace>
  <inkml:trace contextRef="#ctx0" brushRef="#br0" timeOffset="22295.42">2769 8943 0,'36'18'266,"34"17"-251,-17 18-15,35 0 16,-17-18 0,-18 18-16,0 0 15,35 35 1,-53-53 0,0-17-16,1 17 15,-1 18 1,0-18-1,-17-17 17,-1 0-1,-17-1-15,18-17-1,-18 18 1</inkml:trace>
  <inkml:trace contextRef="#ctx0" brushRef="#br0" timeOffset="24356.8">3687 9543 0,'17'0'360,"18"0"-345,-35-18-15,18 18 16,17 0 0,-17 0-1,0 0 1,-1 0 15,1 35-15,0-17-1,-18 0 1,0 34 0,0-34-1,0 17-15,0-17 16,-18 17 0,0 1-1,18-19 1,-35 18-1,17-17 1,-17 0 0,0-1-1,17-17 17,1 0-17,-1 18 1,0-18-1,1 0 17,34 0 30,1 0-46,0 0-16,17 0 15,0 0 1,0 0 0,-17 0-1,0 0 1,17 0 0,0 0-1,-17 0 1,17 0-1,-17 0 1,-1 0 15,1 0-15</inkml:trace>
  <inkml:trace contextRef="#ctx0" brushRef="#br0" timeOffset="26282.2">4286 9507 0,'0'18'297,"-17"17"-297,-1-35 15,18 18 1,-18 17 0,18 18-1,0-18 1,0-17-1,0 0 1,0-1 0,0 1-1,0 0 1,0-1 0,0 1-1,0-1 1,18-17-1,0 18 1,-18 0 0,17-18-1,1 17 1,17-17 15,-17 0-15,17 0-1,-17 0 1,-1 0 0,1 0-1,0 0 1,-18-17-16,17-1 31,-17-35-15,18 53-1,-18-53-15,0 18 32,0 0-1,-18-1-15,18 19-1,-17-1-15,-1 18 16,0-35-1,1 35 1,-1 0 0,18-18-1,-18 18 1,18-17 0,-17 17-1,-1 0 1,1 0-1</inkml:trace>
  <inkml:trace contextRef="#ctx0" brushRef="#br0" timeOffset="28222.45">4269 10142 0,'35'18'343,"0"0"-327,0-1 0,-17 1-16,0 17 15,17-17 1,0 17-1,18 0 1,-35-35 0,-1 18-16,1 0 15,17-1 1,-17 1 0,35 35 15,-53-36 0,18-17-15,-1 18-1,-17 0 1,18-18-16,-18 17 31,17-17-15,-17 18-1,18-18 17,-18 18-17</inkml:trace>
  <inkml:trace contextRef="#ctx0" brushRef="#br0" timeOffset="30580.62">5062 10566 0,'18'0'375,"0"0"-360,-1 17 1,1-17 15,-18 18-15,18 0-16,-18-1 31,0 1-15,0 0-1,0-1 1,0 1-1,0-1 1,0 1 0,-18 0-1,18-1 17,-18-17-1,18 18-31,-17-18 31,34 0 78,1 0-93,17 0 0,-17 0 15,-1 18-15,1-18-16,-18 17 15,18 1 1,-1 17 31,-17-17-32,18-1-15,-18 36 32,0-35-17,0 0 1,0 17-1,0-17 1,-35-1 0,17 1-1,-17-18 1,17 0 0,-17 0-1,17 0 1,-17 0-1,17-18 1,1 1 0,-1 17 15</inkml:trace>
  <inkml:trace contextRef="#ctx0" brushRef="#br0" timeOffset="32545.02">5521 10654 0,'0'18'281,"-18"17"-281,18-18 16,-17 54-1,17-36 1,0 18 0,0-35-1,0 70 1,0-70 0,0 17-16,0 0 15,0-17 1,0-1-1,17-17 17,-17 36-32,18-19 31,0-17-15,17 0-1,-17-35 16,-1 35-15,-17-18-16,0 1 16,0-1-16,0 1 31,18-19-15,-18 1-1,0 0-15,0 17 31,0-17-31,0 0 16,0-36 15,-18 53-15,1 1 0,17-1-1,-18 18 16,0 0-31,1-18 16,-1 18 0</inkml:trace>
  <inkml:trace contextRef="#ctx0" brushRef="#br0" timeOffset="35206.75">7867 7990 0,'35'0'375,"0"18"-344,-17-18-31,-18 18 31,18-18-15,-18 17-16,17-17 16,-17 36-1,0-19 1,0 19 0,-17-19-1,-1 18 1,0-17-1,1 17 1,-36 1 0,53-19-1,-35 1 17,17 0-32,0-1 46,1-17-30,17 18 0,0-1 31,53 1 15,0-18-62,-18 0 16,18 0-1,-36 0-15,1 0 16,17 0 0,-17 0 15,0 0-16,-1 0 17,1 0-17,-18 18 1</inkml:trace>
  <inkml:trace contextRef="#ctx0" brushRef="#br0" timeOffset="36772.31">8255 7779 0,'18'17'281,"-1"36"-265,19-17-1,16 69 1,-16-69-1,-19-1-15,1 18 16,17 35 0,-17 0-1,-18-52 1,18 16 0,-18-16-1,0-1 1,0 18 15,0 0-15,0-36-1,0 19 1,0-1 0,0-17 15,0-1-16</inkml:trace>
  <inkml:trace contextRef="#ctx0" brushRef="#br0" timeOffset="38647.37">9931 7814 0,'17'18'266,"-17"52"-251,18 1 1,-18-18-16,18 53 31,-18-54-15,0-16-16,0-1 16,17 18-1,-17-18 1,0 18-1,0-18 1,0 18 0,0-17 15,0-19-15,0 1-1,0-1 1</inkml:trace>
  <inkml:trace contextRef="#ctx0" brushRef="#br0" timeOffset="42177.65">10583 7867 0,'-17'0'265,"-1"0"-249,0 18 0,1-1-1,-19 1 1,1-1-1,35 1 1,0 0-16,-17-1 16,-1 1-1,18 0 1,-18-1-16,18 1 16,-17 17-1,-1 1 32,18-19-47,0 18 16,0-17-1,0 0 1,0-1 15,0 1-15,0 0 31,18 17-32,17-17 1,-17-18 0,-18 17-1,35 1 1,-18-18-1,1 0-15,0 0 16,-1 0 0,1 0 15,17 0-15,-35-18-16,18 18 15,0-17 1,-1 17-1,1-18 1,17-17 0,-35 17-1,18 0 1,-1-35 0,1 18-1,-18 18 1,0-19-1,0 1 1,0 17 0,0-35 31,-18 36-32,18-1 1,0 0-1,-17 1 1,17-1 0,-18 18-1,1-17 1,17-1 0,-18 18 15,0 0-16</inkml:trace>
  <inkml:trace contextRef="#ctx0" brushRef="#br0" timeOffset="44356.21">10707 8714 0,'17'0'313,"19"53"-313,-1-36 15,71 54 1,-53-1 0,-18-34-1,0-19-15,1 1 16,16 35-1,-16-18 1,-1 0 15,-17-35-15,-18 18 0,17 0-1,1-18 1,-18 17-1,18 1 1,-1-1 15</inkml:trace>
  <inkml:trace contextRef="#ctx0" brushRef="#br0" timeOffset="47112.6">11553 9190 0,'0'-18'313,"36"18"-313,-19-17 15,1 17 1,17 0 0,-17 0-1,0 0 1,-18 17-1,0 18 1,17-35 0,-17 36-16,0-19 15,-17 19 1,-1-1 0,0-17-1,-17-1 16,17-17-15,1 0 0,-1 18-1,18 0 1,-18-18 15,1 0-15,34-18 31,1 18-16,0 0-31,-1 0 16,1 0-1,0 0 1,-1 0-1,19 18 17,-36-1-17,35 1 1,-35-1 0,0 1-1,17 0 1,-17-1-1,0 1 1,0 0-16,0 35 141,-17-53-126,-36 0-15,-159 0 32,159-18-17</inkml:trace>
  <inkml:trace contextRef="#ctx0" brushRef="#br0" timeOffset="48977.61">12118 9172 0,'-18'35'250,"1"-35"-250,-1 36 16,0-1 0,1 0-1,-1-35-15,18 36 16,-18-1-1,1-17 1,17 17 0,0 0-1,0 18 1,17-35 31,-17-1-16,0 1-15,36 0-16,-1-1 15,0-17 1,36 18 0,-54-18-1,19 0 1,-36-18-1,35 18 1,-35-35 0,18 35-1,-1-35 1,-17-1 0,18 19-1,-18-19 1,0 1-1,0 18 1,0-19 15,0-17-15,0 36 15,-18-19-15,1 36-1,-1-17 1,-17-1 0,17 18-1,0 0 1,1 0 0</inkml:trace>
  <inkml:trace contextRef="#ctx0" brushRef="#br0" timeOffset="50842.71">11465 9754 0,'-17'36'281,"-19"-1"-265,-17-18-1,18 19-15,-35 52 16,52-70-1,-17 17 1,-36 18 0,18-18 46,36 0-46,-19 1-1,19-19 1,-1 1 0,0-18-1,18 18-15,0-1 32,-17-17-17,17 18 1,-18-18 15,0 0 16</inkml:trace>
  <inkml:trace contextRef="#ctx0" brushRef="#br0" timeOffset="52893.31">9878 10283 0,'17'-17'313,"1"17"-298,0-18-15,-1 18 16,1 0-1,17-17 1,-17 17 0,0 0-1,17 0 1,0 35 0,-35 0 15,18-17-31,-1 35 15,-17 17 1,0 1 0,0-54-1,-35 36 1,17-17 0,1-1-1,-18-17 1,17-1-1,0-17 1,1 18 0,-1-1-1,18 1 17,-18-18-32,18 18 62,53-18-31,-17 0-15,34 0 0,-52 0-1,-1 0-15,19 0 16,-19 0-1,19 0 1,-1 0 15,-18 0-15,1 0 0,0 0-1</inkml:trace>
  <inkml:trace contextRef="#ctx0" brushRef="#br0" timeOffset="54658.28">10530 10266 0,'0'17'297,"-17"19"-282,-1-1 1,18 18-16,-18-35 16,18 52-1,0-35 17,0-17-32,0 35 15,0-35 1,0 17-1,0 0 1,0-17 15,0-1-15,18 1-16,-18 0 16,18-1-1,-1 1 1,1 0-1,17-1 1,1-17 15,-19 0-15,1 0 0,0 0-1,-1-17-15,18-1 31,-35 0-15,0 1-16,18 17 16,0-53-1,-18-18 48,0-52-48,-36 52 1,19 18 0,-1 36 15,-17-1-15,17 18-1,1-18 1,-1 18-1</inkml:trace>
  <inkml:trace contextRef="#ctx0" brushRef="#br0" timeOffset="57187">14429 7479 0,'0'18'343,"17"-18"-327,1 17-16,-18 1 16,18 35-1,-18-18 17,0-17-17,0 17-15,0 0 16,-18 0-1,-17 1 1,35-19 0,-18 1-1,0 0 1,18-1 0,-17-17-1,-1 18 16,0-18-15,18-18 62,0 1-62,18 17-1,0 0 1,17 0 15,-17 0-15,-1 0 0,1 0-16,0 35 15,-1-35 1,-17 35-1,18-17 1,-18-1 0,0 1 15,0 17-15,0-17-1,0 0 1,0-1-1,0 1 1,-18 0 0,1-1-1,-1 1 1,0 0-16,1-18 16,-19 0-1,19 0 1,-1 0-1,0 0-15,-17 0 32,17 0-17</inkml:trace>
  <inkml:trace contextRef="#ctx0" brushRef="#br0" timeOffset="58838.75">14764 7426 0,'17'35'297,"1"1"-297,0-19 15,-1 36 1,19 0-16,-19 0 16,18 35-1,1 71 32,-19-106-47,-17-36 16,0 36-1,0-17 1,0-1-16,0-17 31,0-1-15,0 1-1,0 17 1,0-17 0,-17-18-1,17 17 1,-18-17 0</inkml:trace>
  <inkml:trace contextRef="#ctx0" brushRef="#br0" timeOffset="63497.34">17604 7620 0,'35'-18'313,"0"1"-313,18-1 15,-35 18 1,70-18-1,-53 18 1,-17 0 0,-1 0-1,1 18 1,-18 0 0,18-18-16,-18 53 15,0 0 16,0-36-15,-18 71 0,-35-52-1,36-1 1,-1-17-16,18-1 16,-35 18-1,17-35 1,18 18-1,-18 0 1,1-1 15,-1-17 1,18 18 14,18-18-30,17 0 0,-17 0-1,35 0 1,-36 0 0,1 0-16,-1-18 15,36 18 1,-35 0-1,0 0 1,-1 0 0,1 0-1,17 0 17,-17 0-17</inkml:trace>
  <inkml:trace contextRef="#ctx0" brushRef="#br0" timeOffset="65720.81">18397 7620 0,'-17'18'312,"-1"-1"-296,18 19-1,-18-36-15,1 35 16,17-18 0,0 1-1,0 0 1,0-1 0,0 1-1,0 0 1,0 17-1,0-17 17,17-1-17,1-17 1,17 0 15,-17 18-15,17-18-1,1 0 17,-19 0-17,1 0 1,-1 0 0,-17-18-1,18 18 1,-18-17-1,18 17 1,-18-18 15,0 0-15,0 1 0,0-1-1,0 0 1,0 1 15,0-1-31,0 0 16,0 1 15,0-1 0,0 1 0,0-1-15,-18 18 15,18-18-31,0 1 32,-18-1-17,1 18 1,-1 0 15,18-18-15,-17 18 15,17-17-15,-18 17-16,0 0 46,1 0-30,-1 0 0,0 0 31</inkml:trace>
  <inkml:trace contextRef="#ctx0" brushRef="#br0" timeOffset="67396.34">17851 8132 0,'-89'88'234,"-69"88"-218,16-17-16,1-18 15,71-70 1,-36 34 0,71-69-1,-36 17 1,54-36-1,-1 1 1,0-1-16,1 19 31,-1-36 1,18 17-17,-18 1 16</inkml:trace>
  <inkml:trace contextRef="#ctx0" brushRef="#br0" timeOffset="69063.59">18115 8132 0,'71'17'281,"-18"18"-250,35 18-15,-71-35 0,19 17-1,-1-17 1,-17 0 0,17-1 15,53 54-16,-70-54 1,17 19-16,-17-1 16,35-17-1,-36 17 17,1-18-17,-1 1 1,1 0-1</inkml:trace>
  <inkml:trace contextRef="#ctx0" brushRef="#br0" timeOffset="70757.31">16298 9190 0,'0'35'234,"0"53"-218,0 89-16,0 140 16,0-264-1,0 53 48,0-88-48,0 17 1,0-17 0,0-1-16,0 1 31</inkml:trace>
  <inkml:trace contextRef="#ctx0" brushRef="#br0" timeOffset="72453.78">16633 9525 0,'-17'35'250,"17"1"-235,-18-19 1,18 1-16,-17 17 15,17-17 1,-18-1 0,18 36-1,0-17 1,0-19 0,0 18-1,18-17 1,-18 0-1,17-18 1,18 0 0,1 0 15,-1 0-15,-17 0-1,-1 0 1,19-18 15,-19 0-15,-17 1-1,18-18 1,-18-1 0,0 19-16,0-1 15,0-17 1,0-1-1,0 1 17,0 18-17,0-1 1,0 0 0,-18 1-1,18-1 16,-17 0-15,-1 18 0,0 0-1</inkml:trace>
  <inkml:trace contextRef="#ctx0" brushRef="#br0" timeOffset="74989.59">18785 8590 0,'18'18'359,"0"-1"-312,17 36-31,36 18-1,-36-18 1,-18-36 15,1 1-15,-18 0 0,0-1-1,18 1-15,-1 0 31,-17-1 1,0 1 15,18-18-32,-18 18 48</inkml:trace>
  <inkml:trace contextRef="#ctx0" brushRef="#br0" timeOffset="77151.73">19244 9155 0,'18'0'312,"-1"0"-312,107 0 94,-107 0-78,19 88-1,-36-35 1,-18 17 0,18-52-1,-18 0 1,1-1-1,17 1 1,-18-18 0,0 17-1,18 1 1,-17-18 15,34-18 32,1 18-63,-18-17 15,35 17 1,-17 0 0,0 0-1,-1 0 1,1 0-16,35 35 31,-53-17-15,0 17-1,18-35 1,-1 71 0,-17-36 30,0-18-30,-70 72 0,-19-1 46,36-53-62,-229-35 16,247-18-1,17 1-15</inkml:trace>
  <inkml:trace contextRef="#ctx0" brushRef="#br0" timeOffset="78817.03">20002 9102 0,'0'17'219,"-35"54"-204,18 17-15,-19 0 16,19-35 0,-19 71-1,19-71 1,17-36-16,0 18 15,0 18 1,0-35 0,0 0-16,0-1 15,0 1 1,0 0 15,17-1-15,1 1-1,17-18 1,-17 0 0,52-18-1,1-52 1,70-54 31,-70 1-32,-54 17 1,1 53 0,-18 18-1,0-1 1,-35 1 15,17 0-15,-17 35-1,-18-35 1,-18 35 0,18 0-1</inkml:trace>
  <inkml:trace contextRef="#ctx0" brushRef="#br0" timeOffset="81899.98">1288 12876 0,'0'18'266,"0"53"-266,-18-19 15,18 1 1,0-17-16,0-1 16,0 18-1,0-18 16,0 0-15,0-17 15,0 0-15,0-1 0,18-17-1,-1 0 1,1 0-1,17-35 1,-17 35 0,-1-35-16,1 17 15,0-17 1,17 0 0,-35 17-1,0 0 16,18 1-15,-18-1 0,0 0-1,0 1 1,0-1 15,0 36 63,0 17-94,0 0 16,0 36-1,0-18 1,0 35-1,0 71 1,17-53 0,1-89-1,-18 18 17,0-17-17,0 0 1,0-1-1</inkml:trace>
  <inkml:trace contextRef="#ctx0" brushRef="#br0" timeOffset="83545.73">1746 12753 0,'18'53'297,"35"53"-282,-18-36 1,18 1-1,-35-18-15,-1 0 16,1-36 0,0 19-1,-1 34 1,-17 248 15,0-213-15,-17 1-1,-1-53 1,0-18-16,18-17 16,-35 35-1,35-35 1,0 17 0,-18-17-1,1-1 1,-1 1-1</inkml:trace>
  <inkml:trace contextRef="#ctx0" brushRef="#br0" timeOffset="103115.34">4304 12929 0,'35'-17'297,"36"-1"-282,-36 0 1,18 1-16,-18 17 15,-17-18 1,-1 18-16,19 0 31,-19 0-15,1 0 0,-18 18-1,18-18 1,-1 17-1,-17 1 1,0 17 0,0-17-1,-17 17 1,17-17 15,-18-18-15,0 35-1,1-17 17,-1-18-1,36 0 31,-1 0-46,1 0 0,17-18-1,1 18 1,-19 0 0,1 0-1,-1 0 1,1 0-1,0 0 17,-18 35-32,17-17 15,-17 0 1,18-18 15,-18 17-31,0 1 16,0 0-1,-18 35 1,-17-18 15,0-18-15,0-17 0,17 0-16,0 0 15,-35 0 1,18 0-1,0 0 1,-18 0 0,35 0 15,18-17-15,-17 17-1</inkml:trace>
  <inkml:trace contextRef="#ctx0" brushRef="#br0" timeOffset="105241.66">5239 12718 0,'-36'35'265,"19"0"-249,-1-17 0,1 17-16,17 0 15,-18 1 1,0 17 15,18-36-15,0 1-1,0 35 1,0-36 0,0 1-1,36 0 1,-19-1 0,1 1-1,35 0 1,0-18-1,-18 0 1,71 0 15,-89 0-15,19 0 0,-36-18 15,17 18-16,1-18 1,0 1 0,-18-1-1,0 0 1,0-17-16,0 17 47,0-34-32,0 16 1,-18 19 0,0-1-16,18 0 15,-35-17 1,35 17 15,-35 1-15,17-1-1,-17 18 17,17-17-17,-17-1 1,17 18 0,1 0-1</inkml:trace>
  <inkml:trace contextRef="#ctx0" brushRef="#br0" timeOffset="106973.11">4674 13476 0,'-53'35'234,"-52"54"-218,-54 16 30,88-69-46,-35 52 16,18-35 0,71-18-1,-19-17-15,1-18 16,0 53 0,17-36 15,0-17-16,-17 36 1,18-19 0,-1-17-1,0 0 17</inkml:trace>
  <inkml:trace contextRef="#ctx0" brushRef="#br0" timeOffset="108721.46">3351 14217 0,'0'35'312,"0"-17"-312,0 35 16,0-36 0,0 1-1,0 35 1,0-35 0,0-1-16,0 1 15,0 17 1,0-17-1,18 17 1,-18-17 0,0 17-1,0 0 17,0-17-17,0 0 1,0-1-1,18 18 32,-18-17-31,0 0 0</inkml:trace>
  <inkml:trace contextRef="#ctx0" brushRef="#br0" timeOffset="110573.84">3845 14270 0,'0'35'281,"-17"-17"-266,-1-1-15,0 19 16,18-19 0,-17 1-1,-1 17 1,18 1 0,0-19-1,0 1 1,0 17-1,0-17 1,0-1 0,18-17-1,17 18 17,-17 0-17,17-18 1,-17 0-1,17 0 1,0 0 15,-17 0-15,-1-18 15,1 0 16,0-35-31,-1-35-1,-17 35 1,0 18 0,0 0-1,-17 17 1,17 0-1,0 1-15,-18-1 32,-17 18-17,35-17 1,0-1 0,-36 18 77</inkml:trace>
  <inkml:trace contextRef="#ctx0" brushRef="#br0" timeOffset="112204.95">4180 14870 0,'71'52'281,"0"-16"-266,-1-1 1,36 36 0,-71-36-1,18-17 1,0 34 0,-53-34-1,18-18 1,17 35-1,-17-35 1,-1 0 15,-17 18-31</inkml:trace>
  <inkml:trace contextRef="#ctx0" brushRef="#br0" timeOffset="114165.66">5027 15046 0,'18'0'297,"-1"0"-282,1-18 1,0 18 0,-1 0-1,1 0 1,17 18 0,-35 0-1,18-1-15,-1 19 16,-17-1-1,0 0 1,0 18 0,0 0 15,0-35-15,-17-1-16,-1 18 15,-35 18 1,18-17-1,17-19 1,1-17 0,-1 18-1,18 0 1,-18-18 0,1 17-1,34-17 48,19 0-32,-1-17-31,-17 17 16,17-18-1,-17 18 1,17 0-16,0 0 47,-17 0-47,-1 0 15,1 0 1,0 0 0,-1 0-1,1 0 16</inkml:trace>
  <inkml:trace contextRef="#ctx0" brushRef="#br0" timeOffset="115915.22">5680 15011 0,'-18'17'265,"0"1"-249,1 17-1,-1-35 1,18 18-16,0 0 16,-17 17-1,17-18 1,-18 19 0,18-19-1,0 36 32,18-35-47,-18 0 16,52-18-1,-16 17 1,-19-17 0,1 0 15,17 0-31,1 0 31,-19 0 0,1 0-31,-1 0 16,-17-17 0,18-19-1,0-17 1,-1 36-1,-17-19-15,0-16 32,0 34-17,0 0-15,0 1 16,0-1 0,-17 0 15,17-17 0,-18 35-15,0 0-16,18-18 15,-17 18 1,-18 0 0,-1 0-1,19 0 1,-19 36-1,19-36 1</inkml:trace>
  <inkml:trace contextRef="#ctx0" brushRef="#br0" timeOffset="118849.51">9366 12471 0,'18'-18'282,"52"18"-267,-34 0 1,-1 0-16,0 0 15,1 0 1,-1 0 15,-18 0 16,-34 0 31,-36 0-78,18-18 16,-54 18 0,37 0-1,34 0-15,-35 0 16,0 0-1,18 0 17,17 0-17,-17 0 1,17 0 0,18 18-1,-17-18 1,17 18-1,-18-1 1,18 19 0,0-19-1,0 1 1,0 17 0,18 0-1,-18-17 1,17 0 31,-17-1-47,0 1 31,18 0-15,-1-1-1,1-17 1,17 0-1,1-17 1,-19-1 0,19 18-1,-19-18 1,1 18 0,0-17-16,-1 17 15,1 0 79,-1 0-94,54 106 31,-71-71-15,0-18-1,0 36 1,-18-35 0,1 0-1,-1-1-15,-17-17 16,0 18 0,35 0-1,-53-18 1,17 0-1,19 0 17,-1 0-17,0 0 1,-17 0 0</inkml:trace>
  <inkml:trace contextRef="#ctx0" brushRef="#br0" timeOffset="120378.53">9842 12188 0,'53'36'265,"18"70"-249,17 35-16,-17-53 16,-1 71 15,-52-89-15,0 1-1,-18-54 1,0 36-1,0-35 1,0 0 0,0 34 31,-18-52-32,-17 53 1</inkml:trace>
  <inkml:trace contextRef="#ctx0" brushRef="#br0" timeOffset="122845.07">13335 12171 0,'53'0'265,"-18"0"-265,0 0 16,-17 0 0,53 0-1,-54 0 17,1 17-17,0 1 1,-18 0-16,0 35 15,0 17 1,-36-17 0,19-53 15,-1 35-15,0-35-1,18 18 1,-17 0-1,-1-18 1,177-18 156,-142 18-156,-17 35-1,18-35-15,-18 18 31,0 17-15,0-17 0,0 17-1,-18-35-15,18 18 16,-70 17 0,17-17-1,0-18 1,0 17 62,36-17-78,-160 0 16,160 0-16</inkml:trace>
  <inkml:trace contextRef="#ctx0" brushRef="#br0" timeOffset="124607.7">14376 12171 0,'-53'17'250,"-35"36"-219,-54 18-31,-87 70 16,194-106-1,0-17-15,35 0 16,-18 17 0,0-17 15,1-1-16,17 71 17,0-70-17,17 0-15,1-1 16,0 19 0,17-19-1,0 1 1,18-1-1,18-17 1,-36 0 0,18 0-1,0-17 1,-36-18 0,19-1 15,-1-34-16,-35 17 1,18 18 0,-18-36-1,0 18 1,0 35 0,0-35-1,-36-17 1,19 70-1,-19-53 1,-17 35 0,18 18-1,-18 0 1,36 0 15</inkml:trace>
  <inkml:trace contextRef="#ctx0" brushRef="#br0" timeOffset="140368.66">13335 12841 0,'-35'18'234,"-1"17"-218,1 18-16,0 0 15,17-18 1,-17 18 0,17-35-1,1-1-15,17 1 16,-18 17 0,-17-17-1,35 0 1,-18-1 31,0 1-32,18-1 1,-17 1 62,-1 0-47,18-1 32,-17 1-63,-1 0 15,0-18 1,18 17 0,-17 1-16,-1-18 31,18 18-15,0 17-16,-18-35 31,1 0-16,-1 17 1,18 1 0,0 0 46,-18-18-62,18 17 47</inkml:trace>
  <inkml:trace contextRef="#ctx0" brushRef="#br0" timeOffset="142202.81">11977 13688 0,'17'-18'297,"19"0"-297,-1 1 15,18 17 1,-35 0-16,34-18 16,-34 18-1,17 0 1,1 0 15,-19 0-15,-17 18-16,0 17 15,36 0 1,-36-17 0,0 53-1,0-18 1,-36-1-1,19-16 1,-36 34 0,0-34-1,53-19 1,-53 1 0,35-18 15,1 17-16,-1-17 1,0 0 0,1 18-1,52-18 48,36 0-63,-1-18 15,18 18 1,0 0-16,-17 0 16,17 0-1,-35 0 1,-35 0 0,-1 0 15,19 0-16,-19 0 17,1 0-17</inkml:trace>
  <inkml:trace contextRef="#ctx0" brushRef="#br0" timeOffset="143891.01">12876 13617 0,'-17'35'250,"17"1"-234,-18-19-1,0 19-15,18-1 16,0 18 0,0-35-1,0 17 1,0 0-1,0-17 1,0-1 0,0 1-1,36 17 1,-19-17 0,19-18-1,17 0 1,-1 0-1,19 0 1,-53 0 0,35-18-1,-36 1 1,19-19 0,-19 19-1,1-19 1,-18 19-1,0-36 17,0 0-17,0 0 1,-18 35-16,-17 1 16,0-54-1,-36 36 1,53 35-1,-70-35 1,35 35 0,18-18-1,-18 18 1,18 0 0,17 0-1,1 18 16,-1-18-31</inkml:trace>
  <inkml:trace contextRef="#ctx0" brushRef="#br0" timeOffset="145605.72">12224 14182 0,'0'35'266,"-36"18"-250,1-18-16,0 18 15,-18 53 1,18-71 0,35-17-1,-36 17 1,36-17-1,-17 17 1,-18 0 15,35-17-15,-18-18 0,18 18-1,-18-1 1,1-17-1,17 18 17,0-1-17,-18-17 17</inkml:trace>
  <inkml:trace contextRef="#ctx0" brushRef="#br0" timeOffset="147035.97">11042 14975 0,'0'53'250,"0"36"-234,0 16 0,0-16-16,18-37 15,-1 37 1,1-36-1,-18-1-15,0-16 16,17 17 15,-17-18-15,0-17 0,0-1-1,0 1 1,0 0-1</inkml:trace>
  <inkml:trace contextRef="#ctx0" brushRef="#br0" timeOffset="148920.01">11430 15099 0,'0'18'250,"0"17"-234,0-18-1,-18 19 1,1-1-16,17-17 15,0 52 1,0-52 0,0 17-16,0-17 15,0 35 1,17-18 0,-17 0-1,36 0 1,-19-17-1,1 0 1,0-1 0,34 1 15,1-18 0,-35 0-15,0 0-1,-1 0 1,19-35 0,-36-1-1,17 19 1,-17-36 0,0 0-1,0 18 1,0 17-16,-17 0 15,17-17 1,-18 0 0,0 17-1,-17-17 17,17 35-17,1-18-15,-1 1 16,0-1-1,-17 18 1,-18-18 15,18 18-15,17 0 0,1 0-1,-19 0 1,19 18-1,-1 17 1,1-35 0</inkml:trace>
  <inkml:trace contextRef="#ctx0" brushRef="#br0" timeOffset="151099.64">11906 14746 0,'-17'0'281,"17"18"-281,-18-18 15,18 17 1,-18 1-16,1-18 16,17 35-1,-18-17 1,0-18 0,18 18-16,0-1 15,-17 1 1,-1-1 15,18 1-15,-18-18 15,18 18-15,0-1-1,-17-17 16,17 18 1,-18-18-17,18 18 32</inkml:trace>
  <inkml:trace contextRef="#ctx0" brushRef="#br0" timeOffset="162235.57">17498 12418 0,'0'17'281,"0"89"-265,0 18-16,17-36 15,-17-35 1,0 0 0,0 0-1,0-18 16,0 0-15,0-17 0,0-1-1,0 1-15,0 0 32,0-1-17,0 1 16,0 0 16,0-1-31,18-17 15</inkml:trace>
  <inkml:trace contextRef="#ctx0" brushRef="#br0" timeOffset="164139.18">16863 13300 0,'35'0'281,"36"0"-266,-36 0 1,88-18 0,-70 18-1,-17 0-15,16 0 16,19 0 0,-18 0-1,-18 0 1,18 0 15,-35 0-15,17 0-1,0 18 1,1-18 0,-19 0-1,19 17 1,16-17-1,-34 0 1,17 0 0,18 0-1,-17 0 1,-19 0 0,18 0-1,1 0 1,-1 0-1,-17 0 17,17 0-17,-17 0 1,17 0 0,0 0-1,-17 0 1,-1 0-1,1 0 1,0 0 0,-1 0-1,1 0 48</inkml:trace>
  <inkml:trace contextRef="#ctx0" brushRef="#br0" timeOffset="166352.24">16633 13741 0,'36'0'281,"-1"0"-281,-17 17 16,17 19 0,-17-36-16,-1 35 15,1 35 1,-18-34 0,0-1-1,0 18 1,0 0-1,0-18 17,0-17-1,0-1-15,-18-17 15,18-17 16,0-1-32,0 0 1,0-34 0,0 16-1,0 19-15,18-1 16,-1-35-1,1 0 1,17 0 15,-35 36-15,18-1 15,-18 0-15,35 18-1,-17-17 17,0 17-17,-1 0 1,1 0 0,0 0-1,-18 17 1,17 1-1,1 17 1,-18 1 0,17-19-1,-17 18 1,18 36 0,-18 17-1,0-70 1,0 35-1,0 0 1,0-36 0,0 19-1,0-19 1,0 1 0</inkml:trace>
  <inkml:trace contextRef="#ctx0" brushRef="#br0" timeOffset="167726.69">17462 13705 0,'18'53'250,"-18"36"-235,0-19 1,18 36-1,-18-53 1,0-36-16,0 19 16,0 17-1,0-36 1,0 19 0,0-1-1,0-18 1,0 1-1,0 0 1,0-1 0,0 1 15</inkml:trace>
  <inkml:trace contextRef="#ctx0" brushRef="#br0" timeOffset="169190.41">17268 13935 0,'18'0'297,"35"0"-281,-18 0-16,1 0 16,-19 0-1,1 17 1,17-17-1,-17 0 1,-1 0 0,1 0-1,0 0 17,-1 0-1,1 0 31</inkml:trace>
  <inkml:trace contextRef="#ctx0" brushRef="#br0" timeOffset="170664.47">17868 13811 0,'0'36'312,"0"-1"-312,0-18 16,0 36 0,0-35-16,0 0 15,0 17 16,0-17-15,0-1 0,18 1-1,-18 17 1,0-17 15,0-1-15</inkml:trace>
  <inkml:trace contextRef="#ctx0" brushRef="#br0" timeOffset="173049.37">18556 12629 0,'18'0'313,"17"-17"-298,-35-1 1,18 18 0,-1 0-1,1 0-15,0 0 16,17 0 0,-18 0-1,19 18 1,-19-18-1,1 17 1,-18 19 0,18-1-1,-18-17 1,0 17-16,0 18 31,0-36-15,0 1-1,0 0 1,-36 17 0,19 0-1,17-17 1,-36 0 0,19 17-1,-1-35 1,1 17-1,-19 1 1,36 0 0,-17-18-1,-1 17 1,0 1 0,18 0 46,18-18-31,0 0-15,-1 0 0,36 0-1,0 0 1,-35 0-1,17 0 1,0 0 0,-17 0-1,0 0 1,-1 0 0,1 0 30</inkml:trace>
  <inkml:trace contextRef="#ctx0" brushRef="#br0" timeOffset="175376.34">19068 12771 0,'0'17'375,"17"-17"-375,-17 18 15,18 17 1,-18-17 0,18-1-1,-18 1 1,0 0-16,0-1 31,0 1-15,0 0-1,0-1 17,0 1-17,0-36 63,0 1-46,0-1-32,0 0 31,0 1-31,0-1 31,0 0-31,0 1 16,0-1-1,17 0 1,-17 1 0,18-1-1,-18 1 1,17 17 0,1-18-1,0 18 1,-1 0 15,1 0-15,0 0-1,-1 0 17,1 0-17,-18 18 1,18-18-1,-1 17 1,-17 1 0,0-1-1,0 1 1,18 0 0,-18-1-1,17 1-15,-17 0 16,0-1-1,18 1 1,-18 0 0,0-1-1,0 1 17</inkml:trace>
  <inkml:trace contextRef="#ctx0" brushRef="#br0" timeOffset="177436.63">19773 13070 0,'-17'0'329,"-1"0"-329,0 0 15,1 18 1,-1 0-1,-17-1 1,17-17-16,-17 36 31,17-36-15,1 17 0,-1 1-1,18 0 16,-18-1-15,18 1-16,-17-1 16,-1 1-1,18 0 1,0 17 0,0 0-1,-18 1 1,18-1 15,0 0-15,0-17 15,0-1-31,0 19 16,18-36-1,0 17 16,-1 1-15,1-18 0,0 0-1,-1 18 1,1-18 0,-1 0-16,19 0 31,-19 0-16,1 0 1,0 0 0,-1 0-1,1 0 17,0 0-1,-1 0 0</inkml:trace>
  <inkml:trace contextRef="#ctx0" brushRef="#br0" timeOffset="191508.49">19932 13600 0,'18'0'343,"17"17"-327,-18 1-16,19-1 16,-1 19-1,-35-19 1,0 1-16,35 17 62,-35 18-30,0-35-17,0 0-15,0-1 31,0 1 1,0-1-1,0-52 31,0 0-30,0 0-17,0 17 1,0 0 0,0-17-1,0-18 1,18 53-1,0-35-15,-1 17 16,1-17 0,0 17-1,-1 1 32,1 17-31,-1-18-16,36 0 15,-35 18 1,0-17 15,17 17 47,-17 0-78,17 35 16,0 18-16,-17-18 16,17 18-1,-35-35 1,0 17-16,18 0 16,-18-17 15,0 17-31,0 36 15,0-18 1,0-18 15,0-17-15,0-1 0,0 1-1,0 0 16,0-1-15,0 1 47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8/26/2026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2168040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558242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25</a:t>
            </a:fld>
            <a:endParaRPr/>
          </a:p>
        </p:txBody>
      </p:sp>
    </p:spTree>
    <p:extLst>
      <p:ext uri="{BB962C8B-B14F-4D97-AF65-F5344CB8AC3E}">
        <p14:creationId xmlns:p14="http://schemas.microsoft.com/office/powerpoint/2010/main" val="1825729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a:p>
        </p:txBody>
      </p:sp>
    </p:spTree>
    <p:extLst>
      <p:ext uri="{BB962C8B-B14F-4D97-AF65-F5344CB8AC3E}">
        <p14:creationId xmlns:p14="http://schemas.microsoft.com/office/powerpoint/2010/main" val="915554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27</a:t>
            </a:fld>
            <a:endParaRPr lang="en-US"/>
          </a:p>
        </p:txBody>
      </p:sp>
    </p:spTree>
    <p:extLst>
      <p:ext uri="{BB962C8B-B14F-4D97-AF65-F5344CB8AC3E}">
        <p14:creationId xmlns:p14="http://schemas.microsoft.com/office/powerpoint/2010/main" val="915554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28</a:t>
            </a:fld>
            <a:endParaRPr lang="en-US"/>
          </a:p>
        </p:txBody>
      </p:sp>
    </p:spTree>
    <p:extLst>
      <p:ext uri="{BB962C8B-B14F-4D97-AF65-F5344CB8AC3E}">
        <p14:creationId xmlns:p14="http://schemas.microsoft.com/office/powerpoint/2010/main" val="915554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8944ADCB-A1EA-410A-A3EB-C1C7AC812F4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a:extLst>
              <a:ext uri="{FF2B5EF4-FFF2-40B4-BE49-F238E27FC236}">
                <a16:creationId xmlns:a16="http://schemas.microsoft.com/office/drawing/2014/main" id="{4C882F90-F566-4FBD-B81F-82C00CFE48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BSBSwh	hwhhdwhw    kq1kedbfceJCQK ;DW[</a:t>
            </a:r>
          </a:p>
          <a:p>
            <a:pPr eaLnBrk="1" hangingPunct="1">
              <a:spcBef>
                <a:spcPct val="0"/>
              </a:spcBef>
            </a:pPr>
            <a:r>
              <a:rPr lang="en-US" altLang="en-US"/>
              <a:t>LMHYI;’</a:t>
            </a:r>
          </a:p>
          <a:p>
            <a:pPr eaLnBrk="1" hangingPunct="1">
              <a:spcBef>
                <a:spcPct val="0"/>
              </a:spcBef>
            </a:pPr>
            <a:r>
              <a:rPr lang="en-US" altLang="en-US"/>
              <a:t>;LI</a:t>
            </a:r>
          </a:p>
        </p:txBody>
      </p:sp>
      <p:sp>
        <p:nvSpPr>
          <p:cNvPr id="83972" name="Slide Number Placeholder 3">
            <a:extLst>
              <a:ext uri="{FF2B5EF4-FFF2-40B4-BE49-F238E27FC236}">
                <a16:creationId xmlns:a16="http://schemas.microsoft.com/office/drawing/2014/main" id="{3A1489AC-8817-438B-B680-14203746647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3AC844-CD55-4DD8-9739-82435E175577}" type="slidenum">
              <a:rPr lang="en-US" altLang="en-US">
                <a:latin typeface="Calibri" panose="020F0502020204030204" pitchFamily="34" charset="0"/>
              </a:rPr>
              <a:pPr eaLnBrk="1" hangingPunct="1"/>
              <a:t>157</a:t>
            </a:fld>
            <a:endParaRPr lang="en-US" altLang="en-US">
              <a:latin typeface="Calibri" panose="020F0502020204030204" pitchFamily="34" charset="0"/>
            </a:endParaRPr>
          </a:p>
        </p:txBody>
      </p:sp>
    </p:spTree>
    <p:extLst>
      <p:ext uri="{BB962C8B-B14F-4D97-AF65-F5344CB8AC3E}">
        <p14:creationId xmlns:p14="http://schemas.microsoft.com/office/powerpoint/2010/main" val="139052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F4DAB03C-24D2-458F-BE9E-742C0FA0FD13}"/>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a:extLst>
              <a:ext uri="{FF2B5EF4-FFF2-40B4-BE49-F238E27FC236}">
                <a16:creationId xmlns:a16="http://schemas.microsoft.com/office/drawing/2014/main" id="{D51C3B83-D41D-4265-8630-E361D62741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id="{3D34EB43-9439-4BC0-9B33-AE002B8DF9E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C1955E6-60D1-4F3C-90FF-FBEAD9699A43}" type="slidenum">
              <a:rPr lang="en-US" altLang="en-US">
                <a:latin typeface="Calibri" panose="020F0502020204030204" pitchFamily="34" charset="0"/>
              </a:rPr>
              <a:pPr eaLnBrk="1" hangingPunct="1"/>
              <a:t>158</a:t>
            </a:fld>
            <a:endParaRPr lang="en-US" altLang="en-US">
              <a:latin typeface="Calibri" panose="020F0502020204030204" pitchFamily="34" charset="0"/>
            </a:endParaRPr>
          </a:p>
        </p:txBody>
      </p:sp>
    </p:spTree>
    <p:extLst>
      <p:ext uri="{BB962C8B-B14F-4D97-AF65-F5344CB8AC3E}">
        <p14:creationId xmlns:p14="http://schemas.microsoft.com/office/powerpoint/2010/main" val="1910940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195F8F85-7B0C-4031-A167-39F357A63612}"/>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DFCD1DAE-DE30-408E-A3A9-4D105109AF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id="{1AC648C7-AA4D-41C5-8BC5-A7A5FC2C268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09F7CFE-D6FA-422A-A239-C8A50A6BCDE4}" type="slidenum">
              <a:rPr lang="en-US" altLang="en-US">
                <a:latin typeface="Calibri" panose="020F0502020204030204" pitchFamily="34" charset="0"/>
              </a:rPr>
              <a:pPr eaLnBrk="1" hangingPunct="1"/>
              <a:t>159</a:t>
            </a:fld>
            <a:endParaRPr lang="en-US" altLang="en-US">
              <a:latin typeface="Calibri" panose="020F0502020204030204" pitchFamily="34" charset="0"/>
            </a:endParaRPr>
          </a:p>
        </p:txBody>
      </p:sp>
    </p:spTree>
    <p:extLst>
      <p:ext uri="{BB962C8B-B14F-4D97-AF65-F5344CB8AC3E}">
        <p14:creationId xmlns:p14="http://schemas.microsoft.com/office/powerpoint/2010/main" val="148938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D7A1729D-B711-4B7C-817B-7D544AF190F6}"/>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a:extLst>
              <a:ext uri="{FF2B5EF4-FFF2-40B4-BE49-F238E27FC236}">
                <a16:creationId xmlns:a16="http://schemas.microsoft.com/office/drawing/2014/main" id="{C846971E-9064-4294-9DCD-F43711E9E4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id="{90D2786A-F0FD-41C2-926C-32127C25006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050376-D719-401F-9A3C-AD0F4FADDFA1}" type="slidenum">
              <a:rPr lang="en-US" altLang="en-US">
                <a:latin typeface="Calibri" panose="020F0502020204030204" pitchFamily="34" charset="0"/>
              </a:rPr>
              <a:pPr eaLnBrk="1" hangingPunct="1"/>
              <a:t>160</a:t>
            </a:fld>
            <a:endParaRPr lang="en-US" altLang="en-US">
              <a:latin typeface="Calibri" panose="020F0502020204030204" pitchFamily="34" charset="0"/>
            </a:endParaRPr>
          </a:p>
        </p:txBody>
      </p:sp>
    </p:spTree>
    <p:extLst>
      <p:ext uri="{BB962C8B-B14F-4D97-AF65-F5344CB8AC3E}">
        <p14:creationId xmlns:p14="http://schemas.microsoft.com/office/powerpoint/2010/main" val="1772263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525720AD-F43B-41AE-AD4C-D338544DB8C5}"/>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EE10DCBA-422E-4CC0-837A-DBD48961A0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id="{AC1F8E47-33C6-4E54-B569-521BB573708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326F478-1CBD-4E87-8DA9-0A29D478D11C}" type="slidenum">
              <a:rPr lang="en-US" altLang="en-US">
                <a:latin typeface="Calibri" panose="020F0502020204030204" pitchFamily="34" charset="0"/>
              </a:rPr>
              <a:pPr eaLnBrk="1" hangingPunct="1"/>
              <a:t>161</a:t>
            </a:fld>
            <a:endParaRPr lang="en-US" altLang="en-US">
              <a:latin typeface="Calibri" panose="020F0502020204030204" pitchFamily="34" charset="0"/>
            </a:endParaRPr>
          </a:p>
        </p:txBody>
      </p:sp>
    </p:spTree>
    <p:extLst>
      <p:ext uri="{BB962C8B-B14F-4D97-AF65-F5344CB8AC3E}">
        <p14:creationId xmlns:p14="http://schemas.microsoft.com/office/powerpoint/2010/main" val="1681829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63EBB403-2024-427E-8C50-111DBDCDB4D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a:extLst>
              <a:ext uri="{FF2B5EF4-FFF2-40B4-BE49-F238E27FC236}">
                <a16:creationId xmlns:a16="http://schemas.microsoft.com/office/drawing/2014/main" id="{B50A6778-4D6F-4043-AF61-4A7309563D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3972" name="Slide Number Placeholder 3">
            <a:extLst>
              <a:ext uri="{FF2B5EF4-FFF2-40B4-BE49-F238E27FC236}">
                <a16:creationId xmlns:a16="http://schemas.microsoft.com/office/drawing/2014/main" id="{C40B293F-0049-404D-8F19-7DA76454222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8CF2D4-85FD-460A-8795-3CE8E236B9E7}" type="slidenum">
              <a:rPr lang="en-US" altLang="en-US">
                <a:latin typeface="Calibri" panose="020F0502020204030204" pitchFamily="34" charset="0"/>
              </a:rPr>
              <a:pPr eaLnBrk="1" hangingPunct="1"/>
              <a:t>162</a:t>
            </a:fld>
            <a:endParaRPr lang="en-US" altLang="en-US">
              <a:latin typeface="Calibri" panose="020F0502020204030204" pitchFamily="34" charset="0"/>
            </a:endParaRPr>
          </a:p>
        </p:txBody>
      </p:sp>
    </p:spTree>
    <p:extLst>
      <p:ext uri="{BB962C8B-B14F-4D97-AF65-F5344CB8AC3E}">
        <p14:creationId xmlns:p14="http://schemas.microsoft.com/office/powerpoint/2010/main" val="2824309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182</a:t>
            </a:fld>
            <a:endParaRPr lang="en-US"/>
          </a:p>
        </p:txBody>
      </p:sp>
    </p:spTree>
    <p:extLst>
      <p:ext uri="{BB962C8B-B14F-4D97-AF65-F5344CB8AC3E}">
        <p14:creationId xmlns:p14="http://schemas.microsoft.com/office/powerpoint/2010/main" val="200013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47D4E44-AA64-4E52-B739-322464A35E37}"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79B12A-DF89-45AC-B534-C87B47CA4E42}" type="datetime1">
              <a:rPr lang="en-US" smtClean="0"/>
              <a:t>8/26/2026</a:t>
            </a:fld>
            <a:endParaRPr lang="en-US"/>
          </a:p>
        </p:txBody>
      </p:sp>
      <p:sp>
        <p:nvSpPr>
          <p:cNvPr id="5" name="Footer Placeholder 4"/>
          <p:cNvSpPr>
            <a:spLocks noGrp="1"/>
          </p:cNvSpPr>
          <p:nvPr>
            <p:ph type="ftr" sz="quarter" idx="11"/>
          </p:nvPr>
        </p:nvSpPr>
        <p:spPr>
          <a:xfrm>
            <a:off x="3810000" y="6356351"/>
            <a:ext cx="4648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72DF13-83A8-43E3-902E-DFF582974BEE}" type="datetime1">
              <a:rPr lang="en-US" smtClean="0"/>
              <a:t>8/26/2026</a:t>
            </a:fld>
            <a:endParaRPr lang="en-US"/>
          </a:p>
        </p:txBody>
      </p:sp>
      <p:sp>
        <p:nvSpPr>
          <p:cNvPr id="5" name="Footer Placeholder 4"/>
          <p:cNvSpPr>
            <a:spLocks noGrp="1"/>
          </p:cNvSpPr>
          <p:nvPr>
            <p:ph type="ftr" sz="quarter" idx="11"/>
          </p:nvPr>
        </p:nvSpPr>
        <p:spPr>
          <a:xfrm>
            <a:off x="3581400" y="6356351"/>
            <a:ext cx="49530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69A347-47C3-4FAC-8004-629CE726E1E3}" type="datetime1">
              <a:rPr lang="en-US" smtClean="0"/>
              <a:t>8/26/2026</a:t>
            </a:fld>
            <a:endParaRPr lang="en-US"/>
          </a:p>
        </p:txBody>
      </p:sp>
      <p:sp>
        <p:nvSpPr>
          <p:cNvPr id="6" name="Footer Placeholder 5"/>
          <p:cNvSpPr>
            <a:spLocks noGrp="1"/>
          </p:cNvSpPr>
          <p:nvPr>
            <p:ph type="ftr" sz="quarter" idx="11"/>
          </p:nvPr>
        </p:nvSpPr>
        <p:spPr>
          <a:xfrm>
            <a:off x="3581400" y="6356351"/>
            <a:ext cx="4953000" cy="365125"/>
          </a:xfrm>
        </p:spPr>
        <p:txBody>
          <a:bodyPr/>
          <a:lstStyle/>
          <a:p>
            <a:r>
              <a:rPr lang="it-IT" dirty="0"/>
              <a:t>Mr. Shamshad Ali             BCSE401: DSA-II  Unit-I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3FD5E9-297D-40ED-9A05-A3BF9DD206B9}" type="datetime1">
              <a:rPr lang="en-US" smtClean="0"/>
              <a:t>8/26/2026</a:t>
            </a:fld>
            <a:endParaRPr lang="en-US"/>
          </a:p>
        </p:txBody>
      </p:sp>
      <p:sp>
        <p:nvSpPr>
          <p:cNvPr id="8" name="Footer Placeholder 7"/>
          <p:cNvSpPr>
            <a:spLocks noGrp="1"/>
          </p:cNvSpPr>
          <p:nvPr>
            <p:ph type="ftr" sz="quarter" idx="11"/>
          </p:nvPr>
        </p:nvSpPr>
        <p:spPr/>
        <p:txBody>
          <a:bodyPr/>
          <a:lstStyle/>
          <a:p>
            <a:r>
              <a:rPr lang="it-IT" dirty="0"/>
              <a:t>Mr. Shamshad Ali             BCSE401: DSA-II  Unit-I                          </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FF3CB0D-A2CC-4932-A759-63AA869CC5E7}" type="datetime1">
              <a:rPr lang="en-US" smtClean="0"/>
              <a:t>8/26/2026</a:t>
            </a:fld>
            <a:endParaRPr lang="en-US"/>
          </a:p>
        </p:txBody>
      </p:sp>
      <p:sp>
        <p:nvSpPr>
          <p:cNvPr id="4" name="Footer Placeholder 3"/>
          <p:cNvSpPr>
            <a:spLocks noGrp="1"/>
          </p:cNvSpPr>
          <p:nvPr>
            <p:ph type="ftr" sz="quarter" idx="11"/>
          </p:nvPr>
        </p:nvSpPr>
        <p:spPr>
          <a:xfrm>
            <a:off x="3657600" y="6356351"/>
            <a:ext cx="4800600" cy="365125"/>
          </a:xfrm>
        </p:spPr>
        <p:txBody>
          <a:bodyPr/>
          <a:lstStyle/>
          <a:p>
            <a:r>
              <a:rPr lang="it-IT" dirty="0"/>
              <a:t>Mr. Shamshad Ali             BCSE401: DSA-II  Unit-I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754E28-96F0-4D05-8CEB-3FB83C3C005D}" type="datetime1">
              <a:rPr lang="en-US" smtClean="0"/>
              <a:t>8/26/2026</a:t>
            </a:fld>
            <a:endParaRPr lang="en-US"/>
          </a:p>
        </p:txBody>
      </p:sp>
      <p:sp>
        <p:nvSpPr>
          <p:cNvPr id="3" name="Footer Placeholder 2"/>
          <p:cNvSpPr>
            <a:spLocks noGrp="1"/>
          </p:cNvSpPr>
          <p:nvPr>
            <p:ph type="ftr" sz="quarter" idx="11"/>
          </p:nvPr>
        </p:nvSpPr>
        <p:spPr>
          <a:xfrm>
            <a:off x="3657600" y="6356351"/>
            <a:ext cx="4876800" cy="365125"/>
          </a:xfrm>
        </p:spPr>
        <p:txBody>
          <a:bodyPr/>
          <a:lstStyle/>
          <a:p>
            <a:r>
              <a:rPr lang="it-IT" dirty="0"/>
              <a:t>Mr. Shamshad Ali             BCSE401: DSA-II  Unit-I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6C9639-4A31-463A-A043-C62FF758E310}" type="datetime1">
              <a:rPr lang="en-US" smtClean="0"/>
              <a:t>8/26/2026</a:t>
            </a:fld>
            <a:endParaRPr lang="en-US"/>
          </a:p>
        </p:txBody>
      </p:sp>
      <p:sp>
        <p:nvSpPr>
          <p:cNvPr id="6" name="Footer Placeholder 5"/>
          <p:cNvSpPr>
            <a:spLocks noGrp="1"/>
          </p:cNvSpPr>
          <p:nvPr>
            <p:ph type="ftr" sz="quarter" idx="11"/>
          </p:nvPr>
        </p:nvSpPr>
        <p:spPr>
          <a:xfrm>
            <a:off x="3657600" y="6356351"/>
            <a:ext cx="4800600" cy="365125"/>
          </a:xfrm>
        </p:spPr>
        <p:txBody>
          <a:bodyPr/>
          <a:lstStyle/>
          <a:p>
            <a:r>
              <a:rPr lang="it-IT" dirty="0"/>
              <a:t>Mr. Shamshad Ali             BCSE401: DSA-II  Unit-I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059486-7ED5-4B07-B60E-6D2D4B614C89}" type="datetime1">
              <a:rPr lang="en-US" smtClean="0"/>
              <a:t>8/26/2026</a:t>
            </a:fld>
            <a:endParaRPr lang="en-US"/>
          </a:p>
        </p:txBody>
      </p:sp>
      <p:sp>
        <p:nvSpPr>
          <p:cNvPr id="6" name="Footer Placeholder 5"/>
          <p:cNvSpPr>
            <a:spLocks noGrp="1"/>
          </p:cNvSpPr>
          <p:nvPr>
            <p:ph type="ftr" sz="quarter" idx="11"/>
          </p:nvPr>
        </p:nvSpPr>
        <p:spPr>
          <a:xfrm>
            <a:off x="3657600" y="6356351"/>
            <a:ext cx="4876800" cy="365125"/>
          </a:xfrm>
        </p:spPr>
        <p:txBody>
          <a:bodyPr/>
          <a:lstStyle/>
          <a:p>
            <a:r>
              <a:rPr lang="it-IT" dirty="0"/>
              <a:t>Mr. Shamshad Ali             BCSE401: DSA-II  Unit-I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8F7964-74A6-4C5A-8ED9-E3FEC6373340}"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136AD6-25AF-4FB2-A7D9-8099FF7AF44A}"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B5C2B-951F-8D74-E1C7-EBC29C31DE86}"/>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5E1543B-09EF-1415-4EFC-2F1716CC40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2CF013-74FD-045C-B587-1717FD890C71}"/>
              </a:ext>
            </a:extLst>
          </p:cNvPr>
          <p:cNvSpPr>
            <a:spLocks noGrp="1"/>
          </p:cNvSpPr>
          <p:nvPr>
            <p:ph type="dt" sz="half" idx="10"/>
          </p:nvPr>
        </p:nvSpPr>
        <p:spPr/>
        <p:txBody>
          <a:bodyPr/>
          <a:lstStyle/>
          <a:p>
            <a:fld id="{6CEA21ED-1BBD-4146-974E-69CB96E2D9CD}" type="datetime1">
              <a:rPr lang="en-US" smtClean="0"/>
              <a:t>8/26/2026</a:t>
            </a:fld>
            <a:endParaRPr lang="en-IN" dirty="0"/>
          </a:p>
        </p:txBody>
      </p:sp>
      <p:sp>
        <p:nvSpPr>
          <p:cNvPr id="5" name="Footer Placeholder 4">
            <a:extLst>
              <a:ext uri="{FF2B5EF4-FFF2-40B4-BE49-F238E27FC236}">
                <a16:creationId xmlns:a16="http://schemas.microsoft.com/office/drawing/2014/main" id="{233B8495-2F73-6446-527C-F42E1CCBACB2}"/>
              </a:ext>
            </a:extLst>
          </p:cNvPr>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a:extLst>
              <a:ext uri="{FF2B5EF4-FFF2-40B4-BE49-F238E27FC236}">
                <a16:creationId xmlns:a16="http://schemas.microsoft.com/office/drawing/2014/main" id="{DB17C7FD-D514-847A-61D2-AC523C32C8D9}"/>
              </a:ext>
            </a:extLst>
          </p:cNvPr>
          <p:cNvSpPr>
            <a:spLocks noGrp="1"/>
          </p:cNvSpPr>
          <p:nvPr>
            <p:ph type="sldNum" sz="quarter" idx="12"/>
          </p:nvPr>
        </p:nvSpPr>
        <p:spPr/>
        <p:txBody>
          <a:bodyPr/>
          <a:lstStyle/>
          <a:p>
            <a:fld id="{C905C6F2-E09D-4EF0-B81E-C14778A9C4C1}" type="slidenum">
              <a:rPr lang="en-IN" smtClean="0"/>
              <a:t>‹#›</a:t>
            </a:fld>
            <a:endParaRPr lang="en-IN" dirty="0"/>
          </a:p>
        </p:txBody>
      </p:sp>
    </p:spTree>
    <p:extLst>
      <p:ext uri="{BB962C8B-B14F-4D97-AF65-F5344CB8AC3E}">
        <p14:creationId xmlns:p14="http://schemas.microsoft.com/office/powerpoint/2010/main" val="41441885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12700">
              <a:lnSpc>
                <a:spcPts val="1580"/>
              </a:lnSpc>
            </a:pPr>
            <a:fld id="{0963672E-3F7A-453E-B41A-AF8DEA89E02B}" type="datetime1">
              <a:rPr lang="en-US" spc="-5" smtClean="0"/>
              <a:t>8/26/2026</a:t>
            </a:fld>
            <a:endParaRPr lang="en-US" spc="-5" dirty="0"/>
          </a:p>
        </p:txBody>
      </p:sp>
      <p:sp>
        <p:nvSpPr>
          <p:cNvPr id="4" name="Footer Placeholder 3"/>
          <p:cNvSpPr>
            <a:spLocks noGrp="1"/>
          </p:cNvSpPr>
          <p:nvPr>
            <p:ph type="ftr" sz="quarter" idx="11"/>
          </p:nvPr>
        </p:nvSpPr>
        <p:spPr/>
        <p:txBody>
          <a:bodyPr/>
          <a:lstStyle/>
          <a:p>
            <a:pPr marL="12700">
              <a:lnSpc>
                <a:spcPts val="1580"/>
              </a:lnSpc>
            </a:pPr>
            <a:r>
              <a:rPr lang="en-US" spc="-5" dirty="0"/>
              <a:t>Mr. Shamshad Ali             BCSE401: DSA-II  Unit-I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9976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293C7-ED51-46E2-8D1F-AA1067D8A5C3}" type="datetime1">
              <a:rPr lang="en-US" smtClean="0"/>
              <a:t>8/26/2026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dirty="0"/>
              <a:t>Mr. Shamshad Ali             BCSE401: DSA-II  Unit-I                          </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Title 1">
            <a:extLst>
              <a:ext uri="{FF2B5EF4-FFF2-40B4-BE49-F238E27FC236}">
                <a16:creationId xmlns:a16="http://schemas.microsoft.com/office/drawing/2014/main" id="{C176A543-7E4B-435C-998B-7E104B37426D}"/>
              </a:ext>
            </a:extLst>
          </p:cNvPr>
          <p:cNvSpPr txBox="1">
            <a:spLocks/>
          </p:cNvSpPr>
          <p:nvPr userDrawn="1"/>
        </p:nvSpPr>
        <p:spPr>
          <a:xfrm>
            <a:off x="2128521" y="0"/>
            <a:ext cx="10063478" cy="609599"/>
          </a:xfrm>
          <a:prstGeom prst="rect">
            <a:avLst/>
          </a:prstGeom>
          <a:solidFill>
            <a:schemeClr val="accent2">
              <a:lumMod val="40000"/>
              <a:lumOff val="60000"/>
            </a:schemeClr>
          </a:solidFill>
          <a:ln>
            <a:solidFill>
              <a:srgbClr val="FF0000"/>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IN" sz="3400" dirty="0">
              <a:solidFill>
                <a:schemeClr val="tx1"/>
              </a:solidFill>
              <a:latin typeface="+mj-lt"/>
              <a:cs typeface="Calibri"/>
            </a:endParaRPr>
          </a:p>
        </p:txBody>
      </p:sp>
      <p:pic>
        <p:nvPicPr>
          <p:cNvPr id="8" name="Picture 3">
            <a:extLst>
              <a:ext uri="{FF2B5EF4-FFF2-40B4-BE49-F238E27FC236}">
                <a16:creationId xmlns:a16="http://schemas.microsoft.com/office/drawing/2014/main" id="{DB4CE37E-D9E8-31D7-092A-9FCF58C99FB1}"/>
              </a:ext>
            </a:extLst>
          </p:cNvPr>
          <p:cNvPicPr>
            <a:picLocks noChangeAspect="1" noChangeArrowheads="1"/>
          </p:cNvPicPr>
          <p:nvPr userDrawn="1"/>
        </p:nvPicPr>
        <p:blipFill>
          <a:blip r:embed="rId15"/>
          <a:srcRect/>
          <a:stretch>
            <a:fillRect/>
          </a:stretch>
        </p:blipFill>
        <p:spPr bwMode="auto">
          <a:xfrm>
            <a:off x="1" y="2"/>
            <a:ext cx="2133600" cy="609597"/>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13.xml"/><Relationship Id="rId13" Type="http://schemas.openxmlformats.org/officeDocument/2006/relationships/diagramLayout" Target="../diagrams/layout14.xml"/><Relationship Id="rId18" Type="http://schemas.openxmlformats.org/officeDocument/2006/relationships/diagramLayout" Target="../diagrams/layout15.xml"/><Relationship Id="rId26" Type="http://schemas.microsoft.com/office/2007/relationships/diagramDrawing" Target="../diagrams/drawing16.xml"/><Relationship Id="rId3" Type="http://schemas.openxmlformats.org/officeDocument/2006/relationships/diagramLayout" Target="../diagrams/layout12.xml"/><Relationship Id="rId21" Type="http://schemas.microsoft.com/office/2007/relationships/diagramDrawing" Target="../diagrams/drawing15.xml"/><Relationship Id="rId7" Type="http://schemas.openxmlformats.org/officeDocument/2006/relationships/diagramData" Target="../diagrams/data13.xml"/><Relationship Id="rId12" Type="http://schemas.openxmlformats.org/officeDocument/2006/relationships/diagramData" Target="../diagrams/data14.xml"/><Relationship Id="rId17" Type="http://schemas.openxmlformats.org/officeDocument/2006/relationships/diagramData" Target="../diagrams/data15.xml"/><Relationship Id="rId25" Type="http://schemas.openxmlformats.org/officeDocument/2006/relationships/diagramColors" Target="../diagrams/colors16.xml"/><Relationship Id="rId2" Type="http://schemas.openxmlformats.org/officeDocument/2006/relationships/diagramData" Target="../diagrams/data12.xml"/><Relationship Id="rId16" Type="http://schemas.microsoft.com/office/2007/relationships/diagramDrawing" Target="../diagrams/drawing14.xml"/><Relationship Id="rId20" Type="http://schemas.openxmlformats.org/officeDocument/2006/relationships/diagramColors" Target="../diagrams/colors15.xml"/><Relationship Id="rId1" Type="http://schemas.openxmlformats.org/officeDocument/2006/relationships/slideLayout" Target="../slideLayouts/slideLayout1.xml"/><Relationship Id="rId6" Type="http://schemas.microsoft.com/office/2007/relationships/diagramDrawing" Target="../diagrams/drawing12.xml"/><Relationship Id="rId11" Type="http://schemas.microsoft.com/office/2007/relationships/diagramDrawing" Target="../diagrams/drawing13.xml"/><Relationship Id="rId24" Type="http://schemas.openxmlformats.org/officeDocument/2006/relationships/diagramQuickStyle" Target="../diagrams/quickStyle16.xml"/><Relationship Id="rId5" Type="http://schemas.openxmlformats.org/officeDocument/2006/relationships/diagramColors" Target="../diagrams/colors12.xml"/><Relationship Id="rId15" Type="http://schemas.openxmlformats.org/officeDocument/2006/relationships/diagramColors" Target="../diagrams/colors14.xml"/><Relationship Id="rId23" Type="http://schemas.openxmlformats.org/officeDocument/2006/relationships/diagramLayout" Target="../diagrams/layout16.xml"/><Relationship Id="rId10" Type="http://schemas.openxmlformats.org/officeDocument/2006/relationships/diagramColors" Target="../diagrams/colors13.xml"/><Relationship Id="rId19" Type="http://schemas.openxmlformats.org/officeDocument/2006/relationships/diagramQuickStyle" Target="../diagrams/quickStyle15.xml"/><Relationship Id="rId4" Type="http://schemas.openxmlformats.org/officeDocument/2006/relationships/diagramQuickStyle" Target="../diagrams/quickStyle12.xml"/><Relationship Id="rId9" Type="http://schemas.openxmlformats.org/officeDocument/2006/relationships/diagramQuickStyle" Target="../diagrams/quickStyle13.xml"/><Relationship Id="rId14" Type="http://schemas.openxmlformats.org/officeDocument/2006/relationships/diagramQuickStyle" Target="../diagrams/quickStyle14.xml"/><Relationship Id="rId22" Type="http://schemas.openxmlformats.org/officeDocument/2006/relationships/diagramData" Target="../diagrams/data16.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8.xml"/><Relationship Id="rId13" Type="http://schemas.openxmlformats.org/officeDocument/2006/relationships/diagramLayout" Target="../diagrams/layout19.xml"/><Relationship Id="rId18" Type="http://schemas.openxmlformats.org/officeDocument/2006/relationships/diagramLayout" Target="../diagrams/layout20.xml"/><Relationship Id="rId26" Type="http://schemas.microsoft.com/office/2007/relationships/diagramDrawing" Target="../diagrams/drawing21.xml"/><Relationship Id="rId3" Type="http://schemas.openxmlformats.org/officeDocument/2006/relationships/diagramLayout" Target="../diagrams/layout17.xml"/><Relationship Id="rId21" Type="http://schemas.microsoft.com/office/2007/relationships/diagramDrawing" Target="../diagrams/drawing20.xml"/><Relationship Id="rId7" Type="http://schemas.openxmlformats.org/officeDocument/2006/relationships/diagramData" Target="../diagrams/data18.xml"/><Relationship Id="rId12" Type="http://schemas.openxmlformats.org/officeDocument/2006/relationships/diagramData" Target="../diagrams/data19.xml"/><Relationship Id="rId17" Type="http://schemas.openxmlformats.org/officeDocument/2006/relationships/diagramData" Target="../diagrams/data20.xml"/><Relationship Id="rId25" Type="http://schemas.openxmlformats.org/officeDocument/2006/relationships/diagramColors" Target="../diagrams/colors21.xml"/><Relationship Id="rId2" Type="http://schemas.openxmlformats.org/officeDocument/2006/relationships/diagramData" Target="../diagrams/data17.xml"/><Relationship Id="rId16" Type="http://schemas.microsoft.com/office/2007/relationships/diagramDrawing" Target="../diagrams/drawing19.xml"/><Relationship Id="rId20" Type="http://schemas.openxmlformats.org/officeDocument/2006/relationships/diagramColors" Target="../diagrams/colors20.xml"/><Relationship Id="rId29" Type="http://schemas.openxmlformats.org/officeDocument/2006/relationships/diagramQuickStyle" Target="../diagrams/quickStyle22.xml"/><Relationship Id="rId1" Type="http://schemas.openxmlformats.org/officeDocument/2006/relationships/slideLayout" Target="../slideLayouts/slideLayout1.xml"/><Relationship Id="rId6" Type="http://schemas.microsoft.com/office/2007/relationships/diagramDrawing" Target="../diagrams/drawing17.xml"/><Relationship Id="rId11" Type="http://schemas.microsoft.com/office/2007/relationships/diagramDrawing" Target="../diagrams/drawing18.xml"/><Relationship Id="rId24" Type="http://schemas.openxmlformats.org/officeDocument/2006/relationships/diagramQuickStyle" Target="../diagrams/quickStyle21.xml"/><Relationship Id="rId5" Type="http://schemas.openxmlformats.org/officeDocument/2006/relationships/diagramColors" Target="../diagrams/colors17.xml"/><Relationship Id="rId15" Type="http://schemas.openxmlformats.org/officeDocument/2006/relationships/diagramColors" Target="../diagrams/colors19.xml"/><Relationship Id="rId23" Type="http://schemas.openxmlformats.org/officeDocument/2006/relationships/diagramLayout" Target="../diagrams/layout21.xml"/><Relationship Id="rId28" Type="http://schemas.openxmlformats.org/officeDocument/2006/relationships/diagramLayout" Target="../diagrams/layout22.xml"/><Relationship Id="rId10" Type="http://schemas.openxmlformats.org/officeDocument/2006/relationships/diagramColors" Target="../diagrams/colors18.xml"/><Relationship Id="rId19" Type="http://schemas.openxmlformats.org/officeDocument/2006/relationships/diagramQuickStyle" Target="../diagrams/quickStyle20.xml"/><Relationship Id="rId31" Type="http://schemas.microsoft.com/office/2007/relationships/diagramDrawing" Target="../diagrams/drawing22.xml"/><Relationship Id="rId4" Type="http://schemas.openxmlformats.org/officeDocument/2006/relationships/diagramQuickStyle" Target="../diagrams/quickStyle17.xml"/><Relationship Id="rId9" Type="http://schemas.openxmlformats.org/officeDocument/2006/relationships/diagramQuickStyle" Target="../diagrams/quickStyle18.xml"/><Relationship Id="rId14" Type="http://schemas.openxmlformats.org/officeDocument/2006/relationships/diagramQuickStyle" Target="../diagrams/quickStyle19.xml"/><Relationship Id="rId22" Type="http://schemas.openxmlformats.org/officeDocument/2006/relationships/diagramData" Target="../diagrams/data21.xml"/><Relationship Id="rId27" Type="http://schemas.openxmlformats.org/officeDocument/2006/relationships/diagramData" Target="../diagrams/data22.xml"/><Relationship Id="rId30" Type="http://schemas.openxmlformats.org/officeDocument/2006/relationships/diagramColors" Target="../diagrams/colors22.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24.xml"/><Relationship Id="rId13" Type="http://schemas.openxmlformats.org/officeDocument/2006/relationships/diagramLayout" Target="../diagrams/layout25.xml"/><Relationship Id="rId18" Type="http://schemas.openxmlformats.org/officeDocument/2006/relationships/diagramLayout" Target="../diagrams/layout26.xml"/><Relationship Id="rId26" Type="http://schemas.microsoft.com/office/2007/relationships/diagramDrawing" Target="../diagrams/drawing27.xml"/><Relationship Id="rId3" Type="http://schemas.openxmlformats.org/officeDocument/2006/relationships/diagramLayout" Target="../diagrams/layout23.xml"/><Relationship Id="rId21" Type="http://schemas.microsoft.com/office/2007/relationships/diagramDrawing" Target="../diagrams/drawing26.xml"/><Relationship Id="rId7" Type="http://schemas.openxmlformats.org/officeDocument/2006/relationships/diagramData" Target="../diagrams/data24.xml"/><Relationship Id="rId12" Type="http://schemas.openxmlformats.org/officeDocument/2006/relationships/diagramData" Target="../diagrams/data25.xml"/><Relationship Id="rId17" Type="http://schemas.openxmlformats.org/officeDocument/2006/relationships/diagramData" Target="../diagrams/data26.xml"/><Relationship Id="rId25" Type="http://schemas.openxmlformats.org/officeDocument/2006/relationships/diagramColors" Target="../diagrams/colors27.xml"/><Relationship Id="rId2" Type="http://schemas.openxmlformats.org/officeDocument/2006/relationships/diagramData" Target="../diagrams/data23.xml"/><Relationship Id="rId16" Type="http://schemas.microsoft.com/office/2007/relationships/diagramDrawing" Target="../diagrams/drawing25.xml"/><Relationship Id="rId20" Type="http://schemas.openxmlformats.org/officeDocument/2006/relationships/diagramColors" Target="../diagrams/colors26.xml"/><Relationship Id="rId29" Type="http://schemas.openxmlformats.org/officeDocument/2006/relationships/diagramQuickStyle" Target="../diagrams/quickStyle28.xml"/><Relationship Id="rId1" Type="http://schemas.openxmlformats.org/officeDocument/2006/relationships/slideLayout" Target="../slideLayouts/slideLayout1.xml"/><Relationship Id="rId6" Type="http://schemas.microsoft.com/office/2007/relationships/diagramDrawing" Target="../diagrams/drawing23.xml"/><Relationship Id="rId11" Type="http://schemas.microsoft.com/office/2007/relationships/diagramDrawing" Target="../diagrams/drawing24.xml"/><Relationship Id="rId24" Type="http://schemas.openxmlformats.org/officeDocument/2006/relationships/diagramQuickStyle" Target="../diagrams/quickStyle27.xml"/><Relationship Id="rId5" Type="http://schemas.openxmlformats.org/officeDocument/2006/relationships/diagramColors" Target="../diagrams/colors23.xml"/><Relationship Id="rId15" Type="http://schemas.openxmlformats.org/officeDocument/2006/relationships/diagramColors" Target="../diagrams/colors25.xml"/><Relationship Id="rId23" Type="http://schemas.openxmlformats.org/officeDocument/2006/relationships/diagramLayout" Target="../diagrams/layout27.xml"/><Relationship Id="rId28" Type="http://schemas.openxmlformats.org/officeDocument/2006/relationships/diagramLayout" Target="../diagrams/layout28.xml"/><Relationship Id="rId10" Type="http://schemas.openxmlformats.org/officeDocument/2006/relationships/diagramColors" Target="../diagrams/colors24.xml"/><Relationship Id="rId19" Type="http://schemas.openxmlformats.org/officeDocument/2006/relationships/diagramQuickStyle" Target="../diagrams/quickStyle26.xml"/><Relationship Id="rId31" Type="http://schemas.microsoft.com/office/2007/relationships/diagramDrawing" Target="../diagrams/drawing28.xml"/><Relationship Id="rId4" Type="http://schemas.openxmlformats.org/officeDocument/2006/relationships/diagramQuickStyle" Target="../diagrams/quickStyle23.xml"/><Relationship Id="rId9" Type="http://schemas.openxmlformats.org/officeDocument/2006/relationships/diagramQuickStyle" Target="../diagrams/quickStyle24.xml"/><Relationship Id="rId14" Type="http://schemas.openxmlformats.org/officeDocument/2006/relationships/diagramQuickStyle" Target="../diagrams/quickStyle25.xml"/><Relationship Id="rId22" Type="http://schemas.openxmlformats.org/officeDocument/2006/relationships/diagramData" Target="../diagrams/data27.xml"/><Relationship Id="rId27" Type="http://schemas.openxmlformats.org/officeDocument/2006/relationships/diagramData" Target="../diagrams/data28.xml"/><Relationship Id="rId30" Type="http://schemas.openxmlformats.org/officeDocument/2006/relationships/diagramColors" Target="../diagrams/colors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infyspringboard.onwingspan.com/web/en/app/toc/lex_auth_0135015662906327049522/overview" TargetMode="External"/><Relationship Id="rId2" Type="http://schemas.openxmlformats.org/officeDocument/2006/relationships/hyperlink" Target="https://infyspringboard.onwingspan.com/web/en/app/toc/lex_auth_0125409699132620801065_shared/overview" TargetMode="External"/><Relationship Id="rId1" Type="http://schemas.openxmlformats.org/officeDocument/2006/relationships/slideLayout" Target="../slideLayouts/slideLayout1.xml"/><Relationship Id="rId4" Type="http://schemas.openxmlformats.org/officeDocument/2006/relationships/hyperlink" Target="https://infyspringboard.onwingspan.com/web/en/app/toc/lex_auth_01317717336104140852_shared/overview"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xLetJpcjHS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7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8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82.xml.rels><?xml version="1.0" encoding="UTF-8" standalone="yes"?>
<Relationships xmlns="http://schemas.openxmlformats.org/package/2006/relationships"><Relationship Id="rId3" Type="http://schemas.openxmlformats.org/officeDocument/2006/relationships/hyperlink" Target="https://www.geeksforgeeks.org/check-whether-binary-tree-complete-not-set-2-recursive-solution/" TargetMode="External"/><Relationship Id="rId2" Type="http://schemas.openxmlformats.org/officeDocument/2006/relationships/hyperlink" Target="https://www.geeksforgeeks.org/binary-heap/" TargetMode="External"/><Relationship Id="rId1" Type="http://schemas.openxmlformats.org/officeDocument/2006/relationships/slideLayout" Target="../slideLayouts/slideLayout2.xml"/><Relationship Id="rId5" Type="http://schemas.openxmlformats.org/officeDocument/2006/relationships/hyperlink" Target="https://www.geeksforgeeks.org/binary-tree-data-structure/" TargetMode="External"/><Relationship Id="rId4" Type="http://schemas.openxmlformats.org/officeDocument/2006/relationships/hyperlink" Target="https://www.geeksforgeeks.org/introduction-to-arrays/"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 Id="rId4" Type="http://schemas.openxmlformats.org/officeDocument/2006/relationships/image" Target="../media/image71.jpeg"/></Relationships>
</file>

<file path=ppt/slides/_rels/slide10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hyperlink" Target="http://algorithms.tutorialhorizon.com/double-threaded-binary-tree-complete-implementation/" TargetMode="External"/><Relationship Id="rId2" Type="http://schemas.openxmlformats.org/officeDocument/2006/relationships/hyperlink" Target="http://algorithms.tutorialhorizon.com/single-threaded-binary-tree-complete-implementation/" TargetMode="External"/><Relationship Id="rId1" Type="http://schemas.openxmlformats.org/officeDocument/2006/relationships/slideLayout" Target="../slideLayouts/slideLayout13.xml"/><Relationship Id="rId4" Type="http://schemas.openxmlformats.org/officeDocument/2006/relationships/image" Target="../media/image9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hyperlink" Target="https://www.geeksforgeeks.org/inorder-successor-in-binary-search-tree/" TargetMode="External"/><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67.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hyperlink" Target="https://www.youtube.com/watch?v=s5XRtcud35E" TargetMode="External"/><Relationship Id="rId7" Type="http://schemas.openxmlformats.org/officeDocument/2006/relationships/hyperlink" Target="https://www.youtube.com/watch?v=aNU9XYYCHu8" TargetMode="External"/><Relationship Id="rId2" Type="http://schemas.openxmlformats.org/officeDocument/2006/relationships/hyperlink" Target="https://www.youtube.com/watch?v=e_Wv_pH4Se8" TargetMode="External"/><Relationship Id="rId1" Type="http://schemas.openxmlformats.org/officeDocument/2006/relationships/slideLayout" Target="../slideLayouts/slideLayout2.xml"/><Relationship Id="rId6" Type="http://schemas.openxmlformats.org/officeDocument/2006/relationships/hyperlink" Target="https://www.youtube.com/watch?v=_8qqlVH5NC0" TargetMode="External"/><Relationship Id="rId5" Type="http://schemas.openxmlformats.org/officeDocument/2006/relationships/hyperlink" Target="https://www.youtube.com/watch?v=saofdNsZiYY" TargetMode="External"/><Relationship Id="rId4" Type="http://schemas.openxmlformats.org/officeDocument/2006/relationships/hyperlink" Target="https://www.youtube.com/watch?v=PoBGyrIWisE" TargetMode="External"/></Relationships>
</file>

<file path=ppt/slides/_rels/slide18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hyperlink" Target="http://www.aktuonline.com/papers/btech-cs-3-sem-data-structures-rcs-305-2018-19.html" TargetMode="External"/><Relationship Id="rId7" Type="http://schemas.openxmlformats.org/officeDocument/2006/relationships/hyperlink" Target="https://firstranker.com/fr/frdA290120A1345373/download-aktu-b-tech-3rd-sem-2018-2019-data-structures-rcs-305-question-paper" TargetMode="External"/><Relationship Id="rId2" Type="http://schemas.openxmlformats.org/officeDocument/2006/relationships/hyperlink" Target="http://www.aktuonline.com/papers/btech-cs-3-sem-data-structures-kcs301-2020.html" TargetMode="External"/><Relationship Id="rId1" Type="http://schemas.openxmlformats.org/officeDocument/2006/relationships/slideLayout" Target="../slideLayouts/slideLayout2.xml"/><Relationship Id="rId6" Type="http://schemas.openxmlformats.org/officeDocument/2006/relationships/hyperlink" Target="https://www.aktuonline.com/papers/btech-cs-3-sem-data-structures-kcs301-2020.html" TargetMode="External"/><Relationship Id="rId5" Type="http://schemas.openxmlformats.org/officeDocument/2006/relationships/hyperlink" Target="http://www.aktuonline.com/papers/btech-cs-3-sem-data-structures-using-c-ncs-301-2016-17.html" TargetMode="External"/><Relationship Id="rId4" Type="http://schemas.openxmlformats.org/officeDocument/2006/relationships/hyperlink" Target="http://www.aktuonline.com/papers/btech-cs-3-sem-data-structures-rcs-305-2017-18.html" TargetMode="Externa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184E0C34-7B94-C722-766D-83D67E62EF26}"/>
              </a:ext>
            </a:extLst>
          </p:cNvPr>
          <p:cNvSpPr>
            <a:spLocks/>
          </p:cNvSpPr>
          <p:nvPr/>
        </p:nvSpPr>
        <p:spPr>
          <a:xfrm>
            <a:off x="643811" y="1271321"/>
            <a:ext cx="11187405" cy="944577"/>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dirty="0"/>
          </a:p>
        </p:txBody>
      </p:sp>
      <p:sp>
        <p:nvSpPr>
          <p:cNvPr id="16" name="TextBox 15">
            <a:extLst>
              <a:ext uri="{FF2B5EF4-FFF2-40B4-BE49-F238E27FC236}">
                <a16:creationId xmlns:a16="http://schemas.microsoft.com/office/drawing/2014/main" id="{6CE607ED-4313-296B-356E-34DDAF9AF847}"/>
              </a:ext>
            </a:extLst>
          </p:cNvPr>
          <p:cNvSpPr txBox="1">
            <a:spLocks/>
          </p:cNvSpPr>
          <p:nvPr/>
        </p:nvSpPr>
        <p:spPr>
          <a:xfrm>
            <a:off x="990600" y="1455740"/>
            <a:ext cx="10154193" cy="538609"/>
          </a:xfrm>
          <a:prstGeom prst="rect">
            <a:avLst/>
          </a:prstGeom>
          <a:noFill/>
        </p:spPr>
        <p:txBody>
          <a:bodyPr wrap="square">
            <a:spAutoFit/>
          </a:bodyPr>
          <a:lstStyle/>
          <a:p>
            <a:pPr algn="ctr"/>
            <a:r>
              <a:rPr lang="en-US" sz="2900" b="1" dirty="0">
                <a:latin typeface="ADLaM Display" panose="02010000000000000000"/>
                <a:cs typeface="Times New Roman" panose="02020603050405020304" pitchFamily="18" charset="0"/>
              </a:rPr>
              <a:t>Design and Analysis </a:t>
            </a:r>
            <a:r>
              <a:rPr lang="en-US" sz="2900" b="1">
                <a:latin typeface="ADLaM Display" panose="02010000000000000000"/>
                <a:cs typeface="Times New Roman" panose="02020603050405020304" pitchFamily="18" charset="0"/>
              </a:rPr>
              <a:t>of Algorithms: Trees</a:t>
            </a:r>
            <a:endParaRPr lang="en-US" sz="2900" b="1" dirty="0">
              <a:ln w="0"/>
              <a:effectLst>
                <a:outerShdw blurRad="38100" dist="19050" dir="2700000" algn="tl" rotWithShape="0">
                  <a:schemeClr val="dk1">
                    <a:alpha val="40000"/>
                  </a:schemeClr>
                </a:outerShdw>
              </a:effectLst>
              <a:latin typeface="ADLaM Display" panose="02010000000000000000"/>
              <a:ea typeface="ADLaM Display" panose="02010000000000000000" pitchFamily="2" charset="0"/>
              <a:cs typeface="Times New Roman" panose="02020603050405020304" pitchFamily="18" charset="0"/>
            </a:endParaRPr>
          </a:p>
        </p:txBody>
      </p:sp>
      <p:sp>
        <p:nvSpPr>
          <p:cNvPr id="19" name="Rectangle 18">
            <a:extLst>
              <a:ext uri="{FF2B5EF4-FFF2-40B4-BE49-F238E27FC236}">
                <a16:creationId xmlns:a16="http://schemas.microsoft.com/office/drawing/2014/main" id="{D021602D-6B39-A12C-780F-239CC1508A26}"/>
              </a:ext>
            </a:extLst>
          </p:cNvPr>
          <p:cNvSpPr>
            <a:spLocks/>
          </p:cNvSpPr>
          <p:nvPr/>
        </p:nvSpPr>
        <p:spPr>
          <a:xfrm>
            <a:off x="643812" y="2565918"/>
            <a:ext cx="1447800" cy="634482"/>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Unit: </a:t>
            </a:r>
            <a:r>
              <a:rPr lang="en-US" noProof="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
        <p:nvSpPr>
          <p:cNvPr id="20" name="Rectangle 19">
            <a:extLst>
              <a:ext uri="{FF2B5EF4-FFF2-40B4-BE49-F238E27FC236}">
                <a16:creationId xmlns:a16="http://schemas.microsoft.com/office/drawing/2014/main" id="{33855348-34DC-8E4F-D9BE-A243B131B046}"/>
              </a:ext>
            </a:extLst>
          </p:cNvPr>
          <p:cNvSpPr>
            <a:spLocks/>
          </p:cNvSpPr>
          <p:nvPr/>
        </p:nvSpPr>
        <p:spPr>
          <a:xfrm>
            <a:off x="643813" y="3338105"/>
            <a:ext cx="5452188" cy="1023013"/>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SUBJECT NAME:- </a:t>
            </a:r>
            <a:r>
              <a:rPr lang="en-US" b="1" dirty="0"/>
              <a:t>DATA STRUCTURES AND ALGORITHMS-II</a:t>
            </a:r>
            <a:endParaRPr kumimoji="0" lang="en-US" sz="1800" b="1"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SUBJECT CODE:- (BCSEH0401/BMICSE0401)</a:t>
            </a:r>
          </a:p>
        </p:txBody>
      </p:sp>
      <p:sp>
        <p:nvSpPr>
          <p:cNvPr id="23" name="Rectangle 22">
            <a:extLst>
              <a:ext uri="{FF2B5EF4-FFF2-40B4-BE49-F238E27FC236}">
                <a16:creationId xmlns:a16="http://schemas.microsoft.com/office/drawing/2014/main" id="{69D37666-020C-EC8A-0B19-1B80E5B63350}"/>
              </a:ext>
            </a:extLst>
          </p:cNvPr>
          <p:cNvSpPr>
            <a:spLocks/>
          </p:cNvSpPr>
          <p:nvPr/>
        </p:nvSpPr>
        <p:spPr>
          <a:xfrm>
            <a:off x="643811" y="4711138"/>
            <a:ext cx="4643535" cy="1136706"/>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COURSE:</a:t>
            </a:r>
            <a:r>
              <a:rPr kumimoji="0" lang="en-US" sz="1800" i="0" u="none" strike="noStrike" kern="1200" cap="none" spc="0" normalizeH="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 </a:t>
            </a: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 B.Tech</a:t>
            </a: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BRANCH: CSE-R</a:t>
            </a:r>
            <a:r>
              <a:rPr kumimoji="0" lang="en-US" sz="1800" i="0" u="none" strike="noStrike" kern="1200" cap="none" spc="0" normalizeH="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 &amp; </a:t>
            </a:r>
            <a:r>
              <a:rPr kumimoji="0" lang="en-US" sz="1800" i="0" u="none" strike="noStrike" kern="1200" cap="none" spc="0" normalizeH="0" noProof="0" dirty="0" err="1">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M.Tech</a:t>
            </a:r>
            <a:r>
              <a:rPr kumimoji="0" lang="en-US" sz="1800" i="0" u="none" strike="noStrike" kern="1200" cap="none" spc="0" normalizeH="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 (Int.)</a:t>
            </a:r>
            <a:endPar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SECTION: A </a:t>
            </a:r>
            <a:endParaRPr kumimoji="0" lang="en-US" sz="18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
        <p:nvSpPr>
          <p:cNvPr id="24" name="Rectangle 23">
            <a:extLst>
              <a:ext uri="{FF2B5EF4-FFF2-40B4-BE49-F238E27FC236}">
                <a16:creationId xmlns:a16="http://schemas.microsoft.com/office/drawing/2014/main" id="{72DE45C2-FCC5-D1E7-BD4E-F9F899820B40}"/>
              </a:ext>
            </a:extLst>
          </p:cNvPr>
          <p:cNvSpPr>
            <a:spLocks/>
          </p:cNvSpPr>
          <p:nvPr/>
        </p:nvSpPr>
        <p:spPr>
          <a:xfrm>
            <a:off x="7103705" y="4705737"/>
            <a:ext cx="4727511" cy="1555103"/>
          </a:xfrm>
          <a:prstGeom prst="rect">
            <a:avLst/>
          </a:prstGeom>
          <a:noFill/>
          <a:ln>
            <a:solidFill>
              <a:srgbClr val="FF8F8F"/>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i="0" u="none" strike="noStrike" kern="1200" cap="none" spc="0" normalizeH="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Mr. Shamshad Ali</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600" baseline="0" dirty="0" err="1">
                <a:solidFill>
                  <a:schemeClr val="tx1"/>
                </a:solidFill>
                <a:latin typeface="ADLaM Display" panose="02010000000000000000" pitchFamily="2" charset="0"/>
                <a:ea typeface="ADLaM Display" panose="02010000000000000000" pitchFamily="2" charset="0"/>
                <a:cs typeface="ADLaM Display" panose="02010000000000000000" pitchFamily="2" charset="0"/>
              </a:rPr>
              <a:t>B.Tech</a:t>
            </a:r>
            <a:r>
              <a:rPr lang="en-US" sz="1600" baseline="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(IT), </a:t>
            </a:r>
            <a:r>
              <a:rPr lang="en-US" sz="1600" baseline="0" dirty="0" err="1">
                <a:solidFill>
                  <a:schemeClr val="tx1"/>
                </a:solidFill>
                <a:latin typeface="ADLaM Display" panose="02010000000000000000" pitchFamily="2" charset="0"/>
                <a:ea typeface="ADLaM Display" panose="02010000000000000000" pitchFamily="2" charset="0"/>
                <a:cs typeface="ADLaM Display" panose="02010000000000000000" pitchFamily="2" charset="0"/>
              </a:rPr>
              <a:t>M.Tech</a:t>
            </a:r>
            <a:r>
              <a:rPr lang="en-US" sz="1600" baseline="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(CSE), </a:t>
            </a:r>
            <a:r>
              <a:rPr lang="en-US" sz="1600" baseline="0" dirty="0" err="1">
                <a:solidFill>
                  <a:schemeClr val="tx1"/>
                </a:solidFill>
                <a:latin typeface="ADLaM Display" panose="02010000000000000000" pitchFamily="2" charset="0"/>
                <a:ea typeface="ADLaM Display" panose="02010000000000000000" pitchFamily="2" charset="0"/>
                <a:cs typeface="ADLaM Display" panose="02010000000000000000" pitchFamily="2" charset="0"/>
              </a:rPr>
              <a:t>Ph.D</a:t>
            </a:r>
            <a:r>
              <a:rPr lang="en-US" sz="1600" baseline="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(Pursuing)</a:t>
            </a:r>
            <a:endPar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Department of </a:t>
            </a:r>
            <a:r>
              <a:rPr lang="en-US"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CSE</a:t>
            </a:r>
            <a:endPar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i="0" u="none" strike="noStrike" kern="1200" cap="none" spc="0" normalizeH="0" baseline="0" noProof="0" dirty="0">
                <a:ln>
                  <a:noFill/>
                </a:ln>
                <a:solidFill>
                  <a:schemeClr val="tx1"/>
                </a:solidFill>
                <a:effectLst/>
                <a:uLnTx/>
                <a:uFillTx/>
                <a:latin typeface="ADLaM Display" panose="02010000000000000000" pitchFamily="2" charset="0"/>
                <a:ea typeface="ADLaM Display" panose="02010000000000000000" pitchFamily="2" charset="0"/>
                <a:cs typeface="ADLaM Display" panose="02010000000000000000" pitchFamily="2" charset="0"/>
              </a:rPr>
              <a:t>NIET, Greater Noida</a:t>
            </a:r>
          </a:p>
        </p:txBody>
      </p:sp>
      <p:sp>
        <p:nvSpPr>
          <p:cNvPr id="7" name="TextBox 6">
            <a:extLst>
              <a:ext uri="{FF2B5EF4-FFF2-40B4-BE49-F238E27FC236}">
                <a16:creationId xmlns:a16="http://schemas.microsoft.com/office/drawing/2014/main" id="{424D146E-FED5-642B-3135-0A1390065D7A}"/>
              </a:ext>
            </a:extLst>
          </p:cNvPr>
          <p:cNvSpPr txBox="1"/>
          <p:nvPr/>
        </p:nvSpPr>
        <p:spPr>
          <a:xfrm>
            <a:off x="2150705" y="58551"/>
            <a:ext cx="9906000" cy="523220"/>
          </a:xfrm>
          <a:prstGeom prst="rect">
            <a:avLst/>
          </a:prstGeom>
          <a:noFill/>
        </p:spPr>
        <p:txBody>
          <a:bodyPr wrap="square">
            <a:spAutoFit/>
          </a:bodyPr>
          <a:lstStyle/>
          <a:p>
            <a:pPr algn="ctr"/>
            <a:r>
              <a:rPr lang="en-US" sz="28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Noida Institute of Engineering and Technology, Greater Noida</a:t>
            </a:r>
            <a:endParaRPr lang="en-IN" sz="28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200" y="2832330"/>
            <a:ext cx="1466850" cy="1714500"/>
          </a:xfrm>
          <a:prstGeom prst="rect">
            <a:avLst/>
          </a:prstGeom>
        </p:spPr>
      </p:pic>
    </p:spTree>
    <p:extLst>
      <p:ext uri="{BB962C8B-B14F-4D97-AF65-F5344CB8AC3E}">
        <p14:creationId xmlns:p14="http://schemas.microsoft.com/office/powerpoint/2010/main" val="1689782004"/>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
            <a:ext cx="9982200" cy="762000"/>
          </a:xfrm>
        </p:spPr>
        <p:txBody>
          <a:bodyPr/>
          <a:lstStyle/>
          <a:p>
            <a:r>
              <a:rPr lang="en-US" sz="3200" b="1" dirty="0"/>
              <a:t>Faculty Introduction</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677530418"/>
              </p:ext>
            </p:extLst>
          </p:nvPr>
        </p:nvGraphicFramePr>
        <p:xfrm>
          <a:off x="838200" y="1502232"/>
          <a:ext cx="10866120" cy="4715690"/>
        </p:xfrm>
        <a:graphic>
          <a:graphicData uri="http://schemas.openxmlformats.org/drawingml/2006/table">
            <a:tbl>
              <a:tblPr firstRow="1" bandRow="1">
                <a:tableStyleId>{0E3FDE45-AF77-4B5C-9715-49D594BDF05E}</a:tableStyleId>
              </a:tblPr>
              <a:tblGrid>
                <a:gridCol w="2791895">
                  <a:extLst>
                    <a:ext uri="{9D8B030D-6E8A-4147-A177-3AD203B41FA5}">
                      <a16:colId xmlns:a16="http://schemas.microsoft.com/office/drawing/2014/main" val="1744705376"/>
                    </a:ext>
                  </a:extLst>
                </a:gridCol>
                <a:gridCol w="8074225">
                  <a:extLst>
                    <a:ext uri="{9D8B030D-6E8A-4147-A177-3AD203B41FA5}">
                      <a16:colId xmlns:a16="http://schemas.microsoft.com/office/drawing/2014/main" val="1490992011"/>
                    </a:ext>
                  </a:extLst>
                </a:gridCol>
              </a:tblGrid>
              <a:tr h="673670">
                <a:tc>
                  <a:txBody>
                    <a:bodyPr/>
                    <a:lstStyle/>
                    <a:p>
                      <a:pPr algn="just">
                        <a:lnSpc>
                          <a:spcPct val="200000"/>
                        </a:lnSpc>
                      </a:pPr>
                      <a:r>
                        <a:rPr lang="en-US" b="1"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Mr.</a:t>
                      </a:r>
                      <a:r>
                        <a:rPr lang="en-US" baseline="0" dirty="0"/>
                        <a:t> Shamshad Ali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2362520"/>
                  </a:ext>
                </a:extLst>
              </a:tr>
              <a:tr h="673670">
                <a:tc>
                  <a:txBody>
                    <a:bodyPr/>
                    <a:lstStyle/>
                    <a:p>
                      <a:pPr algn="just">
                        <a:lnSpc>
                          <a:spcPct val="200000"/>
                        </a:lnSpc>
                      </a:pPr>
                      <a:r>
                        <a:rPr lang="en-US" b="1" dirty="0"/>
                        <a:t>QUALIFICATION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B.Tech</a:t>
                      </a:r>
                      <a:r>
                        <a:rPr lang="en-US" dirty="0"/>
                        <a:t>(IT), </a:t>
                      </a:r>
                      <a:r>
                        <a:rPr lang="en-US" dirty="0" err="1"/>
                        <a:t>M.Tech</a:t>
                      </a:r>
                      <a:r>
                        <a:rPr lang="en-US" dirty="0"/>
                        <a:t>(CSE), PhD(Pursuing)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8198469"/>
                  </a:ext>
                </a:extLst>
              </a:tr>
              <a:tr h="673670">
                <a:tc>
                  <a:txBody>
                    <a:bodyPr/>
                    <a:lstStyle/>
                    <a:p>
                      <a:pPr algn="just">
                        <a:lnSpc>
                          <a:spcPct val="200000"/>
                        </a:lnSpc>
                      </a:pPr>
                      <a:r>
                        <a:rPr lang="en-US" b="1" dirty="0"/>
                        <a:t>DESIGNATION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Assistant Professor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053568"/>
                  </a:ext>
                </a:extLst>
              </a:tr>
              <a:tr h="673670">
                <a:tc>
                  <a:txBody>
                    <a:bodyPr/>
                    <a:lstStyle/>
                    <a:p>
                      <a:pPr algn="just">
                        <a:lnSpc>
                          <a:spcPct val="200000"/>
                        </a:lnSpc>
                      </a:pPr>
                      <a:r>
                        <a:rPr lang="en-US" b="1" dirty="0"/>
                        <a:t>DEPARTMENT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Data Science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8933676"/>
                  </a:ext>
                </a:extLst>
              </a:tr>
              <a:tr h="673670">
                <a:tc>
                  <a:txBody>
                    <a:bodyPr/>
                    <a:lstStyle/>
                    <a:p>
                      <a:pPr algn="just">
                        <a:lnSpc>
                          <a:spcPct val="200000"/>
                        </a:lnSpc>
                      </a:pPr>
                      <a:r>
                        <a:rPr lang="en-US" b="1" dirty="0"/>
                        <a:t>TOTAL EXPERIENCE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15+ Years(BBIET</a:t>
                      </a:r>
                      <a:r>
                        <a:rPr lang="en-US" baseline="0" dirty="0"/>
                        <a:t> &amp; RC, NCET, NIET</a:t>
                      </a: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677162"/>
                  </a:ext>
                </a:extLst>
              </a:tr>
              <a:tr h="673670">
                <a:tc>
                  <a:txBody>
                    <a:bodyPr/>
                    <a:lstStyle/>
                    <a:p>
                      <a:pPr algn="just">
                        <a:lnSpc>
                          <a:spcPct val="200000"/>
                        </a:lnSpc>
                      </a:pPr>
                      <a:r>
                        <a:rPr lang="en-US" b="1" dirty="0"/>
                        <a:t>NIET</a:t>
                      </a:r>
                      <a:r>
                        <a:rPr lang="en-US" b="1" baseline="0" dirty="0"/>
                        <a:t> EXPERIENCE</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 Months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2131121"/>
                  </a:ext>
                </a:extLst>
              </a:tr>
              <a:tr h="673670">
                <a:tc>
                  <a:txBody>
                    <a:bodyPr/>
                    <a:lstStyle/>
                    <a:p>
                      <a:pPr algn="just">
                        <a:lnSpc>
                          <a:spcPct val="200000"/>
                        </a:lnSpc>
                      </a:pPr>
                      <a:r>
                        <a:rPr lang="en-US" b="1" dirty="0"/>
                        <a:t>SUBJECT TAUGHT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DSA-I, DSA-II, DAA, DS,</a:t>
                      </a:r>
                      <a:r>
                        <a:rPr lang="en-US" baseline="0" dirty="0"/>
                        <a:t> TAFL, CNS, SE, OS</a:t>
                      </a:r>
                      <a:r>
                        <a:rPr lang="en-US" dirty="0"/>
                        <a:t>, C, OOP with C++, DBMS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02859"/>
                  </a:ext>
                </a:extLst>
              </a:tr>
            </a:tbl>
          </a:graphicData>
        </a:graphic>
      </p:graphicFrame>
      <p:sp>
        <p:nvSpPr>
          <p:cNvPr id="4" name="Date Placeholder 3"/>
          <p:cNvSpPr>
            <a:spLocks noGrp="1"/>
          </p:cNvSpPr>
          <p:nvPr>
            <p:ph type="dt" sz="half" idx="10"/>
          </p:nvPr>
        </p:nvSpPr>
        <p:spPr/>
        <p:txBody>
          <a:bodyPr/>
          <a:lstStyle/>
          <a:p>
            <a:fld id="{EEA950C4-D053-44B2-8C9F-DCCF409FB35E}"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2</a:t>
            </a:fld>
            <a:endParaRPr lang="en-IN" dirty="0"/>
          </a:p>
        </p:txBody>
      </p:sp>
    </p:spTree>
    <p:extLst>
      <p:ext uri="{BB962C8B-B14F-4D97-AF65-F5344CB8AC3E}">
        <p14:creationId xmlns:p14="http://schemas.microsoft.com/office/powerpoint/2010/main" val="3033276732"/>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141440"/>
            <a:ext cx="9677400" cy="457200"/>
          </a:xfrm>
          <a:ln w="9525">
            <a:solidFill>
              <a:schemeClr val="bg1"/>
            </a:solidFill>
          </a:ln>
        </p:spPr>
        <p:txBody>
          <a:bodyPr>
            <a:normAutofit fontScale="90000"/>
          </a:bodyPr>
          <a:lstStyle/>
          <a:p>
            <a:pPr algn="ctr"/>
            <a:r>
              <a:rPr lang="en-US" sz="3200" b="1" dirty="0"/>
              <a:t>Evaluation Scheme</a:t>
            </a:r>
          </a:p>
        </p:txBody>
      </p:sp>
      <p:sp>
        <p:nvSpPr>
          <p:cNvPr id="4" name="Date Placeholder 3"/>
          <p:cNvSpPr>
            <a:spLocks noGrp="1"/>
          </p:cNvSpPr>
          <p:nvPr>
            <p:ph type="dt" sz="half" idx="10"/>
          </p:nvPr>
        </p:nvSpPr>
        <p:spPr/>
        <p:txBody>
          <a:bodyPr/>
          <a:lstStyle/>
          <a:p>
            <a:fld id="{26EBEDA2-99BE-42DA-8769-0CD4931612BB}"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3</a:t>
            </a:fld>
            <a:endParaRPr lang="en-IN" dirty="0"/>
          </a:p>
        </p:txBody>
      </p:sp>
      <p:pic>
        <p:nvPicPr>
          <p:cNvPr id="7" name="Picture 6">
            <a:extLst>
              <a:ext uri="{FF2B5EF4-FFF2-40B4-BE49-F238E27FC236}">
                <a16:creationId xmlns:a16="http://schemas.microsoft.com/office/drawing/2014/main" id="{E9A6F29B-5E7F-5F40-B313-29E549418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685800"/>
            <a:ext cx="11582400" cy="5670551"/>
          </a:xfrm>
          <a:prstGeom prst="rect">
            <a:avLst/>
          </a:prstGeom>
        </p:spPr>
      </p:pic>
    </p:spTree>
    <p:extLst>
      <p:ext uri="{BB962C8B-B14F-4D97-AF65-F5344CB8AC3E}">
        <p14:creationId xmlns:p14="http://schemas.microsoft.com/office/powerpoint/2010/main" val="2262189345"/>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0"/>
            <a:ext cx="9982200" cy="681037"/>
          </a:xfrm>
        </p:spPr>
        <p:txBody>
          <a:bodyPr>
            <a:normAutofit/>
          </a:bodyPr>
          <a:lstStyle/>
          <a:p>
            <a:pPr algn="ctr"/>
            <a:r>
              <a:rPr lang="en-US" sz="3200" b="1" dirty="0"/>
              <a:t>Syllabus Contents</a:t>
            </a:r>
          </a:p>
        </p:txBody>
      </p:sp>
      <p:sp>
        <p:nvSpPr>
          <p:cNvPr id="4" name="Date Placeholder 3"/>
          <p:cNvSpPr>
            <a:spLocks noGrp="1"/>
          </p:cNvSpPr>
          <p:nvPr>
            <p:ph type="dt" sz="half" idx="10"/>
          </p:nvPr>
        </p:nvSpPr>
        <p:spPr/>
        <p:txBody>
          <a:bodyPr/>
          <a:lstStyle/>
          <a:p>
            <a:fld id="{5047F252-DF60-4856-A3FE-4F405F34AFF5}"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4</a:t>
            </a:fld>
            <a:endParaRPr lang="en-IN" dirty="0"/>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681037"/>
          </a:xfrm>
          <a:prstGeom prst="rect">
            <a:avLst/>
          </a:prstGeom>
        </p:spPr>
      </p:pic>
      <p:sp>
        <p:nvSpPr>
          <p:cNvPr id="9" name="TextBox 8">
            <a:extLst>
              <a:ext uri="{FF2B5EF4-FFF2-40B4-BE49-F238E27FC236}">
                <a16:creationId xmlns:a16="http://schemas.microsoft.com/office/drawing/2014/main" id="{067567D3-B65B-4752-8952-9BA2BB96D648}"/>
              </a:ext>
            </a:extLst>
          </p:cNvPr>
          <p:cNvSpPr txBox="1"/>
          <p:nvPr/>
        </p:nvSpPr>
        <p:spPr>
          <a:xfrm>
            <a:off x="838200" y="1313984"/>
            <a:ext cx="10744200"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UNIT-I: </a:t>
            </a:r>
            <a:r>
              <a:rPr lang="en-US" sz="2800" b="1" dirty="0"/>
              <a:t> Design and Analysis of Algorithms: Trees</a:t>
            </a:r>
            <a:endParaRPr lang="en-IN" sz="2800" b="1" dirty="0"/>
          </a:p>
        </p:txBody>
      </p:sp>
      <p:graphicFrame>
        <p:nvGraphicFramePr>
          <p:cNvPr id="10" name="Content Placeholder 9">
            <a:extLst>
              <a:ext uri="{FF2B5EF4-FFF2-40B4-BE49-F238E27FC236}">
                <a16:creationId xmlns:a16="http://schemas.microsoft.com/office/drawing/2014/main" id="{5BD0C95D-4009-4941-AFEE-6336F152559B}"/>
              </a:ext>
            </a:extLst>
          </p:cNvPr>
          <p:cNvGraphicFramePr>
            <a:graphicFrameLocks noGrp="1"/>
          </p:cNvGraphicFramePr>
          <p:nvPr>
            <p:ph idx="1"/>
            <p:extLst>
              <p:ext uri="{D42A27DB-BD31-4B8C-83A1-F6EECF244321}">
                <p14:modId xmlns:p14="http://schemas.microsoft.com/office/powerpoint/2010/main" val="3177500858"/>
              </p:ext>
            </p:extLst>
          </p:nvPr>
        </p:nvGraphicFramePr>
        <p:xfrm>
          <a:off x="838200" y="2038350"/>
          <a:ext cx="10744200" cy="4138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006374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0"/>
            <a:ext cx="9982200" cy="681037"/>
          </a:xfrm>
        </p:spPr>
        <p:txBody>
          <a:bodyPr>
            <a:normAutofit/>
          </a:bodyPr>
          <a:lstStyle/>
          <a:p>
            <a:pPr algn="ctr"/>
            <a:r>
              <a:rPr lang="en-US" sz="3200" b="1" dirty="0"/>
              <a:t>Syllabus Contents</a:t>
            </a:r>
          </a:p>
        </p:txBody>
      </p:sp>
      <p:sp>
        <p:nvSpPr>
          <p:cNvPr id="4" name="Date Placeholder 3"/>
          <p:cNvSpPr>
            <a:spLocks noGrp="1"/>
          </p:cNvSpPr>
          <p:nvPr>
            <p:ph type="dt" sz="half" idx="10"/>
          </p:nvPr>
        </p:nvSpPr>
        <p:spPr/>
        <p:txBody>
          <a:bodyPr/>
          <a:lstStyle/>
          <a:p>
            <a:fld id="{A3F16E34-2A61-469F-9E2C-FF35986FA766}"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5</a:t>
            </a:fld>
            <a:endParaRPr lang="en-IN" dirty="0"/>
          </a:p>
        </p:txBody>
      </p:sp>
      <p:sp>
        <p:nvSpPr>
          <p:cNvPr id="9" name="TextBox 8">
            <a:extLst>
              <a:ext uri="{FF2B5EF4-FFF2-40B4-BE49-F238E27FC236}">
                <a16:creationId xmlns:a16="http://schemas.microsoft.com/office/drawing/2014/main" id="{067567D3-B65B-4752-8952-9BA2BB96D648}"/>
              </a:ext>
            </a:extLst>
          </p:cNvPr>
          <p:cNvSpPr txBox="1"/>
          <p:nvPr/>
        </p:nvSpPr>
        <p:spPr>
          <a:xfrm>
            <a:off x="838199" y="1313984"/>
            <a:ext cx="10744201"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UNIT-II: </a:t>
            </a:r>
            <a:r>
              <a:rPr lang="en-US" sz="2800" b="1" dirty="0"/>
              <a:t>Design and Analysis of Algorithms: Graphs</a:t>
            </a:r>
            <a:endParaRPr lang="en-IN" sz="2800" b="1" dirty="0"/>
          </a:p>
        </p:txBody>
      </p:sp>
      <p:graphicFrame>
        <p:nvGraphicFramePr>
          <p:cNvPr id="10" name="Content Placeholder 9">
            <a:extLst>
              <a:ext uri="{FF2B5EF4-FFF2-40B4-BE49-F238E27FC236}">
                <a16:creationId xmlns:a16="http://schemas.microsoft.com/office/drawing/2014/main" id="{5BD0C95D-4009-4941-AFEE-6336F152559B}"/>
              </a:ext>
            </a:extLst>
          </p:cNvPr>
          <p:cNvGraphicFramePr>
            <a:graphicFrameLocks noGrp="1"/>
          </p:cNvGraphicFramePr>
          <p:nvPr>
            <p:ph idx="1"/>
            <p:extLst>
              <p:ext uri="{D42A27DB-BD31-4B8C-83A1-F6EECF244321}">
                <p14:modId xmlns:p14="http://schemas.microsoft.com/office/powerpoint/2010/main" val="2480332276"/>
              </p:ext>
            </p:extLst>
          </p:nvPr>
        </p:nvGraphicFramePr>
        <p:xfrm>
          <a:off x="838200" y="2038350"/>
          <a:ext cx="10744200" cy="4138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461783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0"/>
            <a:ext cx="9982200" cy="523221"/>
          </a:xfrm>
        </p:spPr>
        <p:txBody>
          <a:bodyPr>
            <a:normAutofit fontScale="90000"/>
          </a:bodyPr>
          <a:lstStyle/>
          <a:p>
            <a:pPr algn="ctr"/>
            <a:r>
              <a:rPr lang="en-US" sz="3200" b="1" dirty="0"/>
              <a:t>Syllabus Contents</a:t>
            </a:r>
          </a:p>
        </p:txBody>
      </p:sp>
      <p:sp>
        <p:nvSpPr>
          <p:cNvPr id="4" name="Date Placeholder 3"/>
          <p:cNvSpPr>
            <a:spLocks noGrp="1"/>
          </p:cNvSpPr>
          <p:nvPr>
            <p:ph type="dt" sz="half" idx="10"/>
          </p:nvPr>
        </p:nvSpPr>
        <p:spPr/>
        <p:txBody>
          <a:bodyPr/>
          <a:lstStyle/>
          <a:p>
            <a:fld id="{5B2E0136-AC9C-4CB3-9540-8CB14654C217}"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6</a:t>
            </a:fld>
            <a:endParaRPr lang="en-IN" dirty="0"/>
          </a:p>
        </p:txBody>
      </p:sp>
      <p:sp>
        <p:nvSpPr>
          <p:cNvPr id="9" name="TextBox 8">
            <a:extLst>
              <a:ext uri="{FF2B5EF4-FFF2-40B4-BE49-F238E27FC236}">
                <a16:creationId xmlns:a16="http://schemas.microsoft.com/office/drawing/2014/main" id="{067567D3-B65B-4752-8952-9BA2BB96D648}"/>
              </a:ext>
            </a:extLst>
          </p:cNvPr>
          <p:cNvSpPr txBox="1"/>
          <p:nvPr/>
        </p:nvSpPr>
        <p:spPr>
          <a:xfrm>
            <a:off x="838200" y="1313984"/>
            <a:ext cx="10668000"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UNIT-III: Dynamic Programming </a:t>
            </a:r>
          </a:p>
        </p:txBody>
      </p:sp>
      <p:graphicFrame>
        <p:nvGraphicFramePr>
          <p:cNvPr id="10" name="Content Placeholder 9">
            <a:extLst>
              <a:ext uri="{FF2B5EF4-FFF2-40B4-BE49-F238E27FC236}">
                <a16:creationId xmlns:a16="http://schemas.microsoft.com/office/drawing/2014/main" id="{5BD0C95D-4009-4941-AFEE-6336F152559B}"/>
              </a:ext>
            </a:extLst>
          </p:cNvPr>
          <p:cNvGraphicFramePr>
            <a:graphicFrameLocks noGrp="1"/>
          </p:cNvGraphicFramePr>
          <p:nvPr>
            <p:ph idx="1"/>
            <p:extLst>
              <p:ext uri="{D42A27DB-BD31-4B8C-83A1-F6EECF244321}">
                <p14:modId xmlns:p14="http://schemas.microsoft.com/office/powerpoint/2010/main" val="2563202184"/>
              </p:ext>
            </p:extLst>
          </p:nvPr>
        </p:nvGraphicFramePr>
        <p:xfrm>
          <a:off x="838200" y="2038350"/>
          <a:ext cx="10668000" cy="4138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137506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
            <a:ext cx="9982200" cy="501650"/>
          </a:xfrm>
        </p:spPr>
        <p:txBody>
          <a:bodyPr>
            <a:normAutofit fontScale="90000"/>
          </a:bodyPr>
          <a:lstStyle/>
          <a:p>
            <a:pPr algn="ctr"/>
            <a:r>
              <a:rPr lang="en-US" sz="3200" b="1" dirty="0"/>
              <a:t>Syllabus Contents</a:t>
            </a:r>
          </a:p>
        </p:txBody>
      </p:sp>
      <p:sp>
        <p:nvSpPr>
          <p:cNvPr id="4" name="Date Placeholder 3"/>
          <p:cNvSpPr>
            <a:spLocks noGrp="1"/>
          </p:cNvSpPr>
          <p:nvPr>
            <p:ph type="dt" sz="half" idx="10"/>
          </p:nvPr>
        </p:nvSpPr>
        <p:spPr/>
        <p:txBody>
          <a:bodyPr/>
          <a:lstStyle/>
          <a:p>
            <a:fld id="{FE4A0F84-32B7-429B-BA97-9EE4E461B9DF}"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7</a:t>
            </a:fld>
            <a:endParaRPr lang="en-IN" dirty="0"/>
          </a:p>
        </p:txBody>
      </p:sp>
      <p:sp>
        <p:nvSpPr>
          <p:cNvPr id="9" name="TextBox 8">
            <a:extLst>
              <a:ext uri="{FF2B5EF4-FFF2-40B4-BE49-F238E27FC236}">
                <a16:creationId xmlns:a16="http://schemas.microsoft.com/office/drawing/2014/main" id="{067567D3-B65B-4752-8952-9BA2BB96D648}"/>
              </a:ext>
            </a:extLst>
          </p:cNvPr>
          <p:cNvSpPr txBox="1"/>
          <p:nvPr/>
        </p:nvSpPr>
        <p:spPr>
          <a:xfrm>
            <a:off x="457199" y="1313984"/>
            <a:ext cx="11377749"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UNIT-IV: </a:t>
            </a:r>
            <a:r>
              <a:rPr lang="en-US" sz="2800" b="1" dirty="0"/>
              <a:t>Backtracking, Branch and Bound</a:t>
            </a:r>
            <a:endParaRPr lang="en-IN" sz="2800" b="1" dirty="0"/>
          </a:p>
        </p:txBody>
      </p:sp>
      <p:graphicFrame>
        <p:nvGraphicFramePr>
          <p:cNvPr id="10" name="Content Placeholder 9">
            <a:extLst>
              <a:ext uri="{FF2B5EF4-FFF2-40B4-BE49-F238E27FC236}">
                <a16:creationId xmlns:a16="http://schemas.microsoft.com/office/drawing/2014/main" id="{5BD0C95D-4009-4941-AFEE-6336F152559B}"/>
              </a:ext>
            </a:extLst>
          </p:cNvPr>
          <p:cNvGraphicFramePr>
            <a:graphicFrameLocks noGrp="1"/>
          </p:cNvGraphicFramePr>
          <p:nvPr>
            <p:ph idx="1"/>
            <p:extLst>
              <p:ext uri="{D42A27DB-BD31-4B8C-83A1-F6EECF244321}">
                <p14:modId xmlns:p14="http://schemas.microsoft.com/office/powerpoint/2010/main" val="2064482024"/>
              </p:ext>
            </p:extLst>
          </p:nvPr>
        </p:nvGraphicFramePr>
        <p:xfrm>
          <a:off x="457199" y="2272752"/>
          <a:ext cx="11377749" cy="3657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26695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
            <a:ext cx="9982200" cy="685800"/>
          </a:xfrm>
        </p:spPr>
        <p:txBody>
          <a:bodyPr>
            <a:normAutofit/>
          </a:bodyPr>
          <a:lstStyle/>
          <a:p>
            <a:pPr algn="ctr"/>
            <a:r>
              <a:rPr lang="en-US" sz="3200" b="1" dirty="0"/>
              <a:t>Syllabus Contents</a:t>
            </a:r>
          </a:p>
        </p:txBody>
      </p:sp>
      <p:sp>
        <p:nvSpPr>
          <p:cNvPr id="4" name="Date Placeholder 3"/>
          <p:cNvSpPr>
            <a:spLocks noGrp="1"/>
          </p:cNvSpPr>
          <p:nvPr>
            <p:ph type="dt" sz="half" idx="10"/>
          </p:nvPr>
        </p:nvSpPr>
        <p:spPr/>
        <p:txBody>
          <a:bodyPr/>
          <a:lstStyle/>
          <a:p>
            <a:fld id="{D765E56B-7083-404B-A162-F6B23DFE3217}"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8</a:t>
            </a:fld>
            <a:endParaRPr lang="en-IN" dirty="0"/>
          </a:p>
        </p:txBody>
      </p:sp>
      <p:sp>
        <p:nvSpPr>
          <p:cNvPr id="9" name="TextBox 8">
            <a:extLst>
              <a:ext uri="{FF2B5EF4-FFF2-40B4-BE49-F238E27FC236}">
                <a16:creationId xmlns:a16="http://schemas.microsoft.com/office/drawing/2014/main" id="{067567D3-B65B-4752-8952-9BA2BB96D648}"/>
              </a:ext>
            </a:extLst>
          </p:cNvPr>
          <p:cNvSpPr txBox="1"/>
          <p:nvPr/>
        </p:nvSpPr>
        <p:spPr>
          <a:xfrm>
            <a:off x="838200" y="1313985"/>
            <a:ext cx="10515600" cy="523220"/>
          </a:xfrm>
          <a:prstGeom prst="rect">
            <a:avLst/>
          </a:prstGeom>
          <a:solidFill>
            <a:srgbClr val="FF8F8F"/>
          </a:soli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t>UNIT-V: </a:t>
            </a:r>
            <a:r>
              <a:rPr lang="en-US" sz="2800" b="1" dirty="0"/>
              <a:t>Advanced Data Structures</a:t>
            </a:r>
            <a:endParaRPr lang="en-IN" sz="2800" b="1" dirty="0"/>
          </a:p>
        </p:txBody>
      </p:sp>
      <p:graphicFrame>
        <p:nvGraphicFramePr>
          <p:cNvPr id="10" name="Content Placeholder 9">
            <a:extLst>
              <a:ext uri="{FF2B5EF4-FFF2-40B4-BE49-F238E27FC236}">
                <a16:creationId xmlns:a16="http://schemas.microsoft.com/office/drawing/2014/main" id="{5BD0C95D-4009-4941-AFEE-6336F152559B}"/>
              </a:ext>
            </a:extLst>
          </p:cNvPr>
          <p:cNvGraphicFramePr>
            <a:graphicFrameLocks noGrp="1"/>
          </p:cNvGraphicFramePr>
          <p:nvPr>
            <p:ph idx="1"/>
            <p:extLst>
              <p:ext uri="{D42A27DB-BD31-4B8C-83A1-F6EECF244321}">
                <p14:modId xmlns:p14="http://schemas.microsoft.com/office/powerpoint/2010/main" val="1845886337"/>
              </p:ext>
            </p:extLst>
          </p:nvPr>
        </p:nvGraphicFramePr>
        <p:xfrm>
          <a:off x="813619" y="2514600"/>
          <a:ext cx="10515600" cy="3396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569547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A420819C-EB1F-41B0-8B7D-9DC4DE1A17CC}"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9</a:t>
            </a:fld>
            <a:endParaRPr lang="en-IN" dirty="0"/>
          </a:p>
        </p:txBody>
      </p:sp>
    </p:spTree>
    <p:extLst>
      <p:ext uri="{BB962C8B-B14F-4D97-AF65-F5344CB8AC3E}">
        <p14:creationId xmlns:p14="http://schemas.microsoft.com/office/powerpoint/2010/main" val="281171909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23851"/>
          <a:ext cx="10944497" cy="4753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5E196B3-579F-4706-9140-B58B008460BA}"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10</a:t>
            </a:fld>
            <a:endParaRPr lang="en-IN" dirty="0"/>
          </a:p>
        </p:txBody>
      </p:sp>
    </p:spTree>
    <p:extLst>
      <p:ext uri="{BB962C8B-B14F-4D97-AF65-F5344CB8AC3E}">
        <p14:creationId xmlns:p14="http://schemas.microsoft.com/office/powerpoint/2010/main" val="328735600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2C10B1A0-BD6A-4A45-A56A-A38741302F68}"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11</a:t>
            </a:fld>
            <a:endParaRPr lang="en-IN" dirty="0"/>
          </a:p>
        </p:txBody>
      </p:sp>
    </p:spTree>
    <p:extLst>
      <p:ext uri="{BB962C8B-B14F-4D97-AF65-F5344CB8AC3E}">
        <p14:creationId xmlns:p14="http://schemas.microsoft.com/office/powerpoint/2010/main" val="426420654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0BFA3D9A-51D2-490D-BDAF-21044F4AC414}"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12</a:t>
            </a:fld>
            <a:endParaRPr lang="en-IN" dirty="0"/>
          </a:p>
        </p:txBody>
      </p:sp>
    </p:spTree>
    <p:extLst>
      <p:ext uri="{BB962C8B-B14F-4D97-AF65-F5344CB8AC3E}">
        <p14:creationId xmlns:p14="http://schemas.microsoft.com/office/powerpoint/2010/main" val="99484599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273AC943-9506-4A14-A78A-FB62179E506D}"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13</a:t>
            </a:fld>
            <a:endParaRPr lang="en-IN" dirty="0"/>
          </a:p>
        </p:txBody>
      </p:sp>
    </p:spTree>
    <p:extLst>
      <p:ext uri="{BB962C8B-B14F-4D97-AF65-F5344CB8AC3E}">
        <p14:creationId xmlns:p14="http://schemas.microsoft.com/office/powerpoint/2010/main" val="194480442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60883"/>
            <a:ext cx="9982200" cy="1325563"/>
          </a:xfrm>
        </p:spPr>
        <p:txBody>
          <a:bodyPr/>
          <a:lstStyle/>
          <a:p>
            <a:r>
              <a:rPr lang="en-US" sz="3600" dirty="0"/>
              <a:t>Branch-wise Applications</a:t>
            </a:r>
          </a:p>
        </p:txBody>
      </p:sp>
      <p:graphicFrame>
        <p:nvGraphicFramePr>
          <p:cNvPr id="7" name="Content Placeholder 6"/>
          <p:cNvGraphicFramePr>
            <a:graphicFrameLocks noGrp="1"/>
          </p:cNvGraphicFramePr>
          <p:nvPr>
            <p:ph idx="1"/>
          </p:nvPr>
        </p:nvGraphicFramePr>
        <p:xfrm>
          <a:off x="838199" y="1447329"/>
          <a:ext cx="11179629" cy="4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42D1CA03-989B-4AA3-A381-ED5B0EBBA6E3}" type="datetime1">
              <a:rPr lang="en-US" smtClean="0"/>
              <a:t>8/26/2026</a:t>
            </a:fld>
            <a:endParaRPr lang="en-IN" dirty="0"/>
          </a:p>
        </p:txBody>
      </p:sp>
      <p:sp>
        <p:nvSpPr>
          <p:cNvPr id="5" name="Footer Placeholder 4"/>
          <p:cNvSpPr>
            <a:spLocks noGrp="1"/>
          </p:cNvSpPr>
          <p:nvPr>
            <p:ph type="ftr" sz="quarter" idx="11"/>
          </p:nvPr>
        </p:nvSpPr>
        <p:spPr/>
        <p:txBody>
          <a:bodyPr/>
          <a:lstStyle/>
          <a:p>
            <a:r>
              <a:rPr lang="en-US" dirty="0"/>
              <a:t>Mr. Shamshad Ali             BCSE401: DSA-II  Unit-I                          </a:t>
            </a:r>
            <a:endParaRPr lang="en-IN" dirty="0"/>
          </a:p>
        </p:txBody>
      </p:sp>
      <p:sp>
        <p:nvSpPr>
          <p:cNvPr id="6" name="Slide Number Placeholder 5"/>
          <p:cNvSpPr>
            <a:spLocks noGrp="1"/>
          </p:cNvSpPr>
          <p:nvPr>
            <p:ph type="sldNum" sz="quarter" idx="12"/>
          </p:nvPr>
        </p:nvSpPr>
        <p:spPr/>
        <p:txBody>
          <a:bodyPr/>
          <a:lstStyle/>
          <a:p>
            <a:fld id="{C905C6F2-E09D-4EF0-B81E-C14778A9C4C1}" type="slidenum">
              <a:rPr lang="en-IN" smtClean="0"/>
              <a:t>14</a:t>
            </a:fld>
            <a:endParaRPr lang="en-IN" dirty="0"/>
          </a:p>
        </p:txBody>
      </p:sp>
    </p:spTree>
    <p:extLst>
      <p:ext uri="{BB962C8B-B14F-4D97-AF65-F5344CB8AC3E}">
        <p14:creationId xmlns:p14="http://schemas.microsoft.com/office/powerpoint/2010/main" val="7915543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21F16C-6086-C2A6-31FC-C415B97E6EEB}"/>
              </a:ext>
            </a:extLst>
          </p:cNvPr>
          <p:cNvSpPr txBox="1">
            <a:spLocks noGrp="1" noRot="1" noMove="1" noResize="1" noEditPoints="1" noAdjustHandles="1" noChangeArrowheads="1" noChangeShapeType="1"/>
          </p:cNvSpPr>
          <p:nvPr/>
        </p:nvSpPr>
        <p:spPr>
          <a:xfrm>
            <a:off x="1373155" y="817163"/>
            <a:ext cx="10411408" cy="4730590"/>
          </a:xfrm>
          <a:prstGeom prst="rect">
            <a:avLst/>
          </a:prstGeom>
          <a:noFill/>
        </p:spPr>
        <p:txBody>
          <a:bodyPr wrap="square">
            <a:spAutoFit/>
          </a:bodyPr>
          <a:lstStyle/>
          <a:p>
            <a:pPr marL="0" indent="0" algn="just">
              <a:lnSpc>
                <a:spcPct val="250000"/>
              </a:lnSpc>
              <a:buNone/>
            </a:pPr>
            <a:r>
              <a:rPr lang="en-US" sz="2400" b="1" u="sng"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STUDENTS WILL TRY TO LEARN:</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impart the basic concepts of Advanced data structures and algorithms.</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understand concepts about Trees and Graphs data structures. </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Understand basic concepts of Dynamic Programming.</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understanding the basic concepts of Backtracking</a:t>
            </a:r>
          </a:p>
          <a:p>
            <a:pPr marL="342900" indent="-342900" algn="just">
              <a:lnSpc>
                <a:spcPct val="250000"/>
              </a:lnSpc>
              <a:buFont typeface="+mj-lt"/>
              <a:buAutoNum type="arabicPeriod"/>
            </a:pPr>
            <a:r>
              <a:rPr lang="en-US" sz="2000" b="1" dirty="0">
                <a:solidFill>
                  <a:schemeClr val="tx1">
                    <a:lumMod val="95000"/>
                    <a:lumOff val="5000"/>
                  </a:schemeClr>
                </a:solidFill>
                <a:latin typeface="Times New Roman" panose="02020603050405020304" pitchFamily="18" charset="0"/>
                <a:ea typeface="ADLaM Display" panose="02010000000000000000" pitchFamily="2" charset="0"/>
                <a:cs typeface="Times New Roman" panose="02020603050405020304" pitchFamily="18" charset="0"/>
              </a:rPr>
              <a:t>To understanding the basic concepts of Height balanced trees.</a:t>
            </a:r>
          </a:p>
        </p:txBody>
      </p:sp>
      <p:sp>
        <p:nvSpPr>
          <p:cNvPr id="3" name="TextBox 2">
            <a:extLst>
              <a:ext uri="{FF2B5EF4-FFF2-40B4-BE49-F238E27FC236}">
                <a16:creationId xmlns:a16="http://schemas.microsoft.com/office/drawing/2014/main" id="{FCD360E5-0ED3-A4D5-B53F-DBC3418E1672}"/>
              </a:ext>
            </a:extLst>
          </p:cNvPr>
          <p:cNvSpPr txBox="1"/>
          <p:nvPr/>
        </p:nvSpPr>
        <p:spPr>
          <a:xfrm>
            <a:off x="2819400" y="0"/>
            <a:ext cx="8305799" cy="646331"/>
          </a:xfrm>
          <a:prstGeom prst="rect">
            <a:avLst/>
          </a:prstGeom>
          <a:noFill/>
        </p:spPr>
        <p:txBody>
          <a:bodyPr wrap="square">
            <a:spAutoFit/>
          </a:bodyPr>
          <a:lstStyle/>
          <a:p>
            <a:pPr algn="ctr"/>
            <a:r>
              <a:rPr lang="en-US" sz="3600" dirty="0">
                <a:latin typeface="+mj-lt"/>
                <a:ea typeface="+mj-ea"/>
                <a:cs typeface="+mj-cs"/>
              </a:rPr>
              <a:t>Course Objectives</a:t>
            </a:r>
          </a:p>
        </p:txBody>
      </p:sp>
    </p:spTree>
    <p:extLst>
      <p:ext uri="{BB962C8B-B14F-4D97-AF65-F5344CB8AC3E}">
        <p14:creationId xmlns:p14="http://schemas.microsoft.com/office/powerpoint/2010/main" val="2897292258"/>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838200" y="987560"/>
            <a:ext cx="10199914" cy="598264"/>
            <a:chOff x="0" y="43766"/>
            <a:chExt cx="9601200" cy="598264"/>
          </a:xfrm>
          <a:solidFill>
            <a:schemeClr val="accent1">
              <a:lumMod val="75000"/>
            </a:schemeClr>
          </a:solidFill>
          <a:scene3d>
            <a:camera prst="orthographicFront"/>
            <a:lightRig rig="flat" dir="t"/>
          </a:scene3d>
        </p:grpSpPr>
        <p:sp>
          <p:nvSpPr>
            <p:cNvPr id="10" name="Rounded Rectangle 9"/>
            <p:cNvSpPr/>
            <p:nvPr/>
          </p:nvSpPr>
          <p:spPr>
            <a:xfrm>
              <a:off x="0" y="43766"/>
              <a:ext cx="9601200" cy="598264"/>
            </a:xfrm>
            <a:prstGeom prst="roundRect">
              <a:avLst/>
            </a:prstGeom>
            <a:grp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a:lstStyle/>
            <a:p>
              <a:endParaRPr lang="en-IN"/>
            </a:p>
          </p:txBody>
        </p:sp>
        <p:sp>
          <p:nvSpPr>
            <p:cNvPr id="11" name="Rounded Rectangle 4"/>
            <p:cNvSpPr txBox="1"/>
            <p:nvPr/>
          </p:nvSpPr>
          <p:spPr>
            <a:xfrm>
              <a:off x="29205" y="72971"/>
              <a:ext cx="9542790" cy="539854"/>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b="1" kern="1200" dirty="0"/>
                <a:t>At the end of course, the student  will be able to</a:t>
              </a:r>
              <a:r>
                <a:rPr lang="en-US" sz="2800" kern="1200" dirty="0"/>
                <a:t>:</a:t>
              </a:r>
              <a:endParaRPr lang="en-IN" sz="2800" kern="1200" dirty="0"/>
            </a:p>
          </p:txBody>
        </p:sp>
      </p:grpSp>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3624974208"/>
              </p:ext>
            </p:extLst>
          </p:nvPr>
        </p:nvGraphicFramePr>
        <p:xfrm>
          <a:off x="838201" y="1756221"/>
          <a:ext cx="10168888" cy="7259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3" name="Diagram 12">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1240330694"/>
              </p:ext>
            </p:extLst>
          </p:nvPr>
        </p:nvGraphicFramePr>
        <p:xfrm>
          <a:off x="838200" y="2565325"/>
          <a:ext cx="10168887" cy="76981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4" name="Diagram 13">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798880046"/>
              </p:ext>
            </p:extLst>
          </p:nvPr>
        </p:nvGraphicFramePr>
        <p:xfrm>
          <a:off x="838200" y="3335137"/>
          <a:ext cx="10168887" cy="78812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5" name="Diagram 14">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3882830622"/>
              </p:ext>
            </p:extLst>
          </p:nvPr>
        </p:nvGraphicFramePr>
        <p:xfrm>
          <a:off x="838200" y="4208570"/>
          <a:ext cx="10168887"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16" name="Diagram 1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2259084040"/>
              </p:ext>
            </p:extLst>
          </p:nvPr>
        </p:nvGraphicFramePr>
        <p:xfrm>
          <a:off x="838201" y="4724553"/>
          <a:ext cx="10168886" cy="1537949"/>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3" name="TextBox 2">
            <a:extLst>
              <a:ext uri="{FF2B5EF4-FFF2-40B4-BE49-F238E27FC236}">
                <a16:creationId xmlns:a16="http://schemas.microsoft.com/office/drawing/2014/main" id="{025CBE0A-D800-314F-1C0B-354C60EFB3ED}"/>
              </a:ext>
            </a:extLst>
          </p:cNvPr>
          <p:cNvSpPr txBox="1"/>
          <p:nvPr/>
        </p:nvSpPr>
        <p:spPr>
          <a:xfrm>
            <a:off x="3733800" y="-50833"/>
            <a:ext cx="612549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Course Outcomes (CO’s)</a:t>
            </a:r>
          </a:p>
        </p:txBody>
      </p:sp>
    </p:spTree>
    <p:extLst>
      <p:ext uri="{BB962C8B-B14F-4D97-AF65-F5344CB8AC3E}">
        <p14:creationId xmlns:p14="http://schemas.microsoft.com/office/powerpoint/2010/main" val="669799329"/>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838200" y="987560"/>
            <a:ext cx="9601200" cy="598264"/>
            <a:chOff x="0" y="43766"/>
            <a:chExt cx="9601200" cy="598264"/>
          </a:xfrm>
          <a:scene3d>
            <a:camera prst="orthographicFront"/>
            <a:lightRig rig="flat" dir="t"/>
          </a:scene3d>
        </p:grpSpPr>
        <p:sp>
          <p:nvSpPr>
            <p:cNvPr id="10" name="Rounded Rectangle 9"/>
            <p:cNvSpPr/>
            <p:nvPr/>
          </p:nvSpPr>
          <p:spPr>
            <a:xfrm>
              <a:off x="0" y="43766"/>
              <a:ext cx="9601200" cy="598264"/>
            </a:xfrm>
            <a:prstGeom prst="roundRect">
              <a:avLst/>
            </a:prstGeom>
            <a:solidFill>
              <a:schemeClr val="accent6">
                <a:lumMod val="75000"/>
              </a:schemeClr>
            </a:soli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a:lstStyle/>
            <a:p>
              <a:endParaRPr lang="en-IN"/>
            </a:p>
          </p:txBody>
        </p:sp>
        <p:sp>
          <p:nvSpPr>
            <p:cNvPr id="11" name="Rounded Rectangle 4"/>
            <p:cNvSpPr txBox="1"/>
            <p:nvPr/>
          </p:nvSpPr>
          <p:spPr>
            <a:xfrm>
              <a:off x="29205" y="72971"/>
              <a:ext cx="9542790" cy="53985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lvl="0"/>
              <a:r>
                <a:rPr lang="en-US" sz="3200" b="1" dirty="0"/>
                <a:t>Engineering Graduates will be able to</a:t>
              </a:r>
              <a:r>
                <a:rPr lang="en-US" sz="3200" dirty="0"/>
                <a:t>:</a:t>
              </a:r>
              <a:endParaRPr lang="en-IN" sz="3200" dirty="0"/>
            </a:p>
          </p:txBody>
        </p:sp>
      </p:grpSp>
      <p:graphicFrame>
        <p:nvGraphicFramePr>
          <p:cNvPr id="17" name="Diagram 16">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2537140213"/>
              </p:ext>
            </p:extLst>
          </p:nvPr>
        </p:nvGraphicFramePr>
        <p:xfrm>
          <a:off x="1447800" y="1676400"/>
          <a:ext cx="8991600" cy="6718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8" name="Diagram 17">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2306140212"/>
              </p:ext>
            </p:extLst>
          </p:nvPr>
        </p:nvGraphicFramePr>
        <p:xfrm>
          <a:off x="1447799" y="2438400"/>
          <a:ext cx="8962395"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9" name="Diagram 18">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600410895"/>
              </p:ext>
            </p:extLst>
          </p:nvPr>
        </p:nvGraphicFramePr>
        <p:xfrm>
          <a:off x="1447800" y="3214349"/>
          <a:ext cx="8962394"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0" name="Diagram 19">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4087055176"/>
              </p:ext>
            </p:extLst>
          </p:nvPr>
        </p:nvGraphicFramePr>
        <p:xfrm>
          <a:off x="1447799" y="3976349"/>
          <a:ext cx="8991601"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1" name="Diagram 20">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3138295132"/>
              </p:ext>
            </p:extLst>
          </p:nvPr>
        </p:nvGraphicFramePr>
        <p:xfrm>
          <a:off x="1447800" y="4738349"/>
          <a:ext cx="8962394"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2" name="Diagram 21">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1914511962"/>
              </p:ext>
            </p:extLst>
          </p:nvPr>
        </p:nvGraphicFramePr>
        <p:xfrm>
          <a:off x="1447800" y="5486400"/>
          <a:ext cx="8962394"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3" name="TextBox 2">
            <a:extLst>
              <a:ext uri="{FF2B5EF4-FFF2-40B4-BE49-F238E27FC236}">
                <a16:creationId xmlns:a16="http://schemas.microsoft.com/office/drawing/2014/main" id="{5F6C01B9-19F5-B1A9-F681-6F1B147556E8}"/>
              </a:ext>
            </a:extLst>
          </p:cNvPr>
          <p:cNvSpPr txBox="1"/>
          <p:nvPr/>
        </p:nvSpPr>
        <p:spPr>
          <a:xfrm>
            <a:off x="4114800" y="-22494"/>
            <a:ext cx="612549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Program Outcomes (PO’s)</a:t>
            </a:r>
          </a:p>
        </p:txBody>
      </p:sp>
    </p:spTree>
    <p:extLst>
      <p:ext uri="{BB962C8B-B14F-4D97-AF65-F5344CB8AC3E}">
        <p14:creationId xmlns:p14="http://schemas.microsoft.com/office/powerpoint/2010/main" val="92977136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838200" y="987560"/>
            <a:ext cx="9601200" cy="598264"/>
            <a:chOff x="0" y="43766"/>
            <a:chExt cx="9601200" cy="598264"/>
          </a:xfrm>
          <a:scene3d>
            <a:camera prst="orthographicFront"/>
            <a:lightRig rig="flat" dir="t"/>
          </a:scene3d>
        </p:grpSpPr>
        <p:sp>
          <p:nvSpPr>
            <p:cNvPr id="10" name="Rounded Rectangle 9"/>
            <p:cNvSpPr/>
            <p:nvPr/>
          </p:nvSpPr>
          <p:spPr>
            <a:xfrm>
              <a:off x="0" y="43766"/>
              <a:ext cx="9601200" cy="598264"/>
            </a:xfrm>
            <a:prstGeom prst="roundRect">
              <a:avLst/>
            </a:prstGeom>
            <a:solidFill>
              <a:schemeClr val="accent6">
                <a:lumMod val="75000"/>
              </a:schemeClr>
            </a:soli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a:lstStyle/>
            <a:p>
              <a:endParaRPr lang="en-IN"/>
            </a:p>
          </p:txBody>
        </p:sp>
        <p:sp>
          <p:nvSpPr>
            <p:cNvPr id="11" name="Rounded Rectangle 4"/>
            <p:cNvSpPr txBox="1"/>
            <p:nvPr/>
          </p:nvSpPr>
          <p:spPr>
            <a:xfrm>
              <a:off x="29205" y="72971"/>
              <a:ext cx="9542790" cy="53985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lvl="0"/>
              <a:r>
                <a:rPr lang="en-US" sz="3200" b="1" dirty="0"/>
                <a:t>Engineering Graduates will be able to</a:t>
              </a:r>
              <a:r>
                <a:rPr lang="en-US" sz="3200" dirty="0"/>
                <a:t>:</a:t>
              </a:r>
              <a:endParaRPr lang="en-IN" sz="3200" dirty="0"/>
            </a:p>
          </p:txBody>
        </p:sp>
      </p:grpSp>
      <p:graphicFrame>
        <p:nvGraphicFramePr>
          <p:cNvPr id="17" name="Diagram 16">
            <a:extLst>
              <a:ext uri="{FF2B5EF4-FFF2-40B4-BE49-F238E27FC236}">
                <a16:creationId xmlns:a16="http://schemas.microsoft.com/office/drawing/2014/main" id="{82B6EEB3-4F7D-4058-90BF-7686C05591A5}"/>
              </a:ext>
            </a:extLst>
          </p:cNvPr>
          <p:cNvGraphicFramePr/>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6" name="Diagram 15">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1627615617"/>
              </p:ext>
            </p:extLst>
          </p:nvPr>
        </p:nvGraphicFramePr>
        <p:xfrm>
          <a:off x="1447799" y="1676400"/>
          <a:ext cx="8962395"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3" name="Diagram 22">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3095175806"/>
              </p:ext>
            </p:extLst>
          </p:nvPr>
        </p:nvGraphicFramePr>
        <p:xfrm>
          <a:off x="1447800" y="2438400"/>
          <a:ext cx="8962394"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4" name="Diagram 23">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714223923"/>
              </p:ext>
            </p:extLst>
          </p:nvPr>
        </p:nvGraphicFramePr>
        <p:xfrm>
          <a:off x="1447800" y="3214349"/>
          <a:ext cx="8962394"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5" name="Diagram 24">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3918854520"/>
              </p:ext>
            </p:extLst>
          </p:nvPr>
        </p:nvGraphicFramePr>
        <p:xfrm>
          <a:off x="1447799" y="3976349"/>
          <a:ext cx="8962394"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3843971093"/>
              </p:ext>
            </p:extLst>
          </p:nvPr>
        </p:nvGraphicFramePr>
        <p:xfrm>
          <a:off x="1447799" y="4738349"/>
          <a:ext cx="8962393"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3" name="TextBox 2">
            <a:extLst>
              <a:ext uri="{FF2B5EF4-FFF2-40B4-BE49-F238E27FC236}">
                <a16:creationId xmlns:a16="http://schemas.microsoft.com/office/drawing/2014/main" id="{A025FAD0-071A-8CEE-5ED1-DA169B26C8F0}"/>
              </a:ext>
            </a:extLst>
          </p:cNvPr>
          <p:cNvSpPr txBox="1"/>
          <p:nvPr/>
        </p:nvSpPr>
        <p:spPr>
          <a:xfrm>
            <a:off x="3962400" y="27039"/>
            <a:ext cx="612549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Program Outcomes (PO’s)</a:t>
            </a:r>
          </a:p>
        </p:txBody>
      </p:sp>
    </p:spTree>
    <p:extLst>
      <p:ext uri="{BB962C8B-B14F-4D97-AF65-F5344CB8AC3E}">
        <p14:creationId xmlns:p14="http://schemas.microsoft.com/office/powerpoint/2010/main" val="3030548299"/>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046153661"/>
              </p:ext>
            </p:extLst>
          </p:nvPr>
        </p:nvGraphicFramePr>
        <p:xfrm>
          <a:off x="679270" y="1361712"/>
          <a:ext cx="10674528" cy="5254095"/>
        </p:xfrm>
        <a:graphic>
          <a:graphicData uri="http://schemas.openxmlformats.org/drawingml/2006/table">
            <a:tbl>
              <a:tblPr firstRow="1" bandRow="1">
                <a:tableStyleId>{8A107856-5554-42FB-B03E-39F5DBC370BA}</a:tableStyleId>
              </a:tblPr>
              <a:tblGrid>
                <a:gridCol w="889544">
                  <a:extLst>
                    <a:ext uri="{9D8B030D-6E8A-4147-A177-3AD203B41FA5}">
                      <a16:colId xmlns:a16="http://schemas.microsoft.com/office/drawing/2014/main" val="3154463509"/>
                    </a:ext>
                  </a:extLst>
                </a:gridCol>
                <a:gridCol w="889544">
                  <a:extLst>
                    <a:ext uri="{9D8B030D-6E8A-4147-A177-3AD203B41FA5}">
                      <a16:colId xmlns:a16="http://schemas.microsoft.com/office/drawing/2014/main" val="3414881638"/>
                    </a:ext>
                  </a:extLst>
                </a:gridCol>
                <a:gridCol w="889544">
                  <a:extLst>
                    <a:ext uri="{9D8B030D-6E8A-4147-A177-3AD203B41FA5}">
                      <a16:colId xmlns:a16="http://schemas.microsoft.com/office/drawing/2014/main" val="666666321"/>
                    </a:ext>
                  </a:extLst>
                </a:gridCol>
                <a:gridCol w="889544">
                  <a:extLst>
                    <a:ext uri="{9D8B030D-6E8A-4147-A177-3AD203B41FA5}">
                      <a16:colId xmlns:a16="http://schemas.microsoft.com/office/drawing/2014/main" val="496770382"/>
                    </a:ext>
                  </a:extLst>
                </a:gridCol>
                <a:gridCol w="889544">
                  <a:extLst>
                    <a:ext uri="{9D8B030D-6E8A-4147-A177-3AD203B41FA5}">
                      <a16:colId xmlns:a16="http://schemas.microsoft.com/office/drawing/2014/main" val="1959848880"/>
                    </a:ext>
                  </a:extLst>
                </a:gridCol>
                <a:gridCol w="889544">
                  <a:extLst>
                    <a:ext uri="{9D8B030D-6E8A-4147-A177-3AD203B41FA5}">
                      <a16:colId xmlns:a16="http://schemas.microsoft.com/office/drawing/2014/main" val="221516947"/>
                    </a:ext>
                  </a:extLst>
                </a:gridCol>
                <a:gridCol w="889544">
                  <a:extLst>
                    <a:ext uri="{9D8B030D-6E8A-4147-A177-3AD203B41FA5}">
                      <a16:colId xmlns:a16="http://schemas.microsoft.com/office/drawing/2014/main" val="4104254321"/>
                    </a:ext>
                  </a:extLst>
                </a:gridCol>
                <a:gridCol w="889544">
                  <a:extLst>
                    <a:ext uri="{9D8B030D-6E8A-4147-A177-3AD203B41FA5}">
                      <a16:colId xmlns:a16="http://schemas.microsoft.com/office/drawing/2014/main" val="1718730927"/>
                    </a:ext>
                  </a:extLst>
                </a:gridCol>
                <a:gridCol w="889544">
                  <a:extLst>
                    <a:ext uri="{9D8B030D-6E8A-4147-A177-3AD203B41FA5}">
                      <a16:colId xmlns:a16="http://schemas.microsoft.com/office/drawing/2014/main" val="3588236738"/>
                    </a:ext>
                  </a:extLst>
                </a:gridCol>
                <a:gridCol w="889544">
                  <a:extLst>
                    <a:ext uri="{9D8B030D-6E8A-4147-A177-3AD203B41FA5}">
                      <a16:colId xmlns:a16="http://schemas.microsoft.com/office/drawing/2014/main" val="1239002673"/>
                    </a:ext>
                  </a:extLst>
                </a:gridCol>
                <a:gridCol w="889544">
                  <a:extLst>
                    <a:ext uri="{9D8B030D-6E8A-4147-A177-3AD203B41FA5}">
                      <a16:colId xmlns:a16="http://schemas.microsoft.com/office/drawing/2014/main" val="869507063"/>
                    </a:ext>
                  </a:extLst>
                </a:gridCol>
                <a:gridCol w="889544">
                  <a:extLst>
                    <a:ext uri="{9D8B030D-6E8A-4147-A177-3AD203B41FA5}">
                      <a16:colId xmlns:a16="http://schemas.microsoft.com/office/drawing/2014/main" val="2418104521"/>
                    </a:ext>
                  </a:extLst>
                </a:gridCol>
              </a:tblGrid>
              <a:tr h="750585">
                <a:tc>
                  <a:txBody>
                    <a:bodyPr/>
                    <a:lstStyle/>
                    <a:p>
                      <a:pPr algn="ctr">
                        <a:lnSpc>
                          <a:spcPct val="200000"/>
                        </a:lnSpc>
                      </a:pPr>
                      <a:r>
                        <a:rPr lang="en-US" dirty="0"/>
                        <a:t>CO.K</a:t>
                      </a:r>
                    </a:p>
                  </a:txBody>
                  <a:tcPr/>
                </a:tc>
                <a:tc>
                  <a:txBody>
                    <a:bodyPr/>
                    <a:lstStyle/>
                    <a:p>
                      <a:pPr algn="ctr">
                        <a:lnSpc>
                          <a:spcPct val="200000"/>
                        </a:lnSpc>
                      </a:pPr>
                      <a:r>
                        <a:rPr lang="en-US" dirty="0"/>
                        <a:t>PO1</a:t>
                      </a:r>
                    </a:p>
                  </a:txBody>
                  <a:tcPr/>
                </a:tc>
                <a:tc>
                  <a:txBody>
                    <a:bodyPr/>
                    <a:lstStyle/>
                    <a:p>
                      <a:pPr algn="ctr">
                        <a:lnSpc>
                          <a:spcPct val="200000"/>
                        </a:lnSpc>
                      </a:pPr>
                      <a:r>
                        <a:rPr lang="en-US" dirty="0"/>
                        <a:t>PO2</a:t>
                      </a:r>
                    </a:p>
                  </a:txBody>
                  <a:tcPr/>
                </a:tc>
                <a:tc>
                  <a:txBody>
                    <a:bodyPr/>
                    <a:lstStyle/>
                    <a:p>
                      <a:pPr algn="ctr">
                        <a:lnSpc>
                          <a:spcPct val="200000"/>
                        </a:lnSpc>
                      </a:pPr>
                      <a:r>
                        <a:rPr lang="en-US" dirty="0"/>
                        <a:t>PO3</a:t>
                      </a:r>
                    </a:p>
                  </a:txBody>
                  <a:tcPr/>
                </a:tc>
                <a:tc>
                  <a:txBody>
                    <a:bodyPr/>
                    <a:lstStyle/>
                    <a:p>
                      <a:pPr algn="ctr">
                        <a:lnSpc>
                          <a:spcPct val="200000"/>
                        </a:lnSpc>
                      </a:pPr>
                      <a:r>
                        <a:rPr lang="en-US" dirty="0"/>
                        <a:t>PO4</a:t>
                      </a:r>
                    </a:p>
                  </a:txBody>
                  <a:tcPr/>
                </a:tc>
                <a:tc>
                  <a:txBody>
                    <a:bodyPr/>
                    <a:lstStyle/>
                    <a:p>
                      <a:pPr algn="ctr">
                        <a:lnSpc>
                          <a:spcPct val="200000"/>
                        </a:lnSpc>
                      </a:pPr>
                      <a:r>
                        <a:rPr lang="en-US" dirty="0"/>
                        <a:t>PO5</a:t>
                      </a:r>
                    </a:p>
                  </a:txBody>
                  <a:tcPr/>
                </a:tc>
                <a:tc>
                  <a:txBody>
                    <a:bodyPr/>
                    <a:lstStyle/>
                    <a:p>
                      <a:pPr algn="ctr">
                        <a:lnSpc>
                          <a:spcPct val="200000"/>
                        </a:lnSpc>
                      </a:pPr>
                      <a:r>
                        <a:rPr lang="en-US" dirty="0"/>
                        <a:t>PO6</a:t>
                      </a:r>
                    </a:p>
                  </a:txBody>
                  <a:tcPr/>
                </a:tc>
                <a:tc>
                  <a:txBody>
                    <a:bodyPr/>
                    <a:lstStyle/>
                    <a:p>
                      <a:pPr algn="ctr">
                        <a:lnSpc>
                          <a:spcPct val="200000"/>
                        </a:lnSpc>
                      </a:pPr>
                      <a:r>
                        <a:rPr lang="en-US" dirty="0"/>
                        <a:t>PO7</a:t>
                      </a:r>
                    </a:p>
                  </a:txBody>
                  <a:tcPr/>
                </a:tc>
                <a:tc>
                  <a:txBody>
                    <a:bodyPr/>
                    <a:lstStyle/>
                    <a:p>
                      <a:pPr algn="ctr">
                        <a:lnSpc>
                          <a:spcPct val="200000"/>
                        </a:lnSpc>
                      </a:pPr>
                      <a:r>
                        <a:rPr lang="en-US" dirty="0"/>
                        <a:t>PO8</a:t>
                      </a:r>
                    </a:p>
                  </a:txBody>
                  <a:tcPr/>
                </a:tc>
                <a:tc>
                  <a:txBody>
                    <a:bodyPr/>
                    <a:lstStyle/>
                    <a:p>
                      <a:pPr algn="ctr">
                        <a:lnSpc>
                          <a:spcPct val="200000"/>
                        </a:lnSpc>
                      </a:pPr>
                      <a:r>
                        <a:rPr lang="en-US" dirty="0"/>
                        <a:t>PO9</a:t>
                      </a:r>
                    </a:p>
                  </a:txBody>
                  <a:tcPr/>
                </a:tc>
                <a:tc>
                  <a:txBody>
                    <a:bodyPr/>
                    <a:lstStyle/>
                    <a:p>
                      <a:pPr algn="ctr">
                        <a:lnSpc>
                          <a:spcPct val="200000"/>
                        </a:lnSpc>
                      </a:pPr>
                      <a:r>
                        <a:rPr lang="en-US" dirty="0"/>
                        <a:t>PO10</a:t>
                      </a:r>
                    </a:p>
                  </a:txBody>
                  <a:tcPr/>
                </a:tc>
                <a:tc>
                  <a:txBody>
                    <a:bodyPr/>
                    <a:lstStyle/>
                    <a:p>
                      <a:pPr algn="ctr">
                        <a:lnSpc>
                          <a:spcPct val="200000"/>
                        </a:lnSpc>
                      </a:pPr>
                      <a:r>
                        <a:rPr lang="en-US" dirty="0"/>
                        <a:t>PO11</a:t>
                      </a:r>
                    </a:p>
                  </a:txBody>
                  <a:tcPr/>
                </a:tc>
                <a:extLst>
                  <a:ext uri="{0D108BD9-81ED-4DB2-BD59-A6C34878D82A}">
                    <a16:rowId xmlns:a16="http://schemas.microsoft.com/office/drawing/2014/main" val="2146234316"/>
                  </a:ext>
                </a:extLst>
              </a:tr>
              <a:tr h="750585">
                <a:tc>
                  <a:txBody>
                    <a:bodyPr/>
                    <a:lstStyle/>
                    <a:p>
                      <a:pPr algn="ctr"/>
                      <a:r>
                        <a:rPr lang="en-US" b="1" dirty="0"/>
                        <a:t>CO1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81988045"/>
                  </a:ext>
                </a:extLst>
              </a:tr>
              <a:tr h="750585">
                <a:tc>
                  <a:txBody>
                    <a:bodyPr/>
                    <a:lstStyle/>
                    <a:p>
                      <a:pPr algn="ctr"/>
                      <a:r>
                        <a:rPr lang="en-US" b="1" dirty="0"/>
                        <a:t>CO2</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67715790"/>
                  </a:ext>
                </a:extLst>
              </a:tr>
              <a:tr h="750585">
                <a:tc>
                  <a:txBody>
                    <a:bodyPr/>
                    <a:lstStyle/>
                    <a:p>
                      <a:pPr algn="ctr"/>
                      <a:r>
                        <a:rPr lang="en-US" b="1" dirty="0"/>
                        <a:t>CO3</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186083476"/>
                  </a:ext>
                </a:extLst>
              </a:tr>
              <a:tr h="750585">
                <a:tc>
                  <a:txBody>
                    <a:bodyPr/>
                    <a:lstStyle/>
                    <a:p>
                      <a:pPr algn="ctr"/>
                      <a:r>
                        <a:rPr lang="en-US" b="1" dirty="0"/>
                        <a:t>CO4</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332445686"/>
                  </a:ext>
                </a:extLst>
              </a:tr>
              <a:tr h="750585">
                <a:tc>
                  <a:txBody>
                    <a:bodyPr/>
                    <a:lstStyle/>
                    <a:p>
                      <a:pPr algn="ctr"/>
                      <a:r>
                        <a:rPr lang="en-US" b="1" dirty="0"/>
                        <a:t>CO5</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42642164"/>
                  </a:ext>
                </a:extLst>
              </a:tr>
              <a:tr h="750585">
                <a:tc>
                  <a:txBody>
                    <a:bodyPr/>
                    <a:lstStyle/>
                    <a:p>
                      <a:pPr algn="ctr"/>
                      <a:r>
                        <a:rPr lang="en-US" b="1" dirty="0"/>
                        <a:t>AVG</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72856831"/>
                  </a:ext>
                </a:extLst>
              </a:tr>
            </a:tbl>
          </a:graphicData>
        </a:graphic>
      </p:graphicFrame>
      <p:sp>
        <p:nvSpPr>
          <p:cNvPr id="3" name="TextBox 2">
            <a:extLst>
              <a:ext uri="{FF2B5EF4-FFF2-40B4-BE49-F238E27FC236}">
                <a16:creationId xmlns:a16="http://schemas.microsoft.com/office/drawing/2014/main" id="{036DA83E-F277-A060-43FE-5D939FA6488C}"/>
              </a:ext>
            </a:extLst>
          </p:cNvPr>
          <p:cNvSpPr txBox="1"/>
          <p:nvPr/>
        </p:nvSpPr>
        <p:spPr>
          <a:xfrm>
            <a:off x="3733800" y="0"/>
            <a:ext cx="612549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COs-POs Mapping </a:t>
            </a:r>
          </a:p>
        </p:txBody>
      </p:sp>
    </p:spTree>
    <p:extLst>
      <p:ext uri="{BB962C8B-B14F-4D97-AF65-F5344CB8AC3E}">
        <p14:creationId xmlns:p14="http://schemas.microsoft.com/office/powerpoint/2010/main" val="1480590744"/>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3913588670"/>
              </p:ext>
            </p:extLst>
          </p:nvPr>
        </p:nvGraphicFramePr>
        <p:xfrm>
          <a:off x="533400" y="1236920"/>
          <a:ext cx="11125199" cy="5558584"/>
        </p:xfrm>
        <a:graphic>
          <a:graphicData uri="http://schemas.openxmlformats.org/drawingml/2006/table">
            <a:tbl>
              <a:tblPr firstRow="1" bandRow="1">
                <a:tableStyleId>{8A107856-5554-42FB-B03E-39F5DBC370BA}</a:tableStyleId>
              </a:tblPr>
              <a:tblGrid>
                <a:gridCol w="1047694">
                  <a:extLst>
                    <a:ext uri="{9D8B030D-6E8A-4147-A177-3AD203B41FA5}">
                      <a16:colId xmlns:a16="http://schemas.microsoft.com/office/drawing/2014/main" val="1701670029"/>
                    </a:ext>
                  </a:extLst>
                </a:gridCol>
                <a:gridCol w="2205029">
                  <a:extLst>
                    <a:ext uri="{9D8B030D-6E8A-4147-A177-3AD203B41FA5}">
                      <a16:colId xmlns:a16="http://schemas.microsoft.com/office/drawing/2014/main" val="3682706214"/>
                    </a:ext>
                  </a:extLst>
                </a:gridCol>
                <a:gridCol w="7872476">
                  <a:extLst>
                    <a:ext uri="{9D8B030D-6E8A-4147-A177-3AD203B41FA5}">
                      <a16:colId xmlns:a16="http://schemas.microsoft.com/office/drawing/2014/main" val="3014016191"/>
                    </a:ext>
                  </a:extLst>
                </a:gridCol>
              </a:tblGrid>
              <a:tr h="1023886">
                <a:tc>
                  <a:txBody>
                    <a:bodyPr/>
                    <a:lstStyle/>
                    <a:p>
                      <a:pPr algn="ctr">
                        <a:lnSpc>
                          <a:spcPct val="200000"/>
                        </a:lnSpc>
                      </a:pPr>
                      <a:r>
                        <a:rPr lang="en-US" sz="2000" dirty="0"/>
                        <a:t>S.NO</a:t>
                      </a:r>
                    </a:p>
                  </a:txBody>
                  <a:tcPr/>
                </a:tc>
                <a:tc>
                  <a:txBody>
                    <a:bodyPr/>
                    <a:lstStyle/>
                    <a:p>
                      <a:pPr algn="ctr">
                        <a:lnSpc>
                          <a:spcPct val="150000"/>
                        </a:lnSpc>
                      </a:pPr>
                      <a:r>
                        <a:rPr lang="en-US" sz="2000" dirty="0"/>
                        <a:t>PROGRAM</a:t>
                      </a:r>
                      <a:r>
                        <a:rPr lang="en-US" sz="2000" baseline="0" dirty="0"/>
                        <a:t> SPECIFIC OUTCOMES (PSO)</a:t>
                      </a:r>
                      <a:endParaRPr lang="en-US" sz="2000" dirty="0"/>
                    </a:p>
                  </a:txBody>
                  <a:tcPr/>
                </a:tc>
                <a:tc>
                  <a:txBody>
                    <a:bodyPr/>
                    <a:lstStyle/>
                    <a:p>
                      <a:pPr algn="ctr">
                        <a:lnSpc>
                          <a:spcPct val="200000"/>
                        </a:lnSpc>
                      </a:pPr>
                      <a:r>
                        <a:rPr lang="en-US" sz="2000" dirty="0"/>
                        <a:t>PSO DESCRIPTION</a:t>
                      </a:r>
                    </a:p>
                  </a:txBody>
                  <a:tcPr/>
                </a:tc>
                <a:extLst>
                  <a:ext uri="{0D108BD9-81ED-4DB2-BD59-A6C34878D82A}">
                    <a16:rowId xmlns:a16="http://schemas.microsoft.com/office/drawing/2014/main" val="4270635236"/>
                  </a:ext>
                </a:extLst>
              </a:tr>
              <a:tr h="1023886">
                <a:tc>
                  <a:txBody>
                    <a:bodyPr/>
                    <a:lstStyle/>
                    <a:p>
                      <a:pPr algn="ctr"/>
                      <a:r>
                        <a:rPr lang="en-US" b="1" dirty="0"/>
                        <a:t>1</a:t>
                      </a:r>
                    </a:p>
                  </a:txBody>
                  <a:tcPr/>
                </a:tc>
                <a:tc>
                  <a:txBody>
                    <a:bodyPr/>
                    <a:lstStyle/>
                    <a:p>
                      <a:pPr algn="ctr"/>
                      <a:r>
                        <a:rPr lang="en-US" b="1" dirty="0"/>
                        <a:t>PSO1</a:t>
                      </a:r>
                    </a:p>
                  </a:txBody>
                  <a:tcPr/>
                </a:tc>
                <a:tc>
                  <a:txBody>
                    <a:bodyPr/>
                    <a:lstStyle/>
                    <a:p>
                      <a:r>
                        <a:rPr lang="en-US" b="0" dirty="0"/>
                        <a:t>Identify</a:t>
                      </a:r>
                      <a:r>
                        <a:rPr lang="en-US" b="0" baseline="0" dirty="0"/>
                        <a:t>, analyze real world problems and design their ethical solutions using artificial intelligence, robotics, virtual/ augmented reality , data analytics, block chain technology and cloud computing.</a:t>
                      </a:r>
                      <a:endParaRPr lang="en-US" b="0" dirty="0"/>
                    </a:p>
                  </a:txBody>
                  <a:tcPr/>
                </a:tc>
                <a:extLst>
                  <a:ext uri="{0D108BD9-81ED-4DB2-BD59-A6C34878D82A}">
                    <a16:rowId xmlns:a16="http://schemas.microsoft.com/office/drawing/2014/main" val="321227321"/>
                  </a:ext>
                </a:extLst>
              </a:tr>
              <a:tr h="1023886">
                <a:tc>
                  <a:txBody>
                    <a:bodyPr/>
                    <a:lstStyle/>
                    <a:p>
                      <a:pPr algn="ctr"/>
                      <a:r>
                        <a:rPr lang="en-US" b="1" dirty="0"/>
                        <a:t>2</a:t>
                      </a:r>
                    </a:p>
                  </a:txBody>
                  <a:tcPr/>
                </a:tc>
                <a:tc>
                  <a:txBody>
                    <a:bodyPr/>
                    <a:lstStyle/>
                    <a:p>
                      <a:pPr algn="ctr"/>
                      <a:r>
                        <a:rPr lang="en-US" b="1" dirty="0"/>
                        <a:t>PSO2</a:t>
                      </a:r>
                    </a:p>
                  </a:txBody>
                  <a:tcPr/>
                </a:tc>
                <a:tc>
                  <a:txBody>
                    <a:bodyPr/>
                    <a:lstStyle/>
                    <a:p>
                      <a:r>
                        <a:rPr lang="en-US" b="0" dirty="0"/>
                        <a:t>Design</a:t>
                      </a:r>
                      <a:r>
                        <a:rPr lang="en-US" b="0" baseline="0" dirty="0"/>
                        <a:t> and Develop the hardware sensor devices and related interfacing software systems for solving complex engineering problems.</a:t>
                      </a:r>
                      <a:endParaRPr lang="en-US" b="0" dirty="0"/>
                    </a:p>
                  </a:txBody>
                  <a:tcPr/>
                </a:tc>
                <a:extLst>
                  <a:ext uri="{0D108BD9-81ED-4DB2-BD59-A6C34878D82A}">
                    <a16:rowId xmlns:a16="http://schemas.microsoft.com/office/drawing/2014/main" val="329271961"/>
                  </a:ext>
                </a:extLst>
              </a:tr>
              <a:tr h="1023886">
                <a:tc>
                  <a:txBody>
                    <a:bodyPr/>
                    <a:lstStyle/>
                    <a:p>
                      <a:pPr algn="ctr"/>
                      <a:r>
                        <a:rPr lang="en-US" b="1" dirty="0"/>
                        <a:t>3</a:t>
                      </a:r>
                    </a:p>
                  </a:txBody>
                  <a:tcPr/>
                </a:tc>
                <a:tc>
                  <a:txBody>
                    <a:bodyPr/>
                    <a:lstStyle/>
                    <a:p>
                      <a:pPr algn="ctr"/>
                      <a:r>
                        <a:rPr lang="en-US" b="1" dirty="0"/>
                        <a:t>PSO3</a:t>
                      </a:r>
                    </a:p>
                  </a:txBody>
                  <a:tcPr/>
                </a:tc>
                <a:tc>
                  <a:txBody>
                    <a:bodyPr/>
                    <a:lstStyle/>
                    <a:p>
                      <a:r>
                        <a:rPr lang="en-US" b="0" dirty="0"/>
                        <a:t>Understanding</a:t>
                      </a:r>
                      <a:r>
                        <a:rPr lang="en-US" b="0" baseline="0" dirty="0"/>
                        <a:t> inter-disciplinary computing technique and to apply them in the design of advanced computing.</a:t>
                      </a:r>
                      <a:endParaRPr lang="en-US" b="0" dirty="0"/>
                    </a:p>
                  </a:txBody>
                  <a:tcPr/>
                </a:tc>
                <a:extLst>
                  <a:ext uri="{0D108BD9-81ED-4DB2-BD59-A6C34878D82A}">
                    <a16:rowId xmlns:a16="http://schemas.microsoft.com/office/drawing/2014/main" val="1769648634"/>
                  </a:ext>
                </a:extLst>
              </a:tr>
              <a:tr h="1023886">
                <a:tc>
                  <a:txBody>
                    <a:bodyPr/>
                    <a:lstStyle/>
                    <a:p>
                      <a:pPr algn="ctr"/>
                      <a:r>
                        <a:rPr lang="en-US" b="1" dirty="0"/>
                        <a:t>4</a:t>
                      </a:r>
                    </a:p>
                  </a:txBody>
                  <a:tcPr/>
                </a:tc>
                <a:tc>
                  <a:txBody>
                    <a:bodyPr/>
                    <a:lstStyle/>
                    <a:p>
                      <a:pPr algn="ctr"/>
                      <a:r>
                        <a:rPr lang="en-US" b="1" dirty="0"/>
                        <a:t>PSO4</a:t>
                      </a:r>
                    </a:p>
                  </a:txBody>
                  <a:tcPr/>
                </a:tc>
                <a:tc>
                  <a:txBody>
                    <a:bodyPr/>
                    <a:lstStyle/>
                    <a:p>
                      <a:r>
                        <a:rPr lang="en-US" b="0" dirty="0"/>
                        <a:t>Conduct</a:t>
                      </a:r>
                      <a:r>
                        <a:rPr lang="en-US" b="0" baseline="0" dirty="0"/>
                        <a:t> investigation of complex problems with the help of technical, managerial, leadership qualities, and modern engineering tools provided by industry-sponsored laboratories.</a:t>
                      </a:r>
                      <a:endParaRPr lang="en-US" b="0" dirty="0"/>
                    </a:p>
                  </a:txBody>
                  <a:tcPr/>
                </a:tc>
                <a:extLst>
                  <a:ext uri="{0D108BD9-81ED-4DB2-BD59-A6C34878D82A}">
                    <a16:rowId xmlns:a16="http://schemas.microsoft.com/office/drawing/2014/main" val="387196294"/>
                  </a:ext>
                </a:extLst>
              </a:tr>
            </a:tbl>
          </a:graphicData>
        </a:graphic>
      </p:graphicFrame>
      <p:sp>
        <p:nvSpPr>
          <p:cNvPr id="3" name="TextBox 2">
            <a:extLst>
              <a:ext uri="{FF2B5EF4-FFF2-40B4-BE49-F238E27FC236}">
                <a16:creationId xmlns:a16="http://schemas.microsoft.com/office/drawing/2014/main" id="{DA750E27-119E-6CE5-C870-DF30F4F7279E}"/>
              </a:ext>
            </a:extLst>
          </p:cNvPr>
          <p:cNvSpPr txBox="1"/>
          <p:nvPr/>
        </p:nvSpPr>
        <p:spPr>
          <a:xfrm>
            <a:off x="2421193" y="0"/>
            <a:ext cx="920545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Program Specific Outcomes (PSO’s)</a:t>
            </a:r>
          </a:p>
        </p:txBody>
      </p:sp>
    </p:spTree>
    <p:extLst>
      <p:ext uri="{BB962C8B-B14F-4D97-AF65-F5344CB8AC3E}">
        <p14:creationId xmlns:p14="http://schemas.microsoft.com/office/powerpoint/2010/main" val="1991672099"/>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162593" y="1255243"/>
          <a:ext cx="10097590" cy="4871238"/>
        </p:xfrm>
        <a:graphic>
          <a:graphicData uri="http://schemas.openxmlformats.org/drawingml/2006/table">
            <a:tbl>
              <a:tblPr firstRow="1" bandRow="1">
                <a:tableStyleId>{5C22544A-7EE6-4342-B048-85BDC9FD1C3A}</a:tableStyleId>
              </a:tblPr>
              <a:tblGrid>
                <a:gridCol w="2019518">
                  <a:extLst>
                    <a:ext uri="{9D8B030D-6E8A-4147-A177-3AD203B41FA5}">
                      <a16:colId xmlns:a16="http://schemas.microsoft.com/office/drawing/2014/main" val="1881094431"/>
                    </a:ext>
                  </a:extLst>
                </a:gridCol>
                <a:gridCol w="2019518">
                  <a:extLst>
                    <a:ext uri="{9D8B030D-6E8A-4147-A177-3AD203B41FA5}">
                      <a16:colId xmlns:a16="http://schemas.microsoft.com/office/drawing/2014/main" val="2323108497"/>
                    </a:ext>
                  </a:extLst>
                </a:gridCol>
                <a:gridCol w="2019518">
                  <a:extLst>
                    <a:ext uri="{9D8B030D-6E8A-4147-A177-3AD203B41FA5}">
                      <a16:colId xmlns:a16="http://schemas.microsoft.com/office/drawing/2014/main" val="325512509"/>
                    </a:ext>
                  </a:extLst>
                </a:gridCol>
                <a:gridCol w="2019518">
                  <a:extLst>
                    <a:ext uri="{9D8B030D-6E8A-4147-A177-3AD203B41FA5}">
                      <a16:colId xmlns:a16="http://schemas.microsoft.com/office/drawing/2014/main" val="1250398703"/>
                    </a:ext>
                  </a:extLst>
                </a:gridCol>
                <a:gridCol w="2019518">
                  <a:extLst>
                    <a:ext uri="{9D8B030D-6E8A-4147-A177-3AD203B41FA5}">
                      <a16:colId xmlns:a16="http://schemas.microsoft.com/office/drawing/2014/main" val="3836109790"/>
                    </a:ext>
                  </a:extLst>
                </a:gridCol>
              </a:tblGrid>
              <a:tr h="811873">
                <a:tc>
                  <a:txBody>
                    <a:bodyPr/>
                    <a:lstStyle/>
                    <a:p>
                      <a:pPr algn="ctr">
                        <a:lnSpc>
                          <a:spcPct val="250000"/>
                        </a:lnSpc>
                      </a:pPr>
                      <a:r>
                        <a:rPr lang="en-US" b="1" dirty="0"/>
                        <a:t>CO.K</a:t>
                      </a:r>
                    </a:p>
                  </a:txBody>
                  <a:tcPr/>
                </a:tc>
                <a:tc>
                  <a:txBody>
                    <a:bodyPr/>
                    <a:lstStyle/>
                    <a:p>
                      <a:pPr algn="ctr">
                        <a:lnSpc>
                          <a:spcPct val="250000"/>
                        </a:lnSpc>
                      </a:pPr>
                      <a:r>
                        <a:rPr lang="en-US" b="1" dirty="0"/>
                        <a:t>PSO1</a:t>
                      </a:r>
                    </a:p>
                  </a:txBody>
                  <a:tcPr/>
                </a:tc>
                <a:tc>
                  <a:txBody>
                    <a:bodyPr/>
                    <a:lstStyle/>
                    <a:p>
                      <a:pPr algn="ctr">
                        <a:lnSpc>
                          <a:spcPct val="250000"/>
                        </a:lnSpc>
                      </a:pPr>
                      <a:r>
                        <a:rPr lang="en-US" b="1" dirty="0"/>
                        <a:t>PSO2</a:t>
                      </a:r>
                    </a:p>
                  </a:txBody>
                  <a:tcPr/>
                </a:tc>
                <a:tc>
                  <a:txBody>
                    <a:bodyPr/>
                    <a:lstStyle/>
                    <a:p>
                      <a:pPr algn="ctr">
                        <a:lnSpc>
                          <a:spcPct val="250000"/>
                        </a:lnSpc>
                      </a:pPr>
                      <a:r>
                        <a:rPr lang="en-US" b="1" dirty="0"/>
                        <a:t>PSO3</a:t>
                      </a:r>
                    </a:p>
                  </a:txBody>
                  <a:tcPr/>
                </a:tc>
                <a:tc>
                  <a:txBody>
                    <a:bodyPr/>
                    <a:lstStyle/>
                    <a:p>
                      <a:pPr algn="ctr">
                        <a:lnSpc>
                          <a:spcPct val="250000"/>
                        </a:lnSpc>
                      </a:pPr>
                      <a:r>
                        <a:rPr lang="en-US" b="1" dirty="0"/>
                        <a:t>PSO4</a:t>
                      </a:r>
                    </a:p>
                  </a:txBody>
                  <a:tcPr/>
                </a:tc>
                <a:extLst>
                  <a:ext uri="{0D108BD9-81ED-4DB2-BD59-A6C34878D82A}">
                    <a16:rowId xmlns:a16="http://schemas.microsoft.com/office/drawing/2014/main" val="827353242"/>
                  </a:ext>
                </a:extLst>
              </a:tr>
              <a:tr h="811873">
                <a:tc>
                  <a:txBody>
                    <a:bodyPr/>
                    <a:lstStyle/>
                    <a:p>
                      <a:pPr algn="ctr">
                        <a:lnSpc>
                          <a:spcPct val="200000"/>
                        </a:lnSpc>
                      </a:pPr>
                      <a:r>
                        <a:rPr lang="en-US" b="1" dirty="0"/>
                        <a:t>CO1</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916745731"/>
                  </a:ext>
                </a:extLst>
              </a:tr>
              <a:tr h="811873">
                <a:tc>
                  <a:txBody>
                    <a:bodyPr/>
                    <a:lstStyle/>
                    <a:p>
                      <a:pPr algn="ctr">
                        <a:lnSpc>
                          <a:spcPct val="200000"/>
                        </a:lnSpc>
                      </a:pPr>
                      <a:r>
                        <a:rPr lang="en-US" b="1" dirty="0"/>
                        <a:t>CO2</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9663035"/>
                  </a:ext>
                </a:extLst>
              </a:tr>
              <a:tr h="811873">
                <a:tc>
                  <a:txBody>
                    <a:bodyPr/>
                    <a:lstStyle/>
                    <a:p>
                      <a:pPr algn="ctr">
                        <a:lnSpc>
                          <a:spcPct val="200000"/>
                        </a:lnSpc>
                      </a:pPr>
                      <a:r>
                        <a:rPr lang="en-US" b="1" dirty="0"/>
                        <a:t>CO3</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07420843"/>
                  </a:ext>
                </a:extLst>
              </a:tr>
              <a:tr h="811873">
                <a:tc>
                  <a:txBody>
                    <a:bodyPr/>
                    <a:lstStyle/>
                    <a:p>
                      <a:pPr algn="ctr">
                        <a:lnSpc>
                          <a:spcPct val="200000"/>
                        </a:lnSpc>
                      </a:pPr>
                      <a:r>
                        <a:rPr lang="en-US" b="1" dirty="0"/>
                        <a:t>CO4</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59938974"/>
                  </a:ext>
                </a:extLst>
              </a:tr>
              <a:tr h="811873">
                <a:tc>
                  <a:txBody>
                    <a:bodyPr/>
                    <a:lstStyle/>
                    <a:p>
                      <a:pPr algn="ctr">
                        <a:lnSpc>
                          <a:spcPct val="200000"/>
                        </a:lnSpc>
                      </a:pPr>
                      <a:r>
                        <a:rPr lang="en-US" b="1" dirty="0"/>
                        <a:t>CO5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720681667"/>
                  </a:ext>
                </a:extLst>
              </a:tr>
            </a:tbl>
          </a:graphicData>
        </a:graphic>
      </p:graphicFrame>
      <p:sp>
        <p:nvSpPr>
          <p:cNvPr id="3" name="TextBox 2">
            <a:extLst>
              <a:ext uri="{FF2B5EF4-FFF2-40B4-BE49-F238E27FC236}">
                <a16:creationId xmlns:a16="http://schemas.microsoft.com/office/drawing/2014/main" id="{BEDB7DF3-974B-EE1F-F6A7-7797C745139C}"/>
              </a:ext>
            </a:extLst>
          </p:cNvPr>
          <p:cNvSpPr txBox="1"/>
          <p:nvPr/>
        </p:nvSpPr>
        <p:spPr>
          <a:xfrm>
            <a:off x="3657600" y="0"/>
            <a:ext cx="612549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CO’s-PSO’s Mapping</a:t>
            </a:r>
          </a:p>
        </p:txBody>
      </p:sp>
    </p:spTree>
    <p:extLst>
      <p:ext uri="{BB962C8B-B14F-4D97-AF65-F5344CB8AC3E}">
        <p14:creationId xmlns:p14="http://schemas.microsoft.com/office/powerpoint/2010/main" val="333719613"/>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nvGraphicFramePr>
        <p:xfrm>
          <a:off x="600891" y="928671"/>
          <a:ext cx="11011989" cy="5257800"/>
        </p:xfrm>
        <a:graphic>
          <a:graphicData uri="http://schemas.openxmlformats.org/drawingml/2006/table">
            <a:tbl>
              <a:tblPr firstRow="1" bandRow="1">
                <a:tableStyleId>{8A107856-5554-42FB-B03E-39F5DBC370BA}</a:tableStyleId>
              </a:tblPr>
              <a:tblGrid>
                <a:gridCol w="2176521">
                  <a:extLst>
                    <a:ext uri="{9D8B030D-6E8A-4147-A177-3AD203B41FA5}">
                      <a16:colId xmlns:a16="http://schemas.microsoft.com/office/drawing/2014/main" val="2793308587"/>
                    </a:ext>
                  </a:extLst>
                </a:gridCol>
                <a:gridCol w="8835468">
                  <a:extLst>
                    <a:ext uri="{9D8B030D-6E8A-4147-A177-3AD203B41FA5}">
                      <a16:colId xmlns:a16="http://schemas.microsoft.com/office/drawing/2014/main" val="1633800987"/>
                    </a:ext>
                  </a:extLst>
                </a:gridCol>
              </a:tblGrid>
              <a:tr h="370840">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US" sz="1800" b="1" dirty="0">
                          <a:ln w="0"/>
                          <a:solidFill>
                            <a:schemeClr val="tx1"/>
                          </a:solidFill>
                          <a:effectLst>
                            <a:outerShdw blurRad="38100" dist="19050" dir="2700000" algn="tl" rotWithShape="0">
                              <a:schemeClr val="dk1">
                                <a:alpha val="40000"/>
                              </a:schemeClr>
                            </a:outerShdw>
                          </a:effectLst>
                        </a:rPr>
                        <a:t>PROGRAM EDUCATIONAL OBJECTIVES (PEO’s)</a:t>
                      </a:r>
                    </a:p>
                  </a:txBody>
                  <a:tcPr/>
                </a:tc>
                <a:tc>
                  <a:txBody>
                    <a:bodyPr/>
                    <a:lstStyle/>
                    <a:p>
                      <a:pPr algn="ctr">
                        <a:lnSpc>
                          <a:spcPct val="300000"/>
                        </a:lnSpc>
                      </a:pPr>
                      <a:r>
                        <a:rPr lang="en-US" sz="2400" dirty="0"/>
                        <a:t>PEO’s DESCRIPTION</a:t>
                      </a:r>
                    </a:p>
                  </a:txBody>
                  <a:tcPr/>
                </a:tc>
                <a:extLst>
                  <a:ext uri="{0D108BD9-81ED-4DB2-BD59-A6C34878D82A}">
                    <a16:rowId xmlns:a16="http://schemas.microsoft.com/office/drawing/2014/main" val="479901499"/>
                  </a:ext>
                </a:extLst>
              </a:tr>
              <a:tr h="370840">
                <a:tc>
                  <a:txBody>
                    <a:bodyPr/>
                    <a:lstStyle/>
                    <a:p>
                      <a:pPr algn="ctr">
                        <a:lnSpc>
                          <a:spcPct val="200000"/>
                        </a:lnSpc>
                      </a:pPr>
                      <a:r>
                        <a:rPr lang="en-US" b="1" dirty="0"/>
                        <a:t>PEO1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To have an excellent scientific and engineering breadth so as to comprehend, analyze, design and provide sustainable solutions for real-life problems using state-of-the-art technologies.</a:t>
                      </a:r>
                    </a:p>
                    <a:p>
                      <a:endParaRPr lang="en-US" dirty="0"/>
                    </a:p>
                  </a:txBody>
                  <a:tcPr/>
                </a:tc>
                <a:extLst>
                  <a:ext uri="{0D108BD9-81ED-4DB2-BD59-A6C34878D82A}">
                    <a16:rowId xmlns:a16="http://schemas.microsoft.com/office/drawing/2014/main" val="3906079693"/>
                  </a:ext>
                </a:extLst>
              </a:tr>
              <a:tr h="370840">
                <a:tc>
                  <a:txBody>
                    <a:bodyPr/>
                    <a:lstStyle/>
                    <a:p>
                      <a:pPr algn="ctr">
                        <a:lnSpc>
                          <a:spcPct val="200000"/>
                        </a:lnSpc>
                      </a:pPr>
                      <a:r>
                        <a:rPr lang="en-US" b="1" dirty="0"/>
                        <a:t>PEO2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To have a successful career in industries, to pursue higher studies or to support entrepreneurial endeavors and to face the global challenges.</a:t>
                      </a:r>
                    </a:p>
                    <a:p>
                      <a:endParaRPr lang="en-US" dirty="0"/>
                    </a:p>
                  </a:txBody>
                  <a:tcPr/>
                </a:tc>
                <a:extLst>
                  <a:ext uri="{0D108BD9-81ED-4DB2-BD59-A6C34878D82A}">
                    <a16:rowId xmlns:a16="http://schemas.microsoft.com/office/drawing/2014/main" val="3429283668"/>
                  </a:ext>
                </a:extLst>
              </a:tr>
              <a:tr h="370840">
                <a:tc>
                  <a:txBody>
                    <a:bodyPr/>
                    <a:lstStyle/>
                    <a:p>
                      <a:pPr algn="ctr">
                        <a:lnSpc>
                          <a:spcPct val="200000"/>
                        </a:lnSpc>
                      </a:pPr>
                      <a:r>
                        <a:rPr lang="en-US" b="1" dirty="0"/>
                        <a:t>PEO3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To have an effective communication skills, professional attitude, ethical values and a desire to learn specific knowledge in emerging trends, technologies for research, innovation and product development and contribution to society.</a:t>
                      </a:r>
                    </a:p>
                    <a:p>
                      <a:endParaRPr lang="en-US" dirty="0"/>
                    </a:p>
                  </a:txBody>
                  <a:tcPr/>
                </a:tc>
                <a:extLst>
                  <a:ext uri="{0D108BD9-81ED-4DB2-BD59-A6C34878D82A}">
                    <a16:rowId xmlns:a16="http://schemas.microsoft.com/office/drawing/2014/main" val="3702885319"/>
                  </a:ext>
                </a:extLst>
              </a:tr>
              <a:tr h="370840">
                <a:tc>
                  <a:txBody>
                    <a:bodyPr/>
                    <a:lstStyle/>
                    <a:p>
                      <a:pPr algn="ctr">
                        <a:lnSpc>
                          <a:spcPct val="200000"/>
                        </a:lnSpc>
                      </a:pPr>
                      <a:r>
                        <a:rPr lang="en-US" b="1" dirty="0"/>
                        <a:t>PEO4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To have life-long learning for up-skilling and re-skilling for a successful professional career as an engineer, scientist, entrepreneur or bureaucrat for the betterment of the society.</a:t>
                      </a:r>
                    </a:p>
                    <a:p>
                      <a:endParaRPr lang="en-US" dirty="0"/>
                    </a:p>
                  </a:txBody>
                  <a:tcPr/>
                </a:tc>
                <a:extLst>
                  <a:ext uri="{0D108BD9-81ED-4DB2-BD59-A6C34878D82A}">
                    <a16:rowId xmlns:a16="http://schemas.microsoft.com/office/drawing/2014/main" val="3981965079"/>
                  </a:ext>
                </a:extLst>
              </a:tr>
            </a:tbl>
          </a:graphicData>
        </a:graphic>
      </p:graphicFrame>
      <p:sp>
        <p:nvSpPr>
          <p:cNvPr id="3" name="TextBox 2">
            <a:extLst>
              <a:ext uri="{FF2B5EF4-FFF2-40B4-BE49-F238E27FC236}">
                <a16:creationId xmlns:a16="http://schemas.microsoft.com/office/drawing/2014/main" id="{4CAE9905-FE33-2E43-5328-BF94E7C6530E}"/>
              </a:ext>
            </a:extLst>
          </p:cNvPr>
          <p:cNvSpPr txBox="1"/>
          <p:nvPr/>
        </p:nvSpPr>
        <p:spPr>
          <a:xfrm>
            <a:off x="2926080" y="0"/>
            <a:ext cx="86868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Program Educational Objectives (PEO’s)</a:t>
            </a:r>
          </a:p>
        </p:txBody>
      </p:sp>
    </p:spTree>
    <p:extLst>
      <p:ext uri="{BB962C8B-B14F-4D97-AF65-F5344CB8AC3E}">
        <p14:creationId xmlns:p14="http://schemas.microsoft.com/office/powerpoint/2010/main" val="682805691"/>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2"/>
          <p:cNvGraphicFramePr>
            <a:graphicFrameLocks/>
          </p:cNvGraphicFramePr>
          <p:nvPr>
            <p:extLst>
              <p:ext uri="{D42A27DB-BD31-4B8C-83A1-F6EECF244321}">
                <p14:modId xmlns:p14="http://schemas.microsoft.com/office/powerpoint/2010/main" val="1672711681"/>
              </p:ext>
            </p:extLst>
          </p:nvPr>
        </p:nvGraphicFramePr>
        <p:xfrm>
          <a:off x="1254034" y="1447800"/>
          <a:ext cx="9993086" cy="4526280"/>
        </p:xfrm>
        <a:graphic>
          <a:graphicData uri="http://schemas.openxmlformats.org/drawingml/2006/table">
            <a:tbl>
              <a:tblPr firstRow="1" bandRow="1">
                <a:tableStyleId>{8A107856-5554-42FB-B03E-39F5DBC370BA}</a:tableStyleId>
              </a:tblPr>
              <a:tblGrid>
                <a:gridCol w="1828540">
                  <a:extLst>
                    <a:ext uri="{9D8B030D-6E8A-4147-A177-3AD203B41FA5}">
                      <a16:colId xmlns:a16="http://schemas.microsoft.com/office/drawing/2014/main" val="1748147264"/>
                    </a:ext>
                  </a:extLst>
                </a:gridCol>
                <a:gridCol w="4219303">
                  <a:extLst>
                    <a:ext uri="{9D8B030D-6E8A-4147-A177-3AD203B41FA5}">
                      <a16:colId xmlns:a16="http://schemas.microsoft.com/office/drawing/2014/main" val="129110540"/>
                    </a:ext>
                  </a:extLst>
                </a:gridCol>
                <a:gridCol w="3945243">
                  <a:extLst>
                    <a:ext uri="{9D8B030D-6E8A-4147-A177-3AD203B41FA5}">
                      <a16:colId xmlns:a16="http://schemas.microsoft.com/office/drawing/2014/main" val="3487938197"/>
                    </a:ext>
                  </a:extLst>
                </a:gridCol>
              </a:tblGrid>
              <a:tr h="609600">
                <a:tc>
                  <a:txBody>
                    <a:bodyPr/>
                    <a:lstStyle/>
                    <a:p>
                      <a:pPr algn="ctr">
                        <a:lnSpc>
                          <a:spcPct val="200000"/>
                        </a:lnSpc>
                      </a:pPr>
                      <a:r>
                        <a:rPr lang="en-US" dirty="0"/>
                        <a:t>S.NO</a:t>
                      </a:r>
                    </a:p>
                  </a:txBody>
                  <a:tcPr/>
                </a:tc>
                <a:tc>
                  <a:txBody>
                    <a:bodyPr/>
                    <a:lstStyle/>
                    <a:p>
                      <a:pPr algn="ctr">
                        <a:lnSpc>
                          <a:spcPct val="200000"/>
                        </a:lnSpc>
                      </a:pPr>
                      <a:r>
                        <a:rPr lang="en-US" dirty="0"/>
                        <a:t>TOPIC</a:t>
                      </a:r>
                    </a:p>
                  </a:txBody>
                  <a:tcPr/>
                </a:tc>
                <a:tc>
                  <a:txBody>
                    <a:bodyPr/>
                    <a:lstStyle/>
                    <a:p>
                      <a:pPr algn="ctr">
                        <a:lnSpc>
                          <a:spcPct val="200000"/>
                        </a:lnSpc>
                      </a:pPr>
                      <a:r>
                        <a:rPr lang="en-US" dirty="0"/>
                        <a:t>UNDERSTANDING</a:t>
                      </a:r>
                    </a:p>
                  </a:txBody>
                  <a:tcPr/>
                </a:tc>
                <a:extLst>
                  <a:ext uri="{0D108BD9-81ED-4DB2-BD59-A6C34878D82A}">
                    <a16:rowId xmlns:a16="http://schemas.microsoft.com/office/drawing/2014/main" val="2802019758"/>
                  </a:ext>
                </a:extLst>
              </a:tr>
              <a:tr h="370840">
                <a:tc>
                  <a:txBody>
                    <a:bodyPr/>
                    <a:lstStyle/>
                    <a:p>
                      <a:pPr algn="ctr">
                        <a:lnSpc>
                          <a:spcPct val="250000"/>
                        </a:lnSpc>
                      </a:pPr>
                      <a:r>
                        <a:rPr lang="en-US" dirty="0"/>
                        <a:t>1</a:t>
                      </a:r>
                    </a:p>
                  </a:txBody>
                  <a:tcPr/>
                </a:tc>
                <a:tc>
                  <a:txBody>
                    <a:bodyPr/>
                    <a:lstStyle/>
                    <a:p>
                      <a:pPr algn="l">
                        <a:lnSpc>
                          <a:spcPct val="150000"/>
                        </a:lnSpc>
                      </a:pPr>
                      <a:r>
                        <a:rPr lang="en-US" dirty="0"/>
                        <a:t>PROGRAMMING</a:t>
                      </a:r>
                    </a:p>
                  </a:txBody>
                  <a:tcPr/>
                </a:tc>
                <a:tc>
                  <a:txBody>
                    <a:bodyPr/>
                    <a:lstStyle/>
                    <a:p>
                      <a:r>
                        <a:rPr lang="en-US" dirty="0"/>
                        <a:t>BASIC UNDERSTANDING OF C AND PYTHON.</a:t>
                      </a:r>
                    </a:p>
                  </a:txBody>
                  <a:tcPr/>
                </a:tc>
                <a:extLst>
                  <a:ext uri="{0D108BD9-81ED-4DB2-BD59-A6C34878D82A}">
                    <a16:rowId xmlns:a16="http://schemas.microsoft.com/office/drawing/2014/main" val="2084456129"/>
                  </a:ext>
                </a:extLst>
              </a:tr>
              <a:tr h="370840">
                <a:tc>
                  <a:txBody>
                    <a:bodyPr/>
                    <a:lstStyle/>
                    <a:p>
                      <a:pPr algn="ctr">
                        <a:lnSpc>
                          <a:spcPct val="250000"/>
                        </a:lnSpc>
                      </a:pPr>
                      <a:r>
                        <a:rPr lang="en-US" dirty="0"/>
                        <a:t>2</a:t>
                      </a:r>
                    </a:p>
                  </a:txBody>
                  <a:tcPr/>
                </a:tc>
                <a:tc>
                  <a:txBody>
                    <a:bodyPr/>
                    <a:lstStyle/>
                    <a:p>
                      <a:pPr algn="l">
                        <a:lnSpc>
                          <a:spcPct val="150000"/>
                        </a:lnSpc>
                      </a:pPr>
                      <a:r>
                        <a:rPr lang="en-US" dirty="0"/>
                        <a:t>ARRAYS</a:t>
                      </a:r>
                    </a:p>
                  </a:txBody>
                  <a:tcPr/>
                </a:tc>
                <a:tc>
                  <a:txBody>
                    <a:bodyPr/>
                    <a:lstStyle/>
                    <a:p>
                      <a:r>
                        <a:rPr lang="en-US" dirty="0"/>
                        <a:t>CREATION</a:t>
                      </a:r>
                      <a:r>
                        <a:rPr lang="en-US" baseline="0" dirty="0"/>
                        <a:t> OF ARRAYS</a:t>
                      </a:r>
                    </a:p>
                  </a:txBody>
                  <a:tcPr/>
                </a:tc>
                <a:extLst>
                  <a:ext uri="{0D108BD9-81ED-4DB2-BD59-A6C34878D82A}">
                    <a16:rowId xmlns:a16="http://schemas.microsoft.com/office/drawing/2014/main" val="3023098386"/>
                  </a:ext>
                </a:extLst>
              </a:tr>
              <a:tr h="370840">
                <a:tc>
                  <a:txBody>
                    <a:bodyPr/>
                    <a:lstStyle/>
                    <a:p>
                      <a:pPr algn="ctr">
                        <a:lnSpc>
                          <a:spcPct val="250000"/>
                        </a:lnSpc>
                      </a:pPr>
                      <a:endParaRPr lang="en-US" dirty="0"/>
                    </a:p>
                  </a:txBody>
                  <a:tcPr/>
                </a:tc>
                <a:tc>
                  <a:txBody>
                    <a:bodyPr/>
                    <a:lstStyle/>
                    <a:p>
                      <a:pPr algn="l">
                        <a:lnSpc>
                          <a:spcPct val="150000"/>
                        </a:lnSpc>
                      </a:pPr>
                      <a:r>
                        <a:rPr lang="en-US" dirty="0"/>
                        <a:t>POINTERS</a:t>
                      </a:r>
                    </a:p>
                  </a:txBody>
                  <a:tcPr/>
                </a:tc>
                <a:tc>
                  <a:txBody>
                    <a:bodyPr/>
                    <a:lstStyle/>
                    <a:p>
                      <a:r>
                        <a:rPr lang="en-US" baseline="0" dirty="0"/>
                        <a:t>BASIC UNDERSTANDING OF WORKING WITH POINTERS (C LANGUAGE)</a:t>
                      </a:r>
                    </a:p>
                  </a:txBody>
                  <a:tcPr/>
                </a:tc>
                <a:extLst>
                  <a:ext uri="{0D108BD9-81ED-4DB2-BD59-A6C34878D82A}">
                    <a16:rowId xmlns:a16="http://schemas.microsoft.com/office/drawing/2014/main" val="338671535"/>
                  </a:ext>
                </a:extLst>
              </a:tr>
              <a:tr h="370840">
                <a:tc>
                  <a:txBody>
                    <a:bodyPr/>
                    <a:lstStyle/>
                    <a:p>
                      <a:pPr algn="ctr">
                        <a:lnSpc>
                          <a:spcPct val="250000"/>
                        </a:lnSpc>
                      </a:pPr>
                      <a:r>
                        <a:rPr lang="en-US" dirty="0"/>
                        <a:t>4</a:t>
                      </a:r>
                    </a:p>
                  </a:txBody>
                  <a:tcPr/>
                </a:tc>
                <a:tc>
                  <a:txBody>
                    <a:bodyPr/>
                    <a:lstStyle/>
                    <a:p>
                      <a:pPr algn="l">
                        <a:lnSpc>
                          <a:spcPct val="150000"/>
                        </a:lnSpc>
                      </a:pPr>
                      <a:r>
                        <a:rPr lang="en-US" dirty="0"/>
                        <a:t>CLASS</a:t>
                      </a:r>
                    </a:p>
                  </a:txBody>
                  <a:tcPr/>
                </a:tc>
                <a:tc>
                  <a:txBody>
                    <a:bodyPr/>
                    <a:lstStyle/>
                    <a:p>
                      <a:r>
                        <a:rPr lang="en-US" baseline="0" dirty="0"/>
                        <a:t>CREATION OF CLASS AND IT’S OBJECTS.</a:t>
                      </a:r>
                    </a:p>
                  </a:txBody>
                  <a:tcPr/>
                </a:tc>
                <a:extLst>
                  <a:ext uri="{0D108BD9-81ED-4DB2-BD59-A6C34878D82A}">
                    <a16:rowId xmlns:a16="http://schemas.microsoft.com/office/drawing/2014/main" val="1222412137"/>
                  </a:ext>
                </a:extLst>
              </a:tr>
              <a:tr h="370840">
                <a:tc>
                  <a:txBody>
                    <a:bodyPr/>
                    <a:lstStyle/>
                    <a:p>
                      <a:pPr algn="ctr">
                        <a:lnSpc>
                          <a:spcPct val="250000"/>
                        </a:lnSpc>
                      </a:pPr>
                      <a:r>
                        <a:rPr lang="en-US" dirty="0"/>
                        <a:t>5</a:t>
                      </a:r>
                    </a:p>
                  </a:txBody>
                  <a:tcPr/>
                </a:tc>
                <a:tc>
                  <a:txBody>
                    <a:bodyPr/>
                    <a:lstStyle/>
                    <a:p>
                      <a:pPr algn="l">
                        <a:lnSpc>
                          <a:spcPct val="150000"/>
                        </a:lnSpc>
                      </a:pPr>
                      <a:r>
                        <a:rPr lang="en-US" dirty="0"/>
                        <a:t>LINKED LISTS</a:t>
                      </a:r>
                    </a:p>
                  </a:txBody>
                  <a:tcPr/>
                </a:tc>
                <a:tc>
                  <a:txBody>
                    <a:bodyPr/>
                    <a:lstStyle/>
                    <a:p>
                      <a:r>
                        <a:rPr lang="en-US" baseline="0" dirty="0"/>
                        <a:t>NODE STRUCTURE, MEMORY ALLOCATIONs.</a:t>
                      </a:r>
                    </a:p>
                  </a:txBody>
                  <a:tcPr/>
                </a:tc>
                <a:extLst>
                  <a:ext uri="{0D108BD9-81ED-4DB2-BD59-A6C34878D82A}">
                    <a16:rowId xmlns:a16="http://schemas.microsoft.com/office/drawing/2014/main" val="3237714924"/>
                  </a:ext>
                </a:extLst>
              </a:tr>
            </a:tbl>
          </a:graphicData>
        </a:graphic>
      </p:graphicFrame>
      <p:sp>
        <p:nvSpPr>
          <p:cNvPr id="3" name="TextBox 2">
            <a:extLst>
              <a:ext uri="{FF2B5EF4-FFF2-40B4-BE49-F238E27FC236}">
                <a16:creationId xmlns:a16="http://schemas.microsoft.com/office/drawing/2014/main" id="{1803E50E-5976-AE59-F8BF-9D388399AFCD}"/>
              </a:ext>
            </a:extLst>
          </p:cNvPr>
          <p:cNvSpPr txBox="1"/>
          <p:nvPr/>
        </p:nvSpPr>
        <p:spPr>
          <a:xfrm>
            <a:off x="3810000" y="0"/>
            <a:ext cx="612549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rPr>
              <a:t>PRE-REQUISITE FOR THE SUBJECT</a:t>
            </a:r>
          </a:p>
        </p:txBody>
      </p:sp>
    </p:spTree>
    <p:extLst>
      <p:ext uri="{BB962C8B-B14F-4D97-AF65-F5344CB8AC3E}">
        <p14:creationId xmlns:p14="http://schemas.microsoft.com/office/powerpoint/2010/main" val="3089095929"/>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685800" y="1062445"/>
            <a:ext cx="10972800" cy="4728755"/>
          </a:xfrm>
          <a:prstGeom prst="rect">
            <a:avLst/>
          </a:prstGeom>
          <a:solidFill>
            <a:schemeClr val="accent5">
              <a:lumMod val="60000"/>
              <a:lumOff val="40000"/>
            </a:schemeClr>
          </a:solidFill>
          <a:ln w="19050">
            <a:solidFill>
              <a:schemeClr val="tx1"/>
            </a:solidFill>
          </a:ln>
        </p:spPr>
        <p:txBody>
          <a:bodyPr vert="horz" lIns="91440" tIns="45720" rIns="91440" bIns="45720" rtlCol="0">
            <a:normAutofit/>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b="1" u="sng" dirty="0"/>
              <a:t>Video Links:</a:t>
            </a:r>
          </a:p>
          <a:p>
            <a:pPr marL="342900" indent="-342900">
              <a:lnSpc>
                <a:spcPct val="200000"/>
              </a:lnSpc>
              <a:buAutoNum type="arabicPeriod"/>
            </a:pPr>
            <a:r>
              <a:rPr lang="en-US" sz="1800" dirty="0">
                <a:hlinkClick r:id="rId2"/>
              </a:rPr>
              <a:t>https://infyspringboard.onwingspan.com/web/en/app/toc/lex_auth_0125409699132620801065_shared/overview</a:t>
            </a:r>
            <a:endParaRPr lang="en-US" sz="1800" dirty="0"/>
          </a:p>
          <a:p>
            <a:pPr marL="342900" indent="-342900">
              <a:lnSpc>
                <a:spcPct val="200000"/>
              </a:lnSpc>
              <a:buAutoNum type="arabicPeriod"/>
            </a:pPr>
            <a:r>
              <a:rPr lang="en-US" sz="1800" dirty="0">
                <a:hlinkClick r:id="rId3"/>
              </a:rPr>
              <a:t>https://infyspringboard.onwingspan.com/web/en/app/toc/lex_auth_0135015662906327049522/overview</a:t>
            </a:r>
            <a:endParaRPr lang="en-US" sz="1800" dirty="0"/>
          </a:p>
          <a:p>
            <a:pPr marL="342900" indent="-342900">
              <a:lnSpc>
                <a:spcPct val="200000"/>
              </a:lnSpc>
              <a:buAutoNum type="arabicPeriod"/>
            </a:pPr>
            <a:r>
              <a:rPr lang="en-US" sz="1800" dirty="0">
                <a:hlinkClick r:id="rId4"/>
              </a:rPr>
              <a:t>https://infyspringboard.onwingspan.com/web/en/app/toc/lex_auth_01317717336104140852_shared/overview</a:t>
            </a:r>
            <a:endParaRPr lang="en-US" sz="1800" dirty="0"/>
          </a:p>
          <a:p>
            <a:pPr marL="0" indent="0">
              <a:lnSpc>
                <a:spcPct val="200000"/>
              </a:lnSpc>
              <a:buNone/>
            </a:pPr>
            <a:r>
              <a:rPr lang="en-US" sz="1800" dirty="0"/>
              <a:t>Above Links will give you a brief reference of Subject.</a:t>
            </a:r>
            <a:endParaRPr lang="en-US" sz="2800" u="sng" dirty="0"/>
          </a:p>
          <a:p>
            <a:pPr marL="0" indent="0">
              <a:buNone/>
            </a:pPr>
            <a:endParaRPr lang="en-US" dirty="0"/>
          </a:p>
          <a:p>
            <a:pPr marL="0" indent="0">
              <a:lnSpc>
                <a:spcPct val="200000"/>
              </a:lnSpc>
              <a:buNone/>
            </a:pPr>
            <a:endParaRPr lang="en-US" sz="2800" u="sng" dirty="0"/>
          </a:p>
        </p:txBody>
      </p:sp>
      <p:sp>
        <p:nvSpPr>
          <p:cNvPr id="3" name="TextBox 2">
            <a:extLst>
              <a:ext uri="{FF2B5EF4-FFF2-40B4-BE49-F238E27FC236}">
                <a16:creationId xmlns:a16="http://schemas.microsoft.com/office/drawing/2014/main" id="{179F12B8-6E0F-86AE-6B2C-68F756AE61E5}"/>
              </a:ext>
            </a:extLst>
          </p:cNvPr>
          <p:cNvSpPr txBox="1"/>
          <p:nvPr/>
        </p:nvSpPr>
        <p:spPr>
          <a:xfrm>
            <a:off x="3429000" y="152400"/>
            <a:ext cx="7772400" cy="400110"/>
          </a:xfrm>
          <a:prstGeom prst="rect">
            <a:avLst/>
          </a:prstGeom>
          <a:noFill/>
        </p:spPr>
        <p:txBody>
          <a:bodyPr wrap="square">
            <a:spAutoFit/>
          </a:bodyPr>
          <a:lstStyle/>
          <a:p>
            <a:pPr algn="ctr"/>
            <a:r>
              <a:rPr lang="en-US" sz="2000" b="1" dirty="0">
                <a:ln w="0"/>
                <a:solidFill>
                  <a:schemeClr val="tx1"/>
                </a:solidFill>
                <a:effectLst>
                  <a:outerShdw blurRad="38100" dist="19050" dir="2700000" algn="tl" rotWithShape="0">
                    <a:schemeClr val="dk1">
                      <a:alpha val="40000"/>
                    </a:schemeClr>
                  </a:outerShdw>
                </a:effectLst>
              </a:rPr>
              <a:t>BRIEF INTRODUCTION ABOUT THE SUBJECT WITH VIDEOS</a:t>
            </a:r>
          </a:p>
        </p:txBody>
      </p:sp>
    </p:spTree>
    <p:extLst>
      <p:ext uri="{BB962C8B-B14F-4D97-AF65-F5344CB8AC3E}">
        <p14:creationId xmlns:p14="http://schemas.microsoft.com/office/powerpoint/2010/main" val="4027139060"/>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2"/>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58DA0A83-75A6-4D1F-BD18-E5C09B67B280}" type="datetime1">
              <a:rPr lang="en-US" smtClean="0"/>
              <a:t>8/26/2026</a:t>
            </a:fld>
            <a:endParaRPr/>
          </a:p>
        </p:txBody>
      </p:sp>
      <p:sp>
        <p:nvSpPr>
          <p:cNvPr id="108" name="Google Shape;108;p2"/>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25</a:t>
            </a:fld>
            <a:endParaRPr/>
          </a:p>
        </p:txBody>
      </p:sp>
      <p:sp>
        <p:nvSpPr>
          <p:cNvPr id="109" name="Google Shape;109;p2"/>
          <p:cNvSpPr txBox="1"/>
          <p:nvPr/>
        </p:nvSpPr>
        <p:spPr>
          <a:xfrm>
            <a:off x="3200400" y="13652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sym typeface="Calibri"/>
              </a:rPr>
              <a:t>Brief Introduction with Video</a:t>
            </a:r>
            <a:endParaRPr dirty="0">
              <a:sym typeface="Calibri"/>
            </a:endParaRPr>
          </a:p>
        </p:txBody>
      </p:sp>
      <p:sp>
        <p:nvSpPr>
          <p:cNvPr id="111" name="Google Shape;111;p2"/>
          <p:cNvSpPr txBox="1">
            <a:spLocks noGrp="1"/>
          </p:cNvSpPr>
          <p:nvPr>
            <p:ph type="ftr" idx="11"/>
          </p:nvPr>
        </p:nvSpPr>
        <p:spPr>
          <a:xfrm>
            <a:off x="4038600" y="6356351"/>
            <a:ext cx="5029200" cy="365125"/>
          </a:xfrm>
          <a:prstGeom prst="rect">
            <a:avLst/>
          </a:prstGeom>
          <a:noFill/>
          <a:ln>
            <a:noFill/>
          </a:ln>
        </p:spPr>
        <p:txBody>
          <a:bodyPr spcFirstLastPara="1" vert="horz" wrap="square" lIns="91425" tIns="45700" rIns="91425" bIns="45700" rtlCol="0" anchor="ctr" anchorCtr="0">
            <a:noAutofit/>
          </a:bodyPr>
          <a:lstStyle/>
          <a:p>
            <a:r>
              <a:rPr lang="it-IT" dirty="0"/>
              <a:t>Mr. Shamshad Ali             BCSE401: DSA-II  Unit-I                          </a:t>
            </a:r>
            <a:endParaRPr dirty="0"/>
          </a:p>
        </p:txBody>
      </p:sp>
      <p:sp>
        <p:nvSpPr>
          <p:cNvPr id="2" name="Rectangle 1"/>
          <p:cNvSpPr/>
          <p:nvPr/>
        </p:nvSpPr>
        <p:spPr>
          <a:xfrm>
            <a:off x="762000" y="990600"/>
            <a:ext cx="10820400" cy="3785652"/>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What is Data Structure?</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Data Structures is one of the foundation courses in Computer Science. </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Essentially, it includes concepts such as stacks, queues, graphs, algorithm analysis, sorting algorithms, linked lists, and set implementations (binary search trees and hash tables).</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 Learning Data Structures helps in writing optimized code.</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It is important to develop the algorithm in the most optimized way possible which can only be achieved by someone who has a sound knowledge of all the major data structures and algorithms.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Video Link:</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hlinkClick r:id="rId3"/>
              </a:rPr>
              <a:t>https://www.youtube.com/watch?v=xLetJpcjHS0</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6965065"/>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99" y="685801"/>
            <a:ext cx="10004323" cy="5105400"/>
          </a:xfrm>
        </p:spPr>
        <p:txBody>
          <a:bodyPr>
            <a:normAutofit lnSpcReduction="10000"/>
          </a:bodyPr>
          <a:lstStyle/>
          <a:p>
            <a:endParaRPr lang="en-US" sz="2200" dirty="0"/>
          </a:p>
          <a:p>
            <a:r>
              <a:rPr lang="en-US" sz="2200" dirty="0"/>
              <a:t>Basic terminologies with Tree</a:t>
            </a:r>
          </a:p>
          <a:p>
            <a:r>
              <a:rPr lang="en-US" sz="2200" dirty="0"/>
              <a:t>Binary Tree</a:t>
            </a:r>
          </a:p>
          <a:p>
            <a:pPr lvl="1"/>
            <a:r>
              <a:rPr lang="en-US" sz="2200" dirty="0"/>
              <a:t>Binary tree representation</a:t>
            </a:r>
          </a:p>
          <a:p>
            <a:pPr lvl="1"/>
            <a:r>
              <a:rPr lang="en-US" sz="2200" dirty="0"/>
              <a:t>Binary tree traversal</a:t>
            </a:r>
          </a:p>
          <a:p>
            <a:r>
              <a:rPr lang="en-US" sz="2200" dirty="0"/>
              <a:t>Binary Search tree</a:t>
            </a:r>
          </a:p>
          <a:p>
            <a:r>
              <a:rPr lang="en-US" sz="2200" dirty="0"/>
              <a:t>Tree Traversal Algorithms</a:t>
            </a:r>
          </a:p>
          <a:p>
            <a:pPr lvl="1"/>
            <a:r>
              <a:rPr lang="en-US" sz="1800" dirty="0"/>
              <a:t>In-order and Post-Order</a:t>
            </a:r>
          </a:p>
          <a:p>
            <a:r>
              <a:rPr lang="en-US" sz="2200" dirty="0"/>
              <a:t>Threaded Binary tree</a:t>
            </a:r>
          </a:p>
          <a:p>
            <a:r>
              <a:rPr lang="en-US" sz="2200" dirty="0"/>
              <a:t>AVL Tree</a:t>
            </a:r>
          </a:p>
          <a:p>
            <a:r>
              <a:rPr lang="en-US" sz="2200" dirty="0"/>
              <a:t>B-Tree</a:t>
            </a:r>
          </a:p>
          <a:p>
            <a:r>
              <a:rPr lang="en-US" sz="2200" dirty="0"/>
              <a:t>Binary Heaps</a:t>
            </a:r>
          </a:p>
          <a:p>
            <a:r>
              <a:rPr lang="en-US" sz="2200" dirty="0"/>
              <a:t>Heap Sort</a:t>
            </a:r>
          </a:p>
        </p:txBody>
      </p:sp>
      <p:sp>
        <p:nvSpPr>
          <p:cNvPr id="6" name="Date Placeholder 5"/>
          <p:cNvSpPr>
            <a:spLocks noGrp="1"/>
          </p:cNvSpPr>
          <p:nvPr>
            <p:ph type="dt" sz="half" idx="10"/>
          </p:nvPr>
        </p:nvSpPr>
        <p:spPr/>
        <p:txBody>
          <a:bodyPr/>
          <a:lstStyle/>
          <a:p>
            <a:fld id="{9647C92E-A274-4DE0-A217-7FFF3A134839}" type="datetime1">
              <a:rPr lang="en-US" smtClean="0"/>
              <a:t>8/26/2026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Unit Content</a:t>
            </a:r>
          </a:p>
        </p:txBody>
      </p:sp>
      <p:sp>
        <p:nvSpPr>
          <p:cNvPr id="10" name="Footer Placeholder 9"/>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Tree>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439400" cy="4800600"/>
          </a:xfrm>
        </p:spPr>
        <p:txBody>
          <a:bodyPr>
            <a:normAutofit/>
          </a:bodyPr>
          <a:lstStyle/>
          <a:p>
            <a:r>
              <a:rPr lang="en-US" sz="2200" dirty="0"/>
              <a:t>To understand Tree and its use</a:t>
            </a:r>
          </a:p>
          <a:p>
            <a:pPr lvl="1"/>
            <a:r>
              <a:rPr lang="en-US" sz="2200" dirty="0"/>
              <a:t>To know basic terminologies of tree Understand Binary Tree</a:t>
            </a:r>
          </a:p>
          <a:p>
            <a:pPr lvl="1"/>
            <a:r>
              <a:rPr lang="en-US" sz="2200" dirty="0"/>
              <a:t>Binary tree representation</a:t>
            </a:r>
          </a:p>
          <a:p>
            <a:pPr lvl="1"/>
            <a:r>
              <a:rPr lang="en-US" sz="2200" dirty="0"/>
              <a:t>Binary tree traversal</a:t>
            </a:r>
          </a:p>
          <a:p>
            <a:r>
              <a:rPr lang="en-US" sz="2200" dirty="0"/>
              <a:t>To learn Binary Search tree</a:t>
            </a:r>
          </a:p>
          <a:p>
            <a:r>
              <a:rPr lang="en-US" sz="2200" dirty="0"/>
              <a:t>To study Threaded Binary tree</a:t>
            </a:r>
          </a:p>
          <a:p>
            <a:r>
              <a:rPr lang="en-US" sz="2200" dirty="0"/>
              <a:t>Understand Huffman Coding</a:t>
            </a:r>
          </a:p>
          <a:p>
            <a:r>
              <a:rPr lang="en-US" sz="2200" dirty="0"/>
              <a:t>To learn AVL Tree and B-Tree</a:t>
            </a:r>
          </a:p>
          <a:p>
            <a:r>
              <a:rPr lang="en-US" sz="2200" dirty="0"/>
              <a:t>To study Heap Sort</a:t>
            </a:r>
          </a:p>
        </p:txBody>
      </p:sp>
      <p:sp>
        <p:nvSpPr>
          <p:cNvPr id="6" name="Date Placeholder 5"/>
          <p:cNvSpPr>
            <a:spLocks noGrp="1"/>
          </p:cNvSpPr>
          <p:nvPr>
            <p:ph type="dt" sz="half" idx="10"/>
          </p:nvPr>
        </p:nvSpPr>
        <p:spPr/>
        <p:txBody>
          <a:bodyPr/>
          <a:lstStyle/>
          <a:p>
            <a:fld id="{FA88D124-95B2-45FF-8505-3A3BB7FF2C96}" type="datetime1">
              <a:rPr lang="en-US" smtClean="0"/>
              <a:t>8/26/2026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27</a:t>
            </a:fld>
            <a:endParaRPr lang="en-US"/>
          </a:p>
        </p:txBody>
      </p:sp>
      <p:sp>
        <p:nvSpPr>
          <p:cNvPr id="8"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Unit Objective</a:t>
            </a:r>
            <a:endParaRPr lang="en-US" dirty="0"/>
          </a:p>
        </p:txBody>
      </p:sp>
      <p:sp>
        <p:nvSpPr>
          <p:cNvPr id="10" name="Footer Placeholder 9"/>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Tree>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9982200" cy="4525963"/>
          </a:xfrm>
        </p:spPr>
        <p:txBody>
          <a:bodyPr>
            <a:normAutofit/>
          </a:bodyPr>
          <a:lstStyle/>
          <a:p>
            <a:r>
              <a:rPr lang="en-US" sz="2200" dirty="0"/>
              <a:t>To study Tree</a:t>
            </a:r>
          </a:p>
          <a:p>
            <a:pPr lvl="1"/>
            <a:r>
              <a:rPr lang="en-US" sz="2200" dirty="0"/>
              <a:t>Tree terminology</a:t>
            </a:r>
          </a:p>
          <a:p>
            <a:pPr lvl="1">
              <a:buNone/>
            </a:pPr>
            <a:endParaRPr lang="en-US" sz="2200" dirty="0"/>
          </a:p>
          <a:p>
            <a:r>
              <a:rPr lang="en-US" sz="2200" dirty="0"/>
              <a:t>Understand Binary Tree</a:t>
            </a:r>
          </a:p>
          <a:p>
            <a:pPr lvl="1"/>
            <a:r>
              <a:rPr lang="en-US" sz="2200" dirty="0"/>
              <a:t>Binary tree representation</a:t>
            </a:r>
          </a:p>
          <a:p>
            <a:pPr lvl="1"/>
            <a:r>
              <a:rPr lang="en-US" sz="2200" dirty="0"/>
              <a:t>Binary tree traversal</a:t>
            </a:r>
          </a:p>
          <a:p>
            <a:pPr lvl="1">
              <a:buNone/>
            </a:pPr>
            <a:endParaRPr lang="en-US" sz="2200" dirty="0"/>
          </a:p>
          <a:p>
            <a:r>
              <a:rPr lang="en-US" sz="2200" dirty="0"/>
              <a:t>To learn Binary Search tree</a:t>
            </a:r>
          </a:p>
          <a:p>
            <a:pPr>
              <a:buNone/>
            </a:pPr>
            <a:endParaRPr lang="en-US" sz="2200" dirty="0"/>
          </a:p>
        </p:txBody>
      </p:sp>
      <p:sp>
        <p:nvSpPr>
          <p:cNvPr id="6" name="Date Placeholder 5"/>
          <p:cNvSpPr>
            <a:spLocks noGrp="1"/>
          </p:cNvSpPr>
          <p:nvPr>
            <p:ph type="dt" sz="half" idx="10"/>
          </p:nvPr>
        </p:nvSpPr>
        <p:spPr/>
        <p:txBody>
          <a:bodyPr/>
          <a:lstStyle/>
          <a:p>
            <a:fld id="{2B4FAE6A-02FD-4CBF-92D8-DD0F2B8E575C}" type="datetime1">
              <a:rPr lang="en-US" smtClean="0"/>
              <a:t>8/26/2026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28</a:t>
            </a:fld>
            <a:endParaRPr lang="en-US"/>
          </a:p>
        </p:txBody>
      </p:sp>
      <p:sp>
        <p:nvSpPr>
          <p:cNvPr id="8"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Topic Objective</a:t>
            </a:r>
            <a:endParaRPr lang="en-US" dirty="0"/>
          </a:p>
        </p:txBody>
      </p:sp>
      <p:sp>
        <p:nvSpPr>
          <p:cNvPr id="10" name="Footer Placeholder 9"/>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Tree>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0"/>
            <a:ext cx="11125200" cy="5365750"/>
          </a:xfrm>
        </p:spPr>
        <p:txBody>
          <a:bodyPr>
            <a:noAutofit/>
          </a:bodyPr>
          <a:lstStyle/>
          <a:p>
            <a:pPr algn="just"/>
            <a:r>
              <a:rPr lang="en-US" sz="2200" dirty="0"/>
              <a:t>A tree is a very popular non-linear data structure used in a wide range of applications. A tree data structure can be defined as follows...</a:t>
            </a:r>
          </a:p>
          <a:p>
            <a:pPr lvl="1" algn="just"/>
            <a:r>
              <a:rPr lang="en-US" sz="2000" dirty="0"/>
              <a:t>Tree is a non-linear data structure which organizes data in hierarchical structure and this is a recursive definition.</a:t>
            </a:r>
          </a:p>
          <a:p>
            <a:pPr lvl="1" algn="ctr">
              <a:buNone/>
            </a:pPr>
            <a:r>
              <a:rPr lang="en-US" sz="2000" dirty="0"/>
              <a:t>OR</a:t>
            </a:r>
          </a:p>
          <a:p>
            <a:pPr lvl="1" algn="just"/>
            <a:r>
              <a:rPr lang="en-US" sz="2000" dirty="0"/>
              <a:t>Tree data structure is a collection of data (Node) which is organized in hierarchical structure recursively</a:t>
            </a:r>
          </a:p>
          <a:p>
            <a:pPr algn="just"/>
            <a:r>
              <a:rPr lang="en-US" sz="2200" dirty="0"/>
              <a:t>In tree data structure, every individual element is called as Node</a:t>
            </a:r>
          </a:p>
          <a:p>
            <a:pPr algn="just"/>
            <a:r>
              <a:rPr lang="en-US" sz="2200" dirty="0"/>
              <a:t>In a tree data structure, if we have N number of nodes then we can have a maximum of N-1 number of links.</a:t>
            </a:r>
          </a:p>
          <a:p>
            <a:pPr lvl="1" algn="just"/>
            <a:r>
              <a:rPr lang="en-US" sz="2200" dirty="0"/>
              <a:t>Example:-</a:t>
            </a:r>
          </a:p>
          <a:p>
            <a:pPr algn="just">
              <a:buNone/>
            </a:pPr>
            <a:br>
              <a:rPr lang="en-US" sz="2200" dirty="0"/>
            </a:br>
            <a:endParaRPr lang="en-US" sz="2200" dirty="0"/>
          </a:p>
        </p:txBody>
      </p:sp>
      <p:sp>
        <p:nvSpPr>
          <p:cNvPr id="4" name="Date Placeholder 3"/>
          <p:cNvSpPr>
            <a:spLocks noGrp="1"/>
          </p:cNvSpPr>
          <p:nvPr>
            <p:ph type="dt" sz="half" idx="10"/>
          </p:nvPr>
        </p:nvSpPr>
        <p:spPr/>
        <p:txBody>
          <a:bodyPr/>
          <a:lstStyle/>
          <a:p>
            <a:fld id="{7E9906E9-96F7-444A-9FEF-96B4988E2327}"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(CO1)</a:t>
            </a:r>
          </a:p>
        </p:txBody>
      </p:sp>
      <p:pic>
        <p:nvPicPr>
          <p:cNvPr id="9" name="Picture 8" descr="Tree.png"/>
          <p:cNvPicPr>
            <a:picLocks noChangeAspect="1"/>
          </p:cNvPicPr>
          <p:nvPr/>
        </p:nvPicPr>
        <p:blipFill>
          <a:blip r:embed="rId2"/>
          <a:stretch>
            <a:fillRect/>
          </a:stretch>
        </p:blipFill>
        <p:spPr>
          <a:xfrm>
            <a:off x="5943600" y="4176712"/>
            <a:ext cx="4648200" cy="2362200"/>
          </a:xfrm>
          <a:prstGeom prst="rect">
            <a:avLst/>
          </a:prstGeom>
        </p:spPr>
      </p:pic>
    </p:spTree>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143000"/>
            <a:ext cx="10210800" cy="4876800"/>
          </a:xfrm>
        </p:spPr>
        <p:txBody>
          <a:bodyPr>
            <a:normAutofit/>
          </a:bodyPr>
          <a:lstStyle/>
          <a:p>
            <a:pPr algn="just"/>
            <a:r>
              <a:rPr lang="en-US" sz="2200" b="1" dirty="0"/>
              <a:t>Root</a:t>
            </a:r>
          </a:p>
          <a:p>
            <a:pPr lvl="1" algn="just"/>
            <a:r>
              <a:rPr lang="en-US" sz="2200" dirty="0"/>
              <a:t>In a tree data structure, the first node is called as </a:t>
            </a:r>
            <a:r>
              <a:rPr lang="en-US" sz="2200" b="1" dirty="0"/>
              <a:t>Root Node</a:t>
            </a:r>
            <a:r>
              <a:rPr lang="en-US" sz="2200" dirty="0"/>
              <a:t>. </a:t>
            </a:r>
          </a:p>
          <a:p>
            <a:pPr lvl="1" algn="just"/>
            <a:r>
              <a:rPr lang="en-US" sz="2200" dirty="0"/>
              <a:t>Every tree must have a root node. </a:t>
            </a:r>
          </a:p>
          <a:p>
            <a:pPr lvl="1" algn="just"/>
            <a:r>
              <a:rPr lang="en-US" sz="2200" dirty="0"/>
              <a:t>Root node is the origin of the tree data structure. </a:t>
            </a:r>
          </a:p>
          <a:p>
            <a:pPr lvl="1" algn="just"/>
            <a:r>
              <a:rPr lang="en-US" sz="2200" dirty="0"/>
              <a:t>In any tree, there must be only one root node. </a:t>
            </a:r>
          </a:p>
          <a:p>
            <a:pPr algn="just"/>
            <a:endParaRPr lang="en-US" sz="2200" dirty="0"/>
          </a:p>
        </p:txBody>
      </p:sp>
      <p:sp>
        <p:nvSpPr>
          <p:cNvPr id="4" name="Date Placeholder 3"/>
          <p:cNvSpPr>
            <a:spLocks noGrp="1"/>
          </p:cNvSpPr>
          <p:nvPr>
            <p:ph type="dt" sz="half" idx="10"/>
          </p:nvPr>
        </p:nvSpPr>
        <p:spPr/>
        <p:txBody>
          <a:bodyPr/>
          <a:lstStyle/>
          <a:p>
            <a:fld id="{28C12926-E665-42B0-AFFD-49B44AA81705}"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Root.png"/>
          <p:cNvPicPr>
            <a:picLocks noChangeAspect="1"/>
          </p:cNvPicPr>
          <p:nvPr/>
        </p:nvPicPr>
        <p:blipFill>
          <a:blip r:embed="rId2"/>
          <a:stretch>
            <a:fillRect/>
          </a:stretch>
        </p:blipFill>
        <p:spPr>
          <a:xfrm>
            <a:off x="3810000" y="3331846"/>
            <a:ext cx="5334000" cy="2999006"/>
          </a:xfrm>
          <a:prstGeom prst="rect">
            <a:avLst/>
          </a:prstGeom>
        </p:spPr>
      </p:pic>
    </p:spTree>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algn="just"/>
            <a:r>
              <a:rPr lang="en-US" sz="2200" b="1" dirty="0"/>
              <a:t>Edge</a:t>
            </a:r>
          </a:p>
          <a:p>
            <a:pPr lvl="1" algn="just"/>
            <a:r>
              <a:rPr lang="en-US" sz="2200" dirty="0"/>
              <a:t>In a tree data structure, the connecting link between any two nodes is called as </a:t>
            </a:r>
            <a:r>
              <a:rPr lang="en-US" sz="2200" b="1" dirty="0"/>
              <a:t>EDGE</a:t>
            </a:r>
            <a:r>
              <a:rPr lang="en-US" sz="2200" dirty="0"/>
              <a:t>. </a:t>
            </a:r>
          </a:p>
          <a:p>
            <a:pPr lvl="1" algn="just"/>
            <a:r>
              <a:rPr lang="en-US" sz="2200" dirty="0"/>
              <a:t>In a tree with '</a:t>
            </a:r>
            <a:r>
              <a:rPr lang="en-US" sz="2200" b="1" dirty="0"/>
              <a:t>N</a:t>
            </a:r>
            <a:r>
              <a:rPr lang="en-US" sz="2200" dirty="0"/>
              <a:t>' number of nodes there will be a maximum of '</a:t>
            </a:r>
            <a:r>
              <a:rPr lang="en-US" sz="2200" b="1" dirty="0"/>
              <a:t>N-1</a:t>
            </a:r>
            <a:r>
              <a:rPr lang="en-US" sz="2200" dirty="0"/>
              <a:t>' number of edges.</a:t>
            </a:r>
          </a:p>
          <a:p>
            <a:pPr algn="just"/>
            <a:endParaRPr lang="en-US" sz="2200" dirty="0"/>
          </a:p>
        </p:txBody>
      </p:sp>
      <p:sp>
        <p:nvSpPr>
          <p:cNvPr id="4" name="Date Placeholder 3"/>
          <p:cNvSpPr>
            <a:spLocks noGrp="1"/>
          </p:cNvSpPr>
          <p:nvPr>
            <p:ph type="dt" sz="half" idx="10"/>
          </p:nvPr>
        </p:nvSpPr>
        <p:spPr/>
        <p:txBody>
          <a:bodyPr/>
          <a:lstStyle/>
          <a:p>
            <a:fld id="{515B0621-3977-49BD-B963-A7E3A9EE05B2}"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Edge.png"/>
          <p:cNvPicPr>
            <a:picLocks noChangeAspect="1"/>
          </p:cNvPicPr>
          <p:nvPr/>
        </p:nvPicPr>
        <p:blipFill>
          <a:blip r:embed="rId2"/>
          <a:stretch>
            <a:fillRect/>
          </a:stretch>
        </p:blipFill>
        <p:spPr>
          <a:xfrm>
            <a:off x="3886200" y="3200400"/>
            <a:ext cx="5334000" cy="2730600"/>
          </a:xfrm>
          <a:prstGeom prst="rect">
            <a:avLst/>
          </a:prstGeom>
        </p:spPr>
      </p:pic>
    </p:spTree>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10515600" cy="4876800"/>
          </a:xfrm>
        </p:spPr>
        <p:txBody>
          <a:bodyPr>
            <a:normAutofit/>
          </a:bodyPr>
          <a:lstStyle/>
          <a:p>
            <a:pPr algn="just"/>
            <a:r>
              <a:rPr lang="en-US" sz="2200" b="1" dirty="0"/>
              <a:t>Parent</a:t>
            </a:r>
          </a:p>
          <a:p>
            <a:pPr lvl="1" algn="just"/>
            <a:r>
              <a:rPr lang="en-US" sz="2200" dirty="0"/>
              <a:t>In a tree data structure, the node which is a predecessor of any node is called as </a:t>
            </a:r>
            <a:r>
              <a:rPr lang="en-US" sz="2200" b="1" dirty="0"/>
              <a:t>PARENT NODE</a:t>
            </a:r>
            <a:r>
              <a:rPr lang="en-US" sz="2200" dirty="0"/>
              <a:t>. </a:t>
            </a:r>
          </a:p>
          <a:p>
            <a:pPr lvl="1" algn="just"/>
            <a:r>
              <a:rPr lang="en-US" sz="2200" dirty="0"/>
              <a:t>In simple words, the node which has a branch from it to any other node is called a parent node. </a:t>
            </a:r>
          </a:p>
          <a:p>
            <a:pPr lvl="1" algn="just"/>
            <a:r>
              <a:rPr lang="en-US" sz="2200" dirty="0"/>
              <a:t>Parent node can also be defined as "</a:t>
            </a:r>
            <a:r>
              <a:rPr lang="en-US" sz="2200" b="1" dirty="0"/>
              <a:t>The node which has child / children</a:t>
            </a:r>
            <a:r>
              <a:rPr lang="en-US" sz="2200" dirty="0"/>
              <a:t>".</a:t>
            </a:r>
          </a:p>
          <a:p>
            <a:pPr algn="just"/>
            <a:endParaRPr lang="en-US" sz="2200" dirty="0"/>
          </a:p>
        </p:txBody>
      </p:sp>
      <p:sp>
        <p:nvSpPr>
          <p:cNvPr id="4" name="Date Placeholder 3"/>
          <p:cNvSpPr>
            <a:spLocks noGrp="1"/>
          </p:cNvSpPr>
          <p:nvPr>
            <p:ph type="dt" sz="half" idx="10"/>
          </p:nvPr>
        </p:nvSpPr>
        <p:spPr/>
        <p:txBody>
          <a:bodyPr/>
          <a:lstStyle/>
          <a:p>
            <a:fld id="{5E25177B-2638-4D50-871A-C3A5519BF855}"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Parent.png"/>
          <p:cNvPicPr>
            <a:picLocks noChangeAspect="1"/>
          </p:cNvPicPr>
          <p:nvPr/>
        </p:nvPicPr>
        <p:blipFill>
          <a:blip r:embed="rId2"/>
          <a:stretch>
            <a:fillRect/>
          </a:stretch>
        </p:blipFill>
        <p:spPr>
          <a:xfrm>
            <a:off x="4038600" y="3352800"/>
            <a:ext cx="5410200" cy="2819400"/>
          </a:xfrm>
          <a:prstGeom prst="rect">
            <a:avLst/>
          </a:prstGeom>
        </p:spPr>
      </p:pic>
    </p:spTree>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5081986"/>
          </a:xfrm>
        </p:spPr>
        <p:txBody>
          <a:bodyPr>
            <a:normAutofit/>
          </a:bodyPr>
          <a:lstStyle/>
          <a:p>
            <a:r>
              <a:rPr lang="en-US" sz="2200" b="1" dirty="0"/>
              <a:t>Child</a:t>
            </a:r>
          </a:p>
          <a:p>
            <a:pPr lvl="1"/>
            <a:r>
              <a:rPr lang="en-US" sz="2200" dirty="0"/>
              <a:t>In a tree data structure, the node which is descendant of any node is called as </a:t>
            </a:r>
            <a:r>
              <a:rPr lang="en-US" sz="2200" b="1" dirty="0"/>
              <a:t>CHILD Node</a:t>
            </a:r>
            <a:r>
              <a:rPr lang="en-US" sz="2200" dirty="0"/>
              <a:t>. </a:t>
            </a:r>
          </a:p>
          <a:p>
            <a:pPr lvl="1"/>
            <a:r>
              <a:rPr lang="en-US" sz="2200" dirty="0"/>
              <a:t>In simple words, the node which has a link from its parent node is called as child node. </a:t>
            </a:r>
          </a:p>
          <a:p>
            <a:pPr lvl="1"/>
            <a:r>
              <a:rPr lang="en-US" sz="2200" dirty="0"/>
              <a:t>In a tree, any parent node can have any number of child nodes. </a:t>
            </a:r>
          </a:p>
          <a:p>
            <a:pPr lvl="1"/>
            <a:r>
              <a:rPr lang="en-US" sz="2200" dirty="0"/>
              <a:t>In a tree, all the nodes except root are child nodes.</a:t>
            </a:r>
          </a:p>
          <a:p>
            <a:endParaRPr lang="en-US" sz="2200" dirty="0"/>
          </a:p>
        </p:txBody>
      </p:sp>
      <p:sp>
        <p:nvSpPr>
          <p:cNvPr id="4" name="Date Placeholder 3"/>
          <p:cNvSpPr>
            <a:spLocks noGrp="1"/>
          </p:cNvSpPr>
          <p:nvPr>
            <p:ph type="dt" sz="half" idx="10"/>
          </p:nvPr>
        </p:nvSpPr>
        <p:spPr/>
        <p:txBody>
          <a:bodyPr/>
          <a:lstStyle/>
          <a:p>
            <a:fld id="{929BC18B-5E31-46E8-A9EB-2234CE0D999E}"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Child.png"/>
          <p:cNvPicPr>
            <a:picLocks noChangeAspect="1"/>
          </p:cNvPicPr>
          <p:nvPr/>
        </p:nvPicPr>
        <p:blipFill>
          <a:blip r:embed="rId2"/>
          <a:stretch>
            <a:fillRect/>
          </a:stretch>
        </p:blipFill>
        <p:spPr>
          <a:xfrm>
            <a:off x="3657600" y="3657600"/>
            <a:ext cx="4953000" cy="2667000"/>
          </a:xfrm>
          <a:prstGeom prst="rect">
            <a:avLst/>
          </a:prstGeom>
        </p:spPr>
      </p:pic>
    </p:spTree>
  </p:cSld>
  <p:clrMapOvr>
    <a:masterClrMapping/>
  </p:clrMapOvr>
  <p:transition spd="slow">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10668000" cy="4525963"/>
          </a:xfrm>
        </p:spPr>
        <p:txBody>
          <a:bodyPr>
            <a:normAutofit/>
          </a:bodyPr>
          <a:lstStyle/>
          <a:p>
            <a:r>
              <a:rPr lang="en-US" sz="2200" b="1" dirty="0"/>
              <a:t>Siblings</a:t>
            </a:r>
          </a:p>
          <a:p>
            <a:pPr lvl="1"/>
            <a:r>
              <a:rPr lang="en-US" sz="2200" dirty="0"/>
              <a:t>In a tree data structure, nodes which belong to same Parent are called as </a:t>
            </a:r>
            <a:r>
              <a:rPr lang="en-US" sz="2200" b="1" dirty="0"/>
              <a:t>SIBLINGS</a:t>
            </a:r>
            <a:r>
              <a:rPr lang="en-US" sz="2200" dirty="0"/>
              <a:t>. </a:t>
            </a:r>
          </a:p>
          <a:p>
            <a:pPr lvl="1" algn="just"/>
            <a:r>
              <a:rPr lang="en-US" sz="2200" dirty="0"/>
              <a:t>In simple words, the nodes with the same parent are called Sibling nodes</a:t>
            </a:r>
          </a:p>
          <a:p>
            <a:endParaRPr lang="en-US" sz="2200" dirty="0"/>
          </a:p>
        </p:txBody>
      </p:sp>
      <p:sp>
        <p:nvSpPr>
          <p:cNvPr id="4" name="Date Placeholder 3"/>
          <p:cNvSpPr>
            <a:spLocks noGrp="1"/>
          </p:cNvSpPr>
          <p:nvPr>
            <p:ph type="dt" sz="half" idx="10"/>
          </p:nvPr>
        </p:nvSpPr>
        <p:spPr/>
        <p:txBody>
          <a:bodyPr/>
          <a:lstStyle/>
          <a:p>
            <a:fld id="{A25605DB-4B1A-4E82-8AA9-6C0ADBDB58F0}"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Siblings.png"/>
          <p:cNvPicPr>
            <a:picLocks noChangeAspect="1"/>
          </p:cNvPicPr>
          <p:nvPr/>
        </p:nvPicPr>
        <p:blipFill>
          <a:blip r:embed="rId2"/>
          <a:stretch>
            <a:fillRect/>
          </a:stretch>
        </p:blipFill>
        <p:spPr>
          <a:xfrm>
            <a:off x="4114800" y="3048000"/>
            <a:ext cx="5105400" cy="2895600"/>
          </a:xfrm>
          <a:prstGeom prst="rect">
            <a:avLst/>
          </a:prstGeom>
        </p:spPr>
      </p:pic>
    </p:spTree>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10515600" cy="5029200"/>
          </a:xfrm>
        </p:spPr>
        <p:txBody>
          <a:bodyPr>
            <a:normAutofit/>
          </a:bodyPr>
          <a:lstStyle/>
          <a:p>
            <a:pPr algn="just"/>
            <a:r>
              <a:rPr lang="en-US" sz="2200" b="1" dirty="0"/>
              <a:t>Leaf</a:t>
            </a:r>
          </a:p>
          <a:p>
            <a:pPr lvl="1" algn="just"/>
            <a:r>
              <a:rPr lang="en-US" sz="2200" dirty="0"/>
              <a:t>In a tree data structure, the node which does not have a child is called as </a:t>
            </a:r>
            <a:r>
              <a:rPr lang="en-US" sz="2200" b="1" dirty="0"/>
              <a:t>LEAF Node</a:t>
            </a:r>
            <a:r>
              <a:rPr lang="en-US" sz="2200" dirty="0"/>
              <a:t>. </a:t>
            </a:r>
          </a:p>
          <a:p>
            <a:pPr lvl="1" algn="just"/>
            <a:r>
              <a:rPr lang="en-US" sz="2200" dirty="0"/>
              <a:t>In simple words, a leaf is a node with no child.</a:t>
            </a:r>
          </a:p>
          <a:p>
            <a:pPr lvl="1" algn="just"/>
            <a:r>
              <a:rPr lang="en-US" sz="2200" dirty="0"/>
              <a:t>In a tree data structure, the leaf nodes are also called as </a:t>
            </a:r>
            <a:r>
              <a:rPr lang="en-US" sz="2200" b="1" dirty="0"/>
              <a:t>External Nodes</a:t>
            </a:r>
            <a:r>
              <a:rPr lang="en-US" sz="2200" dirty="0"/>
              <a:t>. </a:t>
            </a:r>
          </a:p>
          <a:p>
            <a:pPr lvl="1" algn="just"/>
            <a:r>
              <a:rPr lang="en-US" sz="2200" dirty="0"/>
              <a:t>In a tree, leaf node is also called as '</a:t>
            </a:r>
            <a:r>
              <a:rPr lang="en-US" sz="2200" b="1" dirty="0"/>
              <a:t>Terminal</a:t>
            </a:r>
            <a:r>
              <a:rPr lang="en-US" sz="2200" dirty="0"/>
              <a:t>' node.</a:t>
            </a:r>
          </a:p>
          <a:p>
            <a:pPr algn="just"/>
            <a:endParaRPr lang="en-US" sz="2200" dirty="0"/>
          </a:p>
        </p:txBody>
      </p:sp>
      <p:sp>
        <p:nvSpPr>
          <p:cNvPr id="4" name="Date Placeholder 3"/>
          <p:cNvSpPr>
            <a:spLocks noGrp="1"/>
          </p:cNvSpPr>
          <p:nvPr>
            <p:ph type="dt" sz="half" idx="10"/>
          </p:nvPr>
        </p:nvSpPr>
        <p:spPr/>
        <p:txBody>
          <a:bodyPr/>
          <a:lstStyle/>
          <a:p>
            <a:fld id="{DC8E033A-CF32-4482-9325-1D0B02563E08}"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Leaf.png"/>
          <p:cNvPicPr>
            <a:picLocks noChangeAspect="1"/>
          </p:cNvPicPr>
          <p:nvPr/>
        </p:nvPicPr>
        <p:blipFill>
          <a:blip r:embed="rId2"/>
          <a:stretch>
            <a:fillRect/>
          </a:stretch>
        </p:blipFill>
        <p:spPr>
          <a:xfrm>
            <a:off x="3886200" y="3657600"/>
            <a:ext cx="4724400" cy="2667000"/>
          </a:xfrm>
          <a:prstGeom prst="rect">
            <a:avLst/>
          </a:prstGeom>
        </p:spPr>
      </p:pic>
    </p:spTree>
  </p:cSld>
  <p:clrMapOvr>
    <a:masterClrMapping/>
  </p:clrMapOvr>
  <p:transition spd="slow">
    <p:cov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5029200"/>
          </a:xfrm>
        </p:spPr>
        <p:txBody>
          <a:bodyPr>
            <a:normAutofit/>
          </a:bodyPr>
          <a:lstStyle/>
          <a:p>
            <a:pPr algn="just"/>
            <a:r>
              <a:rPr lang="en-US" sz="2200" b="1" dirty="0"/>
              <a:t>Internal Nodes</a:t>
            </a:r>
          </a:p>
          <a:p>
            <a:pPr lvl="1" algn="just"/>
            <a:r>
              <a:rPr lang="en-US" sz="2200" dirty="0"/>
              <a:t>In a tree data structure, the node which has </a:t>
            </a:r>
            <a:r>
              <a:rPr lang="en-US" sz="2200" dirty="0" err="1"/>
              <a:t>atleast</a:t>
            </a:r>
            <a:r>
              <a:rPr lang="en-US" sz="2200" dirty="0"/>
              <a:t> one child is called as </a:t>
            </a:r>
            <a:r>
              <a:rPr lang="en-US" sz="2200" b="1" dirty="0"/>
              <a:t>INTERNAL Node</a:t>
            </a:r>
            <a:r>
              <a:rPr lang="en-US" sz="2200" dirty="0"/>
              <a:t>.</a:t>
            </a:r>
          </a:p>
          <a:p>
            <a:pPr lvl="1" algn="just"/>
            <a:r>
              <a:rPr lang="en-US" sz="2200" dirty="0"/>
              <a:t>In a tree data structure, nodes other than leaf nodes are called as </a:t>
            </a:r>
            <a:r>
              <a:rPr lang="en-US" sz="2200" b="1" dirty="0"/>
              <a:t>Internal Nodes</a:t>
            </a:r>
            <a:r>
              <a:rPr lang="en-US" sz="2200" dirty="0"/>
              <a:t>.</a:t>
            </a:r>
            <a:endParaRPr lang="en-US" sz="2200" b="1" u="sng" dirty="0"/>
          </a:p>
          <a:p>
            <a:pPr lvl="1" algn="just"/>
            <a:r>
              <a:rPr lang="en-US" sz="2200" b="1" dirty="0"/>
              <a:t>The root node is also said to be Internal Node</a:t>
            </a:r>
            <a:r>
              <a:rPr lang="en-US" sz="2200" dirty="0"/>
              <a:t> if the tree has more than one node. </a:t>
            </a:r>
          </a:p>
          <a:p>
            <a:pPr lvl="1" algn="just"/>
            <a:r>
              <a:rPr lang="en-US" sz="2200" dirty="0"/>
              <a:t>Internal nodes are also called as '</a:t>
            </a:r>
            <a:r>
              <a:rPr lang="en-US" sz="2200" b="1" dirty="0"/>
              <a:t>Non-Terminal</a:t>
            </a:r>
            <a:r>
              <a:rPr lang="en-US" sz="2200" dirty="0"/>
              <a:t>' nodes.</a:t>
            </a:r>
          </a:p>
          <a:p>
            <a:pPr algn="just"/>
            <a:endParaRPr lang="en-US" sz="2200" dirty="0"/>
          </a:p>
        </p:txBody>
      </p:sp>
      <p:sp>
        <p:nvSpPr>
          <p:cNvPr id="4" name="Date Placeholder 3"/>
          <p:cNvSpPr>
            <a:spLocks noGrp="1"/>
          </p:cNvSpPr>
          <p:nvPr>
            <p:ph type="dt" sz="half" idx="10"/>
          </p:nvPr>
        </p:nvSpPr>
        <p:spPr/>
        <p:txBody>
          <a:bodyPr/>
          <a:lstStyle/>
          <a:p>
            <a:fld id="{AE24C089-95D6-4609-A04F-11AC39592B0E}"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Internal.png"/>
          <p:cNvPicPr>
            <a:picLocks noChangeAspect="1"/>
          </p:cNvPicPr>
          <p:nvPr/>
        </p:nvPicPr>
        <p:blipFill>
          <a:blip r:embed="rId2"/>
          <a:stretch>
            <a:fillRect/>
          </a:stretch>
        </p:blipFill>
        <p:spPr>
          <a:xfrm>
            <a:off x="3657600" y="3962400"/>
            <a:ext cx="4953000" cy="2362200"/>
          </a:xfrm>
          <a:prstGeom prst="rect">
            <a:avLst/>
          </a:prstGeom>
        </p:spPr>
      </p:pic>
    </p:spTree>
  </p:cSld>
  <p:clrMapOvr>
    <a:masterClrMapping/>
  </p:clrMapOvr>
  <p:transition spd="slow">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10591800" cy="4800600"/>
          </a:xfrm>
        </p:spPr>
        <p:txBody>
          <a:bodyPr>
            <a:normAutofit/>
          </a:bodyPr>
          <a:lstStyle/>
          <a:p>
            <a:pPr algn="just"/>
            <a:r>
              <a:rPr lang="en-US" sz="2200" b="1" dirty="0"/>
              <a:t> Degree</a:t>
            </a:r>
          </a:p>
          <a:p>
            <a:pPr lvl="1" algn="just"/>
            <a:r>
              <a:rPr lang="en-US" sz="2200" dirty="0"/>
              <a:t>In a tree data structure, the total number of children of a node is called as </a:t>
            </a:r>
            <a:r>
              <a:rPr lang="en-US" sz="2200" b="1" dirty="0"/>
              <a:t>DEGREE</a:t>
            </a:r>
            <a:r>
              <a:rPr lang="en-US" sz="2200" dirty="0"/>
              <a:t> of that Node. </a:t>
            </a:r>
          </a:p>
          <a:p>
            <a:pPr lvl="1" algn="just"/>
            <a:r>
              <a:rPr lang="en-US" sz="2200" dirty="0"/>
              <a:t>The highest degree of a node among all the nodes in a tree is called as '</a:t>
            </a:r>
            <a:r>
              <a:rPr lang="en-US" sz="2200" b="1" dirty="0"/>
              <a:t>Degree of Tree</a:t>
            </a:r>
            <a:r>
              <a:rPr lang="en-US" sz="2200" dirty="0"/>
              <a:t>'</a:t>
            </a:r>
          </a:p>
          <a:p>
            <a:pPr algn="just">
              <a:buNone/>
            </a:pPr>
            <a:endParaRPr lang="en-US" sz="2200" dirty="0"/>
          </a:p>
        </p:txBody>
      </p:sp>
      <p:sp>
        <p:nvSpPr>
          <p:cNvPr id="4" name="Date Placeholder 3"/>
          <p:cNvSpPr>
            <a:spLocks noGrp="1"/>
          </p:cNvSpPr>
          <p:nvPr>
            <p:ph type="dt" sz="half" idx="10"/>
          </p:nvPr>
        </p:nvSpPr>
        <p:spPr/>
        <p:txBody>
          <a:bodyPr/>
          <a:lstStyle/>
          <a:p>
            <a:fld id="{F61751E0-8942-458F-8297-B67BF6276625}"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Degree.png"/>
          <p:cNvPicPr>
            <a:picLocks noChangeAspect="1"/>
          </p:cNvPicPr>
          <p:nvPr/>
        </p:nvPicPr>
        <p:blipFill>
          <a:blip r:embed="rId2"/>
          <a:stretch>
            <a:fillRect/>
          </a:stretch>
        </p:blipFill>
        <p:spPr>
          <a:xfrm>
            <a:off x="3733800" y="3213000"/>
            <a:ext cx="5410200" cy="2883000"/>
          </a:xfrm>
          <a:prstGeom prst="rect">
            <a:avLst/>
          </a:prstGeom>
        </p:spPr>
      </p:pic>
    </p:spTree>
  </p:cSld>
  <p:clrMapOvr>
    <a:masterClrMapping/>
  </p:clrMapOvr>
  <p:transition spd="slow">
    <p:cove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5029200"/>
          </a:xfrm>
        </p:spPr>
        <p:txBody>
          <a:bodyPr>
            <a:normAutofit/>
          </a:bodyPr>
          <a:lstStyle/>
          <a:p>
            <a:pPr algn="just"/>
            <a:r>
              <a:rPr lang="en-US" sz="2200" b="1" dirty="0"/>
              <a:t> Level</a:t>
            </a:r>
          </a:p>
          <a:p>
            <a:pPr lvl="1" algn="just"/>
            <a:r>
              <a:rPr lang="en-US" sz="2200" dirty="0"/>
              <a:t>In a tree data structure, the root node is said to be at Level 0 and the children of root node are at Level 1 and the children of the nodes which are at Level 1 will be at Level 2 and so on... </a:t>
            </a:r>
          </a:p>
          <a:p>
            <a:pPr lvl="1" algn="just"/>
            <a:r>
              <a:rPr lang="en-US" sz="2200" dirty="0"/>
              <a:t>In simple words, in a tree each step from top to bottom is called as a Level and the Level count starts with '0' and incremented by one at each level (Step).</a:t>
            </a:r>
          </a:p>
          <a:p>
            <a:pPr algn="just"/>
            <a:endParaRPr lang="en-US" sz="2200" dirty="0"/>
          </a:p>
        </p:txBody>
      </p:sp>
      <p:sp>
        <p:nvSpPr>
          <p:cNvPr id="4" name="Date Placeholder 3"/>
          <p:cNvSpPr>
            <a:spLocks noGrp="1"/>
          </p:cNvSpPr>
          <p:nvPr>
            <p:ph type="dt" sz="half" idx="10"/>
          </p:nvPr>
        </p:nvSpPr>
        <p:spPr/>
        <p:txBody>
          <a:bodyPr/>
          <a:lstStyle/>
          <a:p>
            <a:fld id="{083762F0-3E0B-4D7C-8947-3919245F96E0}"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Levels.png"/>
          <p:cNvPicPr>
            <a:picLocks noChangeAspect="1"/>
          </p:cNvPicPr>
          <p:nvPr/>
        </p:nvPicPr>
        <p:blipFill>
          <a:blip r:embed="rId2"/>
          <a:stretch>
            <a:fillRect/>
          </a:stretch>
        </p:blipFill>
        <p:spPr>
          <a:xfrm>
            <a:off x="5105400" y="3397150"/>
            <a:ext cx="5105400" cy="2959200"/>
          </a:xfrm>
          <a:prstGeom prst="rect">
            <a:avLst/>
          </a:prstGeom>
        </p:spPr>
      </p:pic>
    </p:spTree>
  </p:cSld>
  <p:clrMapOvr>
    <a:masterClrMapping/>
  </p:clrMapOvr>
  <p:transition spd="slow">
    <p:cov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10668000" cy="4525963"/>
          </a:xfrm>
        </p:spPr>
        <p:txBody>
          <a:bodyPr>
            <a:normAutofit/>
          </a:bodyPr>
          <a:lstStyle/>
          <a:p>
            <a:pPr algn="just"/>
            <a:r>
              <a:rPr lang="en-US" sz="2200" b="1" dirty="0"/>
              <a:t>Height</a:t>
            </a:r>
          </a:p>
          <a:p>
            <a:pPr lvl="1" algn="just"/>
            <a:r>
              <a:rPr lang="en-US" sz="2200" dirty="0"/>
              <a:t>In a tree data structure, the total number of edges from leaf node to a particular node in the longest path is called as </a:t>
            </a:r>
            <a:r>
              <a:rPr lang="en-US" sz="2200" b="1" dirty="0"/>
              <a:t>HEIGHT</a:t>
            </a:r>
            <a:r>
              <a:rPr lang="en-US" sz="2200" dirty="0"/>
              <a:t> of that Node. </a:t>
            </a:r>
          </a:p>
          <a:p>
            <a:pPr lvl="1" algn="just"/>
            <a:r>
              <a:rPr lang="en-US" sz="2200" dirty="0"/>
              <a:t>In a tree, height of the root node is said to be </a:t>
            </a:r>
            <a:r>
              <a:rPr lang="en-US" sz="2200" b="1" dirty="0"/>
              <a:t>height of the tree</a:t>
            </a:r>
            <a:r>
              <a:rPr lang="en-US" sz="2200" dirty="0"/>
              <a:t>. </a:t>
            </a:r>
          </a:p>
          <a:p>
            <a:pPr lvl="1" algn="just"/>
            <a:r>
              <a:rPr lang="en-US" sz="2200" dirty="0"/>
              <a:t>In a tree, </a:t>
            </a:r>
            <a:r>
              <a:rPr lang="en-US" sz="2200" b="1" dirty="0"/>
              <a:t>height of all leaf nodes is '0'.</a:t>
            </a:r>
            <a:endParaRPr lang="en-US" sz="2200" dirty="0"/>
          </a:p>
          <a:p>
            <a:pPr algn="just"/>
            <a:endParaRPr lang="en-US" sz="2200" dirty="0"/>
          </a:p>
        </p:txBody>
      </p:sp>
      <p:sp>
        <p:nvSpPr>
          <p:cNvPr id="4" name="Date Placeholder 3"/>
          <p:cNvSpPr>
            <a:spLocks noGrp="1"/>
          </p:cNvSpPr>
          <p:nvPr>
            <p:ph type="dt" sz="half" idx="10"/>
          </p:nvPr>
        </p:nvSpPr>
        <p:spPr/>
        <p:txBody>
          <a:bodyPr/>
          <a:lstStyle/>
          <a:p>
            <a:fld id="{783895A2-7282-4297-8262-1C86507F579C}"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Height.png"/>
          <p:cNvPicPr>
            <a:picLocks noChangeAspect="1"/>
          </p:cNvPicPr>
          <p:nvPr/>
        </p:nvPicPr>
        <p:blipFill>
          <a:blip r:embed="rId2"/>
          <a:stretch>
            <a:fillRect/>
          </a:stretch>
        </p:blipFill>
        <p:spPr>
          <a:xfrm>
            <a:off x="4038600" y="3409394"/>
            <a:ext cx="5486400" cy="2946957"/>
          </a:xfrm>
          <a:prstGeom prst="rect">
            <a:avLst/>
          </a:prstGeom>
        </p:spPr>
      </p:pic>
    </p:spTree>
  </p:cSld>
  <p:clrMapOvr>
    <a:masterClrMapping/>
  </p:clrMapOvr>
  <p:transition spd="slow">
    <p:cove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744200" cy="4876800"/>
          </a:xfrm>
        </p:spPr>
        <p:txBody>
          <a:bodyPr>
            <a:normAutofit/>
          </a:bodyPr>
          <a:lstStyle/>
          <a:p>
            <a:pPr algn="just"/>
            <a:r>
              <a:rPr lang="en-US" sz="2200" b="1" dirty="0"/>
              <a:t>Depth</a:t>
            </a:r>
          </a:p>
          <a:p>
            <a:pPr lvl="1" algn="just"/>
            <a:r>
              <a:rPr lang="en-US" sz="2200" dirty="0"/>
              <a:t>In a tree data structure, the total number of </a:t>
            </a:r>
            <a:r>
              <a:rPr lang="en-US" sz="2200" dirty="0" err="1"/>
              <a:t>egdes</a:t>
            </a:r>
            <a:r>
              <a:rPr lang="en-US" sz="2200" dirty="0"/>
              <a:t> from root node to a particular node is called as </a:t>
            </a:r>
            <a:r>
              <a:rPr lang="en-US" sz="2200" b="1" dirty="0"/>
              <a:t>DEPTH</a:t>
            </a:r>
            <a:r>
              <a:rPr lang="en-US" sz="2200" dirty="0"/>
              <a:t> of that Node. </a:t>
            </a:r>
          </a:p>
          <a:p>
            <a:pPr lvl="1" algn="just"/>
            <a:r>
              <a:rPr lang="en-US" sz="2200" dirty="0"/>
              <a:t>In a tree, the total number of edges from root node to a leaf node in the longest path is said to be </a:t>
            </a:r>
            <a:r>
              <a:rPr lang="en-US" sz="2200" b="1" dirty="0"/>
              <a:t>Depth of the tree</a:t>
            </a:r>
            <a:r>
              <a:rPr lang="en-US" sz="2200" dirty="0"/>
              <a:t>. </a:t>
            </a:r>
          </a:p>
          <a:p>
            <a:pPr lvl="1" algn="just"/>
            <a:r>
              <a:rPr lang="en-US" sz="2200" dirty="0"/>
              <a:t>In a tree, </a:t>
            </a:r>
            <a:r>
              <a:rPr lang="en-US" sz="2200" b="1" dirty="0"/>
              <a:t>depth of the root node is '0'.</a:t>
            </a:r>
            <a:endParaRPr lang="en-US" sz="2200" dirty="0"/>
          </a:p>
          <a:p>
            <a:pPr algn="just"/>
            <a:endParaRPr lang="en-US" sz="2200" dirty="0"/>
          </a:p>
        </p:txBody>
      </p:sp>
      <p:sp>
        <p:nvSpPr>
          <p:cNvPr id="4" name="Date Placeholder 3"/>
          <p:cNvSpPr>
            <a:spLocks noGrp="1"/>
          </p:cNvSpPr>
          <p:nvPr>
            <p:ph type="dt" sz="half" idx="10"/>
          </p:nvPr>
        </p:nvSpPr>
        <p:spPr/>
        <p:txBody>
          <a:bodyPr/>
          <a:lstStyle/>
          <a:p>
            <a:fld id="{1D9F75A3-0234-4A59-88B3-E667159EB7C7}"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Depth.png"/>
          <p:cNvPicPr>
            <a:picLocks noChangeAspect="1"/>
          </p:cNvPicPr>
          <p:nvPr/>
        </p:nvPicPr>
        <p:blipFill>
          <a:blip r:embed="rId2"/>
          <a:stretch>
            <a:fillRect/>
          </a:stretch>
        </p:blipFill>
        <p:spPr>
          <a:xfrm>
            <a:off x="3810000" y="3429000"/>
            <a:ext cx="5334000" cy="2743200"/>
          </a:xfrm>
          <a:prstGeom prst="rect">
            <a:avLst/>
          </a:prstGeom>
        </p:spPr>
      </p:pic>
    </p:spTree>
  </p:cSld>
  <p:clrMapOvr>
    <a:masterClrMapping/>
  </p:clrMapOvr>
  <p:transition spd="slow">
    <p:cove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0"/>
            <a:ext cx="10744200" cy="4876800"/>
          </a:xfrm>
        </p:spPr>
        <p:txBody>
          <a:bodyPr>
            <a:normAutofit/>
          </a:bodyPr>
          <a:lstStyle/>
          <a:p>
            <a:pPr algn="just"/>
            <a:r>
              <a:rPr lang="en-US" sz="2200" b="1" dirty="0"/>
              <a:t>Path</a:t>
            </a:r>
          </a:p>
          <a:p>
            <a:pPr lvl="1" algn="just"/>
            <a:r>
              <a:rPr lang="en-US" sz="2200" dirty="0"/>
              <a:t>In a tree data structure, the sequence of Nodes and Edges from one node to another node is called as </a:t>
            </a:r>
            <a:r>
              <a:rPr lang="en-US" sz="2200" b="1" dirty="0"/>
              <a:t>PATH</a:t>
            </a:r>
            <a:r>
              <a:rPr lang="en-US" sz="2200" dirty="0"/>
              <a:t> between that two Nodes. </a:t>
            </a:r>
          </a:p>
          <a:p>
            <a:pPr lvl="1" algn="just"/>
            <a:r>
              <a:rPr lang="en-US" sz="2200" b="1" dirty="0"/>
              <a:t>Length of a Path</a:t>
            </a:r>
            <a:r>
              <a:rPr lang="en-US" sz="2200" dirty="0"/>
              <a:t> is total number of nodes in that path. </a:t>
            </a:r>
          </a:p>
          <a:p>
            <a:pPr lvl="1" algn="just"/>
            <a:r>
              <a:rPr lang="en-US" sz="2200" dirty="0"/>
              <a:t>In below example </a:t>
            </a:r>
            <a:r>
              <a:rPr lang="en-US" sz="2200" b="1" dirty="0"/>
              <a:t>the path A - B - E - J has length 4</a:t>
            </a:r>
            <a:r>
              <a:rPr lang="en-US" sz="2200" dirty="0"/>
              <a:t>.</a:t>
            </a:r>
          </a:p>
          <a:p>
            <a:pPr algn="just"/>
            <a:endParaRPr lang="en-US" sz="2200" dirty="0"/>
          </a:p>
        </p:txBody>
      </p:sp>
      <p:sp>
        <p:nvSpPr>
          <p:cNvPr id="4" name="Date Placeholder 3"/>
          <p:cNvSpPr>
            <a:spLocks noGrp="1"/>
          </p:cNvSpPr>
          <p:nvPr>
            <p:ph type="dt" sz="half" idx="10"/>
          </p:nvPr>
        </p:nvSpPr>
        <p:spPr/>
        <p:txBody>
          <a:bodyPr/>
          <a:lstStyle/>
          <a:p>
            <a:fld id="{19D3319E-50D1-482A-8FB8-07958BB4AB6A}"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Path.png"/>
          <p:cNvPicPr>
            <a:picLocks noChangeAspect="1"/>
          </p:cNvPicPr>
          <p:nvPr/>
        </p:nvPicPr>
        <p:blipFill>
          <a:blip r:embed="rId2"/>
          <a:stretch>
            <a:fillRect/>
          </a:stretch>
        </p:blipFill>
        <p:spPr>
          <a:xfrm>
            <a:off x="3657600" y="3213000"/>
            <a:ext cx="5638800" cy="2959200"/>
          </a:xfrm>
          <a:prstGeom prst="rect">
            <a:avLst/>
          </a:prstGeom>
        </p:spPr>
      </p:pic>
    </p:spTree>
  </p:cSld>
  <p:clrMapOvr>
    <a:masterClrMapping/>
  </p:clrMapOvr>
  <p:transition spd="slow">
    <p:cov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0"/>
            <a:ext cx="10820400" cy="4953000"/>
          </a:xfrm>
        </p:spPr>
        <p:txBody>
          <a:bodyPr>
            <a:normAutofit/>
          </a:bodyPr>
          <a:lstStyle/>
          <a:p>
            <a:pPr algn="just"/>
            <a:r>
              <a:rPr lang="en-US" sz="2200" b="1" dirty="0"/>
              <a:t>Sub Tree</a:t>
            </a:r>
          </a:p>
          <a:p>
            <a:pPr lvl="1" algn="just"/>
            <a:r>
              <a:rPr lang="en-US" sz="2200" dirty="0"/>
              <a:t>In a tree data structure, each child from a node forms a </a:t>
            </a:r>
            <a:r>
              <a:rPr lang="en-US" sz="2200" dirty="0" err="1"/>
              <a:t>subtree</a:t>
            </a:r>
            <a:r>
              <a:rPr lang="en-US" sz="2200" dirty="0"/>
              <a:t> recursively. </a:t>
            </a:r>
          </a:p>
          <a:p>
            <a:pPr lvl="1" algn="just"/>
            <a:r>
              <a:rPr lang="en-US" sz="2200" dirty="0"/>
              <a:t>Every child node will form a subtree on its parent node.</a:t>
            </a:r>
          </a:p>
          <a:p>
            <a:pPr algn="just"/>
            <a:endParaRPr lang="en-US" sz="2200" dirty="0"/>
          </a:p>
        </p:txBody>
      </p:sp>
      <p:sp>
        <p:nvSpPr>
          <p:cNvPr id="4" name="Date Placeholder 3"/>
          <p:cNvSpPr>
            <a:spLocks noGrp="1"/>
          </p:cNvSpPr>
          <p:nvPr>
            <p:ph type="dt" sz="half" idx="10"/>
          </p:nvPr>
        </p:nvSpPr>
        <p:spPr/>
        <p:txBody>
          <a:bodyPr/>
          <a:lstStyle/>
          <a:p>
            <a:fld id="{B60EC421-3C12-48D2-B17C-193462204E6E}"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Tree Terminology</a:t>
            </a:r>
          </a:p>
        </p:txBody>
      </p:sp>
      <p:pic>
        <p:nvPicPr>
          <p:cNvPr id="9" name="Picture 8" descr="Subtree.png"/>
          <p:cNvPicPr>
            <a:picLocks noChangeAspect="1"/>
          </p:cNvPicPr>
          <p:nvPr/>
        </p:nvPicPr>
        <p:blipFill>
          <a:blip r:embed="rId2"/>
          <a:stretch>
            <a:fillRect/>
          </a:stretch>
        </p:blipFill>
        <p:spPr>
          <a:xfrm>
            <a:off x="3429000" y="2819400"/>
            <a:ext cx="5867400" cy="3124200"/>
          </a:xfrm>
          <a:prstGeom prst="rect">
            <a:avLst/>
          </a:prstGeom>
        </p:spPr>
      </p:pic>
    </p:spTree>
  </p:cSld>
  <p:clrMapOvr>
    <a:masterClrMapping/>
  </p:clrMapOvr>
  <p:transition spd="slow">
    <p:cove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0"/>
            <a:ext cx="10591800" cy="5105400"/>
          </a:xfrm>
        </p:spPr>
        <p:txBody>
          <a:bodyPr>
            <a:noAutofit/>
          </a:bodyPr>
          <a:lstStyle/>
          <a:p>
            <a:pPr algn="just"/>
            <a:r>
              <a:rPr lang="en-US" sz="2200" dirty="0"/>
              <a:t>In a normal tree, every node can have any number of children. </a:t>
            </a:r>
          </a:p>
          <a:p>
            <a:pPr algn="just"/>
            <a:r>
              <a:rPr lang="en-US" sz="2200" dirty="0"/>
              <a:t>A binary tree is a special type of tree data structure in which every node can have a </a:t>
            </a:r>
            <a:r>
              <a:rPr lang="en-US" sz="2200" b="1" dirty="0"/>
              <a:t>maximum of 2 children</a:t>
            </a:r>
            <a:r>
              <a:rPr lang="en-US" sz="2200" dirty="0"/>
              <a:t>. </a:t>
            </a:r>
          </a:p>
          <a:p>
            <a:pPr algn="just"/>
            <a:r>
              <a:rPr lang="en-US" sz="2200" dirty="0"/>
              <a:t>One is known as a left child and the other is known as right child.</a:t>
            </a:r>
          </a:p>
          <a:p>
            <a:pPr algn="just"/>
            <a:r>
              <a:rPr lang="en-US" sz="2200" b="1" dirty="0"/>
              <a:t>A tree in which every node can have a maximum of two children is called Binary Tree.</a:t>
            </a:r>
          </a:p>
          <a:p>
            <a:pPr algn="just"/>
            <a:r>
              <a:rPr lang="en-US" sz="2200" dirty="0"/>
              <a:t>In a binary tree, every node can have either 0 children or 1 child or 2 children but not more than 2 children.</a:t>
            </a:r>
          </a:p>
          <a:p>
            <a:pPr lvl="1"/>
            <a:r>
              <a:rPr lang="en-US" sz="2200" b="1" dirty="0"/>
              <a:t>Example</a:t>
            </a:r>
          </a:p>
          <a:p>
            <a:pPr>
              <a:buNone/>
            </a:pPr>
            <a:br>
              <a:rPr lang="en-US" sz="2200" dirty="0"/>
            </a:br>
            <a:endParaRPr lang="en-US" sz="2200" dirty="0"/>
          </a:p>
          <a:p>
            <a:pPr algn="just">
              <a:buNone/>
            </a:pPr>
            <a:br>
              <a:rPr lang="en-US" sz="2200" dirty="0"/>
            </a:br>
            <a:br>
              <a:rPr lang="en-US" sz="2200" dirty="0"/>
            </a:br>
            <a:endParaRPr lang="en-US" sz="2200" dirty="0"/>
          </a:p>
        </p:txBody>
      </p:sp>
      <p:sp>
        <p:nvSpPr>
          <p:cNvPr id="4" name="Date Placeholder 3"/>
          <p:cNvSpPr>
            <a:spLocks noGrp="1"/>
          </p:cNvSpPr>
          <p:nvPr>
            <p:ph type="dt" sz="half" idx="10"/>
          </p:nvPr>
        </p:nvSpPr>
        <p:spPr/>
        <p:txBody>
          <a:bodyPr/>
          <a:lstStyle/>
          <a:p>
            <a:fld id="{AE120EB7-1CDC-42D4-B519-BB37F3CBE797}"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(CO1)</a:t>
            </a:r>
          </a:p>
        </p:txBody>
      </p:sp>
      <p:pic>
        <p:nvPicPr>
          <p:cNvPr id="9" name="Picture 8" descr="Binary_Tree.png"/>
          <p:cNvPicPr>
            <a:picLocks noChangeAspect="1"/>
          </p:cNvPicPr>
          <p:nvPr/>
        </p:nvPicPr>
        <p:blipFill>
          <a:blip r:embed="rId2"/>
          <a:stretch>
            <a:fillRect/>
          </a:stretch>
        </p:blipFill>
        <p:spPr>
          <a:xfrm>
            <a:off x="4191000" y="3886200"/>
            <a:ext cx="4572000" cy="2514600"/>
          </a:xfrm>
          <a:prstGeom prst="rect">
            <a:avLst/>
          </a:prstGeom>
        </p:spPr>
      </p:pic>
    </p:spTree>
  </p:cSld>
  <p:clrMapOvr>
    <a:masterClrMapping/>
  </p:clrMapOvr>
  <p:transition spd="slow">
    <p:cove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C90BB-0BCB-40A1-B259-BD8DAD11D4D7}"/>
              </a:ext>
            </a:extLst>
          </p:cNvPr>
          <p:cNvSpPr>
            <a:spLocks noGrp="1"/>
          </p:cNvSpPr>
          <p:nvPr>
            <p:ph idx="1"/>
          </p:nvPr>
        </p:nvSpPr>
        <p:spPr>
          <a:xfrm>
            <a:off x="838200" y="1066801"/>
            <a:ext cx="10744200" cy="5059363"/>
          </a:xfrm>
        </p:spPr>
        <p:txBody>
          <a:bodyPr/>
          <a:lstStyle/>
          <a:p>
            <a:pPr marL="0" indent="0">
              <a:buNone/>
            </a:pPr>
            <a:r>
              <a:rPr lang="en-US" dirty="0"/>
              <a:t>Binary Tree(Properties)</a:t>
            </a:r>
          </a:p>
          <a:p>
            <a:pPr marL="0" indent="0">
              <a:buNone/>
            </a:pPr>
            <a:r>
              <a:rPr lang="en-US" sz="2000" dirty="0"/>
              <a:t>1) The maximum number of nodes at level ‘l’ of a binary tree is 2</a:t>
            </a:r>
            <a:r>
              <a:rPr lang="en-US" sz="2000" baseline="30000" dirty="0"/>
              <a:t>l</a:t>
            </a:r>
            <a:r>
              <a:rPr lang="en-US" sz="2000" dirty="0"/>
              <a:t>. </a:t>
            </a:r>
          </a:p>
          <a:p>
            <a:pPr marL="0" indent="0">
              <a:buNone/>
            </a:pPr>
            <a:r>
              <a:rPr lang="en-US" sz="2000" dirty="0"/>
              <a:t>Here level is the number of nodes on the path from the root to the node (including root and node). Level of the root is 0. </a:t>
            </a:r>
          </a:p>
          <a:p>
            <a:pPr marL="0" indent="0">
              <a:buNone/>
            </a:pPr>
            <a:r>
              <a:rPr lang="en-US" sz="2000" dirty="0"/>
              <a:t>This can be proved by induction. </a:t>
            </a:r>
          </a:p>
          <a:p>
            <a:pPr marL="0" indent="0">
              <a:buNone/>
            </a:pPr>
            <a:r>
              <a:rPr lang="en-US" sz="2000" dirty="0"/>
              <a:t>For root, l = 0, number of nodes = 2</a:t>
            </a:r>
            <a:r>
              <a:rPr lang="en-US" sz="2000" baseline="30000" dirty="0"/>
              <a:t>0</a:t>
            </a:r>
            <a:r>
              <a:rPr lang="en-US" sz="2000" dirty="0"/>
              <a:t> = 1 </a:t>
            </a:r>
          </a:p>
          <a:p>
            <a:pPr marL="0" indent="0">
              <a:buNone/>
            </a:pPr>
            <a:r>
              <a:rPr lang="en-US" sz="2000" dirty="0"/>
              <a:t>Assume that the maximum number of nodes on level ‘l’ is 2</a:t>
            </a:r>
            <a:r>
              <a:rPr lang="en-US" sz="2000" baseline="30000" dirty="0"/>
              <a:t>l</a:t>
            </a:r>
            <a:r>
              <a:rPr lang="en-US" sz="2000" dirty="0"/>
              <a:t> </a:t>
            </a:r>
          </a:p>
          <a:p>
            <a:pPr marL="0" indent="0">
              <a:buNone/>
            </a:pPr>
            <a:r>
              <a:rPr lang="en-US" sz="2000" dirty="0"/>
              <a:t>Since in Binary tree every node has at most 2 children, next level would have twice nodes, i.e. 2 * 2</a:t>
            </a:r>
            <a:r>
              <a:rPr lang="en-US" sz="2000" baseline="30000" dirty="0"/>
              <a:t>l</a:t>
            </a:r>
            <a:r>
              <a:rPr lang="en-US" sz="2000" dirty="0"/>
              <a:t> </a:t>
            </a:r>
          </a:p>
          <a:p>
            <a:pPr marL="0" indent="0">
              <a:buNone/>
            </a:pPr>
            <a:r>
              <a:rPr lang="en-US" sz="2000" dirty="0"/>
              <a:t>2. The Maximum number of nodes in a binary tree of height ‘h’ is 2</a:t>
            </a:r>
            <a:r>
              <a:rPr lang="en-US" sz="2000" baseline="30000" dirty="0"/>
              <a:t>h+1 </a:t>
            </a:r>
            <a:r>
              <a:rPr lang="en-US" sz="2000" dirty="0"/>
              <a:t>– 1.</a:t>
            </a:r>
          </a:p>
          <a:p>
            <a:pPr marL="0" indent="0">
              <a:buNone/>
            </a:pPr>
            <a:r>
              <a:rPr lang="en-US" sz="2000" dirty="0"/>
              <a:t>3. In a Binary Tree with N nodes, minimum possible height or the minimum number of levels is? </a:t>
            </a:r>
          </a:p>
        </p:txBody>
      </p:sp>
      <p:sp>
        <p:nvSpPr>
          <p:cNvPr id="4" name="Date Placeholder 3">
            <a:extLst>
              <a:ext uri="{FF2B5EF4-FFF2-40B4-BE49-F238E27FC236}">
                <a16:creationId xmlns:a16="http://schemas.microsoft.com/office/drawing/2014/main" id="{B5FA0247-EC4E-4EB2-ADFE-B111E8C0B927}"/>
              </a:ext>
            </a:extLst>
          </p:cNvPr>
          <p:cNvSpPr>
            <a:spLocks noGrp="1"/>
          </p:cNvSpPr>
          <p:nvPr>
            <p:ph type="dt" sz="half" idx="10"/>
          </p:nvPr>
        </p:nvSpPr>
        <p:spPr/>
        <p:txBody>
          <a:bodyPr/>
          <a:lstStyle/>
          <a:p>
            <a:fld id="{78F61BE0-67D7-4FDC-9173-900867DB8401}" type="datetime1">
              <a:rPr lang="en-US" smtClean="0"/>
              <a:t>8/26/2026</a:t>
            </a:fld>
            <a:endParaRPr lang="en-US"/>
          </a:p>
        </p:txBody>
      </p:sp>
      <p:sp>
        <p:nvSpPr>
          <p:cNvPr id="5" name="Footer Placeholder 4">
            <a:extLst>
              <a:ext uri="{FF2B5EF4-FFF2-40B4-BE49-F238E27FC236}">
                <a16:creationId xmlns:a16="http://schemas.microsoft.com/office/drawing/2014/main" id="{BEBA2001-226F-4300-BC9B-1A1B89B70B6F}"/>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E34A3389-63A7-46CF-9558-5AC0998DF607}"/>
              </a:ext>
            </a:extLst>
          </p:cNvPr>
          <p:cNvSpPr>
            <a:spLocks noGrp="1"/>
          </p:cNvSpPr>
          <p:nvPr>
            <p:ph type="sldNum" sz="quarter" idx="12"/>
          </p:nvPr>
        </p:nvSpPr>
        <p:spPr/>
        <p:txBody>
          <a:bodyPr/>
          <a:lstStyle/>
          <a:p>
            <a:fld id="{B6F15528-21DE-4FAA-801E-634DDDAF4B2B}" type="slidenum">
              <a:rPr lang="en-US" smtClean="0"/>
              <a:pPr/>
              <a:t>44</a:t>
            </a:fld>
            <a:endParaRPr lang="en-US" dirty="0"/>
          </a:p>
        </p:txBody>
      </p:sp>
      <p:sp>
        <p:nvSpPr>
          <p:cNvPr id="8" name="Title 1">
            <a:extLst>
              <a:ext uri="{FF2B5EF4-FFF2-40B4-BE49-F238E27FC236}">
                <a16:creationId xmlns:a16="http://schemas.microsoft.com/office/drawing/2014/main" id="{7841D2BD-116D-4BA8-A69B-FA70FDE81B5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857D579-1336-4CE3-9969-322883A99F07}"/>
                  </a:ext>
                </a:extLst>
              </p14:cNvPr>
              <p14:cNvContentPartPr/>
              <p14:nvPr/>
            </p14:nvContentPartPr>
            <p14:xfrm>
              <a:off x="4127520" y="5137200"/>
              <a:ext cx="1111680" cy="400320"/>
            </p14:xfrm>
          </p:contentPart>
        </mc:Choice>
        <mc:Fallback xmlns="">
          <p:pic>
            <p:nvPicPr>
              <p:cNvPr id="2" name="Ink 1">
                <a:extLst>
                  <a:ext uri="{FF2B5EF4-FFF2-40B4-BE49-F238E27FC236}">
                    <a16:creationId xmlns:a16="http://schemas.microsoft.com/office/drawing/2014/main" id="{2857D579-1336-4CE3-9969-322883A99F07}"/>
                  </a:ext>
                </a:extLst>
              </p:cNvPr>
              <p:cNvPicPr/>
              <p:nvPr/>
            </p:nvPicPr>
            <p:blipFill>
              <a:blip r:embed="rId3"/>
              <a:stretch>
                <a:fillRect/>
              </a:stretch>
            </p:blipFill>
            <p:spPr>
              <a:xfrm>
                <a:off x="4118160" y="5127840"/>
                <a:ext cx="1130400" cy="419040"/>
              </a:xfrm>
              <a:prstGeom prst="rect">
                <a:avLst/>
              </a:prstGeom>
            </p:spPr>
          </p:pic>
        </mc:Fallback>
      </mc:AlternateContent>
      <p:sp>
        <p:nvSpPr>
          <p:cNvPr id="9" name="TextBox 8">
            <a:extLst>
              <a:ext uri="{FF2B5EF4-FFF2-40B4-BE49-F238E27FC236}">
                <a16:creationId xmlns:a16="http://schemas.microsoft.com/office/drawing/2014/main" id="{1D23A259-3197-2DE7-6DD4-92207EFB4868}"/>
              </a:ext>
            </a:extLst>
          </p:cNvPr>
          <p:cNvSpPr txBox="1"/>
          <p:nvPr/>
        </p:nvSpPr>
        <p:spPr>
          <a:xfrm>
            <a:off x="4054168" y="5152694"/>
            <a:ext cx="6105832" cy="369332"/>
          </a:xfrm>
          <a:prstGeom prst="rect">
            <a:avLst/>
          </a:prstGeom>
          <a:noFill/>
        </p:spPr>
        <p:txBody>
          <a:bodyPr wrap="square">
            <a:spAutoFit/>
          </a:bodyPr>
          <a:lstStyle/>
          <a:p>
            <a:pPr marL="0" indent="0">
              <a:buNone/>
            </a:pPr>
            <a:r>
              <a:rPr lang="en-US" sz="1800" dirty="0"/>
              <a:t>log</a:t>
            </a:r>
            <a:r>
              <a:rPr lang="en-US" sz="1800" baseline="-25000" dirty="0"/>
              <a:t>2</a:t>
            </a:r>
            <a:r>
              <a:rPr lang="en-US" sz="1800" dirty="0"/>
              <a:t>(N+1) -1</a:t>
            </a:r>
          </a:p>
        </p:txBody>
      </p:sp>
    </p:spTree>
    <p:extLst>
      <p:ext uri="{BB962C8B-B14F-4D97-AF65-F5344CB8AC3E}">
        <p14:creationId xmlns:p14="http://schemas.microsoft.com/office/powerpoint/2010/main" val="464579475"/>
      </p:ext>
    </p:extLst>
  </p:cSld>
  <p:clrMapOvr>
    <a:masterClrMapping/>
  </p:clrMapOvr>
  <p:transition spd="slow">
    <p:cov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972800" cy="4876800"/>
          </a:xfrm>
        </p:spPr>
        <p:txBody>
          <a:bodyPr>
            <a:normAutofit/>
          </a:bodyPr>
          <a:lstStyle/>
          <a:p>
            <a:pPr algn="just"/>
            <a:r>
              <a:rPr lang="en-US" sz="2200" b="1" dirty="0"/>
              <a:t>Strictly Binary Tree</a:t>
            </a:r>
          </a:p>
          <a:p>
            <a:pPr lvl="1" algn="just"/>
            <a:r>
              <a:rPr lang="en-US" sz="2200" b="1" dirty="0"/>
              <a:t>A binary tree in which every node has either two or zero number of children is called Strictly Binary Tree</a:t>
            </a:r>
          </a:p>
          <a:p>
            <a:pPr lvl="1" algn="just"/>
            <a:r>
              <a:rPr lang="en-US" sz="2200" dirty="0"/>
              <a:t>Strictly binary tree is also called as </a:t>
            </a:r>
            <a:r>
              <a:rPr lang="en-US" sz="2200" b="1" dirty="0"/>
              <a:t>Full Binary Tree </a:t>
            </a:r>
            <a:r>
              <a:rPr lang="en-US" sz="2200" dirty="0"/>
              <a:t>or </a:t>
            </a:r>
            <a:r>
              <a:rPr lang="en-US" sz="2200" b="1" dirty="0"/>
              <a:t>Proper Binary Tree</a:t>
            </a:r>
            <a:r>
              <a:rPr lang="en-US" sz="2200" dirty="0"/>
              <a:t> or </a:t>
            </a:r>
            <a:r>
              <a:rPr lang="en-US" sz="2200" b="1" dirty="0"/>
              <a:t>2-Tree</a:t>
            </a:r>
            <a:endParaRPr lang="en-US" sz="2200" dirty="0"/>
          </a:p>
          <a:p>
            <a:pPr algn="just"/>
            <a:endParaRPr lang="en-US" sz="2200" dirty="0"/>
          </a:p>
        </p:txBody>
      </p:sp>
      <p:sp>
        <p:nvSpPr>
          <p:cNvPr id="4" name="Date Placeholder 3"/>
          <p:cNvSpPr>
            <a:spLocks noGrp="1"/>
          </p:cNvSpPr>
          <p:nvPr>
            <p:ph type="dt" sz="half" idx="10"/>
          </p:nvPr>
        </p:nvSpPr>
        <p:spPr/>
        <p:txBody>
          <a:bodyPr/>
          <a:lstStyle/>
          <a:p>
            <a:fld id="{F018E386-BEE9-4FDC-B1B5-03339A7FA3D0}"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a:t>
            </a:r>
          </a:p>
        </p:txBody>
      </p:sp>
      <p:pic>
        <p:nvPicPr>
          <p:cNvPr id="9" name="Picture 8" descr="Strictly Binary Tree.png"/>
          <p:cNvPicPr>
            <a:picLocks noChangeAspect="1"/>
          </p:cNvPicPr>
          <p:nvPr/>
        </p:nvPicPr>
        <p:blipFill>
          <a:blip r:embed="rId2"/>
          <a:stretch>
            <a:fillRect/>
          </a:stretch>
        </p:blipFill>
        <p:spPr>
          <a:xfrm>
            <a:off x="3581400" y="3213000"/>
            <a:ext cx="5638800" cy="2959200"/>
          </a:xfrm>
          <a:prstGeom prst="rect">
            <a:avLst/>
          </a:prstGeom>
        </p:spPr>
      </p:pic>
    </p:spTree>
  </p:cSld>
  <p:clrMapOvr>
    <a:masterClrMapping/>
  </p:clrMapOvr>
  <p:transition spd="slow">
    <p:cove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10515600" cy="5105399"/>
          </a:xfrm>
        </p:spPr>
        <p:txBody>
          <a:bodyPr>
            <a:normAutofit/>
          </a:bodyPr>
          <a:lstStyle/>
          <a:p>
            <a:pPr algn="just"/>
            <a:r>
              <a:rPr lang="en-US" sz="2200" dirty="0"/>
              <a:t>Strictly binary tree data structure is used to represent mathematical expressions.</a:t>
            </a:r>
          </a:p>
          <a:p>
            <a:pPr algn="just">
              <a:buNone/>
            </a:pPr>
            <a:br>
              <a:rPr lang="en-US" sz="2200" dirty="0"/>
            </a:br>
            <a:endParaRPr lang="en-US" sz="2200" dirty="0"/>
          </a:p>
        </p:txBody>
      </p:sp>
      <p:sp>
        <p:nvSpPr>
          <p:cNvPr id="4" name="Date Placeholder 3"/>
          <p:cNvSpPr>
            <a:spLocks noGrp="1"/>
          </p:cNvSpPr>
          <p:nvPr>
            <p:ph type="dt" sz="half" idx="10"/>
          </p:nvPr>
        </p:nvSpPr>
        <p:spPr/>
        <p:txBody>
          <a:bodyPr/>
          <a:lstStyle/>
          <a:p>
            <a:fld id="{9A00C914-57BC-4026-9A86-3AA80C592A1B}"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a:t>
            </a:r>
          </a:p>
        </p:txBody>
      </p:sp>
      <p:pic>
        <p:nvPicPr>
          <p:cNvPr id="9" name="Picture 8" descr="Strictly BT Ex.png"/>
          <p:cNvPicPr>
            <a:picLocks noChangeAspect="1"/>
          </p:cNvPicPr>
          <p:nvPr/>
        </p:nvPicPr>
        <p:blipFill>
          <a:blip r:embed="rId2"/>
          <a:stretch>
            <a:fillRect/>
          </a:stretch>
        </p:blipFill>
        <p:spPr>
          <a:xfrm>
            <a:off x="2590800" y="1981200"/>
            <a:ext cx="7086600" cy="3657600"/>
          </a:xfrm>
          <a:prstGeom prst="rect">
            <a:avLst/>
          </a:prstGeom>
        </p:spPr>
      </p:pic>
    </p:spTree>
  </p:cSld>
  <p:clrMapOvr>
    <a:masterClrMapping/>
  </p:clrMapOvr>
  <p:transition spd="slow">
    <p:cove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C90BB-0BCB-40A1-B259-BD8DAD11D4D7}"/>
              </a:ext>
            </a:extLst>
          </p:cNvPr>
          <p:cNvSpPr>
            <a:spLocks noGrp="1"/>
          </p:cNvSpPr>
          <p:nvPr>
            <p:ph idx="1"/>
          </p:nvPr>
        </p:nvSpPr>
        <p:spPr>
          <a:xfrm>
            <a:off x="914400" y="936380"/>
            <a:ext cx="6629401" cy="5419971"/>
          </a:xfrm>
        </p:spPr>
        <p:txBody>
          <a:bodyPr/>
          <a:lstStyle/>
          <a:p>
            <a:pPr marL="0" indent="0">
              <a:buNone/>
            </a:pPr>
            <a:r>
              <a:rPr lang="en-US" sz="2000" b="1" dirty="0">
                <a:latin typeface="+mj-lt"/>
              </a:rPr>
              <a:t>Full Binary Tree</a:t>
            </a:r>
            <a:r>
              <a:rPr lang="en-US" sz="2000" dirty="0">
                <a:latin typeface="+mj-lt"/>
              </a:rPr>
              <a:t> </a:t>
            </a:r>
            <a:br>
              <a:rPr lang="en-US" sz="1200" dirty="0"/>
            </a:br>
            <a:r>
              <a:rPr lang="en-US" sz="1200" dirty="0">
                <a:latin typeface="urw-din"/>
              </a:rPr>
              <a:t> </a:t>
            </a:r>
          </a:p>
          <a:p>
            <a:pPr marL="0" indent="0">
              <a:buNone/>
            </a:pPr>
            <a:r>
              <a:rPr lang="en-US" sz="2000" dirty="0">
                <a:latin typeface="+mj-lt"/>
              </a:rPr>
              <a:t>In a Full Binary Tree, number of leaf nodes is the number of internal nodes plus 1 </a:t>
            </a:r>
          </a:p>
          <a:p>
            <a:pPr marL="0" indent="0">
              <a:buNone/>
            </a:pPr>
            <a:r>
              <a:rPr lang="en-US" sz="2000" dirty="0">
                <a:latin typeface="+mj-lt"/>
              </a:rPr>
              <a:t>       L = I + 1 </a:t>
            </a:r>
          </a:p>
          <a:p>
            <a:pPr marL="0" indent="0">
              <a:buNone/>
            </a:pPr>
            <a:r>
              <a:rPr lang="en-US" sz="2000" dirty="0">
                <a:latin typeface="+mj-lt"/>
              </a:rPr>
              <a:t>Where L = Number of leaf nodes, I = Number of internal nodes </a:t>
            </a:r>
            <a:endParaRPr lang="en-IN" sz="2000" dirty="0">
              <a:latin typeface="+mj-lt"/>
            </a:endParaRPr>
          </a:p>
        </p:txBody>
      </p:sp>
      <p:sp>
        <p:nvSpPr>
          <p:cNvPr id="4" name="Date Placeholder 3">
            <a:extLst>
              <a:ext uri="{FF2B5EF4-FFF2-40B4-BE49-F238E27FC236}">
                <a16:creationId xmlns:a16="http://schemas.microsoft.com/office/drawing/2014/main" id="{B5FA0247-EC4E-4EB2-ADFE-B111E8C0B927}"/>
              </a:ext>
            </a:extLst>
          </p:cNvPr>
          <p:cNvSpPr>
            <a:spLocks noGrp="1"/>
          </p:cNvSpPr>
          <p:nvPr>
            <p:ph type="dt" sz="half" idx="10"/>
          </p:nvPr>
        </p:nvSpPr>
        <p:spPr/>
        <p:txBody>
          <a:bodyPr/>
          <a:lstStyle/>
          <a:p>
            <a:fld id="{E2FC6C13-FCE6-49A7-A49C-B91174BB0C3A}" type="datetime1">
              <a:rPr lang="en-US" smtClean="0"/>
              <a:t>8/26/2026</a:t>
            </a:fld>
            <a:endParaRPr lang="en-US"/>
          </a:p>
        </p:txBody>
      </p:sp>
      <p:sp>
        <p:nvSpPr>
          <p:cNvPr id="5" name="Footer Placeholder 4">
            <a:extLst>
              <a:ext uri="{FF2B5EF4-FFF2-40B4-BE49-F238E27FC236}">
                <a16:creationId xmlns:a16="http://schemas.microsoft.com/office/drawing/2014/main" id="{BEBA2001-226F-4300-BC9B-1A1B89B70B6F}"/>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E34A3389-63A7-46CF-9558-5AC0998DF607}"/>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8" name="Title 1">
            <a:extLst>
              <a:ext uri="{FF2B5EF4-FFF2-40B4-BE49-F238E27FC236}">
                <a16:creationId xmlns:a16="http://schemas.microsoft.com/office/drawing/2014/main" id="{7841D2BD-116D-4BA8-A69B-FA70FDE81B5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pic>
        <p:nvPicPr>
          <p:cNvPr id="7" name="Picture 6">
            <a:extLst>
              <a:ext uri="{FF2B5EF4-FFF2-40B4-BE49-F238E27FC236}">
                <a16:creationId xmlns:a16="http://schemas.microsoft.com/office/drawing/2014/main" id="{AAB90ABA-C008-4E83-958E-A1AC68B1420C}"/>
              </a:ext>
            </a:extLst>
          </p:cNvPr>
          <p:cNvPicPr>
            <a:picLocks noChangeAspect="1"/>
          </p:cNvPicPr>
          <p:nvPr/>
        </p:nvPicPr>
        <p:blipFill>
          <a:blip r:embed="rId2"/>
          <a:stretch>
            <a:fillRect/>
          </a:stretch>
        </p:blipFill>
        <p:spPr>
          <a:xfrm>
            <a:off x="8305800" y="992054"/>
            <a:ext cx="2610465" cy="5347091"/>
          </a:xfrm>
          <a:prstGeom prst="rect">
            <a:avLst/>
          </a:prstGeom>
        </p:spPr>
      </p:pic>
    </p:spTree>
    <p:extLst>
      <p:ext uri="{BB962C8B-B14F-4D97-AF65-F5344CB8AC3E}">
        <p14:creationId xmlns:p14="http://schemas.microsoft.com/office/powerpoint/2010/main" val="2408870733"/>
      </p:ext>
    </p:extLst>
  </p:cSld>
  <p:clrMapOvr>
    <a:masterClrMapping/>
  </p:clrMapOvr>
  <p:transition spd="slow">
    <p:cove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C370416-3893-42B8-9AE6-D8974A7DE69F}"/>
              </a:ext>
            </a:extLst>
          </p:cNvPr>
          <p:cNvSpPr>
            <a:spLocks noGrp="1"/>
          </p:cNvSpPr>
          <p:nvPr>
            <p:ph type="dt" sz="half" idx="10"/>
          </p:nvPr>
        </p:nvSpPr>
        <p:spPr/>
        <p:txBody>
          <a:bodyPr/>
          <a:lstStyle/>
          <a:p>
            <a:fld id="{8CFBBB1D-2F83-4799-812B-2B19D24BA4B8}" type="datetime1">
              <a:rPr lang="en-US" smtClean="0"/>
              <a:t>8/26/2026</a:t>
            </a:fld>
            <a:endParaRPr lang="en-US"/>
          </a:p>
        </p:txBody>
      </p:sp>
      <p:sp>
        <p:nvSpPr>
          <p:cNvPr id="5" name="Footer Placeholder 4">
            <a:extLst>
              <a:ext uri="{FF2B5EF4-FFF2-40B4-BE49-F238E27FC236}">
                <a16:creationId xmlns:a16="http://schemas.microsoft.com/office/drawing/2014/main" id="{5F460416-54B6-4154-A6D3-056E8B3A779F}"/>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03B7E06C-4A0E-4392-8A78-6831662F220C}"/>
              </a:ext>
            </a:extLst>
          </p:cNvPr>
          <p:cNvSpPr>
            <a:spLocks noGrp="1"/>
          </p:cNvSpPr>
          <p:nvPr>
            <p:ph type="sldNum" sz="quarter" idx="12"/>
          </p:nvPr>
        </p:nvSpPr>
        <p:spPr/>
        <p:txBody>
          <a:bodyPr/>
          <a:lstStyle/>
          <a:p>
            <a:fld id="{B6F15528-21DE-4FAA-801E-634DDDAF4B2B}" type="slidenum">
              <a:rPr lang="en-US" smtClean="0"/>
              <a:pPr/>
              <a:t>48</a:t>
            </a:fld>
            <a:endParaRPr lang="en-US"/>
          </a:p>
        </p:txBody>
      </p:sp>
      <p:sp>
        <p:nvSpPr>
          <p:cNvPr id="8" name="TextBox 7">
            <a:extLst>
              <a:ext uri="{FF2B5EF4-FFF2-40B4-BE49-F238E27FC236}">
                <a16:creationId xmlns:a16="http://schemas.microsoft.com/office/drawing/2014/main" id="{E93ED88E-C4AC-47EB-BD65-A92B7F03F19B}"/>
              </a:ext>
            </a:extLst>
          </p:cNvPr>
          <p:cNvSpPr txBox="1"/>
          <p:nvPr/>
        </p:nvSpPr>
        <p:spPr>
          <a:xfrm>
            <a:off x="990600" y="1066800"/>
            <a:ext cx="10668000" cy="4616648"/>
          </a:xfrm>
          <a:prstGeom prst="rect">
            <a:avLst/>
          </a:prstGeom>
          <a:noFill/>
        </p:spPr>
        <p:txBody>
          <a:bodyPr wrap="square">
            <a:spAutoFit/>
          </a:bodyPr>
          <a:lstStyle/>
          <a:p>
            <a:r>
              <a:rPr lang="en-US" sz="2400" b="1" dirty="0"/>
              <a:t>FULL Binary Tree theorem </a:t>
            </a:r>
          </a:p>
          <a:p>
            <a:endParaRPr lang="en-US" dirty="0"/>
          </a:p>
          <a:p>
            <a:endParaRPr lang="en-US" dirty="0"/>
          </a:p>
          <a:p>
            <a:r>
              <a:rPr lang="en-US" dirty="0"/>
              <a:t>Theorem: Let T be a nonempty, full binary tree Then:</a:t>
            </a:r>
          </a:p>
          <a:p>
            <a:endParaRPr lang="en-US" dirty="0"/>
          </a:p>
          <a:p>
            <a:pPr marL="342900" indent="-342900">
              <a:buAutoNum type="alphaLcParenBoth"/>
            </a:pPr>
            <a:r>
              <a:rPr lang="en-US" dirty="0"/>
              <a:t>If T has I internal nodes, the number of leaves is L = I + 1. </a:t>
            </a:r>
          </a:p>
          <a:p>
            <a:pPr marL="342900" indent="-342900">
              <a:buAutoNum type="alphaLcParenBoth"/>
            </a:pPr>
            <a:endParaRPr lang="en-US" dirty="0"/>
          </a:p>
          <a:p>
            <a:pPr marL="342900" indent="-342900">
              <a:buAutoNum type="alphaLcParenBoth"/>
            </a:pPr>
            <a:r>
              <a:rPr lang="en-US" dirty="0"/>
              <a:t>If T has I internal nodes, the total number of nodes is N = 2I + 1.</a:t>
            </a:r>
          </a:p>
          <a:p>
            <a:pPr marL="342900" indent="-342900">
              <a:buAutoNum type="alphaLcParenBoth"/>
            </a:pPr>
            <a:endParaRPr lang="en-US" dirty="0"/>
          </a:p>
          <a:p>
            <a:pPr marL="342900" indent="-342900">
              <a:buAutoNum type="alphaLcParenBoth"/>
            </a:pPr>
            <a:r>
              <a:rPr lang="en-US" dirty="0"/>
              <a:t>If T has a total of N nodes, the number of internal nodes is I = (N – 1)/2.</a:t>
            </a:r>
          </a:p>
          <a:p>
            <a:pPr marL="342900" indent="-342900">
              <a:buAutoNum type="alphaLcParenBoth"/>
            </a:pPr>
            <a:endParaRPr lang="en-US" dirty="0"/>
          </a:p>
          <a:p>
            <a:pPr marL="342900" indent="-342900">
              <a:buAutoNum type="alphaLcParenBoth"/>
            </a:pPr>
            <a:r>
              <a:rPr lang="en-US" dirty="0"/>
              <a:t>If T has a total of N nodes, the number of leaves is L = (N + 1)/2.</a:t>
            </a:r>
          </a:p>
          <a:p>
            <a:pPr marL="342900" indent="-342900">
              <a:buAutoNum type="alphaLcParenBoth"/>
            </a:pPr>
            <a:endParaRPr lang="en-US" dirty="0"/>
          </a:p>
          <a:p>
            <a:pPr marL="342900" indent="-342900">
              <a:buAutoNum type="alphaLcParenBoth"/>
            </a:pPr>
            <a:r>
              <a:rPr lang="en-US" dirty="0"/>
              <a:t>If T has L leaves, the total number of nodes is N = 2L – 1.</a:t>
            </a:r>
          </a:p>
          <a:p>
            <a:pPr marL="342900" indent="-342900">
              <a:buAutoNum type="alphaLcParenBoth"/>
            </a:pPr>
            <a:endParaRPr lang="en-US" dirty="0"/>
          </a:p>
          <a:p>
            <a:pPr marL="342900" indent="-342900">
              <a:buAutoNum type="alphaLcParenBoth"/>
            </a:pPr>
            <a:r>
              <a:rPr lang="en-US" dirty="0"/>
              <a:t>If T has L leaves, the number of internal nodes is I = L – 1.</a:t>
            </a:r>
            <a:endParaRPr lang="en-IN" dirty="0"/>
          </a:p>
        </p:txBody>
      </p:sp>
      <p:sp>
        <p:nvSpPr>
          <p:cNvPr id="10" name="Title 1">
            <a:extLst>
              <a:ext uri="{FF2B5EF4-FFF2-40B4-BE49-F238E27FC236}">
                <a16:creationId xmlns:a16="http://schemas.microsoft.com/office/drawing/2014/main" id="{609E78A0-5586-432B-B142-A9296DD569A3}"/>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Tree>
    <p:extLst>
      <p:ext uri="{BB962C8B-B14F-4D97-AF65-F5344CB8AC3E}">
        <p14:creationId xmlns:p14="http://schemas.microsoft.com/office/powerpoint/2010/main" val="3048654729"/>
      </p:ext>
    </p:extLst>
  </p:cSld>
  <p:clrMapOvr>
    <a:masterClrMapping/>
  </p:clrMapOvr>
  <p:transition spd="slow">
    <p:cove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1"/>
            <a:ext cx="10820400" cy="4525963"/>
          </a:xfrm>
        </p:spPr>
        <p:txBody>
          <a:bodyPr>
            <a:normAutofit/>
          </a:bodyPr>
          <a:lstStyle/>
          <a:p>
            <a:r>
              <a:rPr lang="en-US" sz="2200" b="1" dirty="0"/>
              <a:t>Complete Binary Tree</a:t>
            </a:r>
          </a:p>
          <a:p>
            <a:pPr lvl="1"/>
            <a:r>
              <a:rPr lang="en-US" sz="2200" dirty="0"/>
              <a:t>A complete binary tree is a binary tree in which all the levels are completely filled except possibly the lowest one, which is filled from the left.</a:t>
            </a:r>
          </a:p>
          <a:p>
            <a:pPr lvl="1"/>
            <a:r>
              <a:rPr lang="en-US" sz="2200" dirty="0"/>
              <a:t>A complete binary tree is just like a full binary tree, but with two major differences</a:t>
            </a:r>
          </a:p>
          <a:p>
            <a:pPr lvl="2"/>
            <a:r>
              <a:rPr lang="en-US" sz="2200" dirty="0"/>
              <a:t>All the leaf elements must lean towards the left.</a:t>
            </a:r>
          </a:p>
          <a:p>
            <a:pPr lvl="2"/>
            <a:r>
              <a:rPr lang="en-US" sz="2200" dirty="0"/>
              <a:t>The last leaf element might not have a right sibling i.e. a complete binary tree doesn't have to be a full binary tree.</a:t>
            </a:r>
          </a:p>
          <a:p>
            <a:endParaRPr lang="en-US" sz="2200" dirty="0"/>
          </a:p>
        </p:txBody>
      </p:sp>
      <p:sp>
        <p:nvSpPr>
          <p:cNvPr id="4" name="Date Placeholder 3"/>
          <p:cNvSpPr>
            <a:spLocks noGrp="1"/>
          </p:cNvSpPr>
          <p:nvPr>
            <p:ph type="dt" sz="half" idx="10"/>
          </p:nvPr>
        </p:nvSpPr>
        <p:spPr/>
        <p:txBody>
          <a:bodyPr/>
          <a:lstStyle/>
          <a:p>
            <a:fld id="{7782D8EA-CB2F-4051-A11B-BBC3DACBA455}"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a:t>
            </a:r>
          </a:p>
        </p:txBody>
      </p:sp>
      <p:pic>
        <p:nvPicPr>
          <p:cNvPr id="9" name="Picture 8" descr="complete-binary-tree.png"/>
          <p:cNvPicPr>
            <a:picLocks noChangeAspect="1"/>
          </p:cNvPicPr>
          <p:nvPr/>
        </p:nvPicPr>
        <p:blipFill>
          <a:blip r:embed="rId2"/>
          <a:stretch>
            <a:fillRect/>
          </a:stretch>
        </p:blipFill>
        <p:spPr>
          <a:xfrm>
            <a:off x="4648200" y="4091642"/>
            <a:ext cx="3200400" cy="1921016"/>
          </a:xfrm>
          <a:prstGeom prst="rect">
            <a:avLst/>
          </a:prstGeom>
        </p:spPr>
      </p:pic>
    </p:spTree>
  </p:cSld>
  <p:clrMapOvr>
    <a:masterClrMapping/>
  </p:clrMapOvr>
  <p:transition spd="slow">
    <p:cove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1"/>
            <a:ext cx="10820400" cy="4525963"/>
          </a:xfrm>
        </p:spPr>
        <p:txBody>
          <a:bodyPr>
            <a:normAutofit/>
          </a:bodyPr>
          <a:lstStyle/>
          <a:p>
            <a:pPr algn="just"/>
            <a:r>
              <a:rPr lang="en-US" sz="2200" b="1" dirty="0"/>
              <a:t>Extended Binary Tree</a:t>
            </a:r>
          </a:p>
          <a:p>
            <a:pPr lvl="1" algn="just"/>
            <a:r>
              <a:rPr lang="en-US" sz="2200" dirty="0"/>
              <a:t>The full binary tree obtained by adding dummy nodes to a binary tree is called as Extended Binary Tree.</a:t>
            </a:r>
          </a:p>
          <a:p>
            <a:pPr algn="just">
              <a:buNone/>
            </a:pPr>
            <a:br>
              <a:rPr lang="en-US" sz="2200" dirty="0"/>
            </a:br>
            <a:endParaRPr lang="en-US" sz="2200" dirty="0"/>
          </a:p>
        </p:txBody>
      </p:sp>
      <p:sp>
        <p:nvSpPr>
          <p:cNvPr id="4" name="Date Placeholder 3"/>
          <p:cNvSpPr>
            <a:spLocks noGrp="1"/>
          </p:cNvSpPr>
          <p:nvPr>
            <p:ph type="dt" sz="half" idx="10"/>
          </p:nvPr>
        </p:nvSpPr>
        <p:spPr/>
        <p:txBody>
          <a:bodyPr/>
          <a:lstStyle/>
          <a:p>
            <a:fld id="{2DBC0299-10FC-48CC-87E0-2DBAE0E4134A}"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a:t>
            </a:r>
          </a:p>
        </p:txBody>
      </p:sp>
      <p:pic>
        <p:nvPicPr>
          <p:cNvPr id="9" name="Picture 8" descr="Extended Binary Tree.png"/>
          <p:cNvPicPr>
            <a:picLocks noChangeAspect="1"/>
          </p:cNvPicPr>
          <p:nvPr/>
        </p:nvPicPr>
        <p:blipFill>
          <a:blip r:embed="rId2"/>
          <a:stretch>
            <a:fillRect/>
          </a:stretch>
        </p:blipFill>
        <p:spPr>
          <a:xfrm>
            <a:off x="2971801" y="2819400"/>
            <a:ext cx="6400799" cy="2895600"/>
          </a:xfrm>
          <a:prstGeom prst="rect">
            <a:avLst/>
          </a:prstGeom>
        </p:spPr>
      </p:pic>
    </p:spTree>
  </p:cSld>
  <p:clrMapOvr>
    <a:masterClrMapping/>
  </p:clrMapOvr>
  <p:transition spd="slow">
    <p:cove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1"/>
            <a:ext cx="10744200" cy="4525963"/>
          </a:xfrm>
        </p:spPr>
        <p:txBody>
          <a:bodyPr>
            <a:normAutofit/>
          </a:bodyPr>
          <a:lstStyle/>
          <a:p>
            <a:r>
              <a:rPr lang="en-US" sz="2200" dirty="0"/>
              <a:t>A binary tree data structure is represented using two methods. Those methods are as follows...</a:t>
            </a:r>
          </a:p>
          <a:p>
            <a:pPr lvl="1"/>
            <a:r>
              <a:rPr lang="en-US" sz="2200" b="1" dirty="0"/>
              <a:t>Array Representation</a:t>
            </a:r>
          </a:p>
          <a:p>
            <a:pPr lvl="1"/>
            <a:r>
              <a:rPr lang="en-US" sz="2200" b="1" dirty="0"/>
              <a:t>Linked List Representation</a:t>
            </a:r>
          </a:p>
          <a:p>
            <a:r>
              <a:rPr lang="en-US" sz="2200" dirty="0"/>
              <a:t>Consider the following binary tree...</a:t>
            </a:r>
          </a:p>
          <a:p>
            <a:endParaRPr lang="en-US" sz="2200" dirty="0"/>
          </a:p>
        </p:txBody>
      </p:sp>
      <p:sp>
        <p:nvSpPr>
          <p:cNvPr id="4" name="Date Placeholder 3"/>
          <p:cNvSpPr>
            <a:spLocks noGrp="1"/>
          </p:cNvSpPr>
          <p:nvPr>
            <p:ph type="dt" sz="half" idx="10"/>
          </p:nvPr>
        </p:nvSpPr>
        <p:spPr/>
        <p:txBody>
          <a:bodyPr/>
          <a:lstStyle/>
          <a:p>
            <a:fld id="{6C1E2ED0-8C2D-474A-9D9D-67744A82DA1D}"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Representation (CO1)</a:t>
            </a:r>
          </a:p>
        </p:txBody>
      </p:sp>
      <p:pic>
        <p:nvPicPr>
          <p:cNvPr id="9" name="Picture 8" descr="Binary_Tree_example.png"/>
          <p:cNvPicPr>
            <a:picLocks noChangeAspect="1"/>
          </p:cNvPicPr>
          <p:nvPr/>
        </p:nvPicPr>
        <p:blipFill>
          <a:blip r:embed="rId2"/>
          <a:stretch>
            <a:fillRect/>
          </a:stretch>
        </p:blipFill>
        <p:spPr>
          <a:xfrm>
            <a:off x="3276600" y="3048000"/>
            <a:ext cx="5791200" cy="3048000"/>
          </a:xfrm>
          <a:prstGeom prst="rect">
            <a:avLst/>
          </a:prstGeom>
        </p:spPr>
      </p:pic>
    </p:spTree>
  </p:cSld>
  <p:clrMapOvr>
    <a:masterClrMapping/>
  </p:clrMapOvr>
  <p:transition spd="slow">
    <p:cove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Autofit/>
          </a:bodyPr>
          <a:lstStyle/>
          <a:p>
            <a:pPr algn="just"/>
            <a:r>
              <a:rPr lang="en-US" sz="2200" b="1" dirty="0"/>
              <a:t> Array Representation of Binary Tree</a:t>
            </a:r>
          </a:p>
          <a:p>
            <a:pPr lvl="1" algn="just"/>
            <a:r>
              <a:rPr lang="en-US" sz="2200" dirty="0"/>
              <a:t>In array representation of a binary tree, we use one-dimensional array (1-D Array) to represent a binary tree.</a:t>
            </a:r>
          </a:p>
          <a:p>
            <a:pPr lvl="1" algn="just"/>
            <a:r>
              <a:rPr lang="en-US" sz="2200" dirty="0"/>
              <a:t>Consider the above example of a binary tree and it is represented as follows...</a:t>
            </a:r>
          </a:p>
          <a:p>
            <a:pPr lvl="1" algn="just"/>
            <a:endParaRPr lang="en-US" sz="2200" dirty="0"/>
          </a:p>
          <a:p>
            <a:pPr lvl="1" algn="just">
              <a:buNone/>
            </a:pPr>
            <a:endParaRPr lang="en-US" sz="2200" dirty="0"/>
          </a:p>
          <a:p>
            <a:pPr algn="just"/>
            <a:endParaRPr lang="en-US" sz="2200" dirty="0"/>
          </a:p>
          <a:p>
            <a:pPr algn="just"/>
            <a:endParaRPr lang="en-US" sz="2200" dirty="0"/>
          </a:p>
          <a:p>
            <a:pPr lvl="1" algn="just"/>
            <a:r>
              <a:rPr lang="en-US" sz="2200" dirty="0"/>
              <a:t>To represent a binary tree of depth </a:t>
            </a:r>
            <a:r>
              <a:rPr lang="en-US" sz="2200" b="1" dirty="0"/>
              <a:t>'n'</a:t>
            </a:r>
            <a:r>
              <a:rPr lang="en-US" sz="2200" dirty="0"/>
              <a:t> using array representation, we need one dimensional array with a maximum size of </a:t>
            </a:r>
            <a:r>
              <a:rPr lang="en-US" sz="2200" b="1" dirty="0"/>
              <a:t>2n + 1</a:t>
            </a:r>
            <a:r>
              <a:rPr lang="en-US" sz="2200" dirty="0"/>
              <a:t>.</a:t>
            </a:r>
          </a:p>
          <a:p>
            <a:pPr algn="just"/>
            <a:endParaRPr lang="en-US" sz="2200" dirty="0"/>
          </a:p>
        </p:txBody>
      </p:sp>
      <p:sp>
        <p:nvSpPr>
          <p:cNvPr id="4" name="Date Placeholder 3"/>
          <p:cNvSpPr>
            <a:spLocks noGrp="1"/>
          </p:cNvSpPr>
          <p:nvPr>
            <p:ph type="dt" sz="half" idx="10"/>
          </p:nvPr>
        </p:nvSpPr>
        <p:spPr/>
        <p:txBody>
          <a:bodyPr/>
          <a:lstStyle/>
          <a:p>
            <a:fld id="{2B8A720C-0EAA-4D3A-9938-1550E0548078}"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Representation</a:t>
            </a:r>
          </a:p>
        </p:txBody>
      </p:sp>
      <p:pic>
        <p:nvPicPr>
          <p:cNvPr id="9" name="Picture 8" descr="Binary_Tree_Array_Representation.png"/>
          <p:cNvPicPr>
            <a:picLocks noChangeAspect="1"/>
          </p:cNvPicPr>
          <p:nvPr/>
        </p:nvPicPr>
        <p:blipFill>
          <a:blip r:embed="rId2"/>
          <a:stretch>
            <a:fillRect/>
          </a:stretch>
        </p:blipFill>
        <p:spPr>
          <a:xfrm>
            <a:off x="2438400" y="2667000"/>
            <a:ext cx="8077200" cy="1981200"/>
          </a:xfrm>
          <a:prstGeom prst="rect">
            <a:avLst/>
          </a:prstGeom>
        </p:spPr>
      </p:pic>
    </p:spTree>
  </p:cSld>
  <p:clrMapOvr>
    <a:masterClrMapping/>
  </p:clrMapOvr>
  <p:transition spd="slow">
    <p:cove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algn="just"/>
            <a:r>
              <a:rPr lang="en-US" sz="2200" b="1" dirty="0"/>
              <a:t>Linked List Representation of Binary Tree</a:t>
            </a:r>
          </a:p>
          <a:p>
            <a:pPr lvl="1" algn="just"/>
            <a:r>
              <a:rPr lang="en-US" sz="2200" dirty="0"/>
              <a:t>We use a double linked list to represent a binary tree. </a:t>
            </a:r>
          </a:p>
          <a:p>
            <a:pPr lvl="1" algn="just"/>
            <a:r>
              <a:rPr lang="en-US" sz="2200" dirty="0"/>
              <a:t>In a double linked list, every node consists of three fields. </a:t>
            </a:r>
          </a:p>
          <a:p>
            <a:pPr lvl="1" algn="just"/>
            <a:r>
              <a:rPr lang="en-US" sz="2200" dirty="0"/>
              <a:t>First field for storing left child address, second for storing actual data and third for storing right child address.</a:t>
            </a:r>
            <a:br>
              <a:rPr lang="en-US" sz="2200" dirty="0"/>
            </a:br>
            <a:r>
              <a:rPr lang="en-US" sz="2200" dirty="0"/>
              <a:t>In this linked list representation, a node has the following structure...</a:t>
            </a:r>
          </a:p>
          <a:p>
            <a:pPr algn="just">
              <a:buNone/>
            </a:pPr>
            <a:br>
              <a:rPr lang="en-US" sz="2200" dirty="0"/>
            </a:br>
            <a:endParaRPr lang="en-US" sz="2200" dirty="0"/>
          </a:p>
        </p:txBody>
      </p:sp>
      <p:sp>
        <p:nvSpPr>
          <p:cNvPr id="4" name="Date Placeholder 3"/>
          <p:cNvSpPr>
            <a:spLocks noGrp="1"/>
          </p:cNvSpPr>
          <p:nvPr>
            <p:ph type="dt" sz="half" idx="10"/>
          </p:nvPr>
        </p:nvSpPr>
        <p:spPr/>
        <p:txBody>
          <a:bodyPr/>
          <a:lstStyle/>
          <a:p>
            <a:fld id="{2A28E845-B06E-421D-BED9-99CE84091393}"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Representation</a:t>
            </a:r>
          </a:p>
        </p:txBody>
      </p:sp>
      <p:pic>
        <p:nvPicPr>
          <p:cNvPr id="9" name="Picture 8" descr="binary_tree_linked_list_representation_node.png"/>
          <p:cNvPicPr>
            <a:picLocks noChangeAspect="1"/>
          </p:cNvPicPr>
          <p:nvPr/>
        </p:nvPicPr>
        <p:blipFill>
          <a:blip r:embed="rId2"/>
          <a:stretch>
            <a:fillRect/>
          </a:stretch>
        </p:blipFill>
        <p:spPr>
          <a:xfrm>
            <a:off x="4191000" y="3632600"/>
            <a:ext cx="4876800" cy="2362200"/>
          </a:xfrm>
          <a:prstGeom prst="rect">
            <a:avLst/>
          </a:prstGeom>
        </p:spPr>
      </p:pic>
    </p:spTree>
  </p:cSld>
  <p:clrMapOvr>
    <a:masterClrMapping/>
  </p:clrMapOvr>
  <p:transition spd="slow">
    <p:cove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0"/>
            <a:ext cx="8229600" cy="4800600"/>
          </a:xfrm>
        </p:spPr>
        <p:txBody>
          <a:bodyPr>
            <a:normAutofit/>
          </a:bodyPr>
          <a:lstStyle/>
          <a:p>
            <a:r>
              <a:rPr lang="en-US" sz="2200" b="1" dirty="0"/>
              <a:t>Linked List Representation of Binary Tree (contd..)</a:t>
            </a:r>
          </a:p>
          <a:p>
            <a:pPr lvl="1"/>
            <a:r>
              <a:rPr lang="en-US" sz="2200" dirty="0"/>
              <a:t>The above example of the binary tree represented using Linked list representation is shown as follows...</a:t>
            </a:r>
          </a:p>
          <a:p>
            <a:endParaRPr lang="en-US" sz="2200" dirty="0"/>
          </a:p>
        </p:txBody>
      </p:sp>
      <p:sp>
        <p:nvSpPr>
          <p:cNvPr id="4" name="Date Placeholder 3"/>
          <p:cNvSpPr>
            <a:spLocks noGrp="1"/>
          </p:cNvSpPr>
          <p:nvPr>
            <p:ph type="dt" sz="half" idx="10"/>
          </p:nvPr>
        </p:nvSpPr>
        <p:spPr/>
        <p:txBody>
          <a:bodyPr/>
          <a:lstStyle/>
          <a:p>
            <a:fld id="{C0C1DD12-5C66-467F-913D-AC4256B2A72E}"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Representation</a:t>
            </a:r>
          </a:p>
        </p:txBody>
      </p:sp>
      <p:pic>
        <p:nvPicPr>
          <p:cNvPr id="9" name="Picture 8" descr="Binary_Tree_Linked_List_Representation.png"/>
          <p:cNvPicPr>
            <a:picLocks noChangeAspect="1"/>
          </p:cNvPicPr>
          <p:nvPr/>
        </p:nvPicPr>
        <p:blipFill>
          <a:blip r:embed="rId2"/>
          <a:stretch>
            <a:fillRect/>
          </a:stretch>
        </p:blipFill>
        <p:spPr>
          <a:xfrm>
            <a:off x="2895600" y="2209800"/>
            <a:ext cx="6781800" cy="4038600"/>
          </a:xfrm>
          <a:prstGeom prst="rect">
            <a:avLst/>
          </a:prstGeom>
        </p:spPr>
      </p:pic>
    </p:spTree>
  </p:cSld>
  <p:clrMapOvr>
    <a:masterClrMapping/>
  </p:clrMapOvr>
  <p:transition spd="slow">
    <p:cove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3000"/>
            <a:ext cx="10668000" cy="5105400"/>
          </a:xfrm>
        </p:spPr>
        <p:txBody>
          <a:bodyPr>
            <a:normAutofit/>
          </a:bodyPr>
          <a:lstStyle/>
          <a:p>
            <a:pPr algn="just"/>
            <a:r>
              <a:rPr lang="en-US" sz="2200" dirty="0"/>
              <a:t>Displaying (or) visiting order of nodes in a binary tree is called as Binary Tree Traversal.</a:t>
            </a:r>
          </a:p>
          <a:p>
            <a:pPr algn="just"/>
            <a:r>
              <a:rPr lang="en-US" sz="2200" dirty="0"/>
              <a:t>There are three types of binary tree traversals.</a:t>
            </a:r>
          </a:p>
          <a:p>
            <a:pPr lvl="1" algn="just"/>
            <a:r>
              <a:rPr lang="en-US" sz="2200" dirty="0"/>
              <a:t>In - Order Traversal</a:t>
            </a:r>
          </a:p>
          <a:p>
            <a:pPr lvl="1" algn="just"/>
            <a:r>
              <a:rPr lang="en-US" sz="2200" dirty="0"/>
              <a:t>Pre - Order Traversal</a:t>
            </a:r>
          </a:p>
          <a:p>
            <a:pPr lvl="1" algn="just"/>
            <a:r>
              <a:rPr lang="en-US" sz="2200" dirty="0"/>
              <a:t>Post - Order Traversal</a:t>
            </a:r>
          </a:p>
          <a:p>
            <a:pPr algn="just"/>
            <a:r>
              <a:rPr lang="en-US" sz="2200" dirty="0"/>
              <a:t>Consider the following binary tree...</a:t>
            </a:r>
          </a:p>
          <a:p>
            <a:pPr lvl="1" algn="just"/>
            <a:endParaRPr lang="en-US" sz="2200" dirty="0"/>
          </a:p>
          <a:p>
            <a:pPr lvl="1" algn="just"/>
            <a:endParaRPr lang="en-US" sz="2200" dirty="0"/>
          </a:p>
          <a:p>
            <a:pPr lvl="1" algn="just"/>
            <a:endParaRPr lang="en-US" sz="2200" dirty="0"/>
          </a:p>
          <a:p>
            <a:pPr algn="just">
              <a:buNone/>
            </a:pPr>
            <a:br>
              <a:rPr lang="en-US" sz="2200" dirty="0"/>
            </a:br>
            <a:endParaRPr lang="en-US" sz="2200" dirty="0"/>
          </a:p>
        </p:txBody>
      </p:sp>
      <p:sp>
        <p:nvSpPr>
          <p:cNvPr id="4" name="Date Placeholder 3"/>
          <p:cNvSpPr>
            <a:spLocks noGrp="1"/>
          </p:cNvSpPr>
          <p:nvPr>
            <p:ph type="dt" sz="half" idx="10"/>
          </p:nvPr>
        </p:nvSpPr>
        <p:spPr/>
        <p:txBody>
          <a:bodyPr/>
          <a:lstStyle/>
          <a:p>
            <a:fld id="{381CB648-38E4-4159-A550-834E0B53889E}"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Tree Traversal (CO1)</a:t>
            </a:r>
          </a:p>
        </p:txBody>
      </p:sp>
      <p:pic>
        <p:nvPicPr>
          <p:cNvPr id="11" name="Picture 10" descr="Binary_Tree_example (1).png"/>
          <p:cNvPicPr>
            <a:picLocks noChangeAspect="1"/>
          </p:cNvPicPr>
          <p:nvPr/>
        </p:nvPicPr>
        <p:blipFill>
          <a:blip r:embed="rId2"/>
          <a:stretch>
            <a:fillRect/>
          </a:stretch>
        </p:blipFill>
        <p:spPr>
          <a:xfrm>
            <a:off x="3581400" y="3657600"/>
            <a:ext cx="5867400" cy="2667000"/>
          </a:xfrm>
          <a:prstGeom prst="rect">
            <a:avLst/>
          </a:prstGeom>
        </p:spPr>
      </p:pic>
    </p:spTree>
  </p:cSld>
  <p:clrMapOvr>
    <a:masterClrMapping/>
  </p:clrMapOvr>
  <p:transition spd="slow">
    <p:cove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EA947F-216F-4128-96DC-39009FD3FB25}"/>
              </a:ext>
            </a:extLst>
          </p:cNvPr>
          <p:cNvSpPr txBox="1">
            <a:spLocks/>
          </p:cNvSpPr>
          <p:nvPr/>
        </p:nvSpPr>
        <p:spPr>
          <a:xfrm>
            <a:off x="2895600" y="-29496"/>
            <a:ext cx="7772400" cy="584775"/>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sz="3200" dirty="0"/>
              <a:t>Binary Tree Traversal</a:t>
            </a:r>
            <a:endParaRPr lang="en-IN" dirty="0"/>
          </a:p>
        </p:txBody>
      </p:sp>
      <p:sp>
        <p:nvSpPr>
          <p:cNvPr id="6" name="Rectangle 2">
            <a:extLst>
              <a:ext uri="{FF2B5EF4-FFF2-40B4-BE49-F238E27FC236}">
                <a16:creationId xmlns:a16="http://schemas.microsoft.com/office/drawing/2014/main" id="{5F42DD77-5B3A-46D9-90FC-D9626BDAF3E3}"/>
              </a:ext>
            </a:extLst>
          </p:cNvPr>
          <p:cNvSpPr txBox="1">
            <a:spLocks noChangeArrowheads="1"/>
          </p:cNvSpPr>
          <p:nvPr/>
        </p:nvSpPr>
        <p:spPr>
          <a:xfrm>
            <a:off x="2343150" y="896243"/>
            <a:ext cx="7886700" cy="132556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altLang="en-US" dirty="0"/>
          </a:p>
        </p:txBody>
      </p:sp>
      <p:sp>
        <p:nvSpPr>
          <p:cNvPr id="7" name="Rectangle 3">
            <a:extLst>
              <a:ext uri="{FF2B5EF4-FFF2-40B4-BE49-F238E27FC236}">
                <a16:creationId xmlns:a16="http://schemas.microsoft.com/office/drawing/2014/main" id="{D5EC2107-A54E-4A6A-88AB-78DEDFEE0792}"/>
              </a:ext>
            </a:extLst>
          </p:cNvPr>
          <p:cNvSpPr>
            <a:spLocks noGrp="1" noChangeArrowheads="1"/>
          </p:cNvSpPr>
          <p:nvPr>
            <p:ph idx="1"/>
          </p:nvPr>
        </p:nvSpPr>
        <p:spPr>
          <a:xfrm>
            <a:off x="990600" y="596116"/>
            <a:ext cx="7239000" cy="3886200"/>
          </a:xfrm>
        </p:spPr>
        <p:txBody>
          <a:bodyPr>
            <a:noAutofit/>
          </a:bodyPr>
          <a:lstStyle/>
          <a:p>
            <a:pPr marL="0" indent="0">
              <a:lnSpc>
                <a:spcPct val="90000"/>
              </a:lnSpc>
              <a:buNone/>
            </a:pPr>
            <a:endParaRPr lang="en-US" altLang="en-US" sz="2200" dirty="0"/>
          </a:p>
          <a:p>
            <a:pPr lvl="1">
              <a:lnSpc>
                <a:spcPct val="90000"/>
              </a:lnSpc>
            </a:pPr>
            <a:r>
              <a:rPr lang="en-US" altLang="en-US" sz="2200" dirty="0">
                <a:solidFill>
                  <a:srgbClr val="FF3300"/>
                </a:solidFill>
              </a:rPr>
              <a:t>Pre</a:t>
            </a:r>
            <a:r>
              <a:rPr lang="en-US" altLang="en-US" sz="2200" dirty="0"/>
              <a:t>order (</a:t>
            </a:r>
            <a:r>
              <a:rPr lang="en-US" altLang="en-US" sz="2200" dirty="0" err="1"/>
              <a:t>Node,Left,Right</a:t>
            </a:r>
            <a:r>
              <a:rPr lang="en-US" altLang="en-US" sz="2200" dirty="0"/>
              <a:t>)</a:t>
            </a:r>
          </a:p>
          <a:p>
            <a:pPr lvl="1">
              <a:lnSpc>
                <a:spcPct val="90000"/>
              </a:lnSpc>
            </a:pPr>
            <a:r>
              <a:rPr lang="en-US" altLang="en-US" sz="2200" dirty="0" err="1">
                <a:solidFill>
                  <a:srgbClr val="FF3300"/>
                </a:solidFill>
              </a:rPr>
              <a:t>Post</a:t>
            </a:r>
            <a:r>
              <a:rPr lang="en-US" altLang="en-US" sz="2200" dirty="0" err="1"/>
              <a:t>order</a:t>
            </a:r>
            <a:r>
              <a:rPr lang="en-US" altLang="en-US" sz="2200" dirty="0"/>
              <a:t> (Left, Right, Node)</a:t>
            </a:r>
          </a:p>
          <a:p>
            <a:pPr lvl="1">
              <a:lnSpc>
                <a:spcPct val="90000"/>
              </a:lnSpc>
            </a:pPr>
            <a:r>
              <a:rPr lang="en-US" altLang="en-US" sz="2200" dirty="0" err="1">
                <a:solidFill>
                  <a:srgbClr val="FF0000"/>
                </a:solidFill>
              </a:rPr>
              <a:t>In</a:t>
            </a:r>
            <a:r>
              <a:rPr lang="en-US" altLang="en-US" sz="2200" dirty="0" err="1"/>
              <a:t>order</a:t>
            </a:r>
            <a:r>
              <a:rPr lang="en-US" altLang="en-US" sz="2200" dirty="0"/>
              <a:t>(Left, Node, Right)</a:t>
            </a:r>
          </a:p>
          <a:p>
            <a:pPr>
              <a:lnSpc>
                <a:spcPct val="90000"/>
              </a:lnSpc>
            </a:pPr>
            <a:endParaRPr lang="en-US" altLang="en-US" sz="2200" dirty="0"/>
          </a:p>
        </p:txBody>
      </p:sp>
      <p:sp>
        <p:nvSpPr>
          <p:cNvPr id="3" name="Date Placeholder 2">
            <a:extLst>
              <a:ext uri="{FF2B5EF4-FFF2-40B4-BE49-F238E27FC236}">
                <a16:creationId xmlns:a16="http://schemas.microsoft.com/office/drawing/2014/main" id="{211164EC-2F1A-4DD2-AE5E-E04BFE090282}"/>
              </a:ext>
            </a:extLst>
          </p:cNvPr>
          <p:cNvSpPr>
            <a:spLocks noGrp="1"/>
          </p:cNvSpPr>
          <p:nvPr>
            <p:ph type="dt" sz="half" idx="10"/>
          </p:nvPr>
        </p:nvSpPr>
        <p:spPr/>
        <p:txBody>
          <a:bodyPr/>
          <a:lstStyle/>
          <a:p>
            <a:fld id="{568DBA22-A34C-4407-A969-1C3AA0D27854}" type="datetime1">
              <a:rPr lang="en-US" smtClean="0"/>
              <a:t>8/26/2026</a:t>
            </a:fld>
            <a:endParaRPr lang="en-US"/>
          </a:p>
        </p:txBody>
      </p:sp>
      <p:sp>
        <p:nvSpPr>
          <p:cNvPr id="8" name="Footer Placeholder 7">
            <a:extLst>
              <a:ext uri="{FF2B5EF4-FFF2-40B4-BE49-F238E27FC236}">
                <a16:creationId xmlns:a16="http://schemas.microsoft.com/office/drawing/2014/main" id="{69BFE583-EF72-4237-8FE7-A82040F4EFCA}"/>
              </a:ext>
            </a:extLst>
          </p:cNvPr>
          <p:cNvSpPr>
            <a:spLocks noGrp="1"/>
          </p:cNvSpPr>
          <p:nvPr>
            <p:ph type="ftr" sz="quarter" idx="11"/>
          </p:nvPr>
        </p:nvSpPr>
        <p:spPr/>
        <p:txBody>
          <a:bodyPr/>
          <a:lstStyle/>
          <a:p>
            <a:r>
              <a:rPr lang="it-IT" dirty="0"/>
              <a:t>Mr. Shamshad Ali             BCSE401: DSA-II  Unit-I                          </a:t>
            </a:r>
            <a:endParaRPr lang="en-US" dirty="0"/>
          </a:p>
        </p:txBody>
      </p:sp>
      <p:sp>
        <p:nvSpPr>
          <p:cNvPr id="9" name="Slide Number Placeholder 8">
            <a:extLst>
              <a:ext uri="{FF2B5EF4-FFF2-40B4-BE49-F238E27FC236}">
                <a16:creationId xmlns:a16="http://schemas.microsoft.com/office/drawing/2014/main" id="{CD8A7770-DE6A-4359-A60A-F0C1DECD9BE8}"/>
              </a:ext>
            </a:extLst>
          </p:cNvPr>
          <p:cNvSpPr>
            <a:spLocks noGrp="1"/>
          </p:cNvSpPr>
          <p:nvPr>
            <p:ph type="sldNum" sz="quarter" idx="12"/>
          </p:nvPr>
        </p:nvSpPr>
        <p:spPr/>
        <p:txBody>
          <a:bodyPr/>
          <a:lstStyle/>
          <a:p>
            <a:fld id="{B6F15528-21DE-4FAA-801E-634DDDAF4B2B}" type="slidenum">
              <a:rPr lang="en-US" smtClean="0"/>
              <a:pPr/>
              <a:t>56</a:t>
            </a:fld>
            <a:endParaRPr lang="en-US"/>
          </a:p>
        </p:txBody>
      </p:sp>
      <p:pic>
        <p:nvPicPr>
          <p:cNvPr id="11" name="Picture 10">
            <a:extLst>
              <a:ext uri="{FF2B5EF4-FFF2-40B4-BE49-F238E27FC236}">
                <a16:creationId xmlns:a16="http://schemas.microsoft.com/office/drawing/2014/main" id="{9F197C52-588B-41E0-BB6F-EAF4C999F419}"/>
              </a:ext>
            </a:extLst>
          </p:cNvPr>
          <p:cNvPicPr>
            <a:picLocks noChangeAspect="1"/>
          </p:cNvPicPr>
          <p:nvPr/>
        </p:nvPicPr>
        <p:blipFill>
          <a:blip r:embed="rId2"/>
          <a:stretch>
            <a:fillRect/>
          </a:stretch>
        </p:blipFill>
        <p:spPr>
          <a:xfrm>
            <a:off x="1600200" y="2057400"/>
            <a:ext cx="9829800" cy="4114800"/>
          </a:xfrm>
          <a:prstGeom prst="rect">
            <a:avLst/>
          </a:prstGeom>
        </p:spPr>
      </p:pic>
    </p:spTree>
    <p:extLst>
      <p:ext uri="{BB962C8B-B14F-4D97-AF65-F5344CB8AC3E}">
        <p14:creationId xmlns:p14="http://schemas.microsoft.com/office/powerpoint/2010/main" val="2857837183"/>
      </p:ext>
    </p:extLst>
  </p:cSld>
  <p:clrMapOvr>
    <a:masterClrMapping/>
  </p:clrMapOvr>
  <p:transition spd="slow">
    <p:cov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C8C3C46-6102-4362-8E9D-578E83D79DFE}"/>
              </a:ext>
            </a:extLst>
          </p:cNvPr>
          <p:cNvSpPr>
            <a:spLocks noGrp="1"/>
          </p:cNvSpPr>
          <p:nvPr>
            <p:ph type="dt" sz="half" idx="10"/>
          </p:nvPr>
        </p:nvSpPr>
        <p:spPr/>
        <p:txBody>
          <a:bodyPr/>
          <a:lstStyle/>
          <a:p>
            <a:fld id="{D91CB86D-2D7B-47F1-BE54-AF38C37C99AD}" type="datetime1">
              <a:rPr lang="en-US" smtClean="0"/>
              <a:t>8/26/2026</a:t>
            </a:fld>
            <a:endParaRPr lang="en-US"/>
          </a:p>
        </p:txBody>
      </p:sp>
      <p:sp>
        <p:nvSpPr>
          <p:cNvPr id="5" name="Footer Placeholder 4">
            <a:extLst>
              <a:ext uri="{FF2B5EF4-FFF2-40B4-BE49-F238E27FC236}">
                <a16:creationId xmlns:a16="http://schemas.microsoft.com/office/drawing/2014/main" id="{5CB7485C-EA46-4AEF-8727-385117AAD4F5}"/>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0CCB2FB6-D746-4955-B927-C47098DDE8C3}"/>
              </a:ext>
            </a:extLst>
          </p:cNvPr>
          <p:cNvSpPr>
            <a:spLocks noGrp="1"/>
          </p:cNvSpPr>
          <p:nvPr>
            <p:ph type="sldNum" sz="quarter" idx="12"/>
          </p:nvPr>
        </p:nvSpPr>
        <p:spPr/>
        <p:txBody>
          <a:bodyPr/>
          <a:lstStyle/>
          <a:p>
            <a:fld id="{B6F15528-21DE-4FAA-801E-634DDDAF4B2B}" type="slidenum">
              <a:rPr lang="en-US" smtClean="0"/>
              <a:pPr/>
              <a:t>57</a:t>
            </a:fld>
            <a:endParaRPr lang="en-US"/>
          </a:p>
        </p:txBody>
      </p:sp>
      <p:pic>
        <p:nvPicPr>
          <p:cNvPr id="32770" name="Picture 2" descr="Example Tree">
            <a:extLst>
              <a:ext uri="{FF2B5EF4-FFF2-40B4-BE49-F238E27FC236}">
                <a16:creationId xmlns:a16="http://schemas.microsoft.com/office/drawing/2014/main" id="{D02EF1B1-B950-4996-86E2-584131F03A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062990"/>
            <a:ext cx="3949187" cy="28194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179867E-8CD8-471B-B02F-4388155D3E3B}"/>
              </a:ext>
            </a:extLst>
          </p:cNvPr>
          <p:cNvSpPr txBox="1"/>
          <p:nvPr/>
        </p:nvSpPr>
        <p:spPr>
          <a:xfrm>
            <a:off x="2743200" y="4191000"/>
            <a:ext cx="4601496" cy="923330"/>
          </a:xfrm>
          <a:prstGeom prst="rect">
            <a:avLst/>
          </a:prstGeom>
          <a:noFill/>
        </p:spPr>
        <p:txBody>
          <a:bodyPr wrap="square">
            <a:spAutoFit/>
          </a:bodyPr>
          <a:lstStyle/>
          <a:p>
            <a:r>
              <a:rPr lang="en-US" dirty="0">
                <a:latin typeface="urw-din"/>
              </a:rPr>
              <a:t>(a) </a:t>
            </a:r>
            <a:r>
              <a:rPr lang="en-US" dirty="0" err="1">
                <a:latin typeface="urw-din"/>
              </a:rPr>
              <a:t>Inorder</a:t>
            </a:r>
            <a:r>
              <a:rPr lang="en-US" dirty="0">
                <a:latin typeface="urw-din"/>
              </a:rPr>
              <a:t> (Left, Node, Right) : 4 2 5 1 3</a:t>
            </a:r>
            <a:br>
              <a:rPr lang="en-US" dirty="0"/>
            </a:br>
            <a:r>
              <a:rPr lang="en-US" dirty="0">
                <a:latin typeface="urw-din"/>
              </a:rPr>
              <a:t>(b) Preorder (Node, Left, Right) : 1 2 4 5 3</a:t>
            </a:r>
            <a:br>
              <a:rPr lang="en-US" dirty="0"/>
            </a:br>
            <a:r>
              <a:rPr lang="en-US" dirty="0">
                <a:latin typeface="urw-din"/>
              </a:rPr>
              <a:t>(c) </a:t>
            </a:r>
            <a:r>
              <a:rPr lang="en-US" dirty="0" err="1">
                <a:latin typeface="urw-din"/>
              </a:rPr>
              <a:t>Postorder</a:t>
            </a:r>
            <a:r>
              <a:rPr lang="en-US" dirty="0">
                <a:latin typeface="urw-din"/>
              </a:rPr>
              <a:t> (Left, Right, Node) : 4 5 2 3 1</a:t>
            </a:r>
            <a:endParaRPr lang="en-IN" dirty="0"/>
          </a:p>
        </p:txBody>
      </p:sp>
      <p:sp>
        <p:nvSpPr>
          <p:cNvPr id="3" name="TextBox 2">
            <a:extLst>
              <a:ext uri="{FF2B5EF4-FFF2-40B4-BE49-F238E27FC236}">
                <a16:creationId xmlns:a16="http://schemas.microsoft.com/office/drawing/2014/main" id="{9578B5D7-B652-C2B0-E69D-1FE916054A49}"/>
              </a:ext>
            </a:extLst>
          </p:cNvPr>
          <p:cNvSpPr txBox="1"/>
          <p:nvPr/>
        </p:nvSpPr>
        <p:spPr>
          <a:xfrm>
            <a:off x="4419600" y="0"/>
            <a:ext cx="6105832" cy="584775"/>
          </a:xfrm>
          <a:prstGeom prst="rect">
            <a:avLst/>
          </a:prstGeom>
          <a:noFill/>
        </p:spPr>
        <p:txBody>
          <a:bodyPr wrap="square">
            <a:spAutoFit/>
          </a:bodyPr>
          <a:lstStyle/>
          <a:p>
            <a:pPr algn="ctr"/>
            <a:r>
              <a:rPr lang="en-IN" sz="3200" b="1" dirty="0"/>
              <a:t>Binary Tree Traversal</a:t>
            </a:r>
            <a:endParaRPr lang="en-IN" sz="3200" dirty="0"/>
          </a:p>
        </p:txBody>
      </p:sp>
    </p:spTree>
    <p:extLst>
      <p:ext uri="{BB962C8B-B14F-4D97-AF65-F5344CB8AC3E}">
        <p14:creationId xmlns:p14="http://schemas.microsoft.com/office/powerpoint/2010/main" val="3465389704"/>
      </p:ext>
    </p:extLst>
  </p:cSld>
  <p:clrMapOvr>
    <a:masterClrMapping/>
  </p:clrMapOvr>
  <p:transition spd="slow">
    <p:cove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1C169D-970E-46B3-ADAC-CB93F96B1386}"/>
              </a:ext>
            </a:extLst>
          </p:cNvPr>
          <p:cNvSpPr>
            <a:spLocks noGrp="1"/>
          </p:cNvSpPr>
          <p:nvPr>
            <p:ph type="dt" sz="half" idx="10"/>
          </p:nvPr>
        </p:nvSpPr>
        <p:spPr/>
        <p:txBody>
          <a:bodyPr/>
          <a:lstStyle/>
          <a:p>
            <a:fld id="{6467100A-BA1C-4259-9009-8694F5C037DD}" type="datetime1">
              <a:rPr lang="en-US" smtClean="0"/>
              <a:t>8/26/2026</a:t>
            </a:fld>
            <a:endParaRPr lang="en-US"/>
          </a:p>
        </p:txBody>
      </p:sp>
      <p:sp>
        <p:nvSpPr>
          <p:cNvPr id="5" name="Footer Placeholder 4">
            <a:extLst>
              <a:ext uri="{FF2B5EF4-FFF2-40B4-BE49-F238E27FC236}">
                <a16:creationId xmlns:a16="http://schemas.microsoft.com/office/drawing/2014/main" id="{8239A750-D249-40BF-82F9-FDC30CAF4B3E}"/>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37D82355-410B-4BA9-BF24-60BA78CA00F1}"/>
              </a:ext>
            </a:extLst>
          </p:cNvPr>
          <p:cNvSpPr>
            <a:spLocks noGrp="1"/>
          </p:cNvSpPr>
          <p:nvPr>
            <p:ph type="sldNum" sz="quarter" idx="12"/>
          </p:nvPr>
        </p:nvSpPr>
        <p:spPr/>
        <p:txBody>
          <a:bodyPr/>
          <a:lstStyle/>
          <a:p>
            <a:fld id="{B6F15528-21DE-4FAA-801E-634DDDAF4B2B}" type="slidenum">
              <a:rPr lang="en-US" smtClean="0"/>
              <a:pPr/>
              <a:t>58</a:t>
            </a:fld>
            <a:endParaRPr lang="en-US"/>
          </a:p>
        </p:txBody>
      </p:sp>
      <p:sp>
        <p:nvSpPr>
          <p:cNvPr id="10" name="Title 1">
            <a:extLst>
              <a:ext uri="{FF2B5EF4-FFF2-40B4-BE49-F238E27FC236}">
                <a16:creationId xmlns:a16="http://schemas.microsoft.com/office/drawing/2014/main" id="{6B1E66C4-6121-4198-B809-A36C47362120}"/>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13" name="TextBox 12">
            <a:extLst>
              <a:ext uri="{FF2B5EF4-FFF2-40B4-BE49-F238E27FC236}">
                <a16:creationId xmlns:a16="http://schemas.microsoft.com/office/drawing/2014/main" id="{347FC170-C7D0-4981-A886-EB50E7908E9F}"/>
              </a:ext>
            </a:extLst>
          </p:cNvPr>
          <p:cNvSpPr txBox="1"/>
          <p:nvPr/>
        </p:nvSpPr>
        <p:spPr>
          <a:xfrm>
            <a:off x="6172200" y="1295401"/>
            <a:ext cx="4038600" cy="7971413"/>
          </a:xfrm>
          <a:prstGeom prst="rect">
            <a:avLst/>
          </a:prstGeom>
          <a:noFill/>
        </p:spPr>
        <p:txBody>
          <a:bodyPr wrap="square" rtlCol="0">
            <a:spAutoFit/>
          </a:bodyPr>
          <a:lstStyle/>
          <a:p>
            <a:r>
              <a:rPr lang="en-US" sz="2200" dirty="0" err="1"/>
              <a:t>PreOrder</a:t>
            </a:r>
            <a:r>
              <a:rPr lang="en-US" sz="2200" dirty="0"/>
              <a:t> : (NLR)</a:t>
            </a:r>
          </a:p>
          <a:p>
            <a:endParaRPr lang="en-US" sz="2200" dirty="0"/>
          </a:p>
          <a:p>
            <a:r>
              <a:rPr lang="en-US" sz="2200" dirty="0"/>
              <a:t>Ans – 1 7 2 6 3 8 5 9 4</a:t>
            </a:r>
          </a:p>
          <a:p>
            <a:endParaRPr lang="en-US" sz="2200" dirty="0"/>
          </a:p>
          <a:p>
            <a:r>
              <a:rPr lang="en-US" sz="2200" dirty="0" err="1"/>
              <a:t>InOrder</a:t>
            </a:r>
            <a:r>
              <a:rPr lang="en-US" sz="2200" dirty="0"/>
              <a:t>: (LNR)</a:t>
            </a:r>
          </a:p>
          <a:p>
            <a:endParaRPr lang="en-US" sz="2200" dirty="0"/>
          </a:p>
          <a:p>
            <a:r>
              <a:rPr lang="en-US" sz="2200" dirty="0"/>
              <a:t>Ans – 2 7 3 6 8 1 5 9 4</a:t>
            </a:r>
          </a:p>
          <a:p>
            <a:endParaRPr lang="en-US" sz="2200"/>
          </a:p>
          <a:p>
            <a:r>
              <a:rPr lang="en-US" sz="2200"/>
              <a:t>PostOrder</a:t>
            </a:r>
            <a:r>
              <a:rPr lang="en-US" sz="2200" dirty="0"/>
              <a:t>: (LRN)</a:t>
            </a:r>
          </a:p>
          <a:p>
            <a:endParaRPr lang="en-US" sz="2200" dirty="0"/>
          </a:p>
          <a:p>
            <a:r>
              <a:rPr lang="en-US" sz="2200" dirty="0"/>
              <a:t>Ans -  2 3 8 6 7 4 9 5 1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17" name="Picture 16">
            <a:extLst>
              <a:ext uri="{FF2B5EF4-FFF2-40B4-BE49-F238E27FC236}">
                <a16:creationId xmlns:a16="http://schemas.microsoft.com/office/drawing/2014/main" id="{5C6482C6-8455-484C-A0E1-FF4214DC65A0}"/>
              </a:ext>
            </a:extLst>
          </p:cNvPr>
          <p:cNvPicPr>
            <a:picLocks noChangeAspect="1"/>
          </p:cNvPicPr>
          <p:nvPr/>
        </p:nvPicPr>
        <p:blipFill>
          <a:blip r:embed="rId2"/>
          <a:stretch>
            <a:fillRect/>
          </a:stretch>
        </p:blipFill>
        <p:spPr>
          <a:xfrm>
            <a:off x="1828801" y="1524000"/>
            <a:ext cx="3733800" cy="4191000"/>
          </a:xfrm>
          <a:prstGeom prst="rect">
            <a:avLst/>
          </a:prstGeom>
        </p:spPr>
      </p:pic>
    </p:spTree>
    <p:extLst>
      <p:ext uri="{BB962C8B-B14F-4D97-AF65-F5344CB8AC3E}">
        <p14:creationId xmlns:p14="http://schemas.microsoft.com/office/powerpoint/2010/main" val="70180078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anim calcmode="lin" valueType="num">
                                      <p:cBhvr additive="base">
                                        <p:cTn id="11"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anim calcmode="lin" valueType="num">
                                      <p:cBhvr additive="base">
                                        <p:cTn id="1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anim calcmode="lin" valueType="num">
                                      <p:cBhvr additive="base">
                                        <p:cTn id="19" dur="500" fill="hold"/>
                                        <p:tgtEl>
                                          <p:spTgt spid="1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
                                            <p:txEl>
                                              <p:pRg st="8" end="8"/>
                                            </p:txEl>
                                          </p:spTgt>
                                        </p:tgtEl>
                                        <p:attrNameLst>
                                          <p:attrName>style.visibility</p:attrName>
                                        </p:attrNameLst>
                                      </p:cBhvr>
                                      <p:to>
                                        <p:strVal val="visible"/>
                                      </p:to>
                                    </p:set>
                                    <p:anim calcmode="lin" valueType="num">
                                      <p:cBhvr additive="base">
                                        <p:cTn id="23" dur="500" fill="hold"/>
                                        <p:tgtEl>
                                          <p:spTgt spid="1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xEl>
                                              <p:pRg st="10" end="10"/>
                                            </p:txEl>
                                          </p:spTgt>
                                        </p:tgtEl>
                                        <p:attrNameLst>
                                          <p:attrName>style.visibility</p:attrName>
                                        </p:attrNameLst>
                                      </p:cBhvr>
                                      <p:to>
                                        <p:strVal val="visible"/>
                                      </p:to>
                                    </p:set>
                                    <p:anim calcmode="lin" valueType="num">
                                      <p:cBhvr additive="base">
                                        <p:cTn id="27" dur="500" fill="hold"/>
                                        <p:tgtEl>
                                          <p:spTgt spid="1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291CC64-6E0A-4432-87BA-DF0668632042}"/>
              </a:ext>
            </a:extLst>
          </p:cNvPr>
          <p:cNvSpPr>
            <a:spLocks noGrp="1"/>
          </p:cNvSpPr>
          <p:nvPr>
            <p:ph type="dt" sz="half" idx="10"/>
          </p:nvPr>
        </p:nvSpPr>
        <p:spPr/>
        <p:txBody>
          <a:bodyPr/>
          <a:lstStyle/>
          <a:p>
            <a:fld id="{BC756DF7-8999-4449-9466-5B62085BBADF}" type="datetime1">
              <a:rPr lang="en-US" smtClean="0"/>
              <a:t>8/26/2026</a:t>
            </a:fld>
            <a:endParaRPr lang="en-US"/>
          </a:p>
        </p:txBody>
      </p:sp>
      <p:sp>
        <p:nvSpPr>
          <p:cNvPr id="5" name="Footer Placeholder 4">
            <a:extLst>
              <a:ext uri="{FF2B5EF4-FFF2-40B4-BE49-F238E27FC236}">
                <a16:creationId xmlns:a16="http://schemas.microsoft.com/office/drawing/2014/main" id="{5D9E7423-A6B0-4E0C-AAB0-12B5FE22E29D}"/>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051019FD-EBE3-47AB-8E33-BDD3E6A6A24C}"/>
              </a:ext>
            </a:extLst>
          </p:cNvPr>
          <p:cNvSpPr>
            <a:spLocks noGrp="1"/>
          </p:cNvSpPr>
          <p:nvPr>
            <p:ph type="sldNum" sz="quarter" idx="12"/>
          </p:nvPr>
        </p:nvSpPr>
        <p:spPr/>
        <p:txBody>
          <a:bodyPr/>
          <a:lstStyle/>
          <a:p>
            <a:fld id="{B6F15528-21DE-4FAA-801E-634DDDAF4B2B}" type="slidenum">
              <a:rPr lang="en-US" smtClean="0"/>
              <a:pPr/>
              <a:t>59</a:t>
            </a:fld>
            <a:endParaRPr lang="en-US"/>
          </a:p>
        </p:txBody>
      </p:sp>
      <p:sp>
        <p:nvSpPr>
          <p:cNvPr id="8" name="TextBox 7">
            <a:extLst>
              <a:ext uri="{FF2B5EF4-FFF2-40B4-BE49-F238E27FC236}">
                <a16:creationId xmlns:a16="http://schemas.microsoft.com/office/drawing/2014/main" id="{DE828913-60D1-4191-A551-8147DF782B85}"/>
              </a:ext>
            </a:extLst>
          </p:cNvPr>
          <p:cNvSpPr txBox="1"/>
          <p:nvPr/>
        </p:nvSpPr>
        <p:spPr>
          <a:xfrm>
            <a:off x="2247900" y="1066801"/>
            <a:ext cx="7696200" cy="4524315"/>
          </a:xfrm>
          <a:prstGeom prst="rect">
            <a:avLst/>
          </a:prstGeom>
          <a:noFill/>
        </p:spPr>
        <p:txBody>
          <a:bodyPr wrap="square">
            <a:spAutoFit/>
          </a:bodyPr>
          <a:lstStyle/>
          <a:p>
            <a:r>
              <a:rPr lang="en-US" altLang="en-US" dirty="0"/>
              <a:t>Algorithm </a:t>
            </a:r>
            <a:r>
              <a:rPr lang="en-US" altLang="en-US" dirty="0" err="1"/>
              <a:t>Inorder</a:t>
            </a:r>
            <a:r>
              <a:rPr lang="en-US" altLang="en-US"/>
              <a:t>(tree)</a:t>
            </a:r>
            <a:endParaRPr lang="en-US" altLang="en-US" dirty="0"/>
          </a:p>
          <a:p>
            <a:r>
              <a:rPr lang="en-US" altLang="en-US" dirty="0"/>
              <a:t>   1. Traverse the left subtree, i.e., call </a:t>
            </a:r>
            <a:r>
              <a:rPr lang="en-US" altLang="en-US" dirty="0" err="1"/>
              <a:t>Inorder</a:t>
            </a:r>
            <a:r>
              <a:rPr lang="en-US" altLang="en-US" dirty="0"/>
              <a:t>(left-subtree)</a:t>
            </a:r>
          </a:p>
          <a:p>
            <a:r>
              <a:rPr lang="en-US" altLang="en-US" dirty="0"/>
              <a:t>   2. Visit the root.</a:t>
            </a:r>
          </a:p>
          <a:p>
            <a:r>
              <a:rPr lang="en-US" altLang="en-US" dirty="0"/>
              <a:t>   3. Traverse the right subtree, i.e., call </a:t>
            </a:r>
            <a:r>
              <a:rPr lang="en-US" altLang="en-US" dirty="0" err="1"/>
              <a:t>Inorder</a:t>
            </a:r>
            <a:r>
              <a:rPr lang="en-US" altLang="en-US" dirty="0"/>
              <a:t>(right-subtree)</a:t>
            </a:r>
          </a:p>
          <a:p>
            <a:endParaRPr lang="en-US" dirty="0"/>
          </a:p>
          <a:p>
            <a:endParaRPr lang="en-US" dirty="0"/>
          </a:p>
          <a:p>
            <a:r>
              <a:rPr lang="en-US" dirty="0"/>
              <a:t>Algorithm Preorder(tree)</a:t>
            </a:r>
          </a:p>
          <a:p>
            <a:r>
              <a:rPr lang="en-US" dirty="0"/>
              <a:t>   1. Visit the root.</a:t>
            </a:r>
          </a:p>
          <a:p>
            <a:r>
              <a:rPr lang="en-US" dirty="0"/>
              <a:t>   2. Traverse the left subtree, i.e., call Preorder(left-subtree)</a:t>
            </a:r>
          </a:p>
          <a:p>
            <a:r>
              <a:rPr lang="en-US" dirty="0"/>
              <a:t>   3. Traverse the right subtree, i.e., call Preorder(right-subtree) </a:t>
            </a:r>
          </a:p>
          <a:p>
            <a:endParaRPr lang="en-US" dirty="0"/>
          </a:p>
          <a:p>
            <a:endParaRPr lang="en-US" dirty="0"/>
          </a:p>
          <a:p>
            <a:r>
              <a:rPr lang="en-US" dirty="0"/>
              <a:t>Algorithm </a:t>
            </a:r>
            <a:r>
              <a:rPr lang="en-US" dirty="0" err="1"/>
              <a:t>Postorder</a:t>
            </a:r>
            <a:r>
              <a:rPr lang="en-US" dirty="0"/>
              <a:t>(tree)</a:t>
            </a:r>
          </a:p>
          <a:p>
            <a:r>
              <a:rPr lang="en-US" dirty="0"/>
              <a:t>   1. Traverse the left subtree, i.e., call </a:t>
            </a:r>
            <a:r>
              <a:rPr lang="en-US" dirty="0" err="1"/>
              <a:t>Postorder</a:t>
            </a:r>
            <a:r>
              <a:rPr lang="en-US" dirty="0"/>
              <a:t>(left-subtree)</a:t>
            </a:r>
          </a:p>
          <a:p>
            <a:r>
              <a:rPr lang="en-US" dirty="0"/>
              <a:t>   2. Traverse the right subtree, i.e., call </a:t>
            </a:r>
            <a:r>
              <a:rPr lang="en-US" dirty="0" err="1"/>
              <a:t>Postorder</a:t>
            </a:r>
            <a:r>
              <a:rPr lang="en-US" dirty="0"/>
              <a:t>(right-subtree)</a:t>
            </a:r>
          </a:p>
          <a:p>
            <a:r>
              <a:rPr lang="en-US" dirty="0"/>
              <a:t>   3. Visit the root.</a:t>
            </a:r>
            <a:endParaRPr lang="en-IN" dirty="0"/>
          </a:p>
        </p:txBody>
      </p:sp>
      <p:sp>
        <p:nvSpPr>
          <p:cNvPr id="10" name="Title 1">
            <a:extLst>
              <a:ext uri="{FF2B5EF4-FFF2-40B4-BE49-F238E27FC236}">
                <a16:creationId xmlns:a16="http://schemas.microsoft.com/office/drawing/2014/main" id="{FABB4F2A-2F4A-43D3-B5D1-CE3ACA328936}"/>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Tree>
    <p:extLst>
      <p:ext uri="{BB962C8B-B14F-4D97-AF65-F5344CB8AC3E}">
        <p14:creationId xmlns:p14="http://schemas.microsoft.com/office/powerpoint/2010/main" val="1099640868"/>
      </p:ext>
    </p:extLst>
  </p:cSld>
  <p:clrMapOvr>
    <a:masterClrMapping/>
  </p:clrMapOvr>
  <p:transition spd="slow">
    <p:cov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0FCF4-D468-455D-9008-6BC08483896C}"/>
              </a:ext>
            </a:extLst>
          </p:cNvPr>
          <p:cNvSpPr>
            <a:spLocks noGrp="1"/>
          </p:cNvSpPr>
          <p:nvPr>
            <p:ph type="title" idx="4294967295"/>
          </p:nvPr>
        </p:nvSpPr>
        <p:spPr>
          <a:xfrm>
            <a:off x="1981200" y="1371600"/>
            <a:ext cx="8229600" cy="258762"/>
          </a:xfrm>
          <a:prstGeom prst="rect">
            <a:avLst/>
          </a:prstGeom>
        </p:spPr>
        <p:txBody>
          <a:bodyPr>
            <a:normAutofit fontScale="90000"/>
          </a:bodyPr>
          <a:lstStyle/>
          <a:p>
            <a:r>
              <a:rPr lang="en-US" sz="2700" dirty="0">
                <a:latin typeface="var(--font-sofia)"/>
              </a:rPr>
              <a:t>Construct Tree from given </a:t>
            </a:r>
            <a:r>
              <a:rPr lang="en-US" sz="2700" dirty="0" err="1">
                <a:latin typeface="var(--font-sofia)"/>
              </a:rPr>
              <a:t>Inorder</a:t>
            </a:r>
            <a:r>
              <a:rPr lang="en-US" sz="2700" dirty="0">
                <a:latin typeface="var(--font-sofia)"/>
              </a:rPr>
              <a:t> and </a:t>
            </a:r>
            <a:r>
              <a:rPr lang="en-US" sz="2700" dirty="0" err="1">
                <a:latin typeface="var(--font-sofia)"/>
              </a:rPr>
              <a:t>Postorder</a:t>
            </a:r>
            <a:r>
              <a:rPr lang="en-US" sz="2700" dirty="0">
                <a:latin typeface="var(--font-sofia)"/>
              </a:rPr>
              <a:t> traversals</a:t>
            </a:r>
            <a:br>
              <a:rPr lang="en-US" b="0" i="0" dirty="0">
                <a:effectLst/>
                <a:latin typeface="var(--font-sofia)"/>
              </a:rPr>
            </a:br>
            <a:endParaRPr lang="en-IN" dirty="0"/>
          </a:p>
        </p:txBody>
      </p:sp>
      <p:sp>
        <p:nvSpPr>
          <p:cNvPr id="4" name="Date Placeholder 3">
            <a:extLst>
              <a:ext uri="{FF2B5EF4-FFF2-40B4-BE49-F238E27FC236}">
                <a16:creationId xmlns:a16="http://schemas.microsoft.com/office/drawing/2014/main" id="{C98BF219-6958-4C40-AB70-8ADC92EBFD90}"/>
              </a:ext>
            </a:extLst>
          </p:cNvPr>
          <p:cNvSpPr>
            <a:spLocks noGrp="1"/>
          </p:cNvSpPr>
          <p:nvPr>
            <p:ph type="dt" sz="half" idx="10"/>
          </p:nvPr>
        </p:nvSpPr>
        <p:spPr/>
        <p:txBody>
          <a:bodyPr/>
          <a:lstStyle/>
          <a:p>
            <a:pPr>
              <a:defRPr/>
            </a:pPr>
            <a:fld id="{75615E89-8094-494F-B928-D477AE30773A}" type="datetime1">
              <a:rPr lang="en-US" smtClean="0">
                <a:solidFill>
                  <a:prstClr val="black">
                    <a:tint val="75000"/>
                  </a:prstClr>
                </a:solidFill>
                <a:latin typeface="Times New Roman"/>
              </a:rPr>
              <a:t>8/26/2026</a:t>
            </a:fld>
            <a:endParaRPr lang="en-US">
              <a:solidFill>
                <a:prstClr val="black">
                  <a:tint val="75000"/>
                </a:prstClr>
              </a:solidFill>
              <a:latin typeface="Times New Roman"/>
            </a:endParaRPr>
          </a:p>
        </p:txBody>
      </p:sp>
      <p:sp>
        <p:nvSpPr>
          <p:cNvPr id="5" name="Footer Placeholder 4">
            <a:extLst>
              <a:ext uri="{FF2B5EF4-FFF2-40B4-BE49-F238E27FC236}">
                <a16:creationId xmlns:a16="http://schemas.microsoft.com/office/drawing/2014/main" id="{4AB3E4D7-ED21-46DE-91DE-0E451CC3CD8F}"/>
              </a:ext>
            </a:extLst>
          </p:cNvPr>
          <p:cNvSpPr>
            <a:spLocks noGrp="1"/>
          </p:cNvSpPr>
          <p:nvPr>
            <p:ph type="ftr" sz="quarter" idx="11"/>
          </p:nvPr>
        </p:nvSpPr>
        <p:spPr/>
        <p:txBody>
          <a:bodyPr/>
          <a:lstStyle/>
          <a:p>
            <a:pPr>
              <a:defRPr/>
            </a:pPr>
            <a:r>
              <a:rPr lang="it-IT" dirty="0">
                <a:solidFill>
                  <a:prstClr val="black">
                    <a:tint val="75000"/>
                  </a:prstClr>
                </a:solidFill>
                <a:latin typeface="Times New Roman"/>
              </a:rPr>
              <a:t>Mr. Shamshad Ali             BCSE401: DSA-II  Unit-I                          </a:t>
            </a:r>
            <a:endParaRPr lang="en-US" dirty="0">
              <a:solidFill>
                <a:prstClr val="black">
                  <a:tint val="75000"/>
                </a:prstClr>
              </a:solidFill>
              <a:latin typeface="Times New Roman"/>
            </a:endParaRPr>
          </a:p>
        </p:txBody>
      </p:sp>
      <p:sp>
        <p:nvSpPr>
          <p:cNvPr id="6" name="Slide Number Placeholder 5">
            <a:extLst>
              <a:ext uri="{FF2B5EF4-FFF2-40B4-BE49-F238E27FC236}">
                <a16:creationId xmlns:a16="http://schemas.microsoft.com/office/drawing/2014/main" id="{FDF5B38F-1D32-4CEB-BB0B-8A0CB3950939}"/>
              </a:ext>
            </a:extLst>
          </p:cNvPr>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Times New Roman"/>
              </a:rPr>
              <a:pPr>
                <a:defRPr/>
              </a:pPr>
              <a:t>60</a:t>
            </a:fld>
            <a:endParaRPr lang="en-US">
              <a:solidFill>
                <a:prstClr val="black">
                  <a:tint val="75000"/>
                </a:prstClr>
              </a:solidFill>
              <a:latin typeface="Times New Roman"/>
            </a:endParaRPr>
          </a:p>
        </p:txBody>
      </p:sp>
      <p:sp>
        <p:nvSpPr>
          <p:cNvPr id="8" name="Title 1">
            <a:extLst>
              <a:ext uri="{FF2B5EF4-FFF2-40B4-BE49-F238E27FC236}">
                <a16:creationId xmlns:a16="http://schemas.microsoft.com/office/drawing/2014/main" id="{2AD2A369-6EE4-412E-A95C-FFFA2BECBD95}"/>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3" name="TextBox 2">
            <a:extLst>
              <a:ext uri="{FF2B5EF4-FFF2-40B4-BE49-F238E27FC236}">
                <a16:creationId xmlns:a16="http://schemas.microsoft.com/office/drawing/2014/main" id="{4220AB31-90BD-4206-8E9A-AE0ED3A9AE5C}"/>
              </a:ext>
            </a:extLst>
          </p:cNvPr>
          <p:cNvSpPr txBox="1"/>
          <p:nvPr/>
        </p:nvSpPr>
        <p:spPr>
          <a:xfrm>
            <a:off x="2247900" y="1905000"/>
            <a:ext cx="7353300" cy="2308324"/>
          </a:xfrm>
          <a:prstGeom prst="rect">
            <a:avLst/>
          </a:prstGeom>
          <a:noFill/>
        </p:spPr>
        <p:txBody>
          <a:bodyPr wrap="square" rtlCol="0">
            <a:spAutoFit/>
          </a:bodyPr>
          <a:lstStyle/>
          <a:p>
            <a:pPr marL="342900" indent="-342900">
              <a:buAutoNum type="arabicPeriod"/>
            </a:pPr>
            <a:r>
              <a:rPr lang="en-US" dirty="0"/>
              <a:t>Pickup last key of post order sequence and create node of each.</a:t>
            </a:r>
          </a:p>
          <a:p>
            <a:pPr marL="342900" indent="-342900">
              <a:buAutoNum type="arabicPeriod"/>
            </a:pPr>
            <a:endParaRPr lang="en-US" dirty="0"/>
          </a:p>
          <a:p>
            <a:pPr marL="342900" indent="-342900">
              <a:buAutoNum type="arabicPeriod"/>
            </a:pPr>
            <a:r>
              <a:rPr lang="en-US" dirty="0"/>
              <a:t>Create left subtree of root node recursively by selecting keys which are preceding the root node in </a:t>
            </a:r>
            <a:r>
              <a:rPr lang="en-US" dirty="0" err="1"/>
              <a:t>Inorder</a:t>
            </a:r>
            <a:r>
              <a:rPr lang="en-US" dirty="0"/>
              <a:t>.</a:t>
            </a:r>
          </a:p>
          <a:p>
            <a:pPr marL="342900" indent="-342900">
              <a:buAutoNum type="arabicPeriod"/>
            </a:pPr>
            <a:endParaRPr lang="en-US" dirty="0"/>
          </a:p>
          <a:p>
            <a:pPr marL="342900" indent="-342900">
              <a:buAutoNum type="arabicPeriod"/>
            </a:pPr>
            <a:r>
              <a:rPr lang="en-US" dirty="0"/>
              <a:t>Create right subtree of root node recursively by selecting keys which are following the root node in </a:t>
            </a:r>
            <a:r>
              <a:rPr lang="en-US" dirty="0" err="1"/>
              <a:t>Inorder</a:t>
            </a:r>
            <a:endParaRPr lang="en-US" dirty="0"/>
          </a:p>
          <a:p>
            <a:pPr marL="342900" indent="-342900">
              <a:buAutoNum type="arabicPeriod"/>
            </a:pPr>
            <a:endParaRPr lang="en-IN" dirty="0"/>
          </a:p>
        </p:txBody>
      </p:sp>
    </p:spTree>
    <p:extLst>
      <p:ext uri="{BB962C8B-B14F-4D97-AF65-F5344CB8AC3E}">
        <p14:creationId xmlns:p14="http://schemas.microsoft.com/office/powerpoint/2010/main" val="3238966341"/>
      </p:ext>
    </p:extLst>
  </p:cSld>
  <p:clrMapOvr>
    <a:masterClrMapping/>
  </p:clrMapOvr>
  <p:transition spd="slow">
    <p:cove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0FCF4-D468-455D-9008-6BC08483896C}"/>
              </a:ext>
            </a:extLst>
          </p:cNvPr>
          <p:cNvSpPr>
            <a:spLocks noGrp="1"/>
          </p:cNvSpPr>
          <p:nvPr>
            <p:ph type="title" idx="4294967295"/>
          </p:nvPr>
        </p:nvSpPr>
        <p:spPr>
          <a:xfrm>
            <a:off x="1981200" y="1371600"/>
            <a:ext cx="8229600" cy="258762"/>
          </a:xfrm>
          <a:prstGeom prst="rect">
            <a:avLst/>
          </a:prstGeom>
        </p:spPr>
        <p:txBody>
          <a:bodyPr>
            <a:normAutofit fontScale="90000"/>
          </a:bodyPr>
          <a:lstStyle/>
          <a:p>
            <a:r>
              <a:rPr lang="en-US" sz="2700" dirty="0">
                <a:latin typeface="var(--font-sofia)"/>
              </a:rPr>
              <a:t>Construct Tree from given </a:t>
            </a:r>
            <a:r>
              <a:rPr lang="en-US" sz="2700" dirty="0" err="1">
                <a:latin typeface="var(--font-sofia)"/>
              </a:rPr>
              <a:t>Inorder</a:t>
            </a:r>
            <a:r>
              <a:rPr lang="en-US" sz="2700" dirty="0">
                <a:latin typeface="var(--font-sofia)"/>
              </a:rPr>
              <a:t> and </a:t>
            </a:r>
            <a:r>
              <a:rPr lang="en-US" sz="2700" dirty="0" err="1">
                <a:latin typeface="var(--font-sofia)"/>
              </a:rPr>
              <a:t>Postorder</a:t>
            </a:r>
            <a:r>
              <a:rPr lang="en-US" sz="2700" dirty="0">
                <a:latin typeface="var(--font-sofia)"/>
              </a:rPr>
              <a:t> traversals</a:t>
            </a:r>
            <a:br>
              <a:rPr lang="en-US" b="0" i="0" dirty="0">
                <a:effectLst/>
                <a:latin typeface="var(--font-sofia)"/>
              </a:rPr>
            </a:br>
            <a:endParaRPr lang="en-IN" dirty="0"/>
          </a:p>
        </p:txBody>
      </p:sp>
      <p:sp>
        <p:nvSpPr>
          <p:cNvPr id="4" name="Date Placeholder 3">
            <a:extLst>
              <a:ext uri="{FF2B5EF4-FFF2-40B4-BE49-F238E27FC236}">
                <a16:creationId xmlns:a16="http://schemas.microsoft.com/office/drawing/2014/main" id="{C98BF219-6958-4C40-AB70-8ADC92EBFD90}"/>
              </a:ext>
            </a:extLst>
          </p:cNvPr>
          <p:cNvSpPr>
            <a:spLocks noGrp="1"/>
          </p:cNvSpPr>
          <p:nvPr>
            <p:ph type="dt" sz="half" idx="10"/>
          </p:nvPr>
        </p:nvSpPr>
        <p:spPr/>
        <p:txBody>
          <a:bodyPr/>
          <a:lstStyle/>
          <a:p>
            <a:pPr>
              <a:defRPr/>
            </a:pPr>
            <a:fld id="{B3508F13-DDBD-4CC3-BA35-0EE72D9A8BC9}" type="datetime1">
              <a:rPr lang="en-US" smtClean="0">
                <a:solidFill>
                  <a:prstClr val="black">
                    <a:tint val="75000"/>
                  </a:prstClr>
                </a:solidFill>
                <a:latin typeface="Times New Roman"/>
              </a:rPr>
              <a:t>8/26/2026</a:t>
            </a:fld>
            <a:endParaRPr lang="en-US">
              <a:solidFill>
                <a:prstClr val="black">
                  <a:tint val="75000"/>
                </a:prstClr>
              </a:solidFill>
              <a:latin typeface="Times New Roman"/>
            </a:endParaRPr>
          </a:p>
        </p:txBody>
      </p:sp>
      <p:sp>
        <p:nvSpPr>
          <p:cNvPr id="5" name="Footer Placeholder 4">
            <a:extLst>
              <a:ext uri="{FF2B5EF4-FFF2-40B4-BE49-F238E27FC236}">
                <a16:creationId xmlns:a16="http://schemas.microsoft.com/office/drawing/2014/main" id="{4AB3E4D7-ED21-46DE-91DE-0E451CC3CD8F}"/>
              </a:ext>
            </a:extLst>
          </p:cNvPr>
          <p:cNvSpPr>
            <a:spLocks noGrp="1"/>
          </p:cNvSpPr>
          <p:nvPr>
            <p:ph type="ftr" sz="quarter" idx="11"/>
          </p:nvPr>
        </p:nvSpPr>
        <p:spPr/>
        <p:txBody>
          <a:bodyPr/>
          <a:lstStyle/>
          <a:p>
            <a:pPr>
              <a:defRPr/>
            </a:pPr>
            <a:r>
              <a:rPr lang="it-IT" dirty="0">
                <a:solidFill>
                  <a:prstClr val="black">
                    <a:tint val="75000"/>
                  </a:prstClr>
                </a:solidFill>
                <a:latin typeface="Times New Roman"/>
              </a:rPr>
              <a:t>Mr. Shamshad Ali             BCSE401: DSA-II  Unit-I                          </a:t>
            </a:r>
            <a:endParaRPr lang="en-US" dirty="0">
              <a:solidFill>
                <a:prstClr val="black">
                  <a:tint val="75000"/>
                </a:prstClr>
              </a:solidFill>
              <a:latin typeface="Times New Roman"/>
            </a:endParaRPr>
          </a:p>
        </p:txBody>
      </p:sp>
      <p:sp>
        <p:nvSpPr>
          <p:cNvPr id="6" name="Slide Number Placeholder 5">
            <a:extLst>
              <a:ext uri="{FF2B5EF4-FFF2-40B4-BE49-F238E27FC236}">
                <a16:creationId xmlns:a16="http://schemas.microsoft.com/office/drawing/2014/main" id="{FDF5B38F-1D32-4CEB-BB0B-8A0CB3950939}"/>
              </a:ext>
            </a:extLst>
          </p:cNvPr>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Times New Roman"/>
              </a:rPr>
              <a:pPr>
                <a:defRPr/>
              </a:pPr>
              <a:t>61</a:t>
            </a:fld>
            <a:endParaRPr lang="en-US">
              <a:solidFill>
                <a:prstClr val="black">
                  <a:tint val="75000"/>
                </a:prstClr>
              </a:solidFill>
              <a:latin typeface="Times New Roman"/>
            </a:endParaRPr>
          </a:p>
        </p:txBody>
      </p:sp>
      <p:sp>
        <p:nvSpPr>
          <p:cNvPr id="8" name="Title 1">
            <a:extLst>
              <a:ext uri="{FF2B5EF4-FFF2-40B4-BE49-F238E27FC236}">
                <a16:creationId xmlns:a16="http://schemas.microsoft.com/office/drawing/2014/main" id="{2AD2A369-6EE4-412E-A95C-FFFA2BECBD95}"/>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3" name="TextBox 2">
            <a:extLst>
              <a:ext uri="{FF2B5EF4-FFF2-40B4-BE49-F238E27FC236}">
                <a16:creationId xmlns:a16="http://schemas.microsoft.com/office/drawing/2014/main" id="{4220AB31-90BD-4206-8E9A-AE0ED3A9AE5C}"/>
              </a:ext>
            </a:extLst>
          </p:cNvPr>
          <p:cNvSpPr txBox="1"/>
          <p:nvPr/>
        </p:nvSpPr>
        <p:spPr>
          <a:xfrm>
            <a:off x="2247900" y="1905001"/>
            <a:ext cx="7353300" cy="646331"/>
          </a:xfrm>
          <a:prstGeom prst="rect">
            <a:avLst/>
          </a:prstGeom>
          <a:noFill/>
        </p:spPr>
        <p:txBody>
          <a:bodyPr wrap="square" rtlCol="0">
            <a:spAutoFit/>
          </a:bodyPr>
          <a:lstStyle/>
          <a:p>
            <a:r>
              <a:rPr lang="en-US" dirty="0" err="1"/>
              <a:t>Inorder</a:t>
            </a:r>
            <a:r>
              <a:rPr lang="en-US" dirty="0"/>
              <a:t>:     1 2 3 4 5 7 8</a:t>
            </a:r>
          </a:p>
          <a:p>
            <a:r>
              <a:rPr lang="en-US" dirty="0" err="1"/>
              <a:t>Postorder</a:t>
            </a:r>
            <a:r>
              <a:rPr lang="en-US" dirty="0"/>
              <a:t>: 1 3 4 2 7 8 5</a:t>
            </a:r>
            <a:endParaRPr lang="en-IN"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A3C7FF8E-F77A-4AA5-B216-1F8B89BB2526}"/>
                  </a:ext>
                </a:extLst>
              </p14:cNvPr>
              <p14:cNvContentPartPr/>
              <p14:nvPr/>
            </p14:nvContentPartPr>
            <p14:xfrm>
              <a:off x="4495800" y="2997360"/>
              <a:ext cx="2070360" cy="2343240"/>
            </p14:xfrm>
          </p:contentPart>
        </mc:Choice>
        <mc:Fallback xmlns="">
          <p:pic>
            <p:nvPicPr>
              <p:cNvPr id="7" name="Ink 6">
                <a:extLst>
                  <a:ext uri="{FF2B5EF4-FFF2-40B4-BE49-F238E27FC236}">
                    <a16:creationId xmlns:a16="http://schemas.microsoft.com/office/drawing/2014/main" id="{A3C7FF8E-F77A-4AA5-B216-1F8B89BB2526}"/>
                  </a:ext>
                </a:extLst>
              </p:cNvPr>
              <p:cNvPicPr/>
              <p:nvPr/>
            </p:nvPicPr>
            <p:blipFill>
              <a:blip r:embed="rId3"/>
              <a:stretch>
                <a:fillRect/>
              </a:stretch>
            </p:blipFill>
            <p:spPr>
              <a:xfrm>
                <a:off x="4486440" y="2988000"/>
                <a:ext cx="2089080" cy="2361960"/>
              </a:xfrm>
              <a:prstGeom prst="rect">
                <a:avLst/>
              </a:prstGeom>
            </p:spPr>
          </p:pic>
        </mc:Fallback>
      </mc:AlternateContent>
    </p:spTree>
    <p:extLst>
      <p:ext uri="{BB962C8B-B14F-4D97-AF65-F5344CB8AC3E}">
        <p14:creationId xmlns:p14="http://schemas.microsoft.com/office/powerpoint/2010/main" val="336340816"/>
      </p:ext>
    </p:extLst>
  </p:cSld>
  <p:clrMapOvr>
    <a:masterClrMapping/>
  </p:clrMapOvr>
  <p:transition spd="slow">
    <p:cove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0FCF4-D468-455D-9008-6BC08483896C}"/>
              </a:ext>
            </a:extLst>
          </p:cNvPr>
          <p:cNvSpPr>
            <a:spLocks noGrp="1"/>
          </p:cNvSpPr>
          <p:nvPr>
            <p:ph type="title" idx="4294967295"/>
          </p:nvPr>
        </p:nvSpPr>
        <p:spPr>
          <a:xfrm>
            <a:off x="1905000" y="1324232"/>
            <a:ext cx="8229600" cy="258762"/>
          </a:xfrm>
          <a:prstGeom prst="rect">
            <a:avLst/>
          </a:prstGeom>
        </p:spPr>
        <p:txBody>
          <a:bodyPr>
            <a:normAutofit fontScale="90000"/>
          </a:bodyPr>
          <a:lstStyle/>
          <a:p>
            <a:r>
              <a:rPr lang="en-US" sz="2700" dirty="0">
                <a:latin typeface="var(--font-sofia)"/>
              </a:rPr>
              <a:t>Construct Tree from given </a:t>
            </a:r>
            <a:r>
              <a:rPr lang="en-US" sz="2700" dirty="0" err="1">
                <a:latin typeface="var(--font-sofia)"/>
              </a:rPr>
              <a:t>Inorder</a:t>
            </a:r>
            <a:r>
              <a:rPr lang="en-US" sz="2700" dirty="0">
                <a:latin typeface="var(--font-sofia)"/>
              </a:rPr>
              <a:t> and Preorder traversals</a:t>
            </a:r>
            <a:br>
              <a:rPr lang="en-US" b="0" i="0" dirty="0">
                <a:effectLst/>
                <a:latin typeface="var(--font-sofia)"/>
              </a:rPr>
            </a:br>
            <a:endParaRPr lang="en-IN" dirty="0"/>
          </a:p>
        </p:txBody>
      </p:sp>
      <p:sp>
        <p:nvSpPr>
          <p:cNvPr id="4" name="Date Placeholder 3">
            <a:extLst>
              <a:ext uri="{FF2B5EF4-FFF2-40B4-BE49-F238E27FC236}">
                <a16:creationId xmlns:a16="http://schemas.microsoft.com/office/drawing/2014/main" id="{C98BF219-6958-4C40-AB70-8ADC92EBFD90}"/>
              </a:ext>
            </a:extLst>
          </p:cNvPr>
          <p:cNvSpPr>
            <a:spLocks noGrp="1"/>
          </p:cNvSpPr>
          <p:nvPr>
            <p:ph type="dt" sz="half" idx="10"/>
          </p:nvPr>
        </p:nvSpPr>
        <p:spPr/>
        <p:txBody>
          <a:bodyPr/>
          <a:lstStyle/>
          <a:p>
            <a:fld id="{68FF7F93-2A62-4928-9BC8-48A001AB1732}" type="datetime1">
              <a:rPr lang="en-US" smtClean="0"/>
              <a:t>8/26/2026</a:t>
            </a:fld>
            <a:endParaRPr lang="en-US"/>
          </a:p>
        </p:txBody>
      </p:sp>
      <p:sp>
        <p:nvSpPr>
          <p:cNvPr id="5" name="Footer Placeholder 4">
            <a:extLst>
              <a:ext uri="{FF2B5EF4-FFF2-40B4-BE49-F238E27FC236}">
                <a16:creationId xmlns:a16="http://schemas.microsoft.com/office/drawing/2014/main" id="{4AB3E4D7-ED21-46DE-91DE-0E451CC3CD8F}"/>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FDF5B38F-1D32-4CEB-BB0B-8A0CB3950939}"/>
              </a:ext>
            </a:extLst>
          </p:cNvPr>
          <p:cNvSpPr>
            <a:spLocks noGrp="1"/>
          </p:cNvSpPr>
          <p:nvPr>
            <p:ph type="sldNum" sz="quarter" idx="12"/>
          </p:nvPr>
        </p:nvSpPr>
        <p:spPr/>
        <p:txBody>
          <a:bodyPr/>
          <a:lstStyle/>
          <a:p>
            <a:fld id="{B6F15528-21DE-4FAA-801E-634DDDAF4B2B}" type="slidenum">
              <a:rPr lang="en-US" smtClean="0"/>
              <a:pPr/>
              <a:t>62</a:t>
            </a:fld>
            <a:endParaRPr lang="en-US"/>
          </a:p>
        </p:txBody>
      </p:sp>
      <p:sp>
        <p:nvSpPr>
          <p:cNvPr id="8" name="Title 1">
            <a:extLst>
              <a:ext uri="{FF2B5EF4-FFF2-40B4-BE49-F238E27FC236}">
                <a16:creationId xmlns:a16="http://schemas.microsoft.com/office/drawing/2014/main" id="{2AD2A369-6EE4-412E-A95C-FFFA2BECBD95}"/>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9" name="TextBox 8">
            <a:extLst>
              <a:ext uri="{FF2B5EF4-FFF2-40B4-BE49-F238E27FC236}">
                <a16:creationId xmlns:a16="http://schemas.microsoft.com/office/drawing/2014/main" id="{9FD831EF-BC39-4AB2-9850-FABF777DE81F}"/>
              </a:ext>
            </a:extLst>
          </p:cNvPr>
          <p:cNvSpPr txBox="1"/>
          <p:nvPr/>
        </p:nvSpPr>
        <p:spPr>
          <a:xfrm>
            <a:off x="2209800" y="1951136"/>
            <a:ext cx="8001000" cy="2031325"/>
          </a:xfrm>
          <a:prstGeom prst="rect">
            <a:avLst/>
          </a:prstGeom>
          <a:noFill/>
        </p:spPr>
        <p:txBody>
          <a:bodyPr wrap="square">
            <a:spAutoFit/>
          </a:bodyPr>
          <a:lstStyle/>
          <a:p>
            <a:pPr marL="342900" indent="-342900">
              <a:buAutoNum type="arabicPeriod"/>
            </a:pPr>
            <a:r>
              <a:rPr lang="en-US" dirty="0"/>
              <a:t>Pickup first key of pre order sequence and create node of each.</a:t>
            </a:r>
          </a:p>
          <a:p>
            <a:pPr marL="342900" indent="-342900">
              <a:buAutoNum type="arabicPeriod"/>
            </a:pPr>
            <a:endParaRPr lang="en-US" dirty="0"/>
          </a:p>
          <a:p>
            <a:pPr marL="342900" indent="-342900">
              <a:buAutoNum type="arabicPeriod"/>
            </a:pPr>
            <a:r>
              <a:rPr lang="en-US" dirty="0"/>
              <a:t>Create left subtree of root node recursively by selecting keys which are preceding the root node in </a:t>
            </a:r>
            <a:r>
              <a:rPr lang="en-US" dirty="0" err="1"/>
              <a:t>Inorder</a:t>
            </a:r>
            <a:r>
              <a:rPr lang="en-US" dirty="0"/>
              <a:t>.</a:t>
            </a:r>
          </a:p>
          <a:p>
            <a:pPr marL="342900" indent="-342900">
              <a:buAutoNum type="arabicPeriod"/>
            </a:pPr>
            <a:endParaRPr lang="en-US" dirty="0"/>
          </a:p>
          <a:p>
            <a:pPr marL="342900" indent="-342900">
              <a:buAutoNum type="arabicPeriod"/>
            </a:pPr>
            <a:r>
              <a:rPr lang="en-US" dirty="0"/>
              <a:t>Create right subtree of root node recursively by selecting keys which are following the root node in </a:t>
            </a:r>
            <a:r>
              <a:rPr lang="en-US" dirty="0" err="1"/>
              <a:t>Inorder</a:t>
            </a:r>
            <a:endParaRPr lang="en-US" dirty="0"/>
          </a:p>
        </p:txBody>
      </p:sp>
    </p:spTree>
    <p:extLst>
      <p:ext uri="{BB962C8B-B14F-4D97-AF65-F5344CB8AC3E}">
        <p14:creationId xmlns:p14="http://schemas.microsoft.com/office/powerpoint/2010/main" val="3065132970"/>
      </p:ext>
    </p:extLst>
  </p:cSld>
  <p:clrMapOvr>
    <a:masterClrMapping/>
  </p:clrMapOvr>
  <p:transition spd="slow">
    <p:cove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0FCF4-D468-455D-9008-6BC08483896C}"/>
              </a:ext>
            </a:extLst>
          </p:cNvPr>
          <p:cNvSpPr>
            <a:spLocks noGrp="1"/>
          </p:cNvSpPr>
          <p:nvPr>
            <p:ph type="title" idx="4294967295"/>
          </p:nvPr>
        </p:nvSpPr>
        <p:spPr>
          <a:xfrm>
            <a:off x="1981200" y="1371600"/>
            <a:ext cx="8229600" cy="258762"/>
          </a:xfrm>
          <a:prstGeom prst="rect">
            <a:avLst/>
          </a:prstGeom>
        </p:spPr>
        <p:txBody>
          <a:bodyPr>
            <a:normAutofit fontScale="90000"/>
          </a:bodyPr>
          <a:lstStyle/>
          <a:p>
            <a:r>
              <a:rPr lang="en-US" sz="2700" dirty="0">
                <a:latin typeface="var(--font-sofia)"/>
              </a:rPr>
              <a:t>Construct Tree from given </a:t>
            </a:r>
            <a:r>
              <a:rPr lang="en-US" sz="2700" dirty="0" err="1">
                <a:latin typeface="var(--font-sofia)"/>
              </a:rPr>
              <a:t>Inorder</a:t>
            </a:r>
            <a:r>
              <a:rPr lang="en-US" sz="2700" dirty="0">
                <a:latin typeface="var(--font-sofia)"/>
              </a:rPr>
              <a:t> and Preorder traversals</a:t>
            </a:r>
            <a:br>
              <a:rPr lang="en-US" b="0" i="0" dirty="0">
                <a:effectLst/>
                <a:latin typeface="var(--font-sofia)"/>
              </a:rPr>
            </a:br>
            <a:endParaRPr lang="en-IN" dirty="0"/>
          </a:p>
        </p:txBody>
      </p:sp>
      <p:sp>
        <p:nvSpPr>
          <p:cNvPr id="4" name="Date Placeholder 3">
            <a:extLst>
              <a:ext uri="{FF2B5EF4-FFF2-40B4-BE49-F238E27FC236}">
                <a16:creationId xmlns:a16="http://schemas.microsoft.com/office/drawing/2014/main" id="{C98BF219-6958-4C40-AB70-8ADC92EBFD90}"/>
              </a:ext>
            </a:extLst>
          </p:cNvPr>
          <p:cNvSpPr>
            <a:spLocks noGrp="1"/>
          </p:cNvSpPr>
          <p:nvPr>
            <p:ph type="dt" sz="half" idx="10"/>
          </p:nvPr>
        </p:nvSpPr>
        <p:spPr/>
        <p:txBody>
          <a:bodyPr/>
          <a:lstStyle/>
          <a:p>
            <a:pPr>
              <a:defRPr/>
            </a:pPr>
            <a:fld id="{B1C98E06-1A7F-4172-815B-9954C6E625A5}" type="datetime1">
              <a:rPr lang="en-US" smtClean="0">
                <a:solidFill>
                  <a:prstClr val="black">
                    <a:tint val="75000"/>
                  </a:prstClr>
                </a:solidFill>
                <a:latin typeface="Times New Roman"/>
              </a:rPr>
              <a:t>8/26/2026</a:t>
            </a:fld>
            <a:endParaRPr lang="en-US">
              <a:solidFill>
                <a:prstClr val="black">
                  <a:tint val="75000"/>
                </a:prstClr>
              </a:solidFill>
              <a:latin typeface="Times New Roman"/>
            </a:endParaRPr>
          </a:p>
        </p:txBody>
      </p:sp>
      <p:sp>
        <p:nvSpPr>
          <p:cNvPr id="5" name="Footer Placeholder 4">
            <a:extLst>
              <a:ext uri="{FF2B5EF4-FFF2-40B4-BE49-F238E27FC236}">
                <a16:creationId xmlns:a16="http://schemas.microsoft.com/office/drawing/2014/main" id="{4AB3E4D7-ED21-46DE-91DE-0E451CC3CD8F}"/>
              </a:ext>
            </a:extLst>
          </p:cNvPr>
          <p:cNvSpPr>
            <a:spLocks noGrp="1"/>
          </p:cNvSpPr>
          <p:nvPr>
            <p:ph type="ftr" sz="quarter" idx="11"/>
          </p:nvPr>
        </p:nvSpPr>
        <p:spPr/>
        <p:txBody>
          <a:bodyPr/>
          <a:lstStyle/>
          <a:p>
            <a:pPr>
              <a:defRPr/>
            </a:pPr>
            <a:r>
              <a:rPr lang="it-IT" dirty="0">
                <a:solidFill>
                  <a:prstClr val="black">
                    <a:tint val="75000"/>
                  </a:prstClr>
                </a:solidFill>
                <a:latin typeface="Times New Roman"/>
              </a:rPr>
              <a:t>Mr. Shamshad Ali             BCSE401: DSA-II  Unit-I                          </a:t>
            </a:r>
            <a:endParaRPr lang="en-US" dirty="0">
              <a:solidFill>
                <a:prstClr val="black">
                  <a:tint val="75000"/>
                </a:prstClr>
              </a:solidFill>
              <a:latin typeface="Times New Roman"/>
            </a:endParaRPr>
          </a:p>
        </p:txBody>
      </p:sp>
      <p:sp>
        <p:nvSpPr>
          <p:cNvPr id="6" name="Slide Number Placeholder 5">
            <a:extLst>
              <a:ext uri="{FF2B5EF4-FFF2-40B4-BE49-F238E27FC236}">
                <a16:creationId xmlns:a16="http://schemas.microsoft.com/office/drawing/2014/main" id="{FDF5B38F-1D32-4CEB-BB0B-8A0CB3950939}"/>
              </a:ext>
            </a:extLst>
          </p:cNvPr>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Times New Roman"/>
              </a:rPr>
              <a:pPr>
                <a:defRPr/>
              </a:pPr>
              <a:t>63</a:t>
            </a:fld>
            <a:endParaRPr lang="en-US">
              <a:solidFill>
                <a:prstClr val="black">
                  <a:tint val="75000"/>
                </a:prstClr>
              </a:solidFill>
              <a:latin typeface="Times New Roman"/>
            </a:endParaRPr>
          </a:p>
        </p:txBody>
      </p:sp>
      <p:sp>
        <p:nvSpPr>
          <p:cNvPr id="8" name="Title 1">
            <a:extLst>
              <a:ext uri="{FF2B5EF4-FFF2-40B4-BE49-F238E27FC236}">
                <a16:creationId xmlns:a16="http://schemas.microsoft.com/office/drawing/2014/main" id="{2AD2A369-6EE4-412E-A95C-FFFA2BECBD95}"/>
              </a:ext>
            </a:extLst>
          </p:cNvPr>
          <p:cNvSpPr txBox="1">
            <a:spLocks/>
          </p:cNvSpPr>
          <p:nvPr/>
        </p:nvSpPr>
        <p:spPr>
          <a:xfrm>
            <a:off x="2895600" y="-29496"/>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3" name="TextBox 2">
            <a:extLst>
              <a:ext uri="{FF2B5EF4-FFF2-40B4-BE49-F238E27FC236}">
                <a16:creationId xmlns:a16="http://schemas.microsoft.com/office/drawing/2014/main" id="{4220AB31-90BD-4206-8E9A-AE0ED3A9AE5C}"/>
              </a:ext>
            </a:extLst>
          </p:cNvPr>
          <p:cNvSpPr txBox="1"/>
          <p:nvPr/>
        </p:nvSpPr>
        <p:spPr>
          <a:xfrm>
            <a:off x="2247900" y="1905001"/>
            <a:ext cx="7353300" cy="646331"/>
          </a:xfrm>
          <a:prstGeom prst="rect">
            <a:avLst/>
          </a:prstGeom>
          <a:noFill/>
        </p:spPr>
        <p:txBody>
          <a:bodyPr wrap="square" rtlCol="0">
            <a:spAutoFit/>
          </a:bodyPr>
          <a:lstStyle/>
          <a:p>
            <a:r>
              <a:rPr lang="en-US" dirty="0" err="1"/>
              <a:t>Inorder</a:t>
            </a:r>
            <a:r>
              <a:rPr lang="en-US" dirty="0"/>
              <a:t>:     1 2 3 4 5 7 8</a:t>
            </a:r>
          </a:p>
          <a:p>
            <a:r>
              <a:rPr lang="en-US" dirty="0"/>
              <a:t>Preorder:  5 2 1 4 3 8 7</a:t>
            </a:r>
            <a:endParaRPr lang="en-IN"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A3C7FF8E-F77A-4AA5-B216-1F8B89BB2526}"/>
                  </a:ext>
                </a:extLst>
              </p14:cNvPr>
              <p14:cNvContentPartPr/>
              <p14:nvPr/>
            </p14:nvContentPartPr>
            <p14:xfrm>
              <a:off x="4495800" y="2997360"/>
              <a:ext cx="2070360" cy="2343240"/>
            </p14:xfrm>
          </p:contentPart>
        </mc:Choice>
        <mc:Fallback xmlns="">
          <p:pic>
            <p:nvPicPr>
              <p:cNvPr id="7" name="Ink 6">
                <a:extLst>
                  <a:ext uri="{FF2B5EF4-FFF2-40B4-BE49-F238E27FC236}">
                    <a16:creationId xmlns:a16="http://schemas.microsoft.com/office/drawing/2014/main" id="{A3C7FF8E-F77A-4AA5-B216-1F8B89BB2526}"/>
                  </a:ext>
                </a:extLst>
              </p:cNvPr>
              <p:cNvPicPr/>
              <p:nvPr/>
            </p:nvPicPr>
            <p:blipFill>
              <a:blip r:embed="rId3"/>
              <a:stretch>
                <a:fillRect/>
              </a:stretch>
            </p:blipFill>
            <p:spPr>
              <a:xfrm>
                <a:off x="4486440" y="2988000"/>
                <a:ext cx="2089080" cy="2361960"/>
              </a:xfrm>
              <a:prstGeom prst="rect">
                <a:avLst/>
              </a:prstGeom>
            </p:spPr>
          </p:pic>
        </mc:Fallback>
      </mc:AlternateContent>
      <p:sp>
        <p:nvSpPr>
          <p:cNvPr id="9" name="TextBox 8">
            <a:extLst>
              <a:ext uri="{FF2B5EF4-FFF2-40B4-BE49-F238E27FC236}">
                <a16:creationId xmlns:a16="http://schemas.microsoft.com/office/drawing/2014/main" id="{FAD14338-CE60-43B2-8A07-7243E5B905DF}"/>
              </a:ext>
            </a:extLst>
          </p:cNvPr>
          <p:cNvSpPr txBox="1"/>
          <p:nvPr/>
        </p:nvSpPr>
        <p:spPr>
          <a:xfrm>
            <a:off x="7315200" y="3733801"/>
            <a:ext cx="2544286" cy="646331"/>
          </a:xfrm>
          <a:prstGeom prst="rect">
            <a:avLst/>
          </a:prstGeom>
          <a:noFill/>
        </p:spPr>
        <p:txBody>
          <a:bodyPr wrap="none" rtlCol="0">
            <a:spAutoFit/>
          </a:bodyPr>
          <a:lstStyle/>
          <a:p>
            <a:r>
              <a:rPr lang="en-US" dirty="0" err="1"/>
              <a:t>Inorder</a:t>
            </a:r>
            <a:r>
              <a:rPr lang="en-US"/>
              <a:t>:     1 2 3 4 5 6 7 8</a:t>
            </a:r>
            <a:br>
              <a:rPr lang="en-US" dirty="0"/>
            </a:br>
            <a:r>
              <a:rPr lang="en-US" dirty="0"/>
              <a:t>Preorder</a:t>
            </a:r>
            <a:r>
              <a:rPr lang="en-US"/>
              <a:t>:   5 3 1 2 4 6 8 7</a:t>
            </a:r>
            <a:endParaRPr lang="en-IN" dirty="0"/>
          </a:p>
        </p:txBody>
      </p:sp>
    </p:spTree>
    <p:extLst>
      <p:ext uri="{BB962C8B-B14F-4D97-AF65-F5344CB8AC3E}">
        <p14:creationId xmlns:p14="http://schemas.microsoft.com/office/powerpoint/2010/main" val="1855494272"/>
      </p:ext>
    </p:extLst>
  </p:cSld>
  <p:clrMapOvr>
    <a:masterClrMapping/>
  </p:clrMapOvr>
  <p:transition spd="slow">
    <p:cove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9374" y="892566"/>
            <a:ext cx="8229600" cy="4525963"/>
          </a:xfrm>
        </p:spPr>
        <p:txBody>
          <a:bodyPr>
            <a:normAutofit/>
          </a:bodyPr>
          <a:lstStyle/>
          <a:p>
            <a:pPr algn="just"/>
            <a:r>
              <a:rPr lang="en-US" sz="2200" dirty="0"/>
              <a:t>Binary Search or ordered binary tree can be defined as a class of binary trees, in which the nodes are arranged in a specific order</a:t>
            </a:r>
          </a:p>
          <a:p>
            <a:pPr algn="just"/>
            <a:r>
              <a:rPr lang="en-US" sz="2200" dirty="0"/>
              <a:t>In a binary search tree, the value of all the nodes in the left sub-tree is less than the value of the root.</a:t>
            </a:r>
          </a:p>
          <a:p>
            <a:pPr algn="just"/>
            <a:r>
              <a:rPr lang="en-US" sz="2200" dirty="0"/>
              <a:t>Similarly, value of all the nodes in the right sub-tree is greater than or equal to the value of the root.</a:t>
            </a:r>
          </a:p>
          <a:p>
            <a:pPr algn="just"/>
            <a:r>
              <a:rPr lang="en-US" sz="2200" dirty="0"/>
              <a:t>This rule will be recursively applied to all the left and right sub-trees of the root.</a:t>
            </a:r>
          </a:p>
          <a:p>
            <a:pPr algn="just"/>
            <a:endParaRPr lang="en-US" sz="2200" dirty="0"/>
          </a:p>
        </p:txBody>
      </p:sp>
      <p:sp>
        <p:nvSpPr>
          <p:cNvPr id="4" name="Date Placeholder 3"/>
          <p:cNvSpPr>
            <a:spLocks noGrp="1"/>
          </p:cNvSpPr>
          <p:nvPr>
            <p:ph type="dt" sz="half" idx="10"/>
          </p:nvPr>
        </p:nvSpPr>
        <p:spPr/>
        <p:txBody>
          <a:bodyPr/>
          <a:lstStyle/>
          <a:p>
            <a:fld id="{6E935860-7932-4A7F-8152-59C67F5544FF}"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 (CO1)</a:t>
            </a:r>
          </a:p>
        </p:txBody>
      </p:sp>
      <p:pic>
        <p:nvPicPr>
          <p:cNvPr id="9" name="Picture 8" descr="binary-search-tree.png"/>
          <p:cNvPicPr>
            <a:picLocks noChangeAspect="1"/>
          </p:cNvPicPr>
          <p:nvPr/>
        </p:nvPicPr>
        <p:blipFill>
          <a:blip r:embed="rId2"/>
          <a:stretch>
            <a:fillRect/>
          </a:stretch>
        </p:blipFill>
        <p:spPr>
          <a:xfrm>
            <a:off x="4567238" y="3702452"/>
            <a:ext cx="3509962" cy="2622148"/>
          </a:xfrm>
          <a:prstGeom prst="rect">
            <a:avLst/>
          </a:prstGeom>
        </p:spPr>
      </p:pic>
    </p:spTree>
  </p:cSld>
  <p:clrMapOvr>
    <a:masterClrMapping/>
  </p:clrMapOvr>
  <p:transition spd="slow">
    <p:cove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EA947F-216F-4128-96DC-39009FD3FB25}"/>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2" name="Title 1">
            <a:extLst>
              <a:ext uri="{FF2B5EF4-FFF2-40B4-BE49-F238E27FC236}">
                <a16:creationId xmlns:a16="http://schemas.microsoft.com/office/drawing/2014/main" id="{8311C85F-B3F0-45ED-909D-5FB0D5550DB5}"/>
              </a:ext>
            </a:extLst>
          </p:cNvPr>
          <p:cNvSpPr>
            <a:spLocks noGrp="1"/>
          </p:cNvSpPr>
          <p:nvPr>
            <p:ph type="title" idx="4294967295"/>
          </p:nvPr>
        </p:nvSpPr>
        <p:spPr>
          <a:xfrm>
            <a:off x="1897062" y="685007"/>
            <a:ext cx="8229600" cy="1143000"/>
          </a:xfrm>
          <a:prstGeom prst="rect">
            <a:avLst/>
          </a:prstGeom>
        </p:spPr>
        <p:txBody>
          <a:bodyPr>
            <a:normAutofit/>
          </a:bodyPr>
          <a:lstStyle/>
          <a:p>
            <a:r>
              <a:rPr lang="en-IN" sz="2800" b="1" dirty="0"/>
              <a:t>Binary Search Tree Representation</a:t>
            </a:r>
          </a:p>
        </p:txBody>
      </p:sp>
      <p:sp>
        <p:nvSpPr>
          <p:cNvPr id="6" name="Rectangle 2">
            <a:extLst>
              <a:ext uri="{FF2B5EF4-FFF2-40B4-BE49-F238E27FC236}">
                <a16:creationId xmlns:a16="http://schemas.microsoft.com/office/drawing/2014/main" id="{60CEA7CE-DA35-48A0-AA69-90F2CE60A529}"/>
              </a:ext>
            </a:extLst>
          </p:cNvPr>
          <p:cNvSpPr txBox="1">
            <a:spLocks noChangeArrowheads="1"/>
          </p:cNvSpPr>
          <p:nvPr/>
        </p:nvSpPr>
        <p:spPr>
          <a:xfrm>
            <a:off x="2068512" y="593727"/>
            <a:ext cx="7886700" cy="132556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altLang="en-US" dirty="0"/>
          </a:p>
        </p:txBody>
      </p:sp>
      <p:sp>
        <p:nvSpPr>
          <p:cNvPr id="7" name="Date Placeholder 6">
            <a:extLst>
              <a:ext uri="{FF2B5EF4-FFF2-40B4-BE49-F238E27FC236}">
                <a16:creationId xmlns:a16="http://schemas.microsoft.com/office/drawing/2014/main" id="{614996DC-9352-4DFE-8FAA-9CA3068989EE}"/>
              </a:ext>
            </a:extLst>
          </p:cNvPr>
          <p:cNvSpPr>
            <a:spLocks noGrp="1"/>
          </p:cNvSpPr>
          <p:nvPr>
            <p:ph type="dt" sz="half" idx="10"/>
          </p:nvPr>
        </p:nvSpPr>
        <p:spPr/>
        <p:txBody>
          <a:bodyPr/>
          <a:lstStyle/>
          <a:p>
            <a:fld id="{32C7EA64-4B41-449F-8DF7-168825E22DB8}" type="datetime1">
              <a:rPr lang="en-US" smtClean="0"/>
              <a:t>8/26/2026</a:t>
            </a:fld>
            <a:endParaRPr lang="en-US"/>
          </a:p>
        </p:txBody>
      </p:sp>
      <p:sp>
        <p:nvSpPr>
          <p:cNvPr id="8" name="Footer Placeholder 7">
            <a:extLst>
              <a:ext uri="{FF2B5EF4-FFF2-40B4-BE49-F238E27FC236}">
                <a16:creationId xmlns:a16="http://schemas.microsoft.com/office/drawing/2014/main" id="{F52CECB4-5900-4266-8E9D-863B433406E9}"/>
              </a:ext>
            </a:extLst>
          </p:cNvPr>
          <p:cNvSpPr>
            <a:spLocks noGrp="1"/>
          </p:cNvSpPr>
          <p:nvPr>
            <p:ph type="ftr" sz="quarter" idx="11"/>
          </p:nvPr>
        </p:nvSpPr>
        <p:spPr/>
        <p:txBody>
          <a:bodyPr/>
          <a:lstStyle/>
          <a:p>
            <a:r>
              <a:rPr lang="it-IT" dirty="0"/>
              <a:t>Mr. Shamshad Ali             BCSE401: DSA-II  Unit-I                          </a:t>
            </a:r>
            <a:endParaRPr lang="en-US" dirty="0"/>
          </a:p>
        </p:txBody>
      </p:sp>
      <p:sp>
        <p:nvSpPr>
          <p:cNvPr id="9" name="Slide Number Placeholder 8">
            <a:extLst>
              <a:ext uri="{FF2B5EF4-FFF2-40B4-BE49-F238E27FC236}">
                <a16:creationId xmlns:a16="http://schemas.microsoft.com/office/drawing/2014/main" id="{26523CBB-8518-4EBA-8789-1E6E62CB5199}"/>
              </a:ext>
            </a:extLst>
          </p:cNvPr>
          <p:cNvSpPr>
            <a:spLocks noGrp="1"/>
          </p:cNvSpPr>
          <p:nvPr>
            <p:ph type="sldNum" sz="quarter" idx="12"/>
          </p:nvPr>
        </p:nvSpPr>
        <p:spPr/>
        <p:txBody>
          <a:bodyPr/>
          <a:lstStyle/>
          <a:p>
            <a:fld id="{B6F15528-21DE-4FAA-801E-634DDDAF4B2B}" type="slidenum">
              <a:rPr lang="en-US" smtClean="0"/>
              <a:pPr/>
              <a:t>65</a:t>
            </a:fld>
            <a:endParaRPr lang="en-US"/>
          </a:p>
        </p:txBody>
      </p:sp>
      <p:sp>
        <p:nvSpPr>
          <p:cNvPr id="10" name="TextBox 9">
            <a:extLst>
              <a:ext uri="{FF2B5EF4-FFF2-40B4-BE49-F238E27FC236}">
                <a16:creationId xmlns:a16="http://schemas.microsoft.com/office/drawing/2014/main" id="{9421658C-B787-42BC-A9C9-1DCE2E1B347C}"/>
              </a:ext>
            </a:extLst>
          </p:cNvPr>
          <p:cNvSpPr txBox="1"/>
          <p:nvPr/>
        </p:nvSpPr>
        <p:spPr>
          <a:xfrm>
            <a:off x="2133600" y="1828007"/>
            <a:ext cx="7821612" cy="923330"/>
          </a:xfrm>
          <a:prstGeom prst="rect">
            <a:avLst/>
          </a:prstGeom>
          <a:noFill/>
        </p:spPr>
        <p:txBody>
          <a:bodyPr wrap="square" rtlCol="0">
            <a:spAutoFit/>
          </a:bodyPr>
          <a:lstStyle/>
          <a:p>
            <a:r>
              <a:rPr lang="en-US" dirty="0"/>
              <a:t>Construct all possible Binary Search tree by inserting following keys in any order.</a:t>
            </a:r>
            <a:br>
              <a:rPr lang="en-US" dirty="0"/>
            </a:br>
            <a:endParaRPr lang="en-US" dirty="0"/>
          </a:p>
          <a:p>
            <a:r>
              <a:rPr lang="en-US" dirty="0"/>
              <a:t>10, 20,30</a:t>
            </a:r>
            <a:endParaRPr lang="en-IN"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21305C21-8C0D-4A68-8314-AC223BCD7930}"/>
                  </a:ext>
                </a:extLst>
              </p14:cNvPr>
              <p14:cNvContentPartPr/>
              <p14:nvPr/>
            </p14:nvContentPartPr>
            <p14:xfrm>
              <a:off x="1981200" y="2673360"/>
              <a:ext cx="6934680" cy="2997720"/>
            </p14:xfrm>
          </p:contentPart>
        </mc:Choice>
        <mc:Fallback xmlns="">
          <p:pic>
            <p:nvPicPr>
              <p:cNvPr id="11" name="Ink 10">
                <a:extLst>
                  <a:ext uri="{FF2B5EF4-FFF2-40B4-BE49-F238E27FC236}">
                    <a16:creationId xmlns:a16="http://schemas.microsoft.com/office/drawing/2014/main" id="{21305C21-8C0D-4A68-8314-AC223BCD7930}"/>
                  </a:ext>
                </a:extLst>
              </p:cNvPr>
              <p:cNvPicPr/>
              <p:nvPr/>
            </p:nvPicPr>
            <p:blipFill>
              <a:blip r:embed="rId3"/>
              <a:stretch>
                <a:fillRect/>
              </a:stretch>
            </p:blipFill>
            <p:spPr>
              <a:xfrm>
                <a:off x="1971840" y="2664000"/>
                <a:ext cx="6953400" cy="3016440"/>
              </a:xfrm>
              <a:prstGeom prst="rect">
                <a:avLst/>
              </a:prstGeom>
            </p:spPr>
          </p:pic>
        </mc:Fallback>
      </mc:AlternateContent>
    </p:spTree>
    <p:extLst>
      <p:ext uri="{BB962C8B-B14F-4D97-AF65-F5344CB8AC3E}">
        <p14:creationId xmlns:p14="http://schemas.microsoft.com/office/powerpoint/2010/main" val="2795272485"/>
      </p:ext>
    </p:extLst>
  </p:cSld>
  <p:clrMapOvr>
    <a:masterClrMapping/>
  </p:clrMapOvr>
  <p:transition spd="slow">
    <p:cove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algn="just"/>
            <a:r>
              <a:rPr lang="en-US" sz="2200" dirty="0"/>
              <a:t>Advantages of using binary search tree</a:t>
            </a:r>
          </a:p>
          <a:p>
            <a:pPr lvl="1" algn="just"/>
            <a:r>
              <a:rPr lang="en-US" sz="2200" dirty="0"/>
              <a:t>Searching become very efficient in a binary search tree since, we get a hint at each step, about which sub-tree contains the desired element.</a:t>
            </a:r>
          </a:p>
          <a:p>
            <a:pPr lvl="1" algn="just"/>
            <a:r>
              <a:rPr lang="en-US" sz="2200" dirty="0"/>
              <a:t>The binary search tree is considered as efficient data structure in compare to arrays and linked lists. </a:t>
            </a:r>
          </a:p>
          <a:p>
            <a:pPr lvl="1" algn="just"/>
            <a:r>
              <a:rPr lang="en-US" sz="2200" dirty="0"/>
              <a:t>In searching process, it removes half sub-tree at every step. Searching for an element in a binary search tree takes o(log</a:t>
            </a:r>
            <a:r>
              <a:rPr lang="en-US" sz="2200" baseline="-25000" dirty="0"/>
              <a:t>2</a:t>
            </a:r>
            <a:r>
              <a:rPr lang="en-US" sz="2200" dirty="0"/>
              <a:t>n) time. In worst case, the time it takes to search an element is 0(n).</a:t>
            </a:r>
          </a:p>
          <a:p>
            <a:pPr lvl="1" algn="just"/>
            <a:r>
              <a:rPr lang="en-US" sz="2200" dirty="0"/>
              <a:t>It also speed up the insertion and deletion operations as compare to that in array and linked list.</a:t>
            </a:r>
          </a:p>
          <a:p>
            <a:pPr algn="just"/>
            <a:endParaRPr lang="en-US" sz="2200" dirty="0"/>
          </a:p>
        </p:txBody>
      </p:sp>
      <p:sp>
        <p:nvSpPr>
          <p:cNvPr id="4" name="Date Placeholder 3"/>
          <p:cNvSpPr>
            <a:spLocks noGrp="1"/>
          </p:cNvSpPr>
          <p:nvPr>
            <p:ph type="dt" sz="half" idx="10"/>
          </p:nvPr>
        </p:nvSpPr>
        <p:spPr/>
        <p:txBody>
          <a:bodyPr/>
          <a:lstStyle/>
          <a:p>
            <a:fld id="{A78CA43B-31D9-462A-B216-3E84F8056D66}"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cSld>
  <p:clrMapOvr>
    <a:masterClrMapping/>
  </p:clrMapOvr>
  <p:transition spd="slow">
    <p:cove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609600"/>
          </a:xfrm>
        </p:spPr>
        <p:txBody>
          <a:bodyPr>
            <a:noAutofit/>
          </a:bodyPr>
          <a:lstStyle/>
          <a:p>
            <a:r>
              <a:rPr lang="en-US" sz="2200" dirty="0"/>
              <a:t>Operations on Binary Search Tree</a:t>
            </a:r>
            <a:br>
              <a:rPr lang="en-US" sz="2200" dirty="0"/>
            </a:br>
            <a:endParaRPr lang="en-US" sz="2200" dirty="0"/>
          </a:p>
        </p:txBody>
      </p:sp>
      <p:sp>
        <p:nvSpPr>
          <p:cNvPr id="4" name="Date Placeholder 3"/>
          <p:cNvSpPr>
            <a:spLocks noGrp="1"/>
          </p:cNvSpPr>
          <p:nvPr>
            <p:ph type="dt" sz="half" idx="10"/>
          </p:nvPr>
        </p:nvSpPr>
        <p:spPr/>
        <p:txBody>
          <a:bodyPr/>
          <a:lstStyle/>
          <a:p>
            <a:fld id="{F3D81CCE-8C1F-41FB-8D8E-3DC477B319C8}"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graphicFrame>
        <p:nvGraphicFramePr>
          <p:cNvPr id="9" name="Table 8"/>
          <p:cNvGraphicFramePr>
            <a:graphicFrameLocks noGrp="1"/>
          </p:cNvGraphicFramePr>
          <p:nvPr/>
        </p:nvGraphicFramePr>
        <p:xfrm>
          <a:off x="2438401" y="1828801"/>
          <a:ext cx="7696201" cy="4267199"/>
        </p:xfrm>
        <a:graphic>
          <a:graphicData uri="http://schemas.openxmlformats.org/drawingml/2006/table">
            <a:tbl>
              <a:tblPr firstRow="1" bandRow="1">
                <a:tableStyleId>{5C22544A-7EE6-4342-B048-85BDC9FD1C3A}</a:tableStyleId>
              </a:tblPr>
              <a:tblGrid>
                <a:gridCol w="865823">
                  <a:extLst>
                    <a:ext uri="{9D8B030D-6E8A-4147-A177-3AD203B41FA5}">
                      <a16:colId xmlns:a16="http://schemas.microsoft.com/office/drawing/2014/main" val="20000"/>
                    </a:ext>
                  </a:extLst>
                </a:gridCol>
                <a:gridCol w="2405063">
                  <a:extLst>
                    <a:ext uri="{9D8B030D-6E8A-4147-A177-3AD203B41FA5}">
                      <a16:colId xmlns:a16="http://schemas.microsoft.com/office/drawing/2014/main" val="20001"/>
                    </a:ext>
                  </a:extLst>
                </a:gridCol>
                <a:gridCol w="4425315">
                  <a:extLst>
                    <a:ext uri="{9D8B030D-6E8A-4147-A177-3AD203B41FA5}">
                      <a16:colId xmlns:a16="http://schemas.microsoft.com/office/drawing/2014/main" val="20002"/>
                    </a:ext>
                  </a:extLst>
                </a:gridCol>
              </a:tblGrid>
              <a:tr h="539531">
                <a:tc>
                  <a:txBody>
                    <a:bodyPr/>
                    <a:lstStyle/>
                    <a:p>
                      <a:pPr algn="ctr" fontAlgn="t"/>
                      <a:r>
                        <a:rPr lang="en-US" dirty="0">
                          <a:solidFill>
                            <a:srgbClr val="000000"/>
                          </a:solidFill>
                          <a:latin typeface="times new roman"/>
                        </a:rPr>
                        <a:t>SN</a:t>
                      </a:r>
                    </a:p>
                  </a:txBody>
                  <a:tcPr marL="114300" marR="114300" marT="114300" marB="114300"/>
                </a:tc>
                <a:tc>
                  <a:txBody>
                    <a:bodyPr/>
                    <a:lstStyle/>
                    <a:p>
                      <a:pPr algn="ctr" fontAlgn="t"/>
                      <a:r>
                        <a:rPr lang="en-US" dirty="0">
                          <a:solidFill>
                            <a:srgbClr val="000000"/>
                          </a:solidFill>
                          <a:latin typeface="times new roman"/>
                        </a:rPr>
                        <a:t>Operation</a:t>
                      </a:r>
                    </a:p>
                  </a:txBody>
                  <a:tcPr marL="114300" marR="114300" marT="114300" marB="114300"/>
                </a:tc>
                <a:tc>
                  <a:txBody>
                    <a:bodyPr/>
                    <a:lstStyle/>
                    <a:p>
                      <a:pPr algn="ctr"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752073">
                <a:tc>
                  <a:txBody>
                    <a:bodyPr/>
                    <a:lstStyle/>
                    <a:p>
                      <a:pPr algn="ctr" fontAlgn="t"/>
                      <a:r>
                        <a:rPr lang="en-US">
                          <a:solidFill>
                            <a:srgbClr val="000000"/>
                          </a:solidFill>
                          <a:latin typeface="verdana"/>
                        </a:rPr>
                        <a:t>1</a:t>
                      </a:r>
                    </a:p>
                  </a:txBody>
                  <a:tcPr marL="76200" marR="76200" marT="76200" marB="76200"/>
                </a:tc>
                <a:tc>
                  <a:txBody>
                    <a:bodyPr/>
                    <a:lstStyle/>
                    <a:p>
                      <a:pPr algn="ctr" fontAlgn="t"/>
                      <a:r>
                        <a:rPr lang="en-US" u="none" strike="noStrike" dirty="0">
                          <a:solidFill>
                            <a:srgbClr val="008000"/>
                          </a:solidFill>
                          <a:latin typeface="verdana"/>
                        </a:rPr>
                        <a:t>Searching in BST</a:t>
                      </a:r>
                      <a:endParaRPr lang="en-US" dirty="0">
                        <a:solidFill>
                          <a:srgbClr val="000000"/>
                        </a:solidFill>
                        <a:latin typeface="verdana"/>
                      </a:endParaRPr>
                    </a:p>
                  </a:txBody>
                  <a:tcPr marL="76200" marR="76200" marT="76200" marB="76200"/>
                </a:tc>
                <a:tc>
                  <a:txBody>
                    <a:bodyPr/>
                    <a:lstStyle/>
                    <a:p>
                      <a:pPr algn="just" fontAlgn="t"/>
                      <a:r>
                        <a:rPr lang="en-US" dirty="0">
                          <a:solidFill>
                            <a:srgbClr val="000000"/>
                          </a:solidFill>
                          <a:latin typeface="verdana"/>
                        </a:rPr>
                        <a:t>Finding the location of some specific element in a binary search tree.</a:t>
                      </a:r>
                    </a:p>
                  </a:txBody>
                  <a:tcPr marL="76200" marR="76200" marT="76200" marB="76200"/>
                </a:tc>
                <a:extLst>
                  <a:ext uri="{0D108BD9-81ED-4DB2-BD59-A6C34878D82A}">
                    <a16:rowId xmlns:a16="http://schemas.microsoft.com/office/drawing/2014/main" val="10001"/>
                  </a:ext>
                </a:extLst>
              </a:tr>
              <a:tr h="1340653">
                <a:tc>
                  <a:txBody>
                    <a:bodyPr/>
                    <a:lstStyle/>
                    <a:p>
                      <a:pPr algn="ctr" fontAlgn="t"/>
                      <a:r>
                        <a:rPr lang="en-US">
                          <a:solidFill>
                            <a:srgbClr val="000000"/>
                          </a:solidFill>
                          <a:latin typeface="verdana"/>
                        </a:rPr>
                        <a:t>2</a:t>
                      </a:r>
                    </a:p>
                  </a:txBody>
                  <a:tcPr marL="76200" marR="76200" marT="76200" marB="76200"/>
                </a:tc>
                <a:tc>
                  <a:txBody>
                    <a:bodyPr/>
                    <a:lstStyle/>
                    <a:p>
                      <a:pPr algn="ctr" fontAlgn="t"/>
                      <a:r>
                        <a:rPr lang="en-US" u="none" strike="noStrike" dirty="0">
                          <a:solidFill>
                            <a:srgbClr val="008000"/>
                          </a:solidFill>
                          <a:latin typeface="verdana"/>
                        </a:rPr>
                        <a:t>Insertion in BST</a:t>
                      </a:r>
                      <a:endParaRPr lang="en-US" dirty="0">
                        <a:solidFill>
                          <a:srgbClr val="000000"/>
                        </a:solidFill>
                        <a:latin typeface="verdana"/>
                      </a:endParaRPr>
                    </a:p>
                  </a:txBody>
                  <a:tcPr marL="76200" marR="76200" marT="76200" marB="76200"/>
                </a:tc>
                <a:tc>
                  <a:txBody>
                    <a:bodyPr/>
                    <a:lstStyle/>
                    <a:p>
                      <a:pPr algn="just" fontAlgn="t"/>
                      <a:r>
                        <a:rPr lang="en-US" dirty="0">
                          <a:solidFill>
                            <a:srgbClr val="000000"/>
                          </a:solidFill>
                          <a:latin typeface="verdana"/>
                        </a:rPr>
                        <a:t>Adding a new element to the binary search tree at the appropriate location so that the property of BST do not violate.</a:t>
                      </a:r>
                    </a:p>
                  </a:txBody>
                  <a:tcPr marL="76200" marR="76200" marT="76200" marB="76200"/>
                </a:tc>
                <a:extLst>
                  <a:ext uri="{0D108BD9-81ED-4DB2-BD59-A6C34878D82A}">
                    <a16:rowId xmlns:a16="http://schemas.microsoft.com/office/drawing/2014/main" val="10002"/>
                  </a:ext>
                </a:extLst>
              </a:tr>
              <a:tr h="1634942">
                <a:tc>
                  <a:txBody>
                    <a:bodyPr/>
                    <a:lstStyle/>
                    <a:p>
                      <a:pPr algn="ctr" fontAlgn="t"/>
                      <a:r>
                        <a:rPr lang="en-US" dirty="0">
                          <a:solidFill>
                            <a:srgbClr val="000000"/>
                          </a:solidFill>
                          <a:latin typeface="verdana"/>
                        </a:rPr>
                        <a:t>3</a:t>
                      </a:r>
                    </a:p>
                  </a:txBody>
                  <a:tcPr marL="76200" marR="76200" marT="76200" marB="76200"/>
                </a:tc>
                <a:tc>
                  <a:txBody>
                    <a:bodyPr/>
                    <a:lstStyle/>
                    <a:p>
                      <a:pPr algn="ctr" fontAlgn="t"/>
                      <a:r>
                        <a:rPr lang="en-US" u="none" strike="noStrike" dirty="0">
                          <a:solidFill>
                            <a:srgbClr val="008000"/>
                          </a:solidFill>
                          <a:latin typeface="verdana"/>
                        </a:rPr>
                        <a:t>Deletion in BST</a:t>
                      </a:r>
                      <a:endParaRPr lang="en-US" dirty="0">
                        <a:solidFill>
                          <a:srgbClr val="000000"/>
                        </a:solidFill>
                        <a:latin typeface="verdana"/>
                      </a:endParaRPr>
                    </a:p>
                  </a:txBody>
                  <a:tcPr marL="76200" marR="76200" marT="76200" marB="76200"/>
                </a:tc>
                <a:tc>
                  <a:txBody>
                    <a:bodyPr/>
                    <a:lstStyle/>
                    <a:p>
                      <a:pPr algn="just" fontAlgn="t"/>
                      <a:r>
                        <a:rPr lang="en-US" dirty="0">
                          <a:solidFill>
                            <a:srgbClr val="000000"/>
                          </a:solidFill>
                          <a:latin typeface="verdana"/>
                        </a:rPr>
                        <a:t>Deleting some specific node from a binary search tree. However, there can be various cases in deletion depending upon the number of children, the node have.</a:t>
                      </a:r>
                    </a:p>
                  </a:txBody>
                  <a:tcPr marL="76200" marR="76200" marT="76200" marB="76200"/>
                </a:tc>
                <a:extLst>
                  <a:ext uri="{0D108BD9-81ED-4DB2-BD59-A6C34878D82A}">
                    <a16:rowId xmlns:a16="http://schemas.microsoft.com/office/drawing/2014/main" val="10003"/>
                  </a:ext>
                </a:extLst>
              </a:tr>
            </a:tbl>
          </a:graphicData>
        </a:graphic>
      </p:graphicFrame>
    </p:spTree>
  </p:cSld>
  <p:clrMapOvr>
    <a:masterClrMapping/>
  </p:clrMapOvr>
  <p:transition spd="slow">
    <p:cove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r>
              <a:rPr lang="en-US" sz="2200" dirty="0"/>
              <a:t>Creation or Insertion of binary search tree</a:t>
            </a:r>
          </a:p>
          <a:p>
            <a:pPr lvl="1"/>
            <a:r>
              <a:rPr lang="en-US" sz="2200" dirty="0"/>
              <a:t>Create the binary search tree using the following data elements.</a:t>
            </a:r>
          </a:p>
          <a:p>
            <a:pPr lvl="1">
              <a:buNone/>
            </a:pPr>
            <a:r>
              <a:rPr lang="en-US" sz="2200" b="1" dirty="0"/>
              <a:t>		45, 10, 79, 90, 12, 54, 11, 9, 50</a:t>
            </a:r>
            <a:endParaRPr lang="en-US" sz="2200" dirty="0"/>
          </a:p>
          <a:p>
            <a:pPr lvl="1"/>
            <a:r>
              <a:rPr lang="en-US" sz="2200" dirty="0"/>
              <a:t>Insert 43 into the tree as the root of the tree.</a:t>
            </a:r>
          </a:p>
          <a:p>
            <a:pPr lvl="1"/>
            <a:r>
              <a:rPr lang="en-US" sz="2200" dirty="0"/>
              <a:t>Read the next element, if it is lesser than the root node element, insert it as the root of the left sub-tree.</a:t>
            </a:r>
          </a:p>
          <a:p>
            <a:pPr lvl="1"/>
            <a:r>
              <a:rPr lang="en-US" sz="2200" dirty="0"/>
              <a:t>Otherwise, insert it as the root of the right of the right sub-tree.</a:t>
            </a:r>
          </a:p>
          <a:p>
            <a:r>
              <a:rPr lang="en-US" sz="2200" dirty="0"/>
              <a:t>The process of creating BST by using the given elements, is shown in next slide</a:t>
            </a:r>
          </a:p>
        </p:txBody>
      </p:sp>
      <p:sp>
        <p:nvSpPr>
          <p:cNvPr id="4" name="Date Placeholder 3"/>
          <p:cNvSpPr>
            <a:spLocks noGrp="1"/>
          </p:cNvSpPr>
          <p:nvPr>
            <p:ph type="dt" sz="half" idx="10"/>
          </p:nvPr>
        </p:nvSpPr>
        <p:spPr/>
        <p:txBody>
          <a:bodyPr/>
          <a:lstStyle/>
          <a:p>
            <a:fld id="{98032D15-0005-4AE0-90A9-9E6B46ED9F36}"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cSld>
  <p:clrMapOvr>
    <a:masterClrMapping/>
  </p:clrMapOvr>
  <p:transition spd="slow">
    <p:cove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90600"/>
            <a:ext cx="8229600" cy="1905000"/>
          </a:xfrm>
        </p:spPr>
        <p:txBody>
          <a:bodyPr>
            <a:normAutofit/>
          </a:bodyPr>
          <a:lstStyle/>
          <a:p>
            <a:pPr marL="0" indent="0">
              <a:buNone/>
            </a:pPr>
            <a:endParaRPr lang="en-US" b="1" dirty="0"/>
          </a:p>
          <a:p>
            <a:pPr marL="0" indent="0">
              <a:buNone/>
            </a:pPr>
            <a:endParaRPr lang="en-US" dirty="0"/>
          </a:p>
        </p:txBody>
      </p:sp>
      <p:sp>
        <p:nvSpPr>
          <p:cNvPr id="4" name="Date Placeholder 3"/>
          <p:cNvSpPr>
            <a:spLocks noGrp="1"/>
          </p:cNvSpPr>
          <p:nvPr>
            <p:ph type="dt" sz="half" idx="10"/>
          </p:nvPr>
        </p:nvSpPr>
        <p:spPr/>
        <p:txBody>
          <a:bodyPr/>
          <a:lstStyle/>
          <a:p>
            <a:fld id="{5AC73AC0-E73F-479E-812F-A5E382BAEF5B}"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pic>
        <p:nvPicPr>
          <p:cNvPr id="1026" name="Picture 2" descr="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490" y="990600"/>
            <a:ext cx="787111" cy="12076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nary Search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2636" y="810236"/>
            <a:ext cx="2022764"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inary Search tre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2659" y="810237"/>
            <a:ext cx="2266950" cy="169265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inary Search tre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7982" y="755975"/>
            <a:ext cx="2324100" cy="180117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inary Search tre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7490" y="3429918"/>
            <a:ext cx="2766673" cy="222912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inary Search tre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1027" y="3130226"/>
            <a:ext cx="3209946" cy="250186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Binary Search tre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37318" y="3276600"/>
            <a:ext cx="3335482" cy="2954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5148897"/>
      </p:ext>
    </p:extLst>
  </p:cSld>
  <p:clrMapOvr>
    <a:masterClrMapping/>
  </p:clrMapOvr>
  <p:transition spd="slow">
    <p:cove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FB6611-4990-4947-900C-B5BB86A16E98}"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Contd..</a:t>
            </a:r>
          </a:p>
        </p:txBody>
      </p:sp>
      <p:pic>
        <p:nvPicPr>
          <p:cNvPr id="2050" name="Picture 2" descr="Binary Search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891" y="990600"/>
            <a:ext cx="3581400" cy="27560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nary Search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817164"/>
            <a:ext cx="3657600" cy="3164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916301"/>
      </p:ext>
    </p:extLst>
  </p:cSld>
  <p:clrMapOvr>
    <a:masterClrMapping/>
  </p:clrMapOvr>
  <p:transition spd="slow">
    <p:cove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457200"/>
          </a:xfrm>
        </p:spPr>
        <p:txBody>
          <a:bodyPr>
            <a:normAutofit/>
          </a:bodyPr>
          <a:lstStyle/>
          <a:p>
            <a:r>
              <a:rPr lang="en-US" sz="2400" dirty="0"/>
              <a:t>Creation or Insertion of binary search tree (contd..)</a:t>
            </a:r>
          </a:p>
          <a:p>
            <a:endParaRPr lang="en-US" sz="2400" dirty="0"/>
          </a:p>
        </p:txBody>
      </p:sp>
      <p:sp>
        <p:nvSpPr>
          <p:cNvPr id="4" name="Date Placeholder 3"/>
          <p:cNvSpPr>
            <a:spLocks noGrp="1"/>
          </p:cNvSpPr>
          <p:nvPr>
            <p:ph type="dt" sz="half" idx="10"/>
          </p:nvPr>
        </p:nvSpPr>
        <p:spPr/>
        <p:txBody>
          <a:bodyPr/>
          <a:lstStyle/>
          <a:p>
            <a:fld id="{3A02DDB8-90D7-4EB9-96A7-C6C2DC9C51D6}"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pic>
        <p:nvPicPr>
          <p:cNvPr id="9" name="Picture 8" descr="binary-search-tree-creation.png"/>
          <p:cNvPicPr>
            <a:picLocks noChangeAspect="1"/>
          </p:cNvPicPr>
          <p:nvPr/>
        </p:nvPicPr>
        <p:blipFill>
          <a:blip r:embed="rId2"/>
          <a:stretch>
            <a:fillRect/>
          </a:stretch>
        </p:blipFill>
        <p:spPr>
          <a:xfrm>
            <a:off x="3048000" y="1295400"/>
            <a:ext cx="6096000" cy="5029200"/>
          </a:xfrm>
          <a:prstGeom prst="rect">
            <a:avLst/>
          </a:prstGeom>
        </p:spPr>
      </p:pic>
    </p:spTree>
  </p:cSld>
  <p:clrMapOvr>
    <a:masterClrMapping/>
  </p:clrMapOvr>
  <p:transition spd="slow">
    <p:cove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DE01-41FA-486B-A2AB-3CDE5403228F}"/>
              </a:ext>
            </a:extLst>
          </p:cNvPr>
          <p:cNvSpPr>
            <a:spLocks noGrp="1"/>
          </p:cNvSpPr>
          <p:nvPr>
            <p:ph type="title" idx="4294967295"/>
          </p:nvPr>
        </p:nvSpPr>
        <p:spPr>
          <a:xfrm>
            <a:off x="1998482" y="571500"/>
            <a:ext cx="8229600" cy="1143000"/>
          </a:xfrm>
          <a:prstGeom prst="rect">
            <a:avLst/>
          </a:prstGeom>
        </p:spPr>
        <p:txBody>
          <a:bodyPr>
            <a:normAutofit/>
          </a:bodyPr>
          <a:lstStyle/>
          <a:p>
            <a:r>
              <a:rPr lang="en-US" sz="2800" b="1" dirty="0"/>
              <a:t>Binary Search Tree Deletion</a:t>
            </a:r>
            <a:endParaRPr lang="en-IN" sz="2800" b="1" dirty="0"/>
          </a:p>
        </p:txBody>
      </p:sp>
      <p:sp>
        <p:nvSpPr>
          <p:cNvPr id="3" name="Content Placeholder 2">
            <a:extLst>
              <a:ext uri="{FF2B5EF4-FFF2-40B4-BE49-F238E27FC236}">
                <a16:creationId xmlns:a16="http://schemas.microsoft.com/office/drawing/2014/main" id="{F071A076-AB80-47D9-A75C-55EF85925325}"/>
              </a:ext>
            </a:extLst>
          </p:cNvPr>
          <p:cNvSpPr>
            <a:spLocks noGrp="1"/>
          </p:cNvSpPr>
          <p:nvPr>
            <p:ph idx="1"/>
          </p:nvPr>
        </p:nvSpPr>
        <p:spPr>
          <a:xfrm>
            <a:off x="1981200" y="1143001"/>
            <a:ext cx="8229600" cy="4983163"/>
          </a:xfrm>
        </p:spPr>
        <p:txBody>
          <a:bodyPr>
            <a:normAutofit/>
          </a:bodyPr>
          <a:lstStyle/>
          <a:p>
            <a:pPr marL="0" indent="0">
              <a:buNone/>
            </a:pPr>
            <a:endParaRPr lang="en-US" sz="2200" dirty="0"/>
          </a:p>
          <a:p>
            <a:pPr marL="0" indent="0">
              <a:buNone/>
            </a:pPr>
            <a:r>
              <a:rPr lang="en-US" sz="2200" dirty="0"/>
              <a:t>Case 3 : Deleting the node which has left subtree or right subtree.</a:t>
            </a:r>
          </a:p>
          <a:p>
            <a:pPr marL="0" indent="0">
              <a:buNone/>
            </a:pPr>
            <a:endParaRPr lang="en-US" sz="2200" dirty="0"/>
          </a:p>
          <a:p>
            <a:pPr marL="0" indent="0">
              <a:buNone/>
            </a:pPr>
            <a:r>
              <a:rPr lang="en-US" sz="2200" dirty="0"/>
              <a:t>Task 1 : Finding key takes either log2(n) or O(n) times.</a:t>
            </a:r>
          </a:p>
          <a:p>
            <a:pPr marL="0" indent="0">
              <a:buNone/>
            </a:pPr>
            <a:r>
              <a:rPr lang="en-US" sz="2200" dirty="0"/>
              <a:t>Task 2 : Replace the deleted node with the max of LST or min of RST.</a:t>
            </a:r>
          </a:p>
        </p:txBody>
      </p:sp>
      <p:sp>
        <p:nvSpPr>
          <p:cNvPr id="4" name="Date Placeholder 3">
            <a:extLst>
              <a:ext uri="{FF2B5EF4-FFF2-40B4-BE49-F238E27FC236}">
                <a16:creationId xmlns:a16="http://schemas.microsoft.com/office/drawing/2014/main" id="{0D1A407A-DB2A-4F64-B66E-609F7C98C877}"/>
              </a:ext>
            </a:extLst>
          </p:cNvPr>
          <p:cNvSpPr>
            <a:spLocks noGrp="1"/>
          </p:cNvSpPr>
          <p:nvPr>
            <p:ph type="dt" sz="half" idx="10"/>
          </p:nvPr>
        </p:nvSpPr>
        <p:spPr/>
        <p:txBody>
          <a:bodyPr/>
          <a:lstStyle/>
          <a:p>
            <a:fld id="{DAB548EB-FF22-4855-98D7-B8721B68DA59}" type="datetime1">
              <a:rPr lang="en-US" smtClean="0"/>
              <a:t>8/26/2026</a:t>
            </a:fld>
            <a:endParaRPr lang="en-US"/>
          </a:p>
        </p:txBody>
      </p:sp>
      <p:sp>
        <p:nvSpPr>
          <p:cNvPr id="5" name="Footer Placeholder 4">
            <a:extLst>
              <a:ext uri="{FF2B5EF4-FFF2-40B4-BE49-F238E27FC236}">
                <a16:creationId xmlns:a16="http://schemas.microsoft.com/office/drawing/2014/main" id="{07861CEA-BD76-48BC-8608-88138599EBDD}"/>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11910B8F-6C3A-4F7A-97FD-CF2F7AB468AE}"/>
              </a:ext>
            </a:extLst>
          </p:cNvPr>
          <p:cNvSpPr>
            <a:spLocks noGrp="1"/>
          </p:cNvSpPr>
          <p:nvPr>
            <p:ph type="sldNum" sz="quarter" idx="12"/>
          </p:nvPr>
        </p:nvSpPr>
        <p:spPr/>
        <p:txBody>
          <a:bodyPr/>
          <a:lstStyle/>
          <a:p>
            <a:fld id="{B6F15528-21DE-4FAA-801E-634DDDAF4B2B}" type="slidenum">
              <a:rPr lang="en-US" smtClean="0"/>
              <a:pPr/>
              <a:t>72</a:t>
            </a:fld>
            <a:endParaRPr lang="en-US"/>
          </a:p>
        </p:txBody>
      </p:sp>
      <p:pic>
        <p:nvPicPr>
          <p:cNvPr id="8" name="Picture 7">
            <a:extLst>
              <a:ext uri="{FF2B5EF4-FFF2-40B4-BE49-F238E27FC236}">
                <a16:creationId xmlns:a16="http://schemas.microsoft.com/office/drawing/2014/main" id="{011BF145-C7FC-4EE6-901E-9817CE6D1CFF}"/>
              </a:ext>
            </a:extLst>
          </p:cNvPr>
          <p:cNvPicPr>
            <a:picLocks noChangeAspect="1"/>
          </p:cNvPicPr>
          <p:nvPr/>
        </p:nvPicPr>
        <p:blipFill>
          <a:blip r:embed="rId2"/>
          <a:stretch>
            <a:fillRect/>
          </a:stretch>
        </p:blipFill>
        <p:spPr>
          <a:xfrm>
            <a:off x="2895600" y="3502612"/>
            <a:ext cx="6324600" cy="2853739"/>
          </a:xfrm>
          <a:prstGeom prst="rect">
            <a:avLst/>
          </a:prstGeom>
        </p:spPr>
      </p:pic>
      <p:sp>
        <p:nvSpPr>
          <p:cNvPr id="7" name="Title 1">
            <a:extLst>
              <a:ext uri="{FF2B5EF4-FFF2-40B4-BE49-F238E27FC236}">
                <a16:creationId xmlns:a16="http://schemas.microsoft.com/office/drawing/2014/main" id="{F4D22539-8A71-A3F2-543C-5F60ACCECDC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extLst>
      <p:ext uri="{BB962C8B-B14F-4D97-AF65-F5344CB8AC3E}">
        <p14:creationId xmlns:p14="http://schemas.microsoft.com/office/powerpoint/2010/main" val="288353962"/>
      </p:ext>
    </p:extLst>
  </p:cSld>
  <p:clrMapOvr>
    <a:masterClrMapping/>
  </p:clrMapOvr>
  <p:transition spd="slow">
    <p:cove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DE01-41FA-486B-A2AB-3CDE5403228F}"/>
              </a:ext>
            </a:extLst>
          </p:cNvPr>
          <p:cNvSpPr>
            <a:spLocks noGrp="1"/>
          </p:cNvSpPr>
          <p:nvPr>
            <p:ph type="title" idx="4294967295"/>
          </p:nvPr>
        </p:nvSpPr>
        <p:spPr>
          <a:xfrm>
            <a:off x="2015613" y="708704"/>
            <a:ext cx="8229600" cy="1143000"/>
          </a:xfrm>
          <a:prstGeom prst="rect">
            <a:avLst/>
          </a:prstGeom>
        </p:spPr>
        <p:txBody>
          <a:bodyPr>
            <a:normAutofit/>
          </a:bodyPr>
          <a:lstStyle/>
          <a:p>
            <a:r>
              <a:rPr lang="en-US" sz="2800" b="1" dirty="0"/>
              <a:t>Binary Search Tree Deletion</a:t>
            </a:r>
            <a:endParaRPr lang="en-IN" sz="2800" b="1" dirty="0"/>
          </a:p>
        </p:txBody>
      </p:sp>
      <p:sp>
        <p:nvSpPr>
          <p:cNvPr id="3" name="Content Placeholder 2">
            <a:extLst>
              <a:ext uri="{FF2B5EF4-FFF2-40B4-BE49-F238E27FC236}">
                <a16:creationId xmlns:a16="http://schemas.microsoft.com/office/drawing/2014/main" id="{F071A076-AB80-47D9-A75C-55EF85925325}"/>
              </a:ext>
            </a:extLst>
          </p:cNvPr>
          <p:cNvSpPr>
            <a:spLocks noGrp="1"/>
          </p:cNvSpPr>
          <p:nvPr>
            <p:ph idx="1"/>
          </p:nvPr>
        </p:nvSpPr>
        <p:spPr>
          <a:xfrm>
            <a:off x="1981200" y="1143001"/>
            <a:ext cx="8229600" cy="4983163"/>
          </a:xfrm>
        </p:spPr>
        <p:txBody>
          <a:bodyPr>
            <a:normAutofit/>
          </a:bodyPr>
          <a:lstStyle/>
          <a:p>
            <a:pPr marL="0" indent="0">
              <a:buNone/>
            </a:pPr>
            <a:endParaRPr lang="en-US" sz="2200" dirty="0"/>
          </a:p>
          <a:p>
            <a:pPr marL="0" indent="0">
              <a:buNone/>
            </a:pPr>
            <a:r>
              <a:rPr lang="en-US" sz="2200" dirty="0"/>
              <a:t>Case 1 : Deleting the leaf node from BST</a:t>
            </a:r>
          </a:p>
          <a:p>
            <a:pPr marL="0" indent="0">
              <a:buNone/>
            </a:pPr>
            <a:endParaRPr lang="en-US" sz="2200" dirty="0"/>
          </a:p>
          <a:p>
            <a:pPr marL="0" indent="0">
              <a:buNone/>
            </a:pPr>
            <a:r>
              <a:rPr lang="en-US" sz="2200" dirty="0"/>
              <a:t>Task 1 : Finding key takes either log2(n) or O(n) times.</a:t>
            </a:r>
          </a:p>
          <a:p>
            <a:pPr marL="0" indent="0">
              <a:buNone/>
            </a:pPr>
            <a:r>
              <a:rPr lang="en-US" sz="2200" dirty="0"/>
              <a:t>Task 2 : Identify leaf node parent pointer which is pointing to it and make it NULL.</a:t>
            </a:r>
          </a:p>
          <a:p>
            <a:pPr marL="0" indent="0">
              <a:buNone/>
            </a:pPr>
            <a:endParaRPr lang="en-US" sz="2200" dirty="0"/>
          </a:p>
        </p:txBody>
      </p:sp>
      <p:sp>
        <p:nvSpPr>
          <p:cNvPr id="4" name="Date Placeholder 3">
            <a:extLst>
              <a:ext uri="{FF2B5EF4-FFF2-40B4-BE49-F238E27FC236}">
                <a16:creationId xmlns:a16="http://schemas.microsoft.com/office/drawing/2014/main" id="{0D1A407A-DB2A-4F64-B66E-609F7C98C877}"/>
              </a:ext>
            </a:extLst>
          </p:cNvPr>
          <p:cNvSpPr>
            <a:spLocks noGrp="1"/>
          </p:cNvSpPr>
          <p:nvPr>
            <p:ph type="dt" sz="half" idx="10"/>
          </p:nvPr>
        </p:nvSpPr>
        <p:spPr/>
        <p:txBody>
          <a:bodyPr/>
          <a:lstStyle/>
          <a:p>
            <a:fld id="{614BE0E7-D6F7-4A3A-9058-533AE449E007}" type="datetime1">
              <a:rPr lang="en-US" smtClean="0"/>
              <a:t>8/26/2026</a:t>
            </a:fld>
            <a:endParaRPr lang="en-US"/>
          </a:p>
        </p:txBody>
      </p:sp>
      <p:sp>
        <p:nvSpPr>
          <p:cNvPr id="5" name="Footer Placeholder 4">
            <a:extLst>
              <a:ext uri="{FF2B5EF4-FFF2-40B4-BE49-F238E27FC236}">
                <a16:creationId xmlns:a16="http://schemas.microsoft.com/office/drawing/2014/main" id="{07861CEA-BD76-48BC-8608-88138599EBDD}"/>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11910B8F-6C3A-4F7A-97FD-CF2F7AB468AE}"/>
              </a:ext>
            </a:extLst>
          </p:cNvPr>
          <p:cNvSpPr>
            <a:spLocks noGrp="1"/>
          </p:cNvSpPr>
          <p:nvPr>
            <p:ph type="sldNum" sz="quarter" idx="12"/>
          </p:nvPr>
        </p:nvSpPr>
        <p:spPr/>
        <p:txBody>
          <a:bodyPr/>
          <a:lstStyle/>
          <a:p>
            <a:fld id="{B6F15528-21DE-4FAA-801E-634DDDAF4B2B}" type="slidenum">
              <a:rPr lang="en-US" smtClean="0"/>
              <a:pPr/>
              <a:t>73</a:t>
            </a:fld>
            <a:endParaRPr lang="en-US"/>
          </a:p>
        </p:txBody>
      </p:sp>
      <p:pic>
        <p:nvPicPr>
          <p:cNvPr id="8" name="Picture 7">
            <a:extLst>
              <a:ext uri="{FF2B5EF4-FFF2-40B4-BE49-F238E27FC236}">
                <a16:creationId xmlns:a16="http://schemas.microsoft.com/office/drawing/2014/main" id="{1199C1B8-CBAF-4F6B-AF3E-E198DD4E2935}"/>
              </a:ext>
            </a:extLst>
          </p:cNvPr>
          <p:cNvPicPr>
            <a:picLocks noChangeAspect="1"/>
          </p:cNvPicPr>
          <p:nvPr/>
        </p:nvPicPr>
        <p:blipFill>
          <a:blip r:embed="rId2"/>
          <a:stretch>
            <a:fillRect/>
          </a:stretch>
        </p:blipFill>
        <p:spPr>
          <a:xfrm>
            <a:off x="2639505" y="3634581"/>
            <a:ext cx="6477000" cy="2286000"/>
          </a:xfrm>
          <a:prstGeom prst="rect">
            <a:avLst/>
          </a:prstGeom>
        </p:spPr>
      </p:pic>
      <p:sp>
        <p:nvSpPr>
          <p:cNvPr id="7" name="Title 1">
            <a:extLst>
              <a:ext uri="{FF2B5EF4-FFF2-40B4-BE49-F238E27FC236}">
                <a16:creationId xmlns:a16="http://schemas.microsoft.com/office/drawing/2014/main" id="{1108B62D-2BF3-715B-9D04-73A939DA82D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extLst>
      <p:ext uri="{BB962C8B-B14F-4D97-AF65-F5344CB8AC3E}">
        <p14:creationId xmlns:p14="http://schemas.microsoft.com/office/powerpoint/2010/main" val="4260478863"/>
      </p:ext>
    </p:extLst>
  </p:cSld>
  <p:clrMapOvr>
    <a:masterClrMapping/>
  </p:clrMapOvr>
  <p:transition spd="slow">
    <p:cove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DE01-41FA-486B-A2AB-3CDE5403228F}"/>
              </a:ext>
            </a:extLst>
          </p:cNvPr>
          <p:cNvSpPr>
            <a:spLocks noGrp="1"/>
          </p:cNvSpPr>
          <p:nvPr>
            <p:ph type="title" idx="4294967295"/>
          </p:nvPr>
        </p:nvSpPr>
        <p:spPr>
          <a:xfrm>
            <a:off x="1966274" y="615951"/>
            <a:ext cx="8229600" cy="1143000"/>
          </a:xfrm>
          <a:prstGeom prst="rect">
            <a:avLst/>
          </a:prstGeom>
        </p:spPr>
        <p:txBody>
          <a:bodyPr>
            <a:normAutofit/>
          </a:bodyPr>
          <a:lstStyle/>
          <a:p>
            <a:r>
              <a:rPr lang="en-US" sz="2800" b="1" dirty="0"/>
              <a:t>Binary Search Tree Deletion</a:t>
            </a:r>
            <a:endParaRPr lang="en-IN" sz="2800" b="1" dirty="0"/>
          </a:p>
        </p:txBody>
      </p:sp>
      <p:sp>
        <p:nvSpPr>
          <p:cNvPr id="3" name="Content Placeholder 2">
            <a:extLst>
              <a:ext uri="{FF2B5EF4-FFF2-40B4-BE49-F238E27FC236}">
                <a16:creationId xmlns:a16="http://schemas.microsoft.com/office/drawing/2014/main" id="{F071A076-AB80-47D9-A75C-55EF85925325}"/>
              </a:ext>
            </a:extLst>
          </p:cNvPr>
          <p:cNvSpPr>
            <a:spLocks noGrp="1"/>
          </p:cNvSpPr>
          <p:nvPr>
            <p:ph idx="1"/>
          </p:nvPr>
        </p:nvSpPr>
        <p:spPr>
          <a:xfrm>
            <a:off x="1981200" y="1417639"/>
            <a:ext cx="8229600" cy="4708525"/>
          </a:xfrm>
        </p:spPr>
        <p:txBody>
          <a:bodyPr>
            <a:normAutofit/>
          </a:bodyPr>
          <a:lstStyle/>
          <a:p>
            <a:pPr marL="0" indent="0">
              <a:buNone/>
            </a:pPr>
            <a:endParaRPr lang="en-US" sz="2200" dirty="0"/>
          </a:p>
          <a:p>
            <a:pPr marL="0" indent="0">
              <a:buNone/>
            </a:pPr>
            <a:r>
              <a:rPr lang="en-US" sz="2200" dirty="0"/>
              <a:t>Case 2 : Deleting the node which has only one child</a:t>
            </a:r>
          </a:p>
          <a:p>
            <a:pPr marL="0" indent="0">
              <a:buNone/>
            </a:pPr>
            <a:endParaRPr lang="en-US" sz="2200" dirty="0"/>
          </a:p>
          <a:p>
            <a:pPr marL="0" indent="0">
              <a:buNone/>
            </a:pPr>
            <a:r>
              <a:rPr lang="en-US" sz="2200" dirty="0"/>
              <a:t>Task 1 : Finding key takes either log2(n) or O(n) times.</a:t>
            </a:r>
          </a:p>
          <a:p>
            <a:pPr marL="0" indent="0">
              <a:buNone/>
            </a:pPr>
            <a:r>
              <a:rPr lang="en-US" sz="2200" dirty="0"/>
              <a:t>Task 2 : Copy the child to the node and delete the child </a:t>
            </a:r>
          </a:p>
        </p:txBody>
      </p:sp>
      <p:sp>
        <p:nvSpPr>
          <p:cNvPr id="4" name="Date Placeholder 3">
            <a:extLst>
              <a:ext uri="{FF2B5EF4-FFF2-40B4-BE49-F238E27FC236}">
                <a16:creationId xmlns:a16="http://schemas.microsoft.com/office/drawing/2014/main" id="{0D1A407A-DB2A-4F64-B66E-609F7C98C877}"/>
              </a:ext>
            </a:extLst>
          </p:cNvPr>
          <p:cNvSpPr>
            <a:spLocks noGrp="1"/>
          </p:cNvSpPr>
          <p:nvPr>
            <p:ph type="dt" sz="half" idx="10"/>
          </p:nvPr>
        </p:nvSpPr>
        <p:spPr/>
        <p:txBody>
          <a:bodyPr/>
          <a:lstStyle/>
          <a:p>
            <a:fld id="{59A74917-DB4C-4207-A9D4-73B85E1C6ABF}" type="datetime1">
              <a:rPr lang="en-US" smtClean="0"/>
              <a:t>8/26/2026</a:t>
            </a:fld>
            <a:endParaRPr lang="en-US"/>
          </a:p>
        </p:txBody>
      </p:sp>
      <p:sp>
        <p:nvSpPr>
          <p:cNvPr id="5" name="Footer Placeholder 4">
            <a:extLst>
              <a:ext uri="{FF2B5EF4-FFF2-40B4-BE49-F238E27FC236}">
                <a16:creationId xmlns:a16="http://schemas.microsoft.com/office/drawing/2014/main" id="{07861CEA-BD76-48BC-8608-88138599EBDD}"/>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11910B8F-6C3A-4F7A-97FD-CF2F7AB468AE}"/>
              </a:ext>
            </a:extLst>
          </p:cNvPr>
          <p:cNvSpPr>
            <a:spLocks noGrp="1"/>
          </p:cNvSpPr>
          <p:nvPr>
            <p:ph type="sldNum" sz="quarter" idx="12"/>
          </p:nvPr>
        </p:nvSpPr>
        <p:spPr/>
        <p:txBody>
          <a:bodyPr/>
          <a:lstStyle/>
          <a:p>
            <a:fld id="{B6F15528-21DE-4FAA-801E-634DDDAF4B2B}" type="slidenum">
              <a:rPr lang="en-US" smtClean="0"/>
              <a:pPr/>
              <a:t>74</a:t>
            </a:fld>
            <a:endParaRPr lang="en-US"/>
          </a:p>
        </p:txBody>
      </p:sp>
      <p:pic>
        <p:nvPicPr>
          <p:cNvPr id="9" name="Picture 8">
            <a:extLst>
              <a:ext uri="{FF2B5EF4-FFF2-40B4-BE49-F238E27FC236}">
                <a16:creationId xmlns:a16="http://schemas.microsoft.com/office/drawing/2014/main" id="{AA8D43A8-83D8-4F96-873E-FBE69C2948F2}"/>
              </a:ext>
            </a:extLst>
          </p:cNvPr>
          <p:cNvPicPr>
            <a:picLocks noChangeAspect="1"/>
          </p:cNvPicPr>
          <p:nvPr/>
        </p:nvPicPr>
        <p:blipFill>
          <a:blip r:embed="rId2"/>
          <a:stretch>
            <a:fillRect/>
          </a:stretch>
        </p:blipFill>
        <p:spPr>
          <a:xfrm>
            <a:off x="3044073" y="3644794"/>
            <a:ext cx="5638799" cy="2724201"/>
          </a:xfrm>
          <a:prstGeom prst="rect">
            <a:avLst/>
          </a:prstGeom>
        </p:spPr>
      </p:pic>
      <p:sp>
        <p:nvSpPr>
          <p:cNvPr id="7" name="Title 1">
            <a:extLst>
              <a:ext uri="{FF2B5EF4-FFF2-40B4-BE49-F238E27FC236}">
                <a16:creationId xmlns:a16="http://schemas.microsoft.com/office/drawing/2014/main" id="{48654E0B-B6EB-2088-DF56-A9F322810CC1}"/>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Binary Search Tree</a:t>
            </a:r>
          </a:p>
        </p:txBody>
      </p:sp>
    </p:spTree>
    <p:extLst>
      <p:ext uri="{BB962C8B-B14F-4D97-AF65-F5344CB8AC3E}">
        <p14:creationId xmlns:p14="http://schemas.microsoft.com/office/powerpoint/2010/main" val="4032717191"/>
      </p:ext>
    </p:extLst>
  </p:cSld>
  <p:clrMapOvr>
    <a:masterClrMapping/>
  </p:clrMapOvr>
  <p:transition spd="slow">
    <p:cove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ACE8B6-E9FC-47ED-AE4A-A1D3C3F34CDD}"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Time Complexity</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42830760"/>
              </p:ext>
            </p:extLst>
          </p:nvPr>
        </p:nvGraphicFramePr>
        <p:xfrm>
          <a:off x="2572046" y="1676399"/>
          <a:ext cx="7047908" cy="3429000"/>
        </p:xfrm>
        <a:graphic>
          <a:graphicData uri="http://schemas.openxmlformats.org/drawingml/2006/table">
            <a:tbl>
              <a:tblPr/>
              <a:tblGrid>
                <a:gridCol w="1761977">
                  <a:extLst>
                    <a:ext uri="{9D8B030D-6E8A-4147-A177-3AD203B41FA5}">
                      <a16:colId xmlns:a16="http://schemas.microsoft.com/office/drawing/2014/main" val="742372501"/>
                    </a:ext>
                  </a:extLst>
                </a:gridCol>
                <a:gridCol w="1761977">
                  <a:extLst>
                    <a:ext uri="{9D8B030D-6E8A-4147-A177-3AD203B41FA5}">
                      <a16:colId xmlns:a16="http://schemas.microsoft.com/office/drawing/2014/main" val="2523873244"/>
                    </a:ext>
                  </a:extLst>
                </a:gridCol>
                <a:gridCol w="1761977">
                  <a:extLst>
                    <a:ext uri="{9D8B030D-6E8A-4147-A177-3AD203B41FA5}">
                      <a16:colId xmlns:a16="http://schemas.microsoft.com/office/drawing/2014/main" val="2436249255"/>
                    </a:ext>
                  </a:extLst>
                </a:gridCol>
                <a:gridCol w="1761977">
                  <a:extLst>
                    <a:ext uri="{9D8B030D-6E8A-4147-A177-3AD203B41FA5}">
                      <a16:colId xmlns:a16="http://schemas.microsoft.com/office/drawing/2014/main" val="629808082"/>
                    </a:ext>
                  </a:extLst>
                </a:gridCol>
              </a:tblGrid>
              <a:tr h="1295400">
                <a:tc>
                  <a:txBody>
                    <a:bodyPr/>
                    <a:lstStyle/>
                    <a:p>
                      <a:pPr algn="l" fontAlgn="t"/>
                      <a:r>
                        <a:rPr lang="en-IN">
                          <a:solidFill>
                            <a:srgbClr val="000000"/>
                          </a:solidFill>
                          <a:effectLst/>
                          <a:latin typeface="times new roman" panose="02020603050405020304" pitchFamily="18" charset="0"/>
                        </a:rPr>
                        <a:t>Operations</a:t>
                      </a:r>
                    </a:p>
                  </a:txBody>
                  <a:tcPr marL="114300" marR="114300" marT="114300" marB="114300">
                    <a:lnL w="9525" cap="flat" cmpd="sng" algn="ctr">
                      <a:solidFill>
                        <a:srgbClr val="5016D7"/>
                      </a:solidFill>
                      <a:prstDash val="solid"/>
                      <a:round/>
                      <a:headEnd type="none" w="med" len="med"/>
                      <a:tailEnd type="none" w="med" len="med"/>
                    </a:lnL>
                    <a:lnR w="9525" cap="flat" cmpd="sng" algn="ctr">
                      <a:solidFill>
                        <a:srgbClr val="5016D7"/>
                      </a:solidFill>
                      <a:prstDash val="solid"/>
                      <a:round/>
                      <a:headEnd type="none" w="med" len="med"/>
                      <a:tailEnd type="none" w="med" len="med"/>
                    </a:lnR>
                    <a:lnT w="9525" cap="flat" cmpd="sng" algn="ctr">
                      <a:solidFill>
                        <a:srgbClr val="5016D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Best case time complexity</a:t>
                      </a:r>
                    </a:p>
                  </a:txBody>
                  <a:tcPr marL="114300" marR="114300" marT="114300" marB="114300">
                    <a:lnL w="9525" cap="flat" cmpd="sng" algn="ctr">
                      <a:solidFill>
                        <a:srgbClr val="5016D7"/>
                      </a:solidFill>
                      <a:prstDash val="solid"/>
                      <a:round/>
                      <a:headEnd type="none" w="med" len="med"/>
                      <a:tailEnd type="none" w="med" len="med"/>
                    </a:lnL>
                    <a:lnR w="9525" cap="flat" cmpd="sng" algn="ctr">
                      <a:solidFill>
                        <a:srgbClr val="5016D7"/>
                      </a:solidFill>
                      <a:prstDash val="solid"/>
                      <a:round/>
                      <a:headEnd type="none" w="med" len="med"/>
                      <a:tailEnd type="none" w="med" len="med"/>
                    </a:lnR>
                    <a:lnT w="9525" cap="flat" cmpd="sng" algn="ctr">
                      <a:solidFill>
                        <a:srgbClr val="5016D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Average case time complexity</a:t>
                      </a:r>
                    </a:p>
                  </a:txBody>
                  <a:tcPr marL="114300" marR="114300" marT="114300" marB="114300">
                    <a:lnL w="9525" cap="flat" cmpd="sng" algn="ctr">
                      <a:solidFill>
                        <a:srgbClr val="5016D7"/>
                      </a:solidFill>
                      <a:prstDash val="solid"/>
                      <a:round/>
                      <a:headEnd type="none" w="med" len="med"/>
                      <a:tailEnd type="none" w="med" len="med"/>
                    </a:lnL>
                    <a:lnR w="9525" cap="flat" cmpd="sng" algn="ctr">
                      <a:solidFill>
                        <a:srgbClr val="5016D7"/>
                      </a:solidFill>
                      <a:prstDash val="solid"/>
                      <a:round/>
                      <a:headEnd type="none" w="med" len="med"/>
                      <a:tailEnd type="none" w="med" len="med"/>
                    </a:lnR>
                    <a:lnT w="9525" cap="flat" cmpd="sng" algn="ctr">
                      <a:solidFill>
                        <a:srgbClr val="5016D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Worst case time complexity</a:t>
                      </a:r>
                    </a:p>
                  </a:txBody>
                  <a:tcPr marL="114300" marR="114300" marT="114300" marB="114300">
                    <a:lnL w="9525" cap="flat" cmpd="sng" algn="ctr">
                      <a:solidFill>
                        <a:srgbClr val="5016D7"/>
                      </a:solidFill>
                      <a:prstDash val="solid"/>
                      <a:round/>
                      <a:headEnd type="none" w="med" len="med"/>
                      <a:tailEnd type="none" w="med" len="med"/>
                    </a:lnL>
                    <a:lnR w="9525" cap="flat" cmpd="sng" algn="ctr">
                      <a:solidFill>
                        <a:srgbClr val="5016D7"/>
                      </a:solidFill>
                      <a:prstDash val="solid"/>
                      <a:round/>
                      <a:headEnd type="none" w="med" len="med"/>
                      <a:tailEnd type="none" w="med" len="med"/>
                    </a:lnR>
                    <a:lnT w="9525" cap="flat" cmpd="sng" algn="ctr">
                      <a:solidFill>
                        <a:srgbClr val="5016D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935881015"/>
                  </a:ext>
                </a:extLst>
              </a:tr>
              <a:tr h="711200">
                <a:tc>
                  <a:txBody>
                    <a:bodyPr/>
                    <a:lstStyle/>
                    <a:p>
                      <a:pPr algn="just" fontAlgn="t"/>
                      <a:r>
                        <a:rPr lang="en-IN" b="1">
                          <a:solidFill>
                            <a:srgbClr val="333333"/>
                          </a:solidFill>
                          <a:effectLst/>
                          <a:latin typeface="inter-bold"/>
                        </a:rPr>
                        <a:t>Insertion</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dirty="0">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inter-regular"/>
                        </a:rPr>
                        <a:t>O(n)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80183370"/>
                  </a:ext>
                </a:extLst>
              </a:tr>
              <a:tr h="711200">
                <a:tc>
                  <a:txBody>
                    <a:bodyPr/>
                    <a:lstStyle/>
                    <a:p>
                      <a:pPr algn="just" fontAlgn="t"/>
                      <a:r>
                        <a:rPr lang="en-IN" b="1">
                          <a:solidFill>
                            <a:srgbClr val="333333"/>
                          </a:solidFill>
                          <a:effectLst/>
                          <a:latin typeface="inter-bold"/>
                        </a:rPr>
                        <a:t>Deletion</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inter-regular"/>
                        </a:rPr>
                        <a:t>O(n)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885906286"/>
                  </a:ext>
                </a:extLst>
              </a:tr>
              <a:tr h="711200">
                <a:tc>
                  <a:txBody>
                    <a:bodyPr/>
                    <a:lstStyle/>
                    <a:p>
                      <a:pPr algn="just" fontAlgn="t"/>
                      <a:r>
                        <a:rPr lang="en-IN" b="1">
                          <a:solidFill>
                            <a:srgbClr val="333333"/>
                          </a:solidFill>
                          <a:effectLst/>
                          <a:latin typeface="inter-bold"/>
                        </a:rPr>
                        <a:t>Search</a:t>
                      </a:r>
                      <a:endParaRPr lang="en-IN">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inter-regular"/>
                        </a:rPr>
                        <a:t>O(log 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dirty="0">
                          <a:solidFill>
                            <a:srgbClr val="333333"/>
                          </a:solidFill>
                          <a:effectLst/>
                          <a:latin typeface="inter-regular"/>
                        </a:rPr>
                        <a:t>O(n)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045808557"/>
                  </a:ext>
                </a:extLst>
              </a:tr>
            </a:tbl>
          </a:graphicData>
        </a:graphic>
      </p:graphicFrame>
    </p:spTree>
    <p:extLst>
      <p:ext uri="{BB962C8B-B14F-4D97-AF65-F5344CB8AC3E}">
        <p14:creationId xmlns:p14="http://schemas.microsoft.com/office/powerpoint/2010/main" val="2642984531"/>
      </p:ext>
    </p:extLst>
  </p:cSld>
  <p:clrMapOvr>
    <a:masterClrMapping/>
  </p:clrMapOvr>
  <p:transition spd="slow">
    <p:cove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EA947F-216F-4128-96DC-39009FD3FB25}"/>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Trees</a:t>
            </a:r>
          </a:p>
        </p:txBody>
      </p:sp>
      <p:sp>
        <p:nvSpPr>
          <p:cNvPr id="2" name="Title 1">
            <a:extLst>
              <a:ext uri="{FF2B5EF4-FFF2-40B4-BE49-F238E27FC236}">
                <a16:creationId xmlns:a16="http://schemas.microsoft.com/office/drawing/2014/main" id="{8311C85F-B3F0-45ED-909D-5FB0D5550DB5}"/>
              </a:ext>
            </a:extLst>
          </p:cNvPr>
          <p:cNvSpPr>
            <a:spLocks noGrp="1"/>
          </p:cNvSpPr>
          <p:nvPr>
            <p:ph type="title" idx="4294967295"/>
          </p:nvPr>
        </p:nvSpPr>
        <p:spPr>
          <a:xfrm>
            <a:off x="1897062" y="685007"/>
            <a:ext cx="8229600" cy="1143000"/>
          </a:xfrm>
          <a:prstGeom prst="rect">
            <a:avLst/>
          </a:prstGeom>
        </p:spPr>
        <p:txBody>
          <a:bodyPr>
            <a:normAutofit/>
          </a:bodyPr>
          <a:lstStyle/>
          <a:p>
            <a:r>
              <a:rPr lang="en-IN" sz="2800" b="1" dirty="0"/>
              <a:t>Binary Search Tree Representation</a:t>
            </a:r>
          </a:p>
        </p:txBody>
      </p:sp>
      <p:sp>
        <p:nvSpPr>
          <p:cNvPr id="6" name="Rectangle 2">
            <a:extLst>
              <a:ext uri="{FF2B5EF4-FFF2-40B4-BE49-F238E27FC236}">
                <a16:creationId xmlns:a16="http://schemas.microsoft.com/office/drawing/2014/main" id="{60CEA7CE-DA35-48A0-AA69-90F2CE60A529}"/>
              </a:ext>
            </a:extLst>
          </p:cNvPr>
          <p:cNvSpPr txBox="1">
            <a:spLocks noChangeArrowheads="1"/>
          </p:cNvSpPr>
          <p:nvPr/>
        </p:nvSpPr>
        <p:spPr>
          <a:xfrm>
            <a:off x="2068512" y="593727"/>
            <a:ext cx="7886700" cy="132556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altLang="en-US" dirty="0"/>
          </a:p>
        </p:txBody>
      </p:sp>
      <p:sp>
        <p:nvSpPr>
          <p:cNvPr id="7" name="Date Placeholder 6">
            <a:extLst>
              <a:ext uri="{FF2B5EF4-FFF2-40B4-BE49-F238E27FC236}">
                <a16:creationId xmlns:a16="http://schemas.microsoft.com/office/drawing/2014/main" id="{614996DC-9352-4DFE-8FAA-9CA3068989EE}"/>
              </a:ext>
            </a:extLst>
          </p:cNvPr>
          <p:cNvSpPr>
            <a:spLocks noGrp="1"/>
          </p:cNvSpPr>
          <p:nvPr>
            <p:ph type="dt" sz="half" idx="10"/>
          </p:nvPr>
        </p:nvSpPr>
        <p:spPr/>
        <p:txBody>
          <a:bodyPr/>
          <a:lstStyle/>
          <a:p>
            <a:fld id="{73144839-39AF-4B24-A0D2-A72A3D90C04B}" type="datetime1">
              <a:rPr lang="en-US" smtClean="0"/>
              <a:t>8/26/2026</a:t>
            </a:fld>
            <a:endParaRPr lang="en-US"/>
          </a:p>
        </p:txBody>
      </p:sp>
      <p:sp>
        <p:nvSpPr>
          <p:cNvPr id="8" name="Footer Placeholder 7">
            <a:extLst>
              <a:ext uri="{FF2B5EF4-FFF2-40B4-BE49-F238E27FC236}">
                <a16:creationId xmlns:a16="http://schemas.microsoft.com/office/drawing/2014/main" id="{F52CECB4-5900-4266-8E9D-863B433406E9}"/>
              </a:ext>
            </a:extLst>
          </p:cNvPr>
          <p:cNvSpPr>
            <a:spLocks noGrp="1"/>
          </p:cNvSpPr>
          <p:nvPr>
            <p:ph type="ftr" sz="quarter" idx="11"/>
          </p:nvPr>
        </p:nvSpPr>
        <p:spPr/>
        <p:txBody>
          <a:bodyPr/>
          <a:lstStyle/>
          <a:p>
            <a:r>
              <a:rPr lang="it-IT" dirty="0"/>
              <a:t>Mr. Shamshad Ali             BCSE401: DSA-II  Unit-I                          </a:t>
            </a:r>
            <a:endParaRPr lang="en-US" dirty="0"/>
          </a:p>
        </p:txBody>
      </p:sp>
      <p:sp>
        <p:nvSpPr>
          <p:cNvPr id="9" name="Slide Number Placeholder 8">
            <a:extLst>
              <a:ext uri="{FF2B5EF4-FFF2-40B4-BE49-F238E27FC236}">
                <a16:creationId xmlns:a16="http://schemas.microsoft.com/office/drawing/2014/main" id="{26523CBB-8518-4EBA-8789-1E6E62CB5199}"/>
              </a:ext>
            </a:extLst>
          </p:cNvPr>
          <p:cNvSpPr>
            <a:spLocks noGrp="1"/>
          </p:cNvSpPr>
          <p:nvPr>
            <p:ph type="sldNum" sz="quarter" idx="12"/>
          </p:nvPr>
        </p:nvSpPr>
        <p:spPr/>
        <p:txBody>
          <a:bodyPr/>
          <a:lstStyle/>
          <a:p>
            <a:fld id="{B6F15528-21DE-4FAA-801E-634DDDAF4B2B}" type="slidenum">
              <a:rPr lang="en-US" smtClean="0"/>
              <a:pPr/>
              <a:t>76</a:t>
            </a:fld>
            <a:endParaRPr lang="en-US"/>
          </a:p>
        </p:txBody>
      </p:sp>
      <p:sp>
        <p:nvSpPr>
          <p:cNvPr id="10" name="TextBox 9">
            <a:extLst>
              <a:ext uri="{FF2B5EF4-FFF2-40B4-BE49-F238E27FC236}">
                <a16:creationId xmlns:a16="http://schemas.microsoft.com/office/drawing/2014/main" id="{5B54D0CC-F251-4C69-A515-E104B0B1763C}"/>
              </a:ext>
            </a:extLst>
          </p:cNvPr>
          <p:cNvSpPr txBox="1"/>
          <p:nvPr/>
        </p:nvSpPr>
        <p:spPr>
          <a:xfrm>
            <a:off x="2016918" y="1370806"/>
            <a:ext cx="7989888" cy="646331"/>
          </a:xfrm>
          <a:prstGeom prst="rect">
            <a:avLst/>
          </a:prstGeom>
          <a:noFill/>
        </p:spPr>
        <p:txBody>
          <a:bodyPr wrap="square" rtlCol="0">
            <a:spAutoFit/>
          </a:bodyPr>
          <a:lstStyle/>
          <a:p>
            <a:r>
              <a:rPr lang="en-US" dirty="0"/>
              <a:t>Post Order Traversal of BST is 10,9,23,22,27,25,15,95,60,40,29.</a:t>
            </a:r>
          </a:p>
          <a:p>
            <a:r>
              <a:rPr lang="en-US" dirty="0"/>
              <a:t>Find </a:t>
            </a:r>
            <a:r>
              <a:rPr lang="en-US" dirty="0" err="1"/>
              <a:t>PreOrder</a:t>
            </a:r>
            <a:r>
              <a:rPr lang="en-US" dirty="0"/>
              <a:t> traversal.</a:t>
            </a:r>
            <a:endParaRPr lang="en-IN" dirty="0"/>
          </a:p>
        </p:txBody>
      </p:sp>
      <p:pic>
        <p:nvPicPr>
          <p:cNvPr id="11" name="Picture 10">
            <a:extLst>
              <a:ext uri="{FF2B5EF4-FFF2-40B4-BE49-F238E27FC236}">
                <a16:creationId xmlns:a16="http://schemas.microsoft.com/office/drawing/2014/main" id="{10331D8A-9D36-4921-91EF-63605FCEE371}"/>
              </a:ext>
            </a:extLst>
          </p:cNvPr>
          <p:cNvPicPr>
            <a:picLocks noChangeAspect="1"/>
          </p:cNvPicPr>
          <p:nvPr/>
        </p:nvPicPr>
        <p:blipFill>
          <a:blip r:embed="rId2"/>
          <a:stretch>
            <a:fillRect/>
          </a:stretch>
        </p:blipFill>
        <p:spPr>
          <a:xfrm>
            <a:off x="3001962" y="2148287"/>
            <a:ext cx="6019800" cy="3698654"/>
          </a:xfrm>
          <a:prstGeom prst="rect">
            <a:avLst/>
          </a:prstGeom>
        </p:spPr>
      </p:pic>
    </p:spTree>
    <p:extLst>
      <p:ext uri="{BB962C8B-B14F-4D97-AF65-F5344CB8AC3E}">
        <p14:creationId xmlns:p14="http://schemas.microsoft.com/office/powerpoint/2010/main" val="2928499470"/>
      </p:ext>
    </p:extLst>
  </p:cSld>
  <p:clrMapOvr>
    <a:masterClrMapping/>
  </p:clrMapOvr>
  <p:transition spd="slow">
    <p:cove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F90A2E-E76D-48BA-AD7E-725712C5B02A}"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Binary Heap</a:t>
            </a:r>
          </a:p>
        </p:txBody>
      </p:sp>
      <p:sp>
        <p:nvSpPr>
          <p:cNvPr id="3" name="Content Placeholder 2"/>
          <p:cNvSpPr>
            <a:spLocks noGrp="1"/>
          </p:cNvSpPr>
          <p:nvPr>
            <p:ph idx="1"/>
          </p:nvPr>
        </p:nvSpPr>
        <p:spPr>
          <a:xfrm>
            <a:off x="2220191" y="1013401"/>
            <a:ext cx="8229600" cy="1676400"/>
          </a:xfrm>
        </p:spPr>
        <p:txBody>
          <a:bodyPr>
            <a:normAutofit fontScale="70000" lnSpcReduction="20000"/>
          </a:bodyPr>
          <a:lstStyle/>
          <a:p>
            <a:pPr algn="just"/>
            <a:r>
              <a:rPr lang="en-US" dirty="0"/>
              <a:t>A heap is a complete binary tree, and the binary tree is a tree in which the node can have at most two children. </a:t>
            </a:r>
          </a:p>
          <a:p>
            <a:pPr algn="just"/>
            <a:r>
              <a:rPr lang="en-US" dirty="0"/>
              <a:t>A complete binary tree is a binary tree in which all the levels except the last level, i.e., leaf node should be completely filled, and all the nodes should be left-justified.</a:t>
            </a:r>
          </a:p>
          <a:p>
            <a:endParaRPr lang="en-IN" dirty="0"/>
          </a:p>
        </p:txBody>
      </p:sp>
      <p:pic>
        <p:nvPicPr>
          <p:cNvPr id="8194" name="Picture 2" descr="Heap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9580" y="2631804"/>
            <a:ext cx="4525241" cy="3810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567728"/>
      </p:ext>
    </p:extLst>
  </p:cSld>
  <p:clrMapOvr>
    <a:masterClrMapping/>
  </p:clrMapOvr>
  <p:transition spd="slow">
    <p:cove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E69318-1596-4FC1-9F1C-C17A7C9CC22A}"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Binary Heap</a:t>
            </a:r>
          </a:p>
        </p:txBody>
      </p:sp>
      <p:sp>
        <p:nvSpPr>
          <p:cNvPr id="3" name="Content Placeholder 2"/>
          <p:cNvSpPr>
            <a:spLocks noGrp="1"/>
          </p:cNvSpPr>
          <p:nvPr>
            <p:ph idx="1"/>
          </p:nvPr>
        </p:nvSpPr>
        <p:spPr>
          <a:xfrm>
            <a:off x="1905001" y="1013402"/>
            <a:ext cx="8544791" cy="2665235"/>
          </a:xfrm>
        </p:spPr>
        <p:txBody>
          <a:bodyPr>
            <a:normAutofit fontScale="77500" lnSpcReduction="20000"/>
          </a:bodyPr>
          <a:lstStyle/>
          <a:p>
            <a:r>
              <a:rPr lang="en-US" dirty="0"/>
              <a:t>There are two types of the heap:</a:t>
            </a:r>
          </a:p>
          <a:p>
            <a:pPr lvl="1">
              <a:buFont typeface="Wingdings" panose="05000000000000000000" pitchFamily="2" charset="2"/>
              <a:buChar char="Ø"/>
            </a:pPr>
            <a:r>
              <a:rPr lang="en-IN" dirty="0"/>
              <a:t>Min Heap</a:t>
            </a:r>
          </a:p>
          <a:p>
            <a:pPr lvl="1">
              <a:buFont typeface="Wingdings" panose="05000000000000000000" pitchFamily="2" charset="2"/>
              <a:buChar char="Ø"/>
            </a:pPr>
            <a:r>
              <a:rPr lang="en-IN" dirty="0"/>
              <a:t>Max heap</a:t>
            </a:r>
          </a:p>
          <a:p>
            <a:endParaRPr lang="en-US" dirty="0"/>
          </a:p>
          <a:p>
            <a:pPr marL="0" indent="0">
              <a:buNone/>
            </a:pPr>
            <a:r>
              <a:rPr lang="en-US" b="1" dirty="0"/>
              <a:t>Min Heap</a:t>
            </a:r>
          </a:p>
          <a:p>
            <a:r>
              <a:rPr lang="en-US" dirty="0"/>
              <a:t>The value of the parent node should be less than or equal to either of its children.</a:t>
            </a:r>
            <a:endParaRPr lang="en-IN" dirty="0"/>
          </a:p>
        </p:txBody>
      </p:sp>
      <p:pic>
        <p:nvPicPr>
          <p:cNvPr id="1026" name="Picture 2" descr="Image result for min heap">
            <a:extLst>
              <a:ext uri="{FF2B5EF4-FFF2-40B4-BE49-F238E27FC236}">
                <a16:creationId xmlns:a16="http://schemas.microsoft.com/office/drawing/2014/main" id="{5E47FCB0-BE15-2952-0B80-A5AD11DA9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6688" y="3848951"/>
            <a:ext cx="4238625"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982202"/>
      </p:ext>
    </p:extLst>
  </p:cSld>
  <p:clrMapOvr>
    <a:masterClrMapping/>
  </p:clrMapOvr>
  <p:transition spd="slow">
    <p:cove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34DECE5-FD1E-4A17-8A8A-2CD27DD3730C}"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Max Heap</a:t>
            </a:r>
          </a:p>
        </p:txBody>
      </p:sp>
      <p:sp>
        <p:nvSpPr>
          <p:cNvPr id="3" name="Content Placeholder 2"/>
          <p:cNvSpPr>
            <a:spLocks noGrp="1"/>
          </p:cNvSpPr>
          <p:nvPr>
            <p:ph idx="1"/>
          </p:nvPr>
        </p:nvSpPr>
        <p:spPr>
          <a:xfrm>
            <a:off x="1905001" y="1013402"/>
            <a:ext cx="8544791" cy="1272599"/>
          </a:xfrm>
        </p:spPr>
        <p:txBody>
          <a:bodyPr>
            <a:normAutofit/>
          </a:bodyPr>
          <a:lstStyle/>
          <a:p>
            <a:r>
              <a:rPr lang="en-US" dirty="0"/>
              <a:t>The value of the parent node is greater than or equal to its children.</a:t>
            </a:r>
            <a:endParaRPr lang="en-IN" dirty="0"/>
          </a:p>
        </p:txBody>
      </p:sp>
      <p:pic>
        <p:nvPicPr>
          <p:cNvPr id="2050" name="Picture 2" descr="Image result for max heap ">
            <a:extLst>
              <a:ext uri="{FF2B5EF4-FFF2-40B4-BE49-F238E27FC236}">
                <a16:creationId xmlns:a16="http://schemas.microsoft.com/office/drawing/2014/main" id="{E744CD9D-7961-8FAD-8AA8-3F472C5C3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2286001"/>
            <a:ext cx="6161991" cy="3195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133737"/>
      </p:ext>
    </p:extLst>
  </p:cSld>
  <p:clrMapOvr>
    <a:masterClrMapping/>
  </p:clrMapOvr>
  <p:transition spd="slow">
    <p:cove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A17B1F7-76E8-44FB-B48B-A64D2D5A8CB1}"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Insertion in a Heap tree</a:t>
            </a:r>
          </a:p>
        </p:txBody>
      </p:sp>
      <p:sp>
        <p:nvSpPr>
          <p:cNvPr id="3" name="Content Placeholder 2"/>
          <p:cNvSpPr>
            <a:spLocks noGrp="1"/>
          </p:cNvSpPr>
          <p:nvPr>
            <p:ph idx="1"/>
          </p:nvPr>
        </p:nvSpPr>
        <p:spPr>
          <a:xfrm>
            <a:off x="1905001" y="1013402"/>
            <a:ext cx="8544791" cy="2644199"/>
          </a:xfrm>
        </p:spPr>
        <p:txBody>
          <a:bodyPr>
            <a:normAutofit fontScale="70000" lnSpcReduction="20000"/>
          </a:bodyPr>
          <a:lstStyle/>
          <a:p>
            <a:pPr marL="0" indent="0">
              <a:buNone/>
            </a:pPr>
            <a:r>
              <a:rPr lang="en-IN" b="1" dirty="0"/>
              <a:t>44, 33, 77, 11, 55, 88, 66</a:t>
            </a:r>
            <a:endParaRPr lang="en-US" dirty="0"/>
          </a:p>
          <a:p>
            <a:endParaRPr lang="en-US" dirty="0"/>
          </a:p>
          <a:p>
            <a:pPr algn="just"/>
            <a:r>
              <a:rPr lang="en-US" dirty="0"/>
              <a:t>Suppose we want to create the max heap tree. To create the max heap tree, we need to consider the following two cases:</a:t>
            </a:r>
          </a:p>
          <a:p>
            <a:pPr lvl="1" algn="just">
              <a:buFont typeface="Wingdings" panose="05000000000000000000" pitchFamily="2" charset="2"/>
              <a:buChar char="Ø"/>
            </a:pPr>
            <a:r>
              <a:rPr lang="en-US" dirty="0"/>
              <a:t>First, we have to insert the element in such a way that the property of the complete binary tree must be maintained.</a:t>
            </a:r>
          </a:p>
          <a:p>
            <a:pPr lvl="1" algn="just">
              <a:buFont typeface="Wingdings" panose="05000000000000000000" pitchFamily="2" charset="2"/>
              <a:buChar char="Ø"/>
            </a:pPr>
            <a:r>
              <a:rPr lang="en-US" dirty="0"/>
              <a:t>Secondly, the value of the parent node should be greater than the either of its child.</a:t>
            </a:r>
          </a:p>
          <a:p>
            <a:endParaRPr lang="en-IN" dirty="0"/>
          </a:p>
        </p:txBody>
      </p:sp>
      <p:pic>
        <p:nvPicPr>
          <p:cNvPr id="10242" name="Picture 2" descr="Heap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809" y="3853839"/>
            <a:ext cx="1485900" cy="1171575"/>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eap Data Stru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8593" y="3562927"/>
            <a:ext cx="2320014" cy="190904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eap Data Struc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1020" y="3779983"/>
            <a:ext cx="2627585"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eap Data Structu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6036" y="3359114"/>
            <a:ext cx="3058391" cy="243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110331"/>
      </p:ext>
    </p:extLst>
  </p:cSld>
  <p:clrMapOvr>
    <a:masterClrMapping/>
  </p:clrMapOvr>
  <p:transition spd="slow">
    <p:cove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C371201-B28E-46F7-9E4A-6EF3E5CA6D07}" type="datetime1">
              <a:rPr lang="en-US" smtClean="0"/>
              <a:t>8/26/2026</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Insertion in a Heap tree</a:t>
            </a:r>
          </a:p>
        </p:txBody>
      </p:sp>
      <p:pic>
        <p:nvPicPr>
          <p:cNvPr id="12292" name="Picture 4" descr="Heap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8691" y="907977"/>
            <a:ext cx="4286250" cy="2514602"/>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Heap Data Stru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35" y="682219"/>
            <a:ext cx="3657600" cy="2604341"/>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Heap Data Struc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7655" y="3286559"/>
            <a:ext cx="3492431" cy="2940628"/>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Heap Data Structu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5950" y="3064564"/>
            <a:ext cx="4762500" cy="3291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596577"/>
      </p:ext>
    </p:extLst>
  </p:cSld>
  <p:clrMapOvr>
    <a:masterClrMapping/>
  </p:clrMapOvr>
  <p:transition spd="slow">
    <p:cove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A6119-2B85-2245-B733-B64062E10366}"/>
              </a:ext>
            </a:extLst>
          </p:cNvPr>
          <p:cNvSpPr>
            <a:spLocks noGrp="1"/>
          </p:cNvSpPr>
          <p:nvPr>
            <p:ph type="title" idx="4294967295"/>
          </p:nvPr>
        </p:nvSpPr>
        <p:spPr>
          <a:xfrm>
            <a:off x="2667000" y="65035"/>
            <a:ext cx="9144000" cy="639762"/>
          </a:xfrm>
          <a:prstGeom prst="rect">
            <a:avLst/>
          </a:prstGeom>
        </p:spPr>
        <p:txBody>
          <a:bodyPr/>
          <a:lstStyle/>
          <a:p>
            <a:r>
              <a:rPr lang="en-US" sz="3200" i="0" dirty="0">
                <a:solidFill>
                  <a:srgbClr val="273239"/>
                </a:solidFill>
                <a:effectLst/>
                <a:latin typeface="Nunito" pitchFamily="2" charset="0"/>
                <a:hlinkClick r:id="rId2"/>
              </a:rPr>
              <a:t>Binary Heap</a:t>
            </a:r>
            <a:r>
              <a:rPr lang="en-US" sz="3200" i="0" dirty="0">
                <a:solidFill>
                  <a:srgbClr val="273239"/>
                </a:solidFill>
                <a:effectLst/>
                <a:latin typeface="Nunito" pitchFamily="2" charset="0"/>
              </a:rPr>
              <a:t> </a:t>
            </a:r>
            <a:endParaRPr lang="en-US" sz="3200" dirty="0"/>
          </a:p>
        </p:txBody>
      </p:sp>
      <p:sp>
        <p:nvSpPr>
          <p:cNvPr id="3" name="Content Placeholder 2">
            <a:extLst>
              <a:ext uri="{FF2B5EF4-FFF2-40B4-BE49-F238E27FC236}">
                <a16:creationId xmlns:a16="http://schemas.microsoft.com/office/drawing/2014/main" id="{54F22962-DA26-4D36-A701-AD21DC779732}"/>
              </a:ext>
            </a:extLst>
          </p:cNvPr>
          <p:cNvSpPr>
            <a:spLocks noGrp="1"/>
          </p:cNvSpPr>
          <p:nvPr>
            <p:ph idx="1"/>
          </p:nvPr>
        </p:nvSpPr>
        <p:spPr/>
        <p:txBody>
          <a:bodyPr>
            <a:normAutofit fontScale="92500"/>
          </a:bodyPr>
          <a:lstStyle/>
          <a:p>
            <a:pPr algn="l" fontAlgn="base">
              <a:buFont typeface="+mj-lt"/>
              <a:buAutoNum type="arabicPeriod"/>
            </a:pPr>
            <a:r>
              <a:rPr lang="en-US" b="0" i="0" dirty="0">
                <a:solidFill>
                  <a:srgbClr val="273239"/>
                </a:solidFill>
                <a:effectLst/>
                <a:latin typeface="Nunito" pitchFamily="2" charset="0"/>
              </a:rPr>
              <a:t>It is a </a:t>
            </a:r>
            <a:r>
              <a:rPr lang="en-US" b="0" i="0" u="sng" dirty="0">
                <a:solidFill>
                  <a:srgbClr val="273239"/>
                </a:solidFill>
                <a:effectLst/>
                <a:latin typeface="Nunito" pitchFamily="2" charset="0"/>
                <a:hlinkClick r:id="rId3"/>
              </a:rPr>
              <a:t>Complete Tree</a:t>
            </a:r>
            <a:r>
              <a:rPr lang="en-US" b="0" i="0" dirty="0">
                <a:solidFill>
                  <a:srgbClr val="273239"/>
                </a:solidFill>
                <a:effectLst/>
                <a:latin typeface="Nunito" pitchFamily="2" charset="0"/>
              </a:rPr>
              <a:t>. This property of Binary Heap makes them suitable to be stored in an </a:t>
            </a:r>
            <a:r>
              <a:rPr lang="en-US" b="0" i="0" u="sng" dirty="0">
                <a:solidFill>
                  <a:srgbClr val="273239"/>
                </a:solidFill>
                <a:effectLst/>
                <a:latin typeface="Nunito" pitchFamily="2" charset="0"/>
                <a:hlinkClick r:id="rId4"/>
              </a:rPr>
              <a:t>array</a:t>
            </a:r>
            <a:r>
              <a:rPr lang="en-US" b="0" i="0" dirty="0">
                <a:solidFill>
                  <a:srgbClr val="273239"/>
                </a:solidFill>
                <a:effectLst/>
                <a:latin typeface="Nunito" pitchFamily="2" charset="0"/>
              </a:rPr>
              <a:t>.</a:t>
            </a:r>
          </a:p>
          <a:p>
            <a:pPr algn="l" fontAlgn="base">
              <a:buFont typeface="+mj-lt"/>
              <a:buAutoNum type="arabicPeriod"/>
            </a:pPr>
            <a:r>
              <a:rPr lang="en-US" b="0" i="0" dirty="0">
                <a:solidFill>
                  <a:srgbClr val="273239"/>
                </a:solidFill>
                <a:effectLst/>
                <a:latin typeface="Nunito" pitchFamily="2" charset="0"/>
              </a:rPr>
              <a:t>A Binary Heap is either </a:t>
            </a:r>
            <a:r>
              <a:rPr lang="en-US" b="1" i="0" dirty="0">
                <a:solidFill>
                  <a:srgbClr val="273239"/>
                </a:solidFill>
                <a:effectLst/>
                <a:latin typeface="Nunito" pitchFamily="2" charset="0"/>
              </a:rPr>
              <a:t>Min Heap</a:t>
            </a:r>
            <a:r>
              <a:rPr lang="en-US" b="0" i="0" dirty="0">
                <a:solidFill>
                  <a:srgbClr val="273239"/>
                </a:solidFill>
                <a:effectLst/>
                <a:latin typeface="Nunito" pitchFamily="2" charset="0"/>
              </a:rPr>
              <a:t> or </a:t>
            </a:r>
            <a:r>
              <a:rPr lang="en-US" b="1" i="0" dirty="0">
                <a:solidFill>
                  <a:srgbClr val="273239"/>
                </a:solidFill>
                <a:effectLst/>
                <a:latin typeface="Nunito" pitchFamily="2" charset="0"/>
              </a:rPr>
              <a:t>Max Heap</a:t>
            </a:r>
            <a:r>
              <a:rPr lang="en-US" b="0" i="0" dirty="0">
                <a:solidFill>
                  <a:srgbClr val="273239"/>
                </a:solidFill>
                <a:effectLst/>
                <a:latin typeface="Nunito" pitchFamily="2" charset="0"/>
              </a:rPr>
              <a:t>.</a:t>
            </a:r>
          </a:p>
          <a:p>
            <a:pPr algn="l" fontAlgn="base">
              <a:buFont typeface="+mj-lt"/>
              <a:buAutoNum type="arabicPeriod"/>
            </a:pPr>
            <a:r>
              <a:rPr lang="en-US" b="0" i="0" dirty="0">
                <a:solidFill>
                  <a:srgbClr val="273239"/>
                </a:solidFill>
                <a:effectLst/>
                <a:latin typeface="Nunito" pitchFamily="2" charset="0"/>
              </a:rPr>
              <a:t>In a </a:t>
            </a:r>
            <a:r>
              <a:rPr lang="en-US" b="1" i="0" dirty="0">
                <a:solidFill>
                  <a:srgbClr val="273239"/>
                </a:solidFill>
                <a:effectLst/>
                <a:latin typeface="Nunito" pitchFamily="2" charset="0"/>
              </a:rPr>
              <a:t>Min Binary Heap</a:t>
            </a:r>
            <a:r>
              <a:rPr lang="en-US" b="0" i="0" dirty="0">
                <a:solidFill>
                  <a:srgbClr val="273239"/>
                </a:solidFill>
                <a:effectLst/>
                <a:latin typeface="Nunito" pitchFamily="2" charset="0"/>
              </a:rPr>
              <a:t>, the key at the root must be minimum among all keys present in Binary Heap. The same property must be recursively true for all nodes in </a:t>
            </a:r>
            <a:r>
              <a:rPr lang="en-US" b="0" i="0" u="sng" dirty="0">
                <a:solidFill>
                  <a:srgbClr val="273239"/>
                </a:solidFill>
                <a:effectLst/>
                <a:latin typeface="Nunito" pitchFamily="2" charset="0"/>
                <a:hlinkClick r:id="rId5"/>
              </a:rPr>
              <a:t>Binary Tree</a:t>
            </a:r>
            <a:r>
              <a:rPr lang="en-US" b="0" i="0" dirty="0">
                <a:solidFill>
                  <a:srgbClr val="273239"/>
                </a:solidFill>
                <a:effectLst/>
                <a:latin typeface="Nunito" pitchFamily="2" charset="0"/>
              </a:rPr>
              <a:t>.</a:t>
            </a:r>
          </a:p>
          <a:p>
            <a:pPr algn="l" fontAlgn="base">
              <a:buFont typeface="+mj-lt"/>
              <a:buAutoNum type="arabicPeriod"/>
            </a:pPr>
            <a:r>
              <a:rPr lang="en-US" b="0" i="0" dirty="0">
                <a:solidFill>
                  <a:srgbClr val="273239"/>
                </a:solidFill>
                <a:effectLst/>
                <a:latin typeface="Nunito" pitchFamily="2" charset="0"/>
              </a:rPr>
              <a:t>Similarly, in a </a:t>
            </a:r>
            <a:r>
              <a:rPr lang="en-US" b="1" i="0" dirty="0">
                <a:solidFill>
                  <a:srgbClr val="273239"/>
                </a:solidFill>
                <a:effectLst/>
                <a:latin typeface="Nunito" pitchFamily="2" charset="0"/>
              </a:rPr>
              <a:t>Max Binary Heap</a:t>
            </a:r>
            <a:r>
              <a:rPr lang="en-US" b="0" i="0" dirty="0">
                <a:solidFill>
                  <a:srgbClr val="273239"/>
                </a:solidFill>
                <a:effectLst/>
                <a:latin typeface="Nunito" pitchFamily="2" charset="0"/>
              </a:rPr>
              <a:t>, the key at the root must be maximum among all keys present in Binary Heap. The same property must be recursively true for all nodes in Binary Tree.</a:t>
            </a:r>
          </a:p>
          <a:p>
            <a:endParaRPr lang="en-US" dirty="0"/>
          </a:p>
        </p:txBody>
      </p:sp>
      <p:sp>
        <p:nvSpPr>
          <p:cNvPr id="4" name="Date Placeholder 3">
            <a:extLst>
              <a:ext uri="{FF2B5EF4-FFF2-40B4-BE49-F238E27FC236}">
                <a16:creationId xmlns:a16="http://schemas.microsoft.com/office/drawing/2014/main" id="{782794EF-4233-D9BF-64D7-F507A9310F18}"/>
              </a:ext>
            </a:extLst>
          </p:cNvPr>
          <p:cNvSpPr>
            <a:spLocks noGrp="1"/>
          </p:cNvSpPr>
          <p:nvPr>
            <p:ph type="dt" sz="half" idx="10"/>
          </p:nvPr>
        </p:nvSpPr>
        <p:spPr/>
        <p:txBody>
          <a:bodyPr/>
          <a:lstStyle/>
          <a:p>
            <a:fld id="{403555D4-4EF5-4F6D-8EB7-568417EFEEC6}" type="datetime1">
              <a:rPr lang="en-US" smtClean="0"/>
              <a:t>8/26/2026</a:t>
            </a:fld>
            <a:endParaRPr lang="en-US"/>
          </a:p>
        </p:txBody>
      </p:sp>
      <p:sp>
        <p:nvSpPr>
          <p:cNvPr id="5" name="Footer Placeholder 4">
            <a:extLst>
              <a:ext uri="{FF2B5EF4-FFF2-40B4-BE49-F238E27FC236}">
                <a16:creationId xmlns:a16="http://schemas.microsoft.com/office/drawing/2014/main" id="{3F071E57-69A4-4249-5C31-E702BB04A97F}"/>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6A5AA1C0-D7A1-0BBC-5C94-FF71AD2954A2}"/>
              </a:ext>
            </a:extLst>
          </p:cNvPr>
          <p:cNvSpPr>
            <a:spLocks noGrp="1"/>
          </p:cNvSpPr>
          <p:nvPr>
            <p:ph type="sldNum" sz="quarter" idx="12"/>
          </p:nvPr>
        </p:nvSpPr>
        <p:spPr/>
        <p:txBody>
          <a:bodyPr/>
          <a:lstStyle/>
          <a:p>
            <a:fld id="{B6F15528-21DE-4FAA-801E-634DDDAF4B2B}" type="slidenum">
              <a:rPr lang="en-US" smtClean="0"/>
              <a:pPr/>
              <a:t>82</a:t>
            </a:fld>
            <a:endParaRPr lang="en-US"/>
          </a:p>
        </p:txBody>
      </p:sp>
    </p:spTree>
    <p:extLst>
      <p:ext uri="{BB962C8B-B14F-4D97-AF65-F5344CB8AC3E}">
        <p14:creationId xmlns:p14="http://schemas.microsoft.com/office/powerpoint/2010/main" val="979496850"/>
      </p:ext>
    </p:extLst>
  </p:cSld>
  <p:clrMapOvr>
    <a:masterClrMapping/>
  </p:clrMapOvr>
  <p:transition spd="slow">
    <p:cove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E3A3-A1A8-B25A-40D3-52536F514A40}"/>
              </a:ext>
            </a:extLst>
          </p:cNvPr>
          <p:cNvSpPr>
            <a:spLocks noGrp="1"/>
          </p:cNvSpPr>
          <p:nvPr>
            <p:ph type="title" idx="4294967295"/>
          </p:nvPr>
        </p:nvSpPr>
        <p:spPr>
          <a:xfrm>
            <a:off x="2743200" y="0"/>
            <a:ext cx="9067800" cy="411164"/>
          </a:xfrm>
          <a:prstGeom prst="rect">
            <a:avLst/>
          </a:prstGeom>
        </p:spPr>
        <p:txBody>
          <a:bodyPr>
            <a:noAutofit/>
          </a:bodyPr>
          <a:lstStyle/>
          <a:p>
            <a:r>
              <a:rPr lang="en-US" sz="3200" b="1" i="0" dirty="0">
                <a:solidFill>
                  <a:srgbClr val="273239"/>
                </a:solidFill>
                <a:effectLst/>
                <a:latin typeface="Nunito" pitchFamily="2" charset="0"/>
              </a:rPr>
              <a:t>Operation on Binary Heap </a:t>
            </a:r>
            <a:endParaRPr lang="en-US" sz="3200" dirty="0"/>
          </a:p>
        </p:txBody>
      </p:sp>
      <p:sp>
        <p:nvSpPr>
          <p:cNvPr id="3" name="Content Placeholder 2">
            <a:extLst>
              <a:ext uri="{FF2B5EF4-FFF2-40B4-BE49-F238E27FC236}">
                <a16:creationId xmlns:a16="http://schemas.microsoft.com/office/drawing/2014/main" id="{2A17B0E1-80B6-C314-0487-B04561646876}"/>
              </a:ext>
            </a:extLst>
          </p:cNvPr>
          <p:cNvSpPr>
            <a:spLocks noGrp="1"/>
          </p:cNvSpPr>
          <p:nvPr>
            <p:ph idx="1"/>
          </p:nvPr>
        </p:nvSpPr>
        <p:spPr/>
        <p:txBody>
          <a:bodyPr>
            <a:normAutofit/>
          </a:bodyPr>
          <a:lstStyle/>
          <a:p>
            <a:pPr algn="l" fontAlgn="base">
              <a:buFont typeface="Arial" panose="020B0604020202020204" pitchFamily="34" charset="0"/>
              <a:buChar char="•"/>
            </a:pPr>
            <a:r>
              <a:rPr lang="en-US" b="1" i="0" dirty="0">
                <a:solidFill>
                  <a:srgbClr val="273239"/>
                </a:solidFill>
                <a:effectLst/>
                <a:latin typeface="Nunito" pitchFamily="2" charset="0"/>
              </a:rPr>
              <a:t>insert(p):</a:t>
            </a:r>
            <a:r>
              <a:rPr lang="en-US" b="0" i="0" dirty="0">
                <a:solidFill>
                  <a:srgbClr val="273239"/>
                </a:solidFill>
                <a:effectLst/>
                <a:latin typeface="Nunito" pitchFamily="2" charset="0"/>
              </a:rPr>
              <a:t> Inserts a new element with priority </a:t>
            </a:r>
            <a:r>
              <a:rPr lang="en-US" b="1" i="0" dirty="0">
                <a:solidFill>
                  <a:srgbClr val="273239"/>
                </a:solidFill>
                <a:effectLst/>
                <a:latin typeface="Nunito" pitchFamily="2" charset="0"/>
              </a:rPr>
              <a:t>p</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err="1">
                <a:solidFill>
                  <a:srgbClr val="273239"/>
                </a:solidFill>
                <a:effectLst/>
                <a:latin typeface="Nunito" pitchFamily="2" charset="0"/>
              </a:rPr>
              <a:t>extractMax</a:t>
            </a:r>
            <a:r>
              <a:rPr lang="en-US" b="1" i="0" dirty="0">
                <a:solidFill>
                  <a:srgbClr val="273239"/>
                </a:solidFill>
                <a:effectLst/>
                <a:latin typeface="Nunito" pitchFamily="2" charset="0"/>
              </a:rPr>
              <a:t>():</a:t>
            </a:r>
            <a:r>
              <a:rPr lang="en-US" b="0" i="0" dirty="0">
                <a:solidFill>
                  <a:srgbClr val="273239"/>
                </a:solidFill>
                <a:effectLst/>
                <a:latin typeface="Nunito" pitchFamily="2" charset="0"/>
              </a:rPr>
              <a:t> Extracts an element with maximum priority.</a:t>
            </a:r>
          </a:p>
          <a:p>
            <a:pPr algn="l" fontAlgn="base">
              <a:buFont typeface="Arial" panose="020B0604020202020204" pitchFamily="34" charset="0"/>
              <a:buChar char="•"/>
            </a:pPr>
            <a:r>
              <a:rPr lang="en-US" b="1" i="0" dirty="0" err="1">
                <a:solidFill>
                  <a:srgbClr val="273239"/>
                </a:solidFill>
                <a:effectLst/>
                <a:latin typeface="Nunito" pitchFamily="2" charset="0"/>
              </a:rPr>
              <a:t>getMax</a:t>
            </a:r>
            <a:r>
              <a:rPr lang="en-US" b="1" i="0" dirty="0">
                <a:solidFill>
                  <a:srgbClr val="273239"/>
                </a:solidFill>
                <a:effectLst/>
                <a:latin typeface="Nunito" pitchFamily="2" charset="0"/>
              </a:rPr>
              <a:t>():</a:t>
            </a:r>
            <a:r>
              <a:rPr lang="en-US" b="0" i="0" dirty="0">
                <a:solidFill>
                  <a:srgbClr val="273239"/>
                </a:solidFill>
                <a:effectLst/>
                <a:latin typeface="Nunito" pitchFamily="2" charset="0"/>
              </a:rPr>
              <a:t> Returns an element with maximum priority.</a:t>
            </a:r>
          </a:p>
          <a:p>
            <a:pPr algn="l" fontAlgn="base">
              <a:buFont typeface="Arial" panose="020B0604020202020204" pitchFamily="34" charset="0"/>
              <a:buChar char="•"/>
            </a:pPr>
            <a:r>
              <a:rPr lang="en-US" b="1" i="0" dirty="0" err="1">
                <a:solidFill>
                  <a:srgbClr val="273239"/>
                </a:solidFill>
                <a:effectLst/>
                <a:latin typeface="Nunito" pitchFamily="2" charset="0"/>
              </a:rPr>
              <a:t>IncreaseKey</a:t>
            </a:r>
            <a:r>
              <a:rPr lang="en-US" b="1" i="0" dirty="0">
                <a:solidFill>
                  <a:srgbClr val="273239"/>
                </a:solidFill>
                <a:effectLst/>
                <a:latin typeface="Nunito" pitchFamily="2" charset="0"/>
              </a:rPr>
              <a:t>(i, p):</a:t>
            </a:r>
            <a:r>
              <a:rPr lang="en-US" b="0" i="0" dirty="0">
                <a:solidFill>
                  <a:srgbClr val="273239"/>
                </a:solidFill>
                <a:effectLst/>
                <a:latin typeface="Nunito" pitchFamily="2" charset="0"/>
              </a:rPr>
              <a:t> Increase the priority of an element pointed by </a:t>
            </a:r>
            <a:r>
              <a:rPr lang="en-US" b="1" i="0" dirty="0">
                <a:solidFill>
                  <a:srgbClr val="273239"/>
                </a:solidFill>
                <a:effectLst/>
                <a:latin typeface="Nunito" pitchFamily="2" charset="0"/>
              </a:rPr>
              <a:t>i</a:t>
            </a:r>
            <a:r>
              <a:rPr lang="en-US" b="0" i="0" dirty="0">
                <a:solidFill>
                  <a:srgbClr val="273239"/>
                </a:solidFill>
                <a:effectLst/>
                <a:latin typeface="Nunito" pitchFamily="2" charset="0"/>
              </a:rPr>
              <a:t> to </a:t>
            </a:r>
            <a:r>
              <a:rPr lang="en-US" b="1" i="0" dirty="0">
                <a:solidFill>
                  <a:srgbClr val="273239"/>
                </a:solidFill>
                <a:effectLst/>
                <a:latin typeface="Nunito" pitchFamily="2" charset="0"/>
              </a:rPr>
              <a:t>p</a:t>
            </a:r>
            <a:r>
              <a:rPr lang="en-US" b="0" i="0" dirty="0">
                <a:solidFill>
                  <a:srgbClr val="273239"/>
                </a:solidFill>
                <a:effectLst/>
                <a:latin typeface="Nunito" pitchFamily="2" charset="0"/>
              </a:rPr>
              <a:t>.</a:t>
            </a:r>
          </a:p>
          <a:p>
            <a:endParaRPr lang="en-US" dirty="0"/>
          </a:p>
        </p:txBody>
      </p:sp>
      <p:sp>
        <p:nvSpPr>
          <p:cNvPr id="4" name="Date Placeholder 3">
            <a:extLst>
              <a:ext uri="{FF2B5EF4-FFF2-40B4-BE49-F238E27FC236}">
                <a16:creationId xmlns:a16="http://schemas.microsoft.com/office/drawing/2014/main" id="{755C948E-54BE-B122-06C8-9B30F9E53C46}"/>
              </a:ext>
            </a:extLst>
          </p:cNvPr>
          <p:cNvSpPr>
            <a:spLocks noGrp="1"/>
          </p:cNvSpPr>
          <p:nvPr>
            <p:ph type="dt" sz="half" idx="10"/>
          </p:nvPr>
        </p:nvSpPr>
        <p:spPr/>
        <p:txBody>
          <a:bodyPr/>
          <a:lstStyle/>
          <a:p>
            <a:fld id="{06386222-512D-4659-BCEC-74F73160B254}" type="datetime1">
              <a:rPr lang="en-US" smtClean="0"/>
              <a:t>8/26/2026</a:t>
            </a:fld>
            <a:endParaRPr lang="en-US"/>
          </a:p>
        </p:txBody>
      </p:sp>
      <p:sp>
        <p:nvSpPr>
          <p:cNvPr id="5" name="Footer Placeholder 4">
            <a:extLst>
              <a:ext uri="{FF2B5EF4-FFF2-40B4-BE49-F238E27FC236}">
                <a16:creationId xmlns:a16="http://schemas.microsoft.com/office/drawing/2014/main" id="{EFED0AC8-CCE6-E60D-00B7-8FEE02EE43BC}"/>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1D5DE027-887A-60E0-A57B-C5777BA39F4E}"/>
              </a:ext>
            </a:extLst>
          </p:cNvPr>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p14="http://schemas.microsoft.com/office/powerpoint/2010/main" val="2473860453"/>
      </p:ext>
    </p:extLst>
  </p:cSld>
  <p:clrMapOvr>
    <a:masterClrMapping/>
  </p:clrMapOvr>
  <p:transition spd="slow">
    <p:cove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67A5-E10B-7941-BCA2-05FF948227BC}"/>
              </a:ext>
            </a:extLst>
          </p:cNvPr>
          <p:cNvSpPr>
            <a:spLocks noGrp="1"/>
          </p:cNvSpPr>
          <p:nvPr>
            <p:ph type="title" idx="4294967295"/>
          </p:nvPr>
        </p:nvSpPr>
        <p:spPr>
          <a:xfrm>
            <a:off x="609600" y="680642"/>
            <a:ext cx="10972800" cy="1143000"/>
          </a:xfrm>
          <a:prstGeom prst="rect">
            <a:avLst/>
          </a:prstGeom>
        </p:spPr>
        <p:txBody>
          <a:bodyPr/>
          <a:lstStyle/>
          <a:p>
            <a:r>
              <a:rPr lang="en-US" dirty="0"/>
              <a:t>Insert 32 in this tree</a:t>
            </a:r>
          </a:p>
        </p:txBody>
      </p:sp>
      <p:sp>
        <p:nvSpPr>
          <p:cNvPr id="4" name="Date Placeholder 3">
            <a:extLst>
              <a:ext uri="{FF2B5EF4-FFF2-40B4-BE49-F238E27FC236}">
                <a16:creationId xmlns:a16="http://schemas.microsoft.com/office/drawing/2014/main" id="{3A6EB2EE-CD19-916C-338B-C47025BC0E5F}"/>
              </a:ext>
            </a:extLst>
          </p:cNvPr>
          <p:cNvSpPr>
            <a:spLocks noGrp="1"/>
          </p:cNvSpPr>
          <p:nvPr>
            <p:ph type="dt" sz="half" idx="10"/>
          </p:nvPr>
        </p:nvSpPr>
        <p:spPr/>
        <p:txBody>
          <a:bodyPr/>
          <a:lstStyle/>
          <a:p>
            <a:fld id="{42144027-3EF9-43A9-85B4-A444044C4078}" type="datetime1">
              <a:rPr lang="en-US" smtClean="0"/>
              <a:t>8/26/2026</a:t>
            </a:fld>
            <a:endParaRPr lang="en-US"/>
          </a:p>
        </p:txBody>
      </p:sp>
      <p:sp>
        <p:nvSpPr>
          <p:cNvPr id="5" name="Footer Placeholder 4">
            <a:extLst>
              <a:ext uri="{FF2B5EF4-FFF2-40B4-BE49-F238E27FC236}">
                <a16:creationId xmlns:a16="http://schemas.microsoft.com/office/drawing/2014/main" id="{813857FC-715F-2776-5439-950F74090C69}"/>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7A1E07E9-96AC-30EF-0A63-A86A9A7CD2F3}"/>
              </a:ext>
            </a:extLst>
          </p:cNvPr>
          <p:cNvSpPr>
            <a:spLocks noGrp="1"/>
          </p:cNvSpPr>
          <p:nvPr>
            <p:ph type="sldNum" sz="quarter" idx="12"/>
          </p:nvPr>
        </p:nvSpPr>
        <p:spPr/>
        <p:txBody>
          <a:bodyPr/>
          <a:lstStyle/>
          <a:p>
            <a:fld id="{B6F15528-21DE-4FAA-801E-634DDDAF4B2B}" type="slidenum">
              <a:rPr lang="en-US" smtClean="0"/>
              <a:pPr/>
              <a:t>84</a:t>
            </a:fld>
            <a:endParaRPr lang="en-US"/>
          </a:p>
        </p:txBody>
      </p:sp>
      <p:pic>
        <p:nvPicPr>
          <p:cNvPr id="1026" name="Picture 2" descr="Lightbox">
            <a:extLst>
              <a:ext uri="{FF2B5EF4-FFF2-40B4-BE49-F238E27FC236}">
                <a16:creationId xmlns:a16="http://schemas.microsoft.com/office/drawing/2014/main" id="{BF841DDA-F7F4-2288-CE9E-BBC85D40C6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4213" y="2277270"/>
            <a:ext cx="5743575"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375357"/>
      </p:ext>
    </p:extLst>
  </p:cSld>
  <p:clrMapOvr>
    <a:masterClrMapping/>
  </p:clrMapOvr>
  <p:transition spd="slow">
    <p:cove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66502-5A73-A314-4E3F-335509FCEF89}"/>
              </a:ext>
            </a:extLst>
          </p:cNvPr>
          <p:cNvSpPr>
            <a:spLocks noGrp="1"/>
          </p:cNvSpPr>
          <p:nvPr>
            <p:ph type="title" idx="4294967295"/>
          </p:nvPr>
        </p:nvSpPr>
        <p:spPr>
          <a:xfrm>
            <a:off x="609600" y="274638"/>
            <a:ext cx="10972800" cy="1143000"/>
          </a:xfrm>
          <a:prstGeom prst="rect">
            <a:avLst/>
          </a:prstGeom>
        </p:spPr>
        <p:txBody>
          <a:bodyPr/>
          <a:lstStyle/>
          <a:p>
            <a:endParaRPr lang="en-US"/>
          </a:p>
        </p:txBody>
      </p:sp>
      <p:sp>
        <p:nvSpPr>
          <p:cNvPr id="4" name="Date Placeholder 3">
            <a:extLst>
              <a:ext uri="{FF2B5EF4-FFF2-40B4-BE49-F238E27FC236}">
                <a16:creationId xmlns:a16="http://schemas.microsoft.com/office/drawing/2014/main" id="{005106C4-C996-E7B4-BED9-E6B371921408}"/>
              </a:ext>
            </a:extLst>
          </p:cNvPr>
          <p:cNvSpPr>
            <a:spLocks noGrp="1"/>
          </p:cNvSpPr>
          <p:nvPr>
            <p:ph type="dt" sz="half" idx="10"/>
          </p:nvPr>
        </p:nvSpPr>
        <p:spPr/>
        <p:txBody>
          <a:bodyPr/>
          <a:lstStyle/>
          <a:p>
            <a:fld id="{D7A5541C-74FD-44DE-BFCD-52086E04EAEF}" type="datetime1">
              <a:rPr lang="en-US" smtClean="0"/>
              <a:t>8/26/2026</a:t>
            </a:fld>
            <a:endParaRPr lang="en-US"/>
          </a:p>
        </p:txBody>
      </p:sp>
      <p:sp>
        <p:nvSpPr>
          <p:cNvPr id="5" name="Footer Placeholder 4">
            <a:extLst>
              <a:ext uri="{FF2B5EF4-FFF2-40B4-BE49-F238E27FC236}">
                <a16:creationId xmlns:a16="http://schemas.microsoft.com/office/drawing/2014/main" id="{300B8309-F24C-B01C-662F-6DB803FF8837}"/>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A6A53EC4-C78D-1BBE-07C1-7B48990ABCC9}"/>
              </a:ext>
            </a:extLst>
          </p:cNvPr>
          <p:cNvSpPr>
            <a:spLocks noGrp="1"/>
          </p:cNvSpPr>
          <p:nvPr>
            <p:ph type="sldNum" sz="quarter" idx="12"/>
          </p:nvPr>
        </p:nvSpPr>
        <p:spPr/>
        <p:txBody>
          <a:bodyPr/>
          <a:lstStyle/>
          <a:p>
            <a:fld id="{B6F15528-21DE-4FAA-801E-634DDDAF4B2B}" type="slidenum">
              <a:rPr lang="en-US" smtClean="0"/>
              <a:pPr/>
              <a:t>85</a:t>
            </a:fld>
            <a:endParaRPr lang="en-US"/>
          </a:p>
        </p:txBody>
      </p:sp>
      <p:pic>
        <p:nvPicPr>
          <p:cNvPr id="2050" name="Picture 2" descr="Lightbox">
            <a:extLst>
              <a:ext uri="{FF2B5EF4-FFF2-40B4-BE49-F238E27FC236}">
                <a16:creationId xmlns:a16="http://schemas.microsoft.com/office/drawing/2014/main" id="{64B6B764-B790-A2DF-D86B-9C793E21A6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00400" y="136525"/>
            <a:ext cx="5037846" cy="278209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C13CF837-2D7E-6460-A931-F359F02C5F7F}"/>
              </a:ext>
            </a:extLst>
          </p:cNvPr>
          <p:cNvCxnSpPr/>
          <p:nvPr/>
        </p:nvCxnSpPr>
        <p:spPr>
          <a:xfrm>
            <a:off x="6858000" y="2362200"/>
            <a:ext cx="0" cy="9906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052" name="Picture 4" descr="Lightbox">
            <a:extLst>
              <a:ext uri="{FF2B5EF4-FFF2-40B4-BE49-F238E27FC236}">
                <a16:creationId xmlns:a16="http://schemas.microsoft.com/office/drawing/2014/main" id="{B241A57F-EEA9-AF95-17AC-3B85CDCEA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213" y="3686176"/>
            <a:ext cx="5743575"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8507357"/>
      </p:ext>
    </p:extLst>
  </p:cSld>
  <p:clrMapOvr>
    <a:masterClrMapping/>
  </p:clrMapOvr>
  <p:transition spd="slow">
    <p:cove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B2284-220B-44B6-D0B5-623BA32305E5}"/>
              </a:ext>
            </a:extLst>
          </p:cNvPr>
          <p:cNvSpPr>
            <a:spLocks noGrp="1"/>
          </p:cNvSpPr>
          <p:nvPr>
            <p:ph type="title" idx="4294967295"/>
          </p:nvPr>
        </p:nvSpPr>
        <p:spPr>
          <a:xfrm>
            <a:off x="647700" y="561974"/>
            <a:ext cx="10972800" cy="1143000"/>
          </a:xfrm>
          <a:prstGeom prst="rect">
            <a:avLst/>
          </a:prstGeom>
        </p:spPr>
        <p:txBody>
          <a:bodyPr/>
          <a:lstStyle/>
          <a:p>
            <a:r>
              <a:rPr lang="en-US" dirty="0"/>
              <a:t>Extract Max</a:t>
            </a:r>
          </a:p>
        </p:txBody>
      </p:sp>
      <p:sp>
        <p:nvSpPr>
          <p:cNvPr id="4" name="Date Placeholder 3">
            <a:extLst>
              <a:ext uri="{FF2B5EF4-FFF2-40B4-BE49-F238E27FC236}">
                <a16:creationId xmlns:a16="http://schemas.microsoft.com/office/drawing/2014/main" id="{C891E775-1079-BCA8-33EA-7ADFD8C6F1EE}"/>
              </a:ext>
            </a:extLst>
          </p:cNvPr>
          <p:cNvSpPr>
            <a:spLocks noGrp="1"/>
          </p:cNvSpPr>
          <p:nvPr>
            <p:ph type="dt" sz="half" idx="10"/>
          </p:nvPr>
        </p:nvSpPr>
        <p:spPr/>
        <p:txBody>
          <a:bodyPr/>
          <a:lstStyle/>
          <a:p>
            <a:fld id="{48665169-0B08-416F-AC4A-250202027566}" type="datetime1">
              <a:rPr lang="en-US" smtClean="0"/>
              <a:t>8/26/2026</a:t>
            </a:fld>
            <a:endParaRPr lang="en-US"/>
          </a:p>
        </p:txBody>
      </p:sp>
      <p:sp>
        <p:nvSpPr>
          <p:cNvPr id="5" name="Footer Placeholder 4">
            <a:extLst>
              <a:ext uri="{FF2B5EF4-FFF2-40B4-BE49-F238E27FC236}">
                <a16:creationId xmlns:a16="http://schemas.microsoft.com/office/drawing/2014/main" id="{EFAB000B-B787-695A-C4E9-3BC35EA45749}"/>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617E5786-7063-2601-B554-447A72561D2B}"/>
              </a:ext>
            </a:extLst>
          </p:cNvPr>
          <p:cNvSpPr>
            <a:spLocks noGrp="1"/>
          </p:cNvSpPr>
          <p:nvPr>
            <p:ph type="sldNum" sz="quarter" idx="12"/>
          </p:nvPr>
        </p:nvSpPr>
        <p:spPr/>
        <p:txBody>
          <a:bodyPr/>
          <a:lstStyle/>
          <a:p>
            <a:fld id="{B6F15528-21DE-4FAA-801E-634DDDAF4B2B}" type="slidenum">
              <a:rPr lang="en-US" smtClean="0"/>
              <a:pPr/>
              <a:t>86</a:t>
            </a:fld>
            <a:endParaRPr lang="en-US"/>
          </a:p>
        </p:txBody>
      </p:sp>
      <p:pic>
        <p:nvPicPr>
          <p:cNvPr id="7" name="Picture 4" descr="Lightbox">
            <a:extLst>
              <a:ext uri="{FF2B5EF4-FFF2-40B4-BE49-F238E27FC236}">
                <a16:creationId xmlns:a16="http://schemas.microsoft.com/office/drawing/2014/main" id="{F2CE6820-E19C-5C7E-CEF2-CF62F85C1D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1981201"/>
            <a:ext cx="5743575"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316229"/>
      </p:ext>
    </p:extLst>
  </p:cSld>
  <p:clrMapOvr>
    <a:masterClrMapping/>
  </p:clrMapOvr>
  <p:transition spd="slow">
    <p:cove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FFD3-F397-0AD3-FB1A-F32A3075C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985C3-20CA-2AD3-CF93-88FB9D3FBEFC}"/>
              </a:ext>
            </a:extLst>
          </p:cNvPr>
          <p:cNvSpPr>
            <a:spLocks noGrp="1"/>
          </p:cNvSpPr>
          <p:nvPr>
            <p:ph type="title" idx="4294967295"/>
          </p:nvPr>
        </p:nvSpPr>
        <p:spPr>
          <a:xfrm>
            <a:off x="609600" y="274638"/>
            <a:ext cx="10972800" cy="1143000"/>
          </a:xfrm>
          <a:prstGeom prst="rect">
            <a:avLst/>
          </a:prstGeom>
        </p:spPr>
        <p:txBody>
          <a:bodyPr/>
          <a:lstStyle/>
          <a:p>
            <a:r>
              <a:rPr lang="en-US" dirty="0"/>
              <a:t>Extract Max</a:t>
            </a:r>
          </a:p>
        </p:txBody>
      </p:sp>
      <p:sp>
        <p:nvSpPr>
          <p:cNvPr id="4" name="Date Placeholder 3">
            <a:extLst>
              <a:ext uri="{FF2B5EF4-FFF2-40B4-BE49-F238E27FC236}">
                <a16:creationId xmlns:a16="http://schemas.microsoft.com/office/drawing/2014/main" id="{11E7060E-CA01-294A-018D-75CC58001E9D}"/>
              </a:ext>
            </a:extLst>
          </p:cNvPr>
          <p:cNvSpPr>
            <a:spLocks noGrp="1"/>
          </p:cNvSpPr>
          <p:nvPr>
            <p:ph type="dt" sz="half" idx="10"/>
          </p:nvPr>
        </p:nvSpPr>
        <p:spPr/>
        <p:txBody>
          <a:bodyPr/>
          <a:lstStyle/>
          <a:p>
            <a:fld id="{4D39E105-4FC1-4A41-BC22-895D9BC619CE}" type="datetime1">
              <a:rPr lang="en-US" smtClean="0"/>
              <a:t>8/26/2026</a:t>
            </a:fld>
            <a:endParaRPr lang="en-US"/>
          </a:p>
        </p:txBody>
      </p:sp>
      <p:sp>
        <p:nvSpPr>
          <p:cNvPr id="5" name="Footer Placeholder 4">
            <a:extLst>
              <a:ext uri="{FF2B5EF4-FFF2-40B4-BE49-F238E27FC236}">
                <a16:creationId xmlns:a16="http://schemas.microsoft.com/office/drawing/2014/main" id="{015DA9E3-AB2F-C984-3B61-2120C370D996}"/>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E5109A4A-04DA-BDFD-3F14-01C475789C61}"/>
              </a:ext>
            </a:extLst>
          </p:cNvPr>
          <p:cNvSpPr>
            <a:spLocks noGrp="1"/>
          </p:cNvSpPr>
          <p:nvPr>
            <p:ph type="sldNum" sz="quarter" idx="12"/>
          </p:nvPr>
        </p:nvSpPr>
        <p:spPr/>
        <p:txBody>
          <a:bodyPr/>
          <a:lstStyle/>
          <a:p>
            <a:fld id="{B6F15528-21DE-4FAA-801E-634DDDAF4B2B}" type="slidenum">
              <a:rPr lang="en-US" smtClean="0"/>
              <a:pPr/>
              <a:t>87</a:t>
            </a:fld>
            <a:endParaRPr lang="en-US"/>
          </a:p>
        </p:txBody>
      </p:sp>
      <p:pic>
        <p:nvPicPr>
          <p:cNvPr id="3074" name="Picture 2" descr="Lightbox">
            <a:extLst>
              <a:ext uri="{FF2B5EF4-FFF2-40B4-BE49-F238E27FC236}">
                <a16:creationId xmlns:a16="http://schemas.microsoft.com/office/drawing/2014/main" id="{3EF0A3E4-156E-0D09-BF9B-AA25949D3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0546" y="1446822"/>
            <a:ext cx="4225753" cy="23336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ightbox">
            <a:extLst>
              <a:ext uri="{FF2B5EF4-FFF2-40B4-BE49-F238E27FC236}">
                <a16:creationId xmlns:a16="http://schemas.microsoft.com/office/drawing/2014/main" id="{4EF1CC15-0C53-C55D-2765-35C5C39AE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1" y="2743200"/>
            <a:ext cx="4624387" cy="255376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E936A709-0DD0-A6F9-DD3C-27BF60628B13}"/>
              </a:ext>
            </a:extLst>
          </p:cNvPr>
          <p:cNvCxnSpPr/>
          <p:nvPr/>
        </p:nvCxnSpPr>
        <p:spPr>
          <a:xfrm>
            <a:off x="5181600" y="3124200"/>
            <a:ext cx="990600" cy="1143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38354563"/>
      </p:ext>
    </p:extLst>
  </p:cSld>
  <p:clrMapOvr>
    <a:masterClrMapping/>
  </p:clrMapOvr>
  <p:transition spd="slow">
    <p:cove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8A235-FD48-719C-C3CF-0C3DCD43FE5A}"/>
              </a:ext>
            </a:extLst>
          </p:cNvPr>
          <p:cNvSpPr>
            <a:spLocks noGrp="1"/>
          </p:cNvSpPr>
          <p:nvPr>
            <p:ph type="title" idx="4294967295"/>
          </p:nvPr>
        </p:nvSpPr>
        <p:spPr>
          <a:xfrm>
            <a:off x="2743200" y="-76200"/>
            <a:ext cx="9448800" cy="745921"/>
          </a:xfrm>
          <a:prstGeom prst="rect">
            <a:avLst/>
          </a:prstGeom>
        </p:spPr>
        <p:txBody>
          <a:bodyPr/>
          <a:lstStyle/>
          <a:p>
            <a:r>
              <a:rPr lang="en-US" sz="3600" dirty="0"/>
              <a:t>Change Priority/Increase Key</a:t>
            </a:r>
          </a:p>
        </p:txBody>
      </p:sp>
      <p:sp>
        <p:nvSpPr>
          <p:cNvPr id="4" name="Date Placeholder 3">
            <a:extLst>
              <a:ext uri="{FF2B5EF4-FFF2-40B4-BE49-F238E27FC236}">
                <a16:creationId xmlns:a16="http://schemas.microsoft.com/office/drawing/2014/main" id="{11699EFF-B827-C178-3E4D-DD7D821D0FB6}"/>
              </a:ext>
            </a:extLst>
          </p:cNvPr>
          <p:cNvSpPr>
            <a:spLocks noGrp="1"/>
          </p:cNvSpPr>
          <p:nvPr>
            <p:ph type="dt" sz="half" idx="10"/>
          </p:nvPr>
        </p:nvSpPr>
        <p:spPr/>
        <p:txBody>
          <a:bodyPr/>
          <a:lstStyle/>
          <a:p>
            <a:fld id="{6BE9929E-0271-4229-84C0-5CDBAFF66A07}" type="datetime1">
              <a:rPr lang="en-US" smtClean="0"/>
              <a:t>8/26/2026</a:t>
            </a:fld>
            <a:endParaRPr lang="en-US"/>
          </a:p>
        </p:txBody>
      </p:sp>
      <p:sp>
        <p:nvSpPr>
          <p:cNvPr id="5" name="Footer Placeholder 4">
            <a:extLst>
              <a:ext uri="{FF2B5EF4-FFF2-40B4-BE49-F238E27FC236}">
                <a16:creationId xmlns:a16="http://schemas.microsoft.com/office/drawing/2014/main" id="{CF932591-C886-8513-BA8F-947C40AEED7F}"/>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97B8FB9B-54F0-939D-6401-41611A657692}"/>
              </a:ext>
            </a:extLst>
          </p:cNvPr>
          <p:cNvSpPr>
            <a:spLocks noGrp="1"/>
          </p:cNvSpPr>
          <p:nvPr>
            <p:ph type="sldNum" sz="quarter" idx="12"/>
          </p:nvPr>
        </p:nvSpPr>
        <p:spPr/>
        <p:txBody>
          <a:bodyPr/>
          <a:lstStyle/>
          <a:p>
            <a:fld id="{B6F15528-21DE-4FAA-801E-634DDDAF4B2B}" type="slidenum">
              <a:rPr lang="en-US" smtClean="0"/>
              <a:pPr/>
              <a:t>88</a:t>
            </a:fld>
            <a:endParaRPr lang="en-US"/>
          </a:p>
        </p:txBody>
      </p:sp>
      <p:pic>
        <p:nvPicPr>
          <p:cNvPr id="7" name="Picture 4" descr="Lightbox">
            <a:extLst>
              <a:ext uri="{FF2B5EF4-FFF2-40B4-BE49-F238E27FC236}">
                <a16:creationId xmlns:a16="http://schemas.microsoft.com/office/drawing/2014/main" id="{CFBEC6C9-9329-0486-084F-2DDB3F22FA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4212" y="1843087"/>
            <a:ext cx="5743575" cy="31718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C3A2D30-E0E0-68D2-726B-F4E9B6B45786}"/>
              </a:ext>
            </a:extLst>
          </p:cNvPr>
          <p:cNvSpPr txBox="1"/>
          <p:nvPr/>
        </p:nvSpPr>
        <p:spPr>
          <a:xfrm>
            <a:off x="3962400" y="5288240"/>
            <a:ext cx="4572000" cy="369332"/>
          </a:xfrm>
          <a:prstGeom prst="rect">
            <a:avLst/>
          </a:prstGeom>
          <a:noFill/>
        </p:spPr>
        <p:txBody>
          <a:bodyPr wrap="square">
            <a:spAutoFit/>
          </a:bodyPr>
          <a:lstStyle/>
          <a:p>
            <a:r>
              <a:rPr lang="en-US" dirty="0">
                <a:solidFill>
                  <a:srgbClr val="273239"/>
                </a:solidFill>
                <a:latin typeface="Nunito" pitchFamily="2" charset="0"/>
              </a:rPr>
              <a:t>Change the priority of nodes </a:t>
            </a:r>
            <a:r>
              <a:rPr lang="en-US" b="1" dirty="0">
                <a:solidFill>
                  <a:srgbClr val="273239"/>
                </a:solidFill>
                <a:latin typeface="Nunito" pitchFamily="2" charset="0"/>
              </a:rPr>
              <a:t>11 to 35</a:t>
            </a:r>
            <a:endParaRPr lang="en-US" dirty="0"/>
          </a:p>
        </p:txBody>
      </p:sp>
    </p:spTree>
    <p:extLst>
      <p:ext uri="{BB962C8B-B14F-4D97-AF65-F5344CB8AC3E}">
        <p14:creationId xmlns:p14="http://schemas.microsoft.com/office/powerpoint/2010/main" val="284316280"/>
      </p:ext>
    </p:extLst>
  </p:cSld>
  <p:clrMapOvr>
    <a:masterClrMapping/>
  </p:clrMapOvr>
  <p:transition spd="slow">
    <p:cove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96C4B-FB10-6436-E9CB-63AE012DCBFA}"/>
              </a:ext>
            </a:extLst>
          </p:cNvPr>
          <p:cNvSpPr>
            <a:spLocks noGrp="1"/>
          </p:cNvSpPr>
          <p:nvPr>
            <p:ph type="title" idx="4294967295"/>
          </p:nvPr>
        </p:nvSpPr>
        <p:spPr>
          <a:xfrm>
            <a:off x="2209800" y="-25913"/>
            <a:ext cx="9525000" cy="792162"/>
          </a:xfrm>
          <a:prstGeom prst="rect">
            <a:avLst/>
          </a:prstGeom>
        </p:spPr>
        <p:txBody>
          <a:bodyPr>
            <a:normAutofit/>
          </a:bodyPr>
          <a:lstStyle/>
          <a:p>
            <a:r>
              <a:rPr lang="en-US" sz="3200" dirty="0"/>
              <a:t>Priority Queue Algorithm</a:t>
            </a:r>
          </a:p>
        </p:txBody>
      </p:sp>
      <p:sp>
        <p:nvSpPr>
          <p:cNvPr id="3" name="Content Placeholder 2">
            <a:extLst>
              <a:ext uri="{FF2B5EF4-FFF2-40B4-BE49-F238E27FC236}">
                <a16:creationId xmlns:a16="http://schemas.microsoft.com/office/drawing/2014/main" id="{AA812806-60C5-A551-89D7-9F6DCDF32F9F}"/>
              </a:ext>
            </a:extLst>
          </p:cNvPr>
          <p:cNvSpPr>
            <a:spLocks noGrp="1"/>
          </p:cNvSpPr>
          <p:nvPr>
            <p:ph idx="1"/>
          </p:nvPr>
        </p:nvSpPr>
        <p:spPr/>
        <p:txBody>
          <a:bodyPr>
            <a:normAutofit/>
          </a:bodyPr>
          <a:lstStyle/>
          <a:p>
            <a:pPr marL="0" indent="0">
              <a:buNone/>
            </a:pPr>
            <a:r>
              <a:rPr lang="en-US" dirty="0"/>
              <a:t>Algorithm to find number with highest priority</a:t>
            </a:r>
            <a:br>
              <a:rPr lang="en-US" dirty="0"/>
            </a:br>
            <a:br>
              <a:rPr lang="en-US" dirty="0"/>
            </a:br>
            <a:r>
              <a:rPr lang="en-US" b="1" dirty="0" err="1"/>
              <a:t>Heap_Maximum</a:t>
            </a:r>
            <a:r>
              <a:rPr lang="en-US" b="1" dirty="0"/>
              <a:t>(A)</a:t>
            </a:r>
          </a:p>
          <a:p>
            <a:pPr marL="0" indent="0">
              <a:buNone/>
            </a:pPr>
            <a:r>
              <a:rPr lang="en-US" dirty="0"/>
              <a:t>	return A[1]</a:t>
            </a:r>
            <a:br>
              <a:rPr lang="en-US" dirty="0"/>
            </a:br>
            <a:br>
              <a:rPr lang="en-US" dirty="0"/>
            </a:br>
            <a:br>
              <a:rPr lang="en-US" dirty="0"/>
            </a:br>
            <a:r>
              <a:rPr lang="en-US" dirty="0"/>
              <a:t>Running Time Constant (1)</a:t>
            </a:r>
          </a:p>
        </p:txBody>
      </p:sp>
      <p:sp>
        <p:nvSpPr>
          <p:cNvPr id="4" name="Date Placeholder 3">
            <a:extLst>
              <a:ext uri="{FF2B5EF4-FFF2-40B4-BE49-F238E27FC236}">
                <a16:creationId xmlns:a16="http://schemas.microsoft.com/office/drawing/2014/main" id="{B89D4BD3-EA00-8BF9-5299-F8B1138D90DA}"/>
              </a:ext>
            </a:extLst>
          </p:cNvPr>
          <p:cNvSpPr>
            <a:spLocks noGrp="1"/>
          </p:cNvSpPr>
          <p:nvPr>
            <p:ph type="dt" sz="half" idx="10"/>
          </p:nvPr>
        </p:nvSpPr>
        <p:spPr/>
        <p:txBody>
          <a:bodyPr/>
          <a:lstStyle/>
          <a:p>
            <a:fld id="{DBEC19DC-380F-4D32-963C-6A74C9383F02}" type="datetime1">
              <a:rPr lang="en-US" smtClean="0"/>
              <a:t>8/26/2026</a:t>
            </a:fld>
            <a:endParaRPr lang="en-US"/>
          </a:p>
        </p:txBody>
      </p:sp>
      <p:sp>
        <p:nvSpPr>
          <p:cNvPr id="5" name="Footer Placeholder 4">
            <a:extLst>
              <a:ext uri="{FF2B5EF4-FFF2-40B4-BE49-F238E27FC236}">
                <a16:creationId xmlns:a16="http://schemas.microsoft.com/office/drawing/2014/main" id="{C8695E43-729A-B83C-E8A9-46C57F0A9248}"/>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47848735-9D73-C6A6-3743-C3E543D7D78A}"/>
              </a:ext>
            </a:extLst>
          </p:cNvPr>
          <p:cNvSpPr>
            <a:spLocks noGrp="1"/>
          </p:cNvSpPr>
          <p:nvPr>
            <p:ph type="sldNum" sz="quarter" idx="12"/>
          </p:nvPr>
        </p:nvSpPr>
        <p:spPr/>
        <p:txBody>
          <a:bodyPr/>
          <a:lstStyle/>
          <a:p>
            <a:fld id="{B6F15528-21DE-4FAA-801E-634DDDAF4B2B}" type="slidenum">
              <a:rPr lang="en-US" smtClean="0"/>
              <a:pPr/>
              <a:t>89</a:t>
            </a:fld>
            <a:endParaRPr lang="en-US"/>
          </a:p>
        </p:txBody>
      </p:sp>
    </p:spTree>
    <p:extLst>
      <p:ext uri="{BB962C8B-B14F-4D97-AF65-F5344CB8AC3E}">
        <p14:creationId xmlns:p14="http://schemas.microsoft.com/office/powerpoint/2010/main" val="1315593019"/>
      </p:ext>
    </p:extLst>
  </p:cSld>
  <p:clrMapOvr>
    <a:masterClrMapping/>
  </p:clrMapOvr>
  <p:transition spd="slow">
    <p:cove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AC278-4AAD-E65D-4951-65B4ADEE5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72AC1-7119-0E84-4E44-8567A2D9BB44}"/>
              </a:ext>
            </a:extLst>
          </p:cNvPr>
          <p:cNvSpPr>
            <a:spLocks noGrp="1"/>
          </p:cNvSpPr>
          <p:nvPr>
            <p:ph type="title" idx="4294967295"/>
          </p:nvPr>
        </p:nvSpPr>
        <p:spPr>
          <a:xfrm>
            <a:off x="2514600" y="0"/>
            <a:ext cx="9372600" cy="808037"/>
          </a:xfrm>
          <a:prstGeom prst="rect">
            <a:avLst/>
          </a:prstGeom>
        </p:spPr>
        <p:txBody>
          <a:bodyPr>
            <a:normAutofit/>
          </a:bodyPr>
          <a:lstStyle/>
          <a:p>
            <a:r>
              <a:rPr lang="en-US" sz="3200" dirty="0"/>
              <a:t>Priority Queue Algorithm</a:t>
            </a:r>
          </a:p>
        </p:txBody>
      </p:sp>
      <p:sp>
        <p:nvSpPr>
          <p:cNvPr id="3" name="Content Placeholder 2">
            <a:extLst>
              <a:ext uri="{FF2B5EF4-FFF2-40B4-BE49-F238E27FC236}">
                <a16:creationId xmlns:a16="http://schemas.microsoft.com/office/drawing/2014/main" id="{C87E121E-184B-0827-221F-23E50BD7EA49}"/>
              </a:ext>
            </a:extLst>
          </p:cNvPr>
          <p:cNvSpPr>
            <a:spLocks noGrp="1"/>
          </p:cNvSpPr>
          <p:nvPr>
            <p:ph idx="1"/>
          </p:nvPr>
        </p:nvSpPr>
        <p:spPr/>
        <p:txBody>
          <a:bodyPr>
            <a:normAutofit fontScale="85000" lnSpcReduction="20000"/>
          </a:bodyPr>
          <a:lstStyle/>
          <a:p>
            <a:pPr marL="0" indent="0">
              <a:buNone/>
            </a:pPr>
            <a:r>
              <a:rPr lang="en-US" dirty="0"/>
              <a:t>Algorithm to find number with highest priority</a:t>
            </a:r>
            <a:br>
              <a:rPr lang="en-US" dirty="0"/>
            </a:br>
            <a:r>
              <a:rPr lang="en-US" dirty="0"/>
              <a:t>and swap with first element.</a:t>
            </a:r>
          </a:p>
          <a:p>
            <a:pPr marL="0" indent="0">
              <a:buNone/>
            </a:pPr>
            <a:br>
              <a:rPr lang="en-US" dirty="0"/>
            </a:br>
            <a:r>
              <a:rPr lang="en-US" b="1" dirty="0" err="1"/>
              <a:t>Heap_Extract_Maximum</a:t>
            </a:r>
            <a:r>
              <a:rPr lang="en-US" b="1" dirty="0"/>
              <a:t>(A, </a:t>
            </a:r>
            <a:r>
              <a:rPr lang="en-US" b="1" dirty="0" err="1"/>
              <a:t>heap_size</a:t>
            </a:r>
            <a:r>
              <a:rPr lang="en-US" b="1" dirty="0"/>
              <a:t>)</a:t>
            </a:r>
          </a:p>
          <a:p>
            <a:pPr marL="0" indent="0">
              <a:buNone/>
            </a:pPr>
            <a:r>
              <a:rPr lang="en-US" dirty="0"/>
              <a:t>	if </a:t>
            </a:r>
            <a:r>
              <a:rPr lang="en-US" dirty="0" err="1"/>
              <a:t>A.heap_size</a:t>
            </a:r>
            <a:r>
              <a:rPr lang="en-US" dirty="0"/>
              <a:t>&lt;1</a:t>
            </a:r>
          </a:p>
          <a:p>
            <a:pPr marL="0" indent="0">
              <a:buNone/>
            </a:pPr>
            <a:r>
              <a:rPr lang="en-US" dirty="0"/>
              <a:t>		error “heap underflow”</a:t>
            </a:r>
          </a:p>
          <a:p>
            <a:pPr marL="0" indent="0">
              <a:buNone/>
            </a:pPr>
            <a:r>
              <a:rPr lang="en-US" dirty="0"/>
              <a:t>   Max = A[1]</a:t>
            </a:r>
          </a:p>
          <a:p>
            <a:pPr marL="0" indent="0">
              <a:buNone/>
            </a:pPr>
            <a:r>
              <a:rPr lang="en-US" dirty="0"/>
              <a:t>   A[1] = A[</a:t>
            </a:r>
            <a:r>
              <a:rPr lang="en-US" dirty="0" err="1"/>
              <a:t>heap_size</a:t>
            </a:r>
            <a:r>
              <a:rPr lang="en-US" dirty="0"/>
              <a:t>]</a:t>
            </a:r>
          </a:p>
          <a:p>
            <a:pPr marL="0" indent="0">
              <a:buNone/>
            </a:pPr>
            <a:r>
              <a:rPr lang="en-US" dirty="0"/>
              <a:t>   </a:t>
            </a:r>
            <a:r>
              <a:rPr lang="en-US" dirty="0" err="1"/>
              <a:t>heap_size</a:t>
            </a:r>
            <a:r>
              <a:rPr lang="en-US" dirty="0"/>
              <a:t> = heap_size-1</a:t>
            </a:r>
          </a:p>
          <a:p>
            <a:pPr marL="0" indent="0">
              <a:buNone/>
            </a:pPr>
            <a:r>
              <a:rPr lang="en-US" dirty="0"/>
              <a:t>   </a:t>
            </a:r>
            <a:r>
              <a:rPr lang="en-US" dirty="0" err="1"/>
              <a:t>Max_heapify</a:t>
            </a:r>
            <a:r>
              <a:rPr lang="en-US" dirty="0"/>
              <a:t>(A,1)</a:t>
            </a:r>
          </a:p>
          <a:p>
            <a:pPr marL="0" indent="0">
              <a:buNone/>
            </a:pPr>
            <a:r>
              <a:rPr lang="en-US" dirty="0"/>
              <a:t>   return max</a:t>
            </a:r>
          </a:p>
          <a:p>
            <a:pPr marL="0" indent="0">
              <a:buNone/>
            </a:pPr>
            <a:endParaRPr lang="en-US" dirty="0"/>
          </a:p>
        </p:txBody>
      </p:sp>
      <p:sp>
        <p:nvSpPr>
          <p:cNvPr id="4" name="Date Placeholder 3">
            <a:extLst>
              <a:ext uri="{FF2B5EF4-FFF2-40B4-BE49-F238E27FC236}">
                <a16:creationId xmlns:a16="http://schemas.microsoft.com/office/drawing/2014/main" id="{9341B26E-02DD-8662-2DC7-EE5F259930F7}"/>
              </a:ext>
            </a:extLst>
          </p:cNvPr>
          <p:cNvSpPr>
            <a:spLocks noGrp="1"/>
          </p:cNvSpPr>
          <p:nvPr>
            <p:ph type="dt" sz="half" idx="10"/>
          </p:nvPr>
        </p:nvSpPr>
        <p:spPr/>
        <p:txBody>
          <a:bodyPr/>
          <a:lstStyle/>
          <a:p>
            <a:fld id="{4EC7EFC4-3EF2-4EB0-B34F-47309A3FA76D}" type="datetime1">
              <a:rPr lang="en-US" smtClean="0"/>
              <a:t>8/26/2026</a:t>
            </a:fld>
            <a:endParaRPr lang="en-US"/>
          </a:p>
        </p:txBody>
      </p:sp>
      <p:sp>
        <p:nvSpPr>
          <p:cNvPr id="5" name="Footer Placeholder 4">
            <a:extLst>
              <a:ext uri="{FF2B5EF4-FFF2-40B4-BE49-F238E27FC236}">
                <a16:creationId xmlns:a16="http://schemas.microsoft.com/office/drawing/2014/main" id="{7F819873-48F3-A5DD-B84A-81097D360174}"/>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A5213740-BA56-0345-727A-6BC0E04E3E2A}"/>
              </a:ext>
            </a:extLst>
          </p:cNvPr>
          <p:cNvSpPr>
            <a:spLocks noGrp="1"/>
          </p:cNvSpPr>
          <p:nvPr>
            <p:ph type="sldNum" sz="quarter" idx="12"/>
          </p:nvPr>
        </p:nvSpPr>
        <p:spPr/>
        <p:txBody>
          <a:bodyPr/>
          <a:lstStyle/>
          <a:p>
            <a:fld id="{B6F15528-21DE-4FAA-801E-634DDDAF4B2B}" type="slidenum">
              <a:rPr lang="en-US" smtClean="0"/>
              <a:pPr/>
              <a:t>90</a:t>
            </a:fld>
            <a:endParaRPr lang="en-US"/>
          </a:p>
        </p:txBody>
      </p:sp>
      <p:sp>
        <p:nvSpPr>
          <p:cNvPr id="7" name="Rectangle 6">
            <a:extLst>
              <a:ext uri="{FF2B5EF4-FFF2-40B4-BE49-F238E27FC236}">
                <a16:creationId xmlns:a16="http://schemas.microsoft.com/office/drawing/2014/main" id="{140DF684-A808-58DA-6528-1BB7582554CC}"/>
              </a:ext>
            </a:extLst>
          </p:cNvPr>
          <p:cNvSpPr/>
          <p:nvPr/>
        </p:nvSpPr>
        <p:spPr>
          <a:xfrm>
            <a:off x="7772400" y="3429000"/>
            <a:ext cx="2133600" cy="1905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Running Time – </a:t>
            </a:r>
            <a:br>
              <a:rPr lang="en-US" dirty="0"/>
            </a:br>
            <a:r>
              <a:rPr lang="en-US" dirty="0"/>
              <a:t>O(log</a:t>
            </a:r>
            <a:r>
              <a:rPr lang="en-US" sz="1600" baseline="-25000" dirty="0"/>
              <a:t>2</a:t>
            </a:r>
            <a:r>
              <a:rPr lang="en-US" dirty="0"/>
              <a:t> n)</a:t>
            </a:r>
          </a:p>
        </p:txBody>
      </p:sp>
    </p:spTree>
    <p:extLst>
      <p:ext uri="{BB962C8B-B14F-4D97-AF65-F5344CB8AC3E}">
        <p14:creationId xmlns:p14="http://schemas.microsoft.com/office/powerpoint/2010/main" val="3337783313"/>
      </p:ext>
    </p:extLst>
  </p:cSld>
  <p:clrMapOvr>
    <a:masterClrMapping/>
  </p:clrMapOvr>
  <p:transition spd="slow">
    <p:cove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F5F8-06D9-061B-37AE-C3F70180A171}"/>
              </a:ext>
            </a:extLst>
          </p:cNvPr>
          <p:cNvSpPr>
            <a:spLocks noGrp="1"/>
          </p:cNvSpPr>
          <p:nvPr>
            <p:ph type="title" idx="4294967295"/>
          </p:nvPr>
        </p:nvSpPr>
        <p:spPr>
          <a:xfrm>
            <a:off x="2971800" y="0"/>
            <a:ext cx="8991600" cy="797999"/>
          </a:xfrm>
          <a:prstGeom prst="rect">
            <a:avLst/>
          </a:prstGeom>
        </p:spPr>
        <p:txBody>
          <a:bodyPr>
            <a:noAutofit/>
          </a:bodyPr>
          <a:lstStyle/>
          <a:p>
            <a:r>
              <a:rPr lang="en-US" sz="3600" dirty="0"/>
              <a:t>Heap-Increase-Key(A, i, key)</a:t>
            </a:r>
            <a:br>
              <a:rPr lang="en-US" sz="3600" dirty="0"/>
            </a:br>
            <a:endParaRPr lang="en-US" sz="3600" dirty="0"/>
          </a:p>
        </p:txBody>
      </p:sp>
      <p:sp>
        <p:nvSpPr>
          <p:cNvPr id="3" name="Content Placeholder 2">
            <a:extLst>
              <a:ext uri="{FF2B5EF4-FFF2-40B4-BE49-F238E27FC236}">
                <a16:creationId xmlns:a16="http://schemas.microsoft.com/office/drawing/2014/main" id="{60B757C2-803D-35DB-8BE6-E370EE07DA46}"/>
              </a:ext>
            </a:extLst>
          </p:cNvPr>
          <p:cNvSpPr>
            <a:spLocks noGrp="1"/>
          </p:cNvSpPr>
          <p:nvPr>
            <p:ph idx="1"/>
          </p:nvPr>
        </p:nvSpPr>
        <p:spPr>
          <a:xfrm>
            <a:off x="457200" y="1065058"/>
            <a:ext cx="10972800" cy="4525963"/>
          </a:xfrm>
        </p:spPr>
        <p:txBody>
          <a:bodyPr>
            <a:normAutofit fontScale="85000" lnSpcReduction="20000"/>
          </a:bodyPr>
          <a:lstStyle/>
          <a:p>
            <a:pPr marL="0" lvl="1" indent="0">
              <a:buNone/>
            </a:pPr>
            <a:r>
              <a:rPr lang="en-US" dirty="0"/>
              <a:t>Heap-Increase-Key(A, i, key)</a:t>
            </a:r>
          </a:p>
          <a:p>
            <a:pPr marL="400050" lvl="1" indent="0">
              <a:buNone/>
            </a:pPr>
            <a:r>
              <a:rPr lang="en-US" dirty="0"/>
              <a:t>// Input: A: an array representing a heap, i: an array index, key: a new key greater than A[i]</a:t>
            </a:r>
          </a:p>
          <a:p>
            <a:pPr marL="400050" lvl="1" indent="0">
              <a:buNone/>
            </a:pPr>
            <a:r>
              <a:rPr lang="en-US" dirty="0"/>
              <a:t>// Output: A still representing a heap where the key of A[i] was increased to key</a:t>
            </a:r>
          </a:p>
          <a:p>
            <a:pPr marL="400050" lvl="1" indent="0">
              <a:buNone/>
            </a:pPr>
            <a:r>
              <a:rPr lang="en-US" dirty="0"/>
              <a:t>// Running Time: O(log n) where n =heap-size[A]</a:t>
            </a:r>
          </a:p>
          <a:p>
            <a:pPr marL="0" indent="0">
              <a:buNone/>
            </a:pPr>
            <a:r>
              <a:rPr lang="en-US" dirty="0"/>
              <a:t>1 if key &lt; A[i]</a:t>
            </a:r>
          </a:p>
          <a:p>
            <a:pPr marL="0" indent="0">
              <a:buNone/>
            </a:pPr>
            <a:r>
              <a:rPr lang="en-US" dirty="0"/>
              <a:t>2      error(“New key must be larger than current key”)</a:t>
            </a:r>
          </a:p>
          <a:p>
            <a:pPr marL="0" indent="0">
              <a:buNone/>
            </a:pPr>
            <a:r>
              <a:rPr lang="en-US" dirty="0"/>
              <a:t>3 A[i] ← key</a:t>
            </a:r>
          </a:p>
          <a:p>
            <a:pPr marL="0" indent="0">
              <a:buNone/>
            </a:pPr>
            <a:r>
              <a:rPr lang="en-US" dirty="0"/>
              <a:t>4 while i &gt; 1 and A[Parent(i)] &lt; A[i]</a:t>
            </a:r>
          </a:p>
          <a:p>
            <a:pPr marL="0" indent="0">
              <a:buNone/>
            </a:pPr>
            <a:r>
              <a:rPr lang="en-US" dirty="0"/>
              <a:t>5      exchange A[i] and A[Parent(i)]</a:t>
            </a:r>
          </a:p>
          <a:p>
            <a:pPr marL="0" indent="0">
              <a:buNone/>
            </a:pPr>
            <a:r>
              <a:rPr lang="en-US" dirty="0"/>
              <a:t>6      i ← Parent(i)</a:t>
            </a:r>
          </a:p>
          <a:p>
            <a:endParaRPr lang="en-US" dirty="0"/>
          </a:p>
        </p:txBody>
      </p:sp>
      <p:sp>
        <p:nvSpPr>
          <p:cNvPr id="4" name="Date Placeholder 3">
            <a:extLst>
              <a:ext uri="{FF2B5EF4-FFF2-40B4-BE49-F238E27FC236}">
                <a16:creationId xmlns:a16="http://schemas.microsoft.com/office/drawing/2014/main" id="{91C684E7-9B51-DA11-3213-047BA61F3CD3}"/>
              </a:ext>
            </a:extLst>
          </p:cNvPr>
          <p:cNvSpPr>
            <a:spLocks noGrp="1"/>
          </p:cNvSpPr>
          <p:nvPr>
            <p:ph type="dt" sz="half" idx="10"/>
          </p:nvPr>
        </p:nvSpPr>
        <p:spPr/>
        <p:txBody>
          <a:bodyPr/>
          <a:lstStyle/>
          <a:p>
            <a:fld id="{7BC48194-5738-47B1-A79A-89AB8BEF0815}" type="datetime1">
              <a:rPr lang="en-US" smtClean="0"/>
              <a:t>8/26/2026</a:t>
            </a:fld>
            <a:endParaRPr lang="en-US"/>
          </a:p>
        </p:txBody>
      </p:sp>
      <p:sp>
        <p:nvSpPr>
          <p:cNvPr id="5" name="Footer Placeholder 4">
            <a:extLst>
              <a:ext uri="{FF2B5EF4-FFF2-40B4-BE49-F238E27FC236}">
                <a16:creationId xmlns:a16="http://schemas.microsoft.com/office/drawing/2014/main" id="{ED97F211-09DD-4057-E35A-A561178010CB}"/>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DB64D4A2-AF62-9FB6-DCD9-07E302083B63}"/>
              </a:ext>
            </a:extLst>
          </p:cNvPr>
          <p:cNvSpPr>
            <a:spLocks noGrp="1"/>
          </p:cNvSpPr>
          <p:nvPr>
            <p:ph type="sldNum" sz="quarter" idx="12"/>
          </p:nvPr>
        </p:nvSpPr>
        <p:spPr/>
        <p:txBody>
          <a:bodyPr/>
          <a:lstStyle/>
          <a:p>
            <a:fld id="{B6F15528-21DE-4FAA-801E-634DDDAF4B2B}" type="slidenum">
              <a:rPr lang="en-US" smtClean="0"/>
              <a:pPr/>
              <a:t>91</a:t>
            </a:fld>
            <a:endParaRPr lang="en-US"/>
          </a:p>
        </p:txBody>
      </p:sp>
      <p:sp>
        <p:nvSpPr>
          <p:cNvPr id="7" name="Rectangle 6">
            <a:extLst>
              <a:ext uri="{FF2B5EF4-FFF2-40B4-BE49-F238E27FC236}">
                <a16:creationId xmlns:a16="http://schemas.microsoft.com/office/drawing/2014/main" id="{7DDBC2FC-1283-8EC6-5815-F9119F2DC556}"/>
              </a:ext>
            </a:extLst>
          </p:cNvPr>
          <p:cNvSpPr/>
          <p:nvPr/>
        </p:nvSpPr>
        <p:spPr>
          <a:xfrm>
            <a:off x="8001000" y="4221163"/>
            <a:ext cx="2133600" cy="1905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Running Time – </a:t>
            </a:r>
            <a:br>
              <a:rPr lang="en-US" dirty="0"/>
            </a:br>
            <a:r>
              <a:rPr lang="en-US" dirty="0"/>
              <a:t>O(log</a:t>
            </a:r>
            <a:r>
              <a:rPr lang="en-US" sz="1600" baseline="-25000" dirty="0"/>
              <a:t>2</a:t>
            </a:r>
            <a:r>
              <a:rPr lang="en-US" dirty="0"/>
              <a:t> n)</a:t>
            </a:r>
          </a:p>
        </p:txBody>
      </p:sp>
    </p:spTree>
    <p:extLst>
      <p:ext uri="{BB962C8B-B14F-4D97-AF65-F5344CB8AC3E}">
        <p14:creationId xmlns:p14="http://schemas.microsoft.com/office/powerpoint/2010/main" val="2820659839"/>
      </p:ext>
    </p:extLst>
  </p:cSld>
  <p:clrMapOvr>
    <a:masterClrMapping/>
  </p:clrMapOvr>
  <p:transition spd="slow">
    <p:cove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82702-E491-774E-AFAB-CFCADEABF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0EB6E0-4797-F203-96B0-20B6485BCB98}"/>
              </a:ext>
            </a:extLst>
          </p:cNvPr>
          <p:cNvSpPr>
            <a:spLocks noGrp="1"/>
          </p:cNvSpPr>
          <p:nvPr>
            <p:ph type="title" idx="4294967295"/>
          </p:nvPr>
        </p:nvSpPr>
        <p:spPr>
          <a:xfrm>
            <a:off x="2667000" y="0"/>
            <a:ext cx="9296400" cy="731836"/>
          </a:xfrm>
          <a:prstGeom prst="rect">
            <a:avLst/>
          </a:prstGeom>
        </p:spPr>
        <p:txBody>
          <a:bodyPr>
            <a:noAutofit/>
          </a:bodyPr>
          <a:lstStyle/>
          <a:p>
            <a:r>
              <a:rPr lang="en-US" sz="3200" dirty="0" err="1"/>
              <a:t>Max_Heap</a:t>
            </a:r>
            <a:r>
              <a:rPr lang="en-US" sz="3200" dirty="0"/>
              <a:t>-Insert(A, key)</a:t>
            </a:r>
            <a:br>
              <a:rPr lang="en-US" sz="3200" dirty="0"/>
            </a:br>
            <a:endParaRPr lang="en-US" sz="3200" dirty="0"/>
          </a:p>
        </p:txBody>
      </p:sp>
      <p:sp>
        <p:nvSpPr>
          <p:cNvPr id="3" name="Content Placeholder 2">
            <a:extLst>
              <a:ext uri="{FF2B5EF4-FFF2-40B4-BE49-F238E27FC236}">
                <a16:creationId xmlns:a16="http://schemas.microsoft.com/office/drawing/2014/main" id="{62ACEFE9-F405-B679-6B4D-F424818D7610}"/>
              </a:ext>
            </a:extLst>
          </p:cNvPr>
          <p:cNvSpPr>
            <a:spLocks noGrp="1"/>
          </p:cNvSpPr>
          <p:nvPr>
            <p:ph idx="1"/>
          </p:nvPr>
        </p:nvSpPr>
        <p:spPr/>
        <p:txBody>
          <a:bodyPr>
            <a:normAutofit/>
          </a:bodyPr>
          <a:lstStyle/>
          <a:p>
            <a:pPr marL="0" indent="0">
              <a:buNone/>
            </a:pPr>
            <a:r>
              <a:rPr lang="en-US" dirty="0" err="1"/>
              <a:t>Max_Heap</a:t>
            </a:r>
            <a:r>
              <a:rPr lang="en-US" dirty="0"/>
              <a:t>-Insert(A, key)</a:t>
            </a:r>
          </a:p>
          <a:p>
            <a:pPr marL="0" indent="0">
              <a:buNone/>
            </a:pPr>
            <a:r>
              <a:rPr lang="en-US" dirty="0"/>
              <a:t>	 </a:t>
            </a:r>
            <a:r>
              <a:rPr lang="en-US" dirty="0" err="1"/>
              <a:t>heap_size</a:t>
            </a:r>
            <a:r>
              <a:rPr lang="en-US" dirty="0"/>
              <a:t>  = </a:t>
            </a:r>
            <a:r>
              <a:rPr lang="en-US" dirty="0" err="1"/>
              <a:t>heap_size</a:t>
            </a:r>
            <a:r>
              <a:rPr lang="en-US" dirty="0"/>
              <a:t> +1</a:t>
            </a:r>
          </a:p>
          <a:p>
            <a:pPr marL="0" indent="0">
              <a:buNone/>
            </a:pPr>
            <a:r>
              <a:rPr lang="en-US" dirty="0"/>
              <a:t>	A[</a:t>
            </a:r>
            <a:r>
              <a:rPr lang="en-US" dirty="0" err="1"/>
              <a:t>heap_size</a:t>
            </a:r>
            <a:r>
              <a:rPr lang="en-US" dirty="0"/>
              <a:t> ] = -infinity</a:t>
            </a:r>
          </a:p>
          <a:p>
            <a:pPr marL="0" indent="0">
              <a:buNone/>
            </a:pPr>
            <a:r>
              <a:rPr lang="en-US" dirty="0"/>
              <a:t>	 Heap-Increase-Key(A, </a:t>
            </a:r>
            <a:r>
              <a:rPr lang="en-US" dirty="0" err="1"/>
              <a:t>heap_size</a:t>
            </a:r>
            <a:r>
              <a:rPr lang="en-US" dirty="0"/>
              <a:t>, key)</a:t>
            </a:r>
          </a:p>
          <a:p>
            <a:pPr marL="0" indent="0">
              <a:buNone/>
            </a:pPr>
            <a:r>
              <a:rPr lang="en-US" dirty="0"/>
              <a:t>	</a:t>
            </a:r>
          </a:p>
        </p:txBody>
      </p:sp>
      <p:sp>
        <p:nvSpPr>
          <p:cNvPr id="4" name="Date Placeholder 3">
            <a:extLst>
              <a:ext uri="{FF2B5EF4-FFF2-40B4-BE49-F238E27FC236}">
                <a16:creationId xmlns:a16="http://schemas.microsoft.com/office/drawing/2014/main" id="{6FB73D97-8783-2134-BE07-AA66ED922BD7}"/>
              </a:ext>
            </a:extLst>
          </p:cNvPr>
          <p:cNvSpPr>
            <a:spLocks noGrp="1"/>
          </p:cNvSpPr>
          <p:nvPr>
            <p:ph type="dt" sz="half" idx="10"/>
          </p:nvPr>
        </p:nvSpPr>
        <p:spPr/>
        <p:txBody>
          <a:bodyPr/>
          <a:lstStyle/>
          <a:p>
            <a:fld id="{20EE6CB8-E508-4914-BDBB-B4AA0F9FF452}" type="datetime1">
              <a:rPr lang="en-US" smtClean="0"/>
              <a:t>8/26/2026</a:t>
            </a:fld>
            <a:endParaRPr lang="en-US"/>
          </a:p>
        </p:txBody>
      </p:sp>
      <p:sp>
        <p:nvSpPr>
          <p:cNvPr id="5" name="Footer Placeholder 4">
            <a:extLst>
              <a:ext uri="{FF2B5EF4-FFF2-40B4-BE49-F238E27FC236}">
                <a16:creationId xmlns:a16="http://schemas.microsoft.com/office/drawing/2014/main" id="{4B8C5C6C-695E-2ECA-8741-5A7109ACD477}"/>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C27C4630-CB86-68FE-37A0-3B8BD08E5D25}"/>
              </a:ext>
            </a:extLst>
          </p:cNvPr>
          <p:cNvSpPr>
            <a:spLocks noGrp="1"/>
          </p:cNvSpPr>
          <p:nvPr>
            <p:ph type="sldNum" sz="quarter" idx="12"/>
          </p:nvPr>
        </p:nvSpPr>
        <p:spPr/>
        <p:txBody>
          <a:bodyPr/>
          <a:lstStyle/>
          <a:p>
            <a:fld id="{B6F15528-21DE-4FAA-801E-634DDDAF4B2B}" type="slidenum">
              <a:rPr lang="en-US" smtClean="0"/>
              <a:pPr/>
              <a:t>92</a:t>
            </a:fld>
            <a:endParaRPr lang="en-US"/>
          </a:p>
        </p:txBody>
      </p:sp>
      <p:sp>
        <p:nvSpPr>
          <p:cNvPr id="7" name="Rectangle 6">
            <a:extLst>
              <a:ext uri="{FF2B5EF4-FFF2-40B4-BE49-F238E27FC236}">
                <a16:creationId xmlns:a16="http://schemas.microsoft.com/office/drawing/2014/main" id="{407F27EA-44D5-AD8F-CDBB-E4919F6488A3}"/>
              </a:ext>
            </a:extLst>
          </p:cNvPr>
          <p:cNvSpPr/>
          <p:nvPr/>
        </p:nvSpPr>
        <p:spPr>
          <a:xfrm>
            <a:off x="7391400" y="4114800"/>
            <a:ext cx="2133600" cy="1905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Running Time – </a:t>
            </a:r>
            <a:br>
              <a:rPr lang="en-US" dirty="0"/>
            </a:br>
            <a:r>
              <a:rPr lang="en-US" dirty="0"/>
              <a:t>O(log</a:t>
            </a:r>
            <a:r>
              <a:rPr lang="en-US" sz="1600" baseline="-25000" dirty="0"/>
              <a:t>2</a:t>
            </a:r>
            <a:r>
              <a:rPr lang="en-US" dirty="0"/>
              <a:t> n)</a:t>
            </a:r>
          </a:p>
        </p:txBody>
      </p:sp>
    </p:spTree>
    <p:extLst>
      <p:ext uri="{BB962C8B-B14F-4D97-AF65-F5344CB8AC3E}">
        <p14:creationId xmlns:p14="http://schemas.microsoft.com/office/powerpoint/2010/main" val="2154653837"/>
      </p:ext>
    </p:extLst>
  </p:cSld>
  <p:clrMapOvr>
    <a:masterClrMapping/>
  </p:clrMapOvr>
  <p:transition spd="slow">
    <p:cove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7418"/>
            <a:ext cx="10972800" cy="4983163"/>
          </a:xfrm>
        </p:spPr>
        <p:txBody>
          <a:bodyPr>
            <a:normAutofit/>
          </a:bodyPr>
          <a:lstStyle/>
          <a:p>
            <a:pPr algn="just"/>
            <a:r>
              <a:rPr lang="en-US" sz="2400" dirty="0">
                <a:solidFill>
                  <a:srgbClr val="000000"/>
                </a:solidFill>
              </a:rPr>
              <a:t>AVL Tree is invented by GM Adelson - </a:t>
            </a:r>
            <a:r>
              <a:rPr lang="en-US" sz="2400" dirty="0" err="1">
                <a:solidFill>
                  <a:srgbClr val="000000"/>
                </a:solidFill>
              </a:rPr>
              <a:t>Velsky</a:t>
            </a:r>
            <a:r>
              <a:rPr lang="en-US" sz="2400" dirty="0">
                <a:solidFill>
                  <a:srgbClr val="000000"/>
                </a:solidFill>
              </a:rPr>
              <a:t> and EM Landis in 1962. The tree is named AVL in honor of its inventors.</a:t>
            </a:r>
          </a:p>
          <a:p>
            <a:pPr marL="0" indent="0" algn="just">
              <a:buNone/>
            </a:pPr>
            <a:endParaRPr lang="en-US" sz="2400" dirty="0">
              <a:solidFill>
                <a:srgbClr val="000000"/>
              </a:solidFill>
            </a:endParaRPr>
          </a:p>
          <a:p>
            <a:pPr algn="just"/>
            <a:r>
              <a:rPr lang="en-US" sz="2400" dirty="0">
                <a:solidFill>
                  <a:srgbClr val="000000"/>
                </a:solidFill>
              </a:rPr>
              <a:t>AVL Tree can be defined as height balanced binary search tree in which each node is associated with a balance factor which is calculated by subtracting the height of its right sub-tree from that of its left sub-tree.</a:t>
            </a:r>
          </a:p>
          <a:p>
            <a:pPr marL="0" indent="0" algn="just">
              <a:buNone/>
            </a:pPr>
            <a:endParaRPr lang="en-US" sz="2400" dirty="0">
              <a:solidFill>
                <a:srgbClr val="000000"/>
              </a:solidFill>
            </a:endParaRPr>
          </a:p>
          <a:p>
            <a:pPr algn="just"/>
            <a:r>
              <a:rPr lang="en-US" sz="2400" dirty="0">
                <a:solidFill>
                  <a:srgbClr val="000000"/>
                </a:solidFill>
              </a:rPr>
              <a:t>Tree is said to be balanced if balance factor of each node is in between -1 to 1, otherwise, the tree will be unbalanced and need to be balanced.</a:t>
            </a:r>
          </a:p>
          <a:p>
            <a:pPr algn="just"/>
            <a:endParaRPr lang="en-US" sz="2400" dirty="0">
              <a:solidFill>
                <a:srgbClr val="000000"/>
              </a:solidFill>
            </a:endParaRPr>
          </a:p>
          <a:p>
            <a:pPr marL="0" indent="0" algn="just">
              <a:buNone/>
            </a:pPr>
            <a:r>
              <a:rPr lang="en-US" sz="2400" b="1" dirty="0"/>
              <a:t>                    Balance Factor</a:t>
            </a:r>
            <a:r>
              <a:rPr lang="en-US" sz="2400" dirty="0"/>
              <a:t> = height(left-subtree) − height(right-subtree)</a:t>
            </a:r>
            <a:endParaRPr lang="en-IN" sz="2400" dirty="0"/>
          </a:p>
          <a:p>
            <a:endParaRPr lang="en-IN" dirty="0"/>
          </a:p>
        </p:txBody>
      </p:sp>
      <p:sp>
        <p:nvSpPr>
          <p:cNvPr id="4" name="Date Placeholder 3"/>
          <p:cNvSpPr>
            <a:spLocks noGrp="1"/>
          </p:cNvSpPr>
          <p:nvPr>
            <p:ph type="dt" sz="half" idx="10"/>
          </p:nvPr>
        </p:nvSpPr>
        <p:spPr/>
        <p:txBody>
          <a:bodyPr/>
          <a:lstStyle/>
          <a:p>
            <a:fld id="{9A60FBB5-9749-40BD-A07B-25D8536ED57E}"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7" name="Title 1"/>
          <p:cNvSpPr txBox="1">
            <a:spLocks/>
          </p:cNvSpPr>
          <p:nvPr/>
        </p:nvSpPr>
        <p:spPr>
          <a:xfrm>
            <a:off x="2895600" y="1"/>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Height Balanced Tree: AVL Tree</a:t>
            </a:r>
          </a:p>
        </p:txBody>
      </p:sp>
    </p:spTree>
    <p:extLst>
      <p:ext uri="{BB962C8B-B14F-4D97-AF65-F5344CB8AC3E}">
        <p14:creationId xmlns:p14="http://schemas.microsoft.com/office/powerpoint/2010/main" val="306462351"/>
      </p:ext>
    </p:extLst>
  </p:cSld>
  <p:clrMapOvr>
    <a:masterClrMapping/>
  </p:clrMapOvr>
  <p:transition spd="slow">
    <p:cove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E09650-F267-4382-85FA-CAEA16228132}"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pic>
        <p:nvPicPr>
          <p:cNvPr id="9" name="Picture 2" descr="AVL Tree">
            <a:extLst>
              <a:ext uri="{FF2B5EF4-FFF2-40B4-BE49-F238E27FC236}">
                <a16:creationId xmlns:a16="http://schemas.microsoft.com/office/drawing/2014/main" id="{8887443B-5EAB-4877-8B67-3C234A266F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1219200"/>
            <a:ext cx="7086600" cy="3886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438401" y="5546209"/>
            <a:ext cx="6698673" cy="400110"/>
          </a:xfrm>
          <a:prstGeom prst="rect">
            <a:avLst/>
          </a:prstGeom>
        </p:spPr>
        <p:txBody>
          <a:bodyPr wrap="square">
            <a:spAutoFit/>
          </a:bodyPr>
          <a:lstStyle/>
          <a:p>
            <a:r>
              <a:rPr lang="en-US" sz="2000" b="1" dirty="0" err="1"/>
              <a:t>BalanceFactor</a:t>
            </a:r>
            <a:r>
              <a:rPr lang="en-US" sz="2000" dirty="0"/>
              <a:t> = height(left-subtree) − height(right-subtree)</a:t>
            </a:r>
            <a:endParaRPr lang="en-IN" sz="2000" dirty="0"/>
          </a:p>
        </p:txBody>
      </p:sp>
    </p:spTree>
    <p:extLst>
      <p:ext uri="{BB962C8B-B14F-4D97-AF65-F5344CB8AC3E}">
        <p14:creationId xmlns:p14="http://schemas.microsoft.com/office/powerpoint/2010/main" val="2108952519"/>
      </p:ext>
    </p:extLst>
  </p:cSld>
  <p:clrMapOvr>
    <a:masterClrMapping/>
  </p:clrMapOvr>
  <p:transition spd="slow">
    <p:cove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C5BC2C-3127-470F-9BAC-25B4EE1A49EC}"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pic>
        <p:nvPicPr>
          <p:cNvPr id="9" name="Picture 8">
            <a:extLst>
              <a:ext uri="{FF2B5EF4-FFF2-40B4-BE49-F238E27FC236}">
                <a16:creationId xmlns:a16="http://schemas.microsoft.com/office/drawing/2014/main" id="{C6DBAFA1-F2C1-42A7-9DDD-8EF4CD909C8E}"/>
              </a:ext>
            </a:extLst>
          </p:cNvPr>
          <p:cNvPicPr>
            <a:picLocks noChangeAspect="1"/>
          </p:cNvPicPr>
          <p:nvPr/>
        </p:nvPicPr>
        <p:blipFill>
          <a:blip r:embed="rId2"/>
          <a:stretch>
            <a:fillRect/>
          </a:stretch>
        </p:blipFill>
        <p:spPr>
          <a:xfrm>
            <a:off x="1066800" y="914400"/>
            <a:ext cx="10515600" cy="5181600"/>
          </a:xfrm>
          <a:prstGeom prst="rect">
            <a:avLst/>
          </a:prstGeom>
        </p:spPr>
      </p:pic>
    </p:spTree>
    <p:extLst>
      <p:ext uri="{BB962C8B-B14F-4D97-AF65-F5344CB8AC3E}">
        <p14:creationId xmlns:p14="http://schemas.microsoft.com/office/powerpoint/2010/main" val="2353878414"/>
      </p:ext>
    </p:extLst>
  </p:cSld>
  <p:clrMapOvr>
    <a:masterClrMapping/>
  </p:clrMapOvr>
  <p:transition spd="slow">
    <p:cove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0601"/>
            <a:ext cx="10820400" cy="5199750"/>
          </a:xfrm>
        </p:spPr>
        <p:txBody>
          <a:bodyPr>
            <a:normAutofit fontScale="55000" lnSpcReduction="20000"/>
          </a:bodyPr>
          <a:lstStyle/>
          <a:p>
            <a:pPr algn="just"/>
            <a:r>
              <a:rPr lang="en-US" sz="3800" dirty="0">
                <a:solidFill>
                  <a:srgbClr val="000000"/>
                </a:solidFill>
                <a:latin typeface="verdana" panose="020B0604030504040204" pitchFamily="34" charset="0"/>
              </a:rPr>
              <a:t>We perform rotation in AVL tree only in case if Balance Factor is other than </a:t>
            </a:r>
            <a:r>
              <a:rPr lang="en-US" sz="3800" b="1" dirty="0">
                <a:solidFill>
                  <a:srgbClr val="000000"/>
                </a:solidFill>
                <a:latin typeface="verdana" panose="020B0604030504040204" pitchFamily="34" charset="0"/>
              </a:rPr>
              <a:t>-1, 0, and 1</a:t>
            </a:r>
            <a:r>
              <a:rPr lang="en-US" sz="3800" dirty="0">
                <a:solidFill>
                  <a:srgbClr val="000000"/>
                </a:solidFill>
                <a:latin typeface="verdana" panose="020B0604030504040204" pitchFamily="34" charset="0"/>
              </a:rPr>
              <a:t>. </a:t>
            </a:r>
          </a:p>
          <a:p>
            <a:pPr algn="just"/>
            <a:r>
              <a:rPr lang="en-US" sz="3800" dirty="0">
                <a:solidFill>
                  <a:srgbClr val="000000"/>
                </a:solidFill>
                <a:latin typeface="verdana" panose="020B0604030504040204" pitchFamily="34" charset="0"/>
              </a:rPr>
              <a:t>There are basically four types of rotations which are as follows:</a:t>
            </a:r>
          </a:p>
          <a:p>
            <a:pPr algn="just"/>
            <a:endParaRPr lang="en-US" sz="3800" dirty="0">
              <a:solidFill>
                <a:srgbClr val="000000"/>
              </a:solidFill>
              <a:latin typeface="verdana" panose="020B0604030504040204" pitchFamily="34" charset="0"/>
            </a:endParaRPr>
          </a:p>
          <a:p>
            <a:pPr lvl="1" algn="just">
              <a:buFont typeface="Wingdings" panose="05000000000000000000" pitchFamily="2" charset="2"/>
              <a:buChar char="Ø"/>
            </a:pPr>
            <a:r>
              <a:rPr lang="en-US" sz="3800" b="1" dirty="0">
                <a:solidFill>
                  <a:srgbClr val="000000"/>
                </a:solidFill>
                <a:latin typeface="verdana" panose="020B0604030504040204" pitchFamily="34" charset="0"/>
              </a:rPr>
              <a:t>L </a:t>
            </a:r>
            <a:r>
              <a:rPr lang="en-US" sz="3800" b="1" dirty="0" err="1">
                <a:solidFill>
                  <a:srgbClr val="000000"/>
                </a:solidFill>
                <a:latin typeface="verdana" panose="020B0604030504040204" pitchFamily="34" charset="0"/>
              </a:rPr>
              <a:t>L</a:t>
            </a:r>
            <a:r>
              <a:rPr lang="en-US" sz="3800" b="1" dirty="0">
                <a:solidFill>
                  <a:srgbClr val="000000"/>
                </a:solidFill>
                <a:latin typeface="verdana" panose="020B0604030504040204" pitchFamily="34" charset="0"/>
              </a:rPr>
              <a:t> rotation: </a:t>
            </a:r>
            <a:r>
              <a:rPr lang="en-US" sz="3800" dirty="0">
                <a:solidFill>
                  <a:srgbClr val="000000"/>
                </a:solidFill>
                <a:latin typeface="verdana" panose="020B0604030504040204" pitchFamily="34" charset="0"/>
              </a:rPr>
              <a:t>Inserted node is in the left subtree of left subtree of A</a:t>
            </a:r>
          </a:p>
          <a:p>
            <a:pPr lvl="1" algn="just">
              <a:buFont typeface="Wingdings" panose="05000000000000000000" pitchFamily="2" charset="2"/>
              <a:buChar char="Ø"/>
            </a:pPr>
            <a:r>
              <a:rPr lang="en-US" sz="3800" b="1" dirty="0">
                <a:solidFill>
                  <a:srgbClr val="000000"/>
                </a:solidFill>
                <a:latin typeface="verdana" panose="020B0604030504040204" pitchFamily="34" charset="0"/>
              </a:rPr>
              <a:t>R </a:t>
            </a:r>
            <a:r>
              <a:rPr lang="en-US" sz="3800" b="1" dirty="0" err="1">
                <a:solidFill>
                  <a:srgbClr val="000000"/>
                </a:solidFill>
                <a:latin typeface="verdana" panose="020B0604030504040204" pitchFamily="34" charset="0"/>
              </a:rPr>
              <a:t>R</a:t>
            </a:r>
            <a:r>
              <a:rPr lang="en-US" sz="3800" b="1" dirty="0">
                <a:solidFill>
                  <a:srgbClr val="000000"/>
                </a:solidFill>
                <a:latin typeface="verdana" panose="020B0604030504040204" pitchFamily="34" charset="0"/>
              </a:rPr>
              <a:t> rotation : </a:t>
            </a:r>
            <a:r>
              <a:rPr lang="en-US" sz="3800" dirty="0">
                <a:solidFill>
                  <a:srgbClr val="000000"/>
                </a:solidFill>
                <a:latin typeface="verdana" panose="020B0604030504040204" pitchFamily="34" charset="0"/>
              </a:rPr>
              <a:t>Inserted node is in the right subtree of right subtree of A</a:t>
            </a:r>
          </a:p>
          <a:p>
            <a:pPr lvl="1" algn="just">
              <a:buFont typeface="Wingdings" panose="05000000000000000000" pitchFamily="2" charset="2"/>
              <a:buChar char="Ø"/>
            </a:pPr>
            <a:r>
              <a:rPr lang="en-US" sz="3800" b="1" dirty="0">
                <a:solidFill>
                  <a:srgbClr val="000000"/>
                </a:solidFill>
                <a:latin typeface="verdana" panose="020B0604030504040204" pitchFamily="34" charset="0"/>
              </a:rPr>
              <a:t>L R rotation : </a:t>
            </a:r>
            <a:r>
              <a:rPr lang="en-US" sz="3800" dirty="0">
                <a:solidFill>
                  <a:srgbClr val="000000"/>
                </a:solidFill>
                <a:latin typeface="verdana" panose="020B0604030504040204" pitchFamily="34" charset="0"/>
              </a:rPr>
              <a:t>Inserted node is in the right subtree of left subtree of A</a:t>
            </a:r>
          </a:p>
          <a:p>
            <a:pPr lvl="1" algn="just">
              <a:buFont typeface="Wingdings" panose="05000000000000000000" pitchFamily="2" charset="2"/>
              <a:buChar char="Ø"/>
            </a:pPr>
            <a:r>
              <a:rPr lang="en-US" sz="3800" b="1" dirty="0">
                <a:solidFill>
                  <a:srgbClr val="000000"/>
                </a:solidFill>
                <a:latin typeface="verdana" panose="020B0604030504040204" pitchFamily="34" charset="0"/>
              </a:rPr>
              <a:t>R L rotation : </a:t>
            </a:r>
            <a:r>
              <a:rPr lang="en-US" sz="3800" dirty="0">
                <a:solidFill>
                  <a:srgbClr val="000000"/>
                </a:solidFill>
                <a:latin typeface="verdana" panose="020B0604030504040204" pitchFamily="34" charset="0"/>
              </a:rPr>
              <a:t>Inserted node is in the left subtree of right subtree of A</a:t>
            </a:r>
          </a:p>
          <a:p>
            <a:pPr algn="just"/>
            <a:endParaRPr lang="en-US" sz="3800" dirty="0">
              <a:solidFill>
                <a:srgbClr val="000000"/>
              </a:solidFill>
              <a:latin typeface="verdana" panose="020B0604030504040204" pitchFamily="34" charset="0"/>
            </a:endParaRPr>
          </a:p>
          <a:p>
            <a:pPr algn="just"/>
            <a:r>
              <a:rPr lang="en-US" sz="3800" dirty="0">
                <a:solidFill>
                  <a:srgbClr val="000000"/>
                </a:solidFill>
                <a:latin typeface="verdana" panose="020B0604030504040204" pitchFamily="34" charset="0"/>
              </a:rPr>
              <a:t>Where node A is the node whose balance Factor is other than -1, 0, 1.</a:t>
            </a:r>
          </a:p>
          <a:p>
            <a:pPr algn="just"/>
            <a:endParaRPr lang="en-US" sz="3800" dirty="0">
              <a:solidFill>
                <a:srgbClr val="000000"/>
              </a:solidFill>
              <a:latin typeface="verdana" panose="020B0604030504040204" pitchFamily="34" charset="0"/>
            </a:endParaRPr>
          </a:p>
          <a:p>
            <a:pPr algn="just"/>
            <a:endParaRPr lang="en-US" sz="3800" dirty="0">
              <a:solidFill>
                <a:srgbClr val="000000"/>
              </a:solidFill>
              <a:latin typeface="verdana" panose="020B0604030504040204" pitchFamily="34" charset="0"/>
            </a:endParaRPr>
          </a:p>
          <a:p>
            <a:pPr algn="just"/>
            <a:r>
              <a:rPr lang="en-US" sz="3800" dirty="0">
                <a:solidFill>
                  <a:srgbClr val="000000"/>
                </a:solidFill>
                <a:latin typeface="verdana" panose="020B0604030504040204" pitchFamily="34" charset="0"/>
              </a:rPr>
              <a:t>The first two rotations LL and RR are single rotations and the next two rotations LR and RL are double rotations.</a:t>
            </a:r>
          </a:p>
          <a:p>
            <a:pPr algn="just"/>
            <a:endParaRPr lang="en-IN" dirty="0"/>
          </a:p>
        </p:txBody>
      </p:sp>
      <p:sp>
        <p:nvSpPr>
          <p:cNvPr id="4" name="Date Placeholder 3"/>
          <p:cNvSpPr>
            <a:spLocks noGrp="1"/>
          </p:cNvSpPr>
          <p:nvPr>
            <p:ph type="dt" sz="half" idx="10"/>
          </p:nvPr>
        </p:nvSpPr>
        <p:spPr/>
        <p:txBody>
          <a:bodyPr/>
          <a:lstStyle/>
          <a:p>
            <a:fld id="{33F887E6-6B18-4F38-834D-A217E60005A8}"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AVL Rotations</a:t>
            </a:r>
          </a:p>
        </p:txBody>
      </p:sp>
    </p:spTree>
    <p:extLst>
      <p:ext uri="{BB962C8B-B14F-4D97-AF65-F5344CB8AC3E}">
        <p14:creationId xmlns:p14="http://schemas.microsoft.com/office/powerpoint/2010/main" val="284955470"/>
      </p:ext>
    </p:extLst>
  </p:cSld>
  <p:clrMapOvr>
    <a:masterClrMapping/>
  </p:clrMapOvr>
  <p:transition spd="slow">
    <p:cove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207188"/>
            <a:ext cx="10591800" cy="2069413"/>
          </a:xfrm>
        </p:spPr>
        <p:txBody>
          <a:bodyPr>
            <a:normAutofit fontScale="85000" lnSpcReduction="10000"/>
          </a:bodyPr>
          <a:lstStyle/>
          <a:p>
            <a:pPr algn="just" eaLnBrk="0" fontAlgn="base" hangingPunct="0">
              <a:spcBef>
                <a:spcPct val="0"/>
              </a:spcBef>
              <a:spcAft>
                <a:spcPct val="0"/>
              </a:spcAft>
            </a:pPr>
            <a:r>
              <a:rPr lang="en-US" altLang="en-US" dirty="0">
                <a:solidFill>
                  <a:srgbClr val="000000"/>
                </a:solidFill>
                <a:cs typeface="Arial" panose="020B0604020202020204" pitchFamily="34" charset="0"/>
              </a:rPr>
              <a:t>If a tree becomes unbalanced, when a node is inserted into the right subtree of the right subtree, then we perform a single left rotation.</a:t>
            </a:r>
          </a:p>
          <a:p>
            <a:pPr algn="just" eaLnBrk="0" fontAlgn="base" hangingPunct="0">
              <a:spcBef>
                <a:spcPct val="0"/>
              </a:spcBef>
              <a:spcAft>
                <a:spcPct val="0"/>
              </a:spcAft>
            </a:pPr>
            <a:r>
              <a:rPr lang="en-US" altLang="en-US" dirty="0">
                <a:solidFill>
                  <a:srgbClr val="000000"/>
                </a:solidFill>
                <a:cs typeface="Arial" panose="020B0604020202020204" pitchFamily="34" charset="0"/>
              </a:rPr>
              <a:t>In this example, node </a:t>
            </a:r>
            <a:r>
              <a:rPr lang="en-US" altLang="en-US" b="1" dirty="0">
                <a:solidFill>
                  <a:srgbClr val="000000"/>
                </a:solidFill>
                <a:cs typeface="Arial" panose="020B0604020202020204" pitchFamily="34" charset="0"/>
              </a:rPr>
              <a:t>A</a:t>
            </a:r>
            <a:r>
              <a:rPr lang="en-US" altLang="en-US" dirty="0">
                <a:solidFill>
                  <a:srgbClr val="000000"/>
                </a:solidFill>
                <a:cs typeface="Arial" panose="020B0604020202020204" pitchFamily="34" charset="0"/>
              </a:rPr>
              <a:t> has become unbalanced as a node is inserted in the right subtree of A's right subtree.</a:t>
            </a:r>
          </a:p>
          <a:p>
            <a:pPr algn="just" eaLnBrk="0" fontAlgn="base" hangingPunct="0">
              <a:spcBef>
                <a:spcPct val="0"/>
              </a:spcBef>
              <a:spcAft>
                <a:spcPct val="0"/>
              </a:spcAft>
            </a:pPr>
            <a:r>
              <a:rPr lang="en-US" altLang="en-US" dirty="0">
                <a:solidFill>
                  <a:srgbClr val="000000"/>
                </a:solidFill>
                <a:cs typeface="Arial" panose="020B0604020202020204" pitchFamily="34" charset="0"/>
              </a:rPr>
              <a:t>We perform the left rotation by making </a:t>
            </a:r>
            <a:r>
              <a:rPr lang="en-US" altLang="en-US" b="1" dirty="0">
                <a:solidFill>
                  <a:srgbClr val="000000"/>
                </a:solidFill>
                <a:cs typeface="Arial" panose="020B0604020202020204" pitchFamily="34" charset="0"/>
              </a:rPr>
              <a:t>A</a:t>
            </a:r>
            <a:r>
              <a:rPr lang="en-US" altLang="en-US" dirty="0">
                <a:solidFill>
                  <a:srgbClr val="000000"/>
                </a:solidFill>
                <a:cs typeface="Arial" panose="020B0604020202020204" pitchFamily="34" charset="0"/>
              </a:rPr>
              <a:t> the left-subtree of B.</a:t>
            </a:r>
            <a:endParaRPr lang="en-US" altLang="en-US" dirty="0"/>
          </a:p>
          <a:p>
            <a:endParaRPr lang="en-IN" dirty="0"/>
          </a:p>
        </p:txBody>
      </p:sp>
      <p:sp>
        <p:nvSpPr>
          <p:cNvPr id="4" name="Date Placeholder 3"/>
          <p:cNvSpPr>
            <a:spLocks noGrp="1"/>
          </p:cNvSpPr>
          <p:nvPr>
            <p:ph type="dt" sz="half" idx="10"/>
          </p:nvPr>
        </p:nvSpPr>
        <p:spPr/>
        <p:txBody>
          <a:bodyPr/>
          <a:lstStyle/>
          <a:p>
            <a:fld id="{3C375F36-D277-434B-946E-BA78EBA580BE}"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en-US" dirty="0"/>
              <a:t>Left Rotation/RR Rotation</a:t>
            </a:r>
          </a:p>
        </p:txBody>
      </p:sp>
      <p:pic>
        <p:nvPicPr>
          <p:cNvPr id="9" name="Picture 2" descr="Left Rotation">
            <a:extLst>
              <a:ext uri="{FF2B5EF4-FFF2-40B4-BE49-F238E27FC236}">
                <a16:creationId xmlns:a16="http://schemas.microsoft.com/office/drawing/2014/main" id="{1FF6C633-214D-4E48-90FF-FFA964795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493189"/>
            <a:ext cx="8534400" cy="2755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08097"/>
      </p:ext>
    </p:extLst>
  </p:cSld>
  <p:clrMapOvr>
    <a:masterClrMapping/>
  </p:clrMapOvr>
  <p:transition spd="slow">
    <p:cove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998253"/>
            <a:ext cx="10515600" cy="2450412"/>
          </a:xfrm>
        </p:spPr>
        <p:txBody>
          <a:bodyPr>
            <a:normAutofit lnSpcReduction="10000"/>
          </a:bodyPr>
          <a:lstStyle/>
          <a:p>
            <a:pPr algn="just" eaLnBrk="0" fontAlgn="base" hangingPunct="0">
              <a:spcBef>
                <a:spcPct val="0"/>
              </a:spcBef>
              <a:spcAft>
                <a:spcPct val="0"/>
              </a:spcAft>
            </a:pPr>
            <a:r>
              <a:rPr lang="en-US" altLang="en-US" dirty="0">
                <a:solidFill>
                  <a:srgbClr val="000000"/>
                </a:solidFill>
                <a:cs typeface="Arial" panose="020B0604020202020204" pitchFamily="34" charset="0"/>
              </a:rPr>
              <a:t>AVL tree may become unbalanced, if a node is inserted in the left subtree of the left subtree. </a:t>
            </a:r>
          </a:p>
          <a:p>
            <a:pPr algn="just" eaLnBrk="0" fontAlgn="base" hangingPunct="0">
              <a:spcBef>
                <a:spcPct val="0"/>
              </a:spcBef>
              <a:spcAft>
                <a:spcPct val="0"/>
              </a:spcAft>
            </a:pPr>
            <a:r>
              <a:rPr lang="en-US" altLang="en-US" dirty="0">
                <a:solidFill>
                  <a:srgbClr val="000000"/>
                </a:solidFill>
                <a:cs typeface="Arial" panose="020B0604020202020204" pitchFamily="34" charset="0"/>
              </a:rPr>
              <a:t>The tree then needs a right rotation.</a:t>
            </a:r>
            <a:endParaRPr lang="en-US" altLang="en-US" dirty="0"/>
          </a:p>
          <a:p>
            <a:pPr algn="just" eaLnBrk="0" fontAlgn="base" hangingPunct="0">
              <a:spcBef>
                <a:spcPct val="0"/>
              </a:spcBef>
              <a:spcAft>
                <a:spcPct val="0"/>
              </a:spcAft>
            </a:pPr>
            <a:r>
              <a:rPr lang="en-US" altLang="en-US" dirty="0">
                <a:solidFill>
                  <a:srgbClr val="000000"/>
                </a:solidFill>
                <a:cs typeface="Arial" panose="020B0604020202020204" pitchFamily="34" charset="0"/>
              </a:rPr>
              <a:t>As depicted, the unbalanced node becomes the right child of its left child by performing a right rotation.</a:t>
            </a:r>
            <a:endParaRPr lang="en-US" altLang="en-US" dirty="0"/>
          </a:p>
          <a:p>
            <a:endParaRPr lang="en-IN" dirty="0"/>
          </a:p>
        </p:txBody>
      </p:sp>
      <p:sp>
        <p:nvSpPr>
          <p:cNvPr id="4" name="Date Placeholder 3"/>
          <p:cNvSpPr>
            <a:spLocks noGrp="1"/>
          </p:cNvSpPr>
          <p:nvPr>
            <p:ph type="dt" sz="half" idx="10"/>
          </p:nvPr>
        </p:nvSpPr>
        <p:spPr/>
        <p:txBody>
          <a:bodyPr/>
          <a:lstStyle/>
          <a:p>
            <a:fld id="{ABB0AAFC-85D1-4AA6-A943-BA69F0317827}"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Right Rotation/LL Rotation</a:t>
            </a:r>
          </a:p>
        </p:txBody>
      </p:sp>
      <p:pic>
        <p:nvPicPr>
          <p:cNvPr id="9" name="Picture 2" descr="Right Rotation">
            <a:extLst>
              <a:ext uri="{FF2B5EF4-FFF2-40B4-BE49-F238E27FC236}">
                <a16:creationId xmlns:a16="http://schemas.microsoft.com/office/drawing/2014/main" id="{FFDAE8C5-4370-41B3-8697-320B4E2AA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645588"/>
            <a:ext cx="9753600" cy="2450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34046"/>
      </p:ext>
    </p:extLst>
  </p:cSld>
  <p:clrMapOvr>
    <a:masterClrMapping/>
  </p:clrMapOvr>
  <p:transition spd="slow">
    <p:cove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798715"/>
            <a:ext cx="10287000" cy="1155013"/>
          </a:xfrm>
        </p:spPr>
        <p:txBody>
          <a:bodyPr>
            <a:normAutofit fontScale="92500"/>
          </a:bodyPr>
          <a:lstStyle/>
          <a:p>
            <a:r>
              <a:rPr lang="en-US" dirty="0">
                <a:solidFill>
                  <a:srgbClr val="000000"/>
                </a:solidFill>
              </a:rPr>
              <a:t>The second type of double rotation is Right-Left Rotation. It is a combination of right rotation followed by left rotation.</a:t>
            </a:r>
          </a:p>
          <a:p>
            <a:endParaRPr lang="en-IN" dirty="0"/>
          </a:p>
        </p:txBody>
      </p:sp>
      <p:sp>
        <p:nvSpPr>
          <p:cNvPr id="4" name="Date Placeholder 3"/>
          <p:cNvSpPr>
            <a:spLocks noGrp="1"/>
          </p:cNvSpPr>
          <p:nvPr>
            <p:ph type="dt" sz="half" idx="10"/>
          </p:nvPr>
        </p:nvSpPr>
        <p:spPr/>
        <p:txBody>
          <a:bodyPr/>
          <a:lstStyle/>
          <a:p>
            <a:fld id="{22BC6CCB-F357-41B3-9EC1-2276BEFA9736}"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Right Rotation/LL Rotation</a:t>
            </a:r>
          </a:p>
        </p:txBody>
      </p:sp>
      <p:graphicFrame>
        <p:nvGraphicFramePr>
          <p:cNvPr id="2" name="Table 1"/>
          <p:cNvGraphicFramePr>
            <a:graphicFrameLocks noGrp="1"/>
          </p:cNvGraphicFramePr>
          <p:nvPr>
            <p:extLst>
              <p:ext uri="{D42A27DB-BD31-4B8C-83A1-F6EECF244321}">
                <p14:modId xmlns:p14="http://schemas.microsoft.com/office/powerpoint/2010/main" val="3981174725"/>
              </p:ext>
            </p:extLst>
          </p:nvPr>
        </p:nvGraphicFramePr>
        <p:xfrm>
          <a:off x="1295400" y="1828800"/>
          <a:ext cx="10058401" cy="4133669"/>
        </p:xfrm>
        <a:graphic>
          <a:graphicData uri="http://schemas.openxmlformats.org/drawingml/2006/table">
            <a:tbl>
              <a:tblPr/>
              <a:tblGrid>
                <a:gridCol w="2775895">
                  <a:extLst>
                    <a:ext uri="{9D8B030D-6E8A-4147-A177-3AD203B41FA5}">
                      <a16:colId xmlns:a16="http://schemas.microsoft.com/office/drawing/2014/main" val="669515104"/>
                    </a:ext>
                  </a:extLst>
                </a:gridCol>
                <a:gridCol w="7282506">
                  <a:extLst>
                    <a:ext uri="{9D8B030D-6E8A-4147-A177-3AD203B41FA5}">
                      <a16:colId xmlns:a16="http://schemas.microsoft.com/office/drawing/2014/main" val="2906570558"/>
                    </a:ext>
                  </a:extLst>
                </a:gridCol>
              </a:tblGrid>
              <a:tr h="716503">
                <a:tc>
                  <a:txBody>
                    <a:bodyPr/>
                    <a:lstStyle/>
                    <a:p>
                      <a:pPr algn="ctr" fontAlgn="t"/>
                      <a:r>
                        <a:rPr lang="en-IN" dirty="0">
                          <a:effectLst/>
                        </a:rPr>
                        <a:t>State</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Action</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394462537"/>
                  </a:ext>
                </a:extLst>
              </a:tr>
              <a:tr h="1708583">
                <a:tc>
                  <a:txBody>
                    <a:bodyPr/>
                    <a:lstStyle/>
                    <a:p>
                      <a:pPr fontAlgn="t"/>
                      <a:endParaRPr lang="en-IN" dirty="0">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200" dirty="0">
                          <a:effectLst/>
                        </a:rPr>
                        <a:t>A node has been inserted into the left subtree of the right subtree. This makes </a:t>
                      </a:r>
                      <a:r>
                        <a:rPr lang="en-US" sz="2200" b="1" dirty="0">
                          <a:effectLst/>
                        </a:rPr>
                        <a:t>A</a:t>
                      </a:r>
                      <a:r>
                        <a:rPr lang="en-US" sz="2200" dirty="0">
                          <a:effectLst/>
                        </a:rPr>
                        <a:t>, an unbalanced node with balance factor 2.</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32394322"/>
                  </a:ext>
                </a:extLst>
              </a:tr>
              <a:tr h="1708583">
                <a:tc>
                  <a:txBody>
                    <a:bodyPr/>
                    <a:lstStyle/>
                    <a:p>
                      <a:pPr fontAlgn="t"/>
                      <a:endParaRPr lang="en-IN">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200" dirty="0">
                          <a:effectLst/>
                        </a:rPr>
                        <a:t>First, we perform the right rotation along </a:t>
                      </a:r>
                      <a:r>
                        <a:rPr lang="en-US" sz="2200" b="1" dirty="0">
                          <a:effectLst/>
                        </a:rPr>
                        <a:t>C</a:t>
                      </a:r>
                      <a:r>
                        <a:rPr lang="en-US" sz="2200" dirty="0">
                          <a:effectLst/>
                        </a:rPr>
                        <a:t> node, making </a:t>
                      </a:r>
                      <a:r>
                        <a:rPr lang="en-US" sz="2200" b="1" dirty="0">
                          <a:effectLst/>
                        </a:rPr>
                        <a:t>C</a:t>
                      </a:r>
                      <a:r>
                        <a:rPr lang="en-US" sz="2200" dirty="0">
                          <a:effectLst/>
                        </a:rPr>
                        <a:t> the right subtree of its own left subtree </a:t>
                      </a:r>
                      <a:r>
                        <a:rPr lang="en-US" sz="2200" b="1" dirty="0">
                          <a:effectLst/>
                        </a:rPr>
                        <a:t>B</a:t>
                      </a:r>
                      <a:r>
                        <a:rPr lang="en-US" sz="2200" dirty="0">
                          <a:effectLst/>
                        </a:rPr>
                        <a:t>. Now, </a:t>
                      </a:r>
                      <a:r>
                        <a:rPr lang="en-US" sz="2200" b="1" dirty="0">
                          <a:effectLst/>
                        </a:rPr>
                        <a:t>B</a:t>
                      </a:r>
                      <a:r>
                        <a:rPr lang="en-US" sz="2200" dirty="0">
                          <a:effectLst/>
                        </a:rPr>
                        <a:t> becomes the right subtree of </a:t>
                      </a:r>
                      <a:r>
                        <a:rPr lang="en-US" sz="2200" b="1" dirty="0">
                          <a:effectLst/>
                        </a:rPr>
                        <a:t>A</a:t>
                      </a:r>
                      <a:r>
                        <a:rPr lang="en-US" sz="2200" dirty="0">
                          <a:effectLst/>
                        </a:rPr>
                        <a: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83935775"/>
                  </a:ext>
                </a:extLst>
              </a:tr>
            </a:tbl>
          </a:graphicData>
        </a:graphic>
      </p:graphicFrame>
      <p:pic>
        <p:nvPicPr>
          <p:cNvPr id="10" name="Picture 1" descr="Left Subtree of Right Subtree">
            <a:extLst>
              <a:ext uri="{FF2B5EF4-FFF2-40B4-BE49-F238E27FC236}">
                <a16:creationId xmlns:a16="http://schemas.microsoft.com/office/drawing/2014/main" id="{E5066CC8-41C6-405E-865A-C6FDD6E4E3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1837" y="2562080"/>
            <a:ext cx="1767526" cy="159295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Subtree Right Rotation">
            <a:extLst>
              <a:ext uri="{FF2B5EF4-FFF2-40B4-BE49-F238E27FC236}">
                <a16:creationId xmlns:a16="http://schemas.microsoft.com/office/drawing/2014/main" id="{FEDF776F-288A-474F-9140-1AD3C0A82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022" y="4308125"/>
            <a:ext cx="1652241" cy="1688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374821"/>
      </p:ext>
    </p:extLst>
  </p:cSld>
  <p:clrMapOvr>
    <a:masterClrMapping/>
  </p:clrMapOvr>
  <p:transition spd="slow">
    <p:cove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77DF66-06B3-4F48-A7BC-7D4E045F2E3C}"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Right Rotation/LL Rotation</a:t>
            </a:r>
          </a:p>
        </p:txBody>
      </p:sp>
      <p:graphicFrame>
        <p:nvGraphicFramePr>
          <p:cNvPr id="17" name="Table 16">
            <a:extLst>
              <a:ext uri="{FF2B5EF4-FFF2-40B4-BE49-F238E27FC236}">
                <a16:creationId xmlns:a16="http://schemas.microsoft.com/office/drawing/2014/main" id="{2689E2F8-516E-4A3C-BE4D-24C2AC780747}"/>
              </a:ext>
            </a:extLst>
          </p:cNvPr>
          <p:cNvGraphicFramePr>
            <a:graphicFrameLocks noGrp="1"/>
          </p:cNvGraphicFramePr>
          <p:nvPr>
            <p:extLst>
              <p:ext uri="{D42A27DB-BD31-4B8C-83A1-F6EECF244321}">
                <p14:modId xmlns:p14="http://schemas.microsoft.com/office/powerpoint/2010/main" val="2450586726"/>
              </p:ext>
            </p:extLst>
          </p:nvPr>
        </p:nvGraphicFramePr>
        <p:xfrm>
          <a:off x="1219200" y="1147041"/>
          <a:ext cx="10363200" cy="5181600"/>
        </p:xfrm>
        <a:graphic>
          <a:graphicData uri="http://schemas.openxmlformats.org/drawingml/2006/table">
            <a:tbl>
              <a:tblPr/>
              <a:tblGrid>
                <a:gridCol w="4311091">
                  <a:extLst>
                    <a:ext uri="{9D8B030D-6E8A-4147-A177-3AD203B41FA5}">
                      <a16:colId xmlns:a16="http://schemas.microsoft.com/office/drawing/2014/main" val="1389565521"/>
                    </a:ext>
                  </a:extLst>
                </a:gridCol>
                <a:gridCol w="6052109">
                  <a:extLst>
                    <a:ext uri="{9D8B030D-6E8A-4147-A177-3AD203B41FA5}">
                      <a16:colId xmlns:a16="http://schemas.microsoft.com/office/drawing/2014/main" val="689524924"/>
                    </a:ext>
                  </a:extLst>
                </a:gridCol>
              </a:tblGrid>
              <a:tr h="1829221">
                <a:tc>
                  <a:txBody>
                    <a:bodyPr/>
                    <a:lstStyle/>
                    <a:p>
                      <a:pPr fontAlgn="t"/>
                      <a:endParaRPr lang="en-IN" dirty="0">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000" dirty="0">
                          <a:effectLst/>
                        </a:rPr>
                        <a:t>Node </a:t>
                      </a:r>
                      <a:r>
                        <a:rPr lang="en-US" sz="2000" b="1" dirty="0">
                          <a:effectLst/>
                        </a:rPr>
                        <a:t>A</a:t>
                      </a:r>
                      <a:r>
                        <a:rPr lang="en-US" sz="2000" dirty="0">
                          <a:effectLst/>
                        </a:rPr>
                        <a:t> is still unbalanced because of the right subtree of its right subtree and requires a left rotation.</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58965968"/>
                  </a:ext>
                </a:extLst>
              </a:tr>
              <a:tr h="1721620">
                <a:tc>
                  <a:txBody>
                    <a:bodyPr/>
                    <a:lstStyle/>
                    <a:p>
                      <a:pPr fontAlgn="t"/>
                      <a:endParaRPr lang="en-IN" dirty="0">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000" dirty="0">
                          <a:effectLst/>
                        </a:rPr>
                        <a:t>A left rotation is performed by making </a:t>
                      </a:r>
                      <a:r>
                        <a:rPr lang="en-US" sz="2000" b="1" dirty="0">
                          <a:effectLst/>
                        </a:rPr>
                        <a:t>B</a:t>
                      </a:r>
                      <a:r>
                        <a:rPr lang="en-US" sz="2000" dirty="0">
                          <a:effectLst/>
                        </a:rPr>
                        <a:t> the new root node of the subtree. </a:t>
                      </a:r>
                      <a:r>
                        <a:rPr lang="en-US" sz="2000" b="1" dirty="0">
                          <a:effectLst/>
                        </a:rPr>
                        <a:t>A</a:t>
                      </a:r>
                      <a:r>
                        <a:rPr lang="en-US" sz="2000" dirty="0">
                          <a:effectLst/>
                        </a:rPr>
                        <a:t> becomes the left subtree of its right subtree </a:t>
                      </a:r>
                      <a:r>
                        <a:rPr lang="en-US" sz="2000" b="1" dirty="0">
                          <a:effectLst/>
                        </a:rPr>
                        <a:t>B</a:t>
                      </a:r>
                      <a:r>
                        <a:rPr lang="en-US" sz="2000" dirty="0">
                          <a:effectLst/>
                        </a:rPr>
                        <a: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18452223"/>
                  </a:ext>
                </a:extLst>
              </a:tr>
              <a:tr h="1630759">
                <a:tc>
                  <a:txBody>
                    <a:bodyPr/>
                    <a:lstStyle/>
                    <a:p>
                      <a:pPr fontAlgn="t"/>
                      <a:endParaRPr lang="en-IN">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ctr"/>
                      <a:r>
                        <a:rPr lang="en-US" sz="2000" dirty="0">
                          <a:effectLst/>
                        </a:rPr>
                        <a:t>The tree is now balanced.</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67289467"/>
                  </a:ext>
                </a:extLst>
              </a:tr>
            </a:tbl>
          </a:graphicData>
        </a:graphic>
      </p:graphicFrame>
      <p:pic>
        <p:nvPicPr>
          <p:cNvPr id="18" name="Picture 3" descr="Right Unbalanced Tree">
            <a:extLst>
              <a:ext uri="{FF2B5EF4-FFF2-40B4-BE49-F238E27FC236}">
                <a16:creationId xmlns:a16="http://schemas.microsoft.com/office/drawing/2014/main" id="{0AF48502-492F-4B7F-9F85-1127B4A9D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0729" y="1219200"/>
            <a:ext cx="1618718" cy="151756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Left Rotation">
            <a:extLst>
              <a:ext uri="{FF2B5EF4-FFF2-40B4-BE49-F238E27FC236}">
                <a16:creationId xmlns:a16="http://schemas.microsoft.com/office/drawing/2014/main" id="{A46F0E12-49F0-42FA-85AA-412048CFB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094086"/>
            <a:ext cx="1591047" cy="15175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5" descr="Balanced AVL Tree">
            <a:extLst>
              <a:ext uri="{FF2B5EF4-FFF2-40B4-BE49-F238E27FC236}">
                <a16:creationId xmlns:a16="http://schemas.microsoft.com/office/drawing/2014/main" id="{047EE7C5-8BCB-4724-867A-7B1017E4ED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7717" y="4721195"/>
            <a:ext cx="1812411" cy="1517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682507"/>
      </p:ext>
    </p:extLst>
  </p:cSld>
  <p:clrMapOvr>
    <a:masterClrMapping/>
  </p:clrMapOvr>
  <p:transition spd="slow">
    <p:cove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1B4431-BCB8-4ABB-BEAA-B831B2568B67}"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B1B764C2-2793-4A2A-A25E-1ACEA860C5FB}"/>
              </a:ext>
            </a:extLst>
          </p:cNvPr>
          <p:cNvSpPr txBox="1"/>
          <p:nvPr/>
        </p:nvSpPr>
        <p:spPr>
          <a:xfrm>
            <a:off x="914400" y="846976"/>
            <a:ext cx="10439400" cy="646331"/>
          </a:xfrm>
          <a:prstGeom prst="rect">
            <a:avLst/>
          </a:prstGeom>
          <a:noFill/>
        </p:spPr>
        <p:txBody>
          <a:bodyPr wrap="square">
            <a:spAutoFit/>
          </a:bodyPr>
          <a:lstStyle/>
          <a:p>
            <a:pPr algn="l"/>
            <a:r>
              <a:rPr lang="en-US" dirty="0">
                <a:solidFill>
                  <a:srgbClr val="610B4B"/>
                </a:solidFill>
                <a:latin typeface="erdana"/>
              </a:rPr>
              <a:t>Q: Construct an AVL tree having the following elements</a:t>
            </a:r>
          </a:p>
          <a:p>
            <a:pPr algn="l"/>
            <a:r>
              <a:rPr lang="en-US" b="1" dirty="0">
                <a:solidFill>
                  <a:srgbClr val="000000"/>
                </a:solidFill>
                <a:latin typeface="verdana" panose="020B0604030504040204" pitchFamily="34" charset="0"/>
              </a:rPr>
              <a:t>H, I, J, B, A, E, C, F, D, G, K, L</a:t>
            </a:r>
            <a:endParaRPr lang="en-US" dirty="0">
              <a:solidFill>
                <a:srgbClr val="000000"/>
              </a:solidFill>
              <a:latin typeface="verdana" panose="020B0604030504040204" pitchFamily="34" charset="0"/>
            </a:endParaRPr>
          </a:p>
        </p:txBody>
      </p:sp>
      <p:sp>
        <p:nvSpPr>
          <p:cNvPr id="10" name="TextBox 9">
            <a:extLst>
              <a:ext uri="{FF2B5EF4-FFF2-40B4-BE49-F238E27FC236}">
                <a16:creationId xmlns:a16="http://schemas.microsoft.com/office/drawing/2014/main" id="{5FE9A7F9-079B-45E4-991B-AE1189502B42}"/>
              </a:ext>
            </a:extLst>
          </p:cNvPr>
          <p:cNvSpPr txBox="1"/>
          <p:nvPr/>
        </p:nvSpPr>
        <p:spPr>
          <a:xfrm>
            <a:off x="2514600" y="2123629"/>
            <a:ext cx="4601496" cy="369332"/>
          </a:xfrm>
          <a:prstGeom prst="rect">
            <a:avLst/>
          </a:prstGeom>
          <a:noFill/>
        </p:spPr>
        <p:txBody>
          <a:bodyPr wrap="square">
            <a:spAutoFit/>
          </a:bodyPr>
          <a:lstStyle/>
          <a:p>
            <a:r>
              <a:rPr lang="en-IN" b="1" dirty="0">
                <a:latin typeface="verdana" panose="020B0604030504040204" pitchFamily="34" charset="0"/>
              </a:rPr>
              <a:t>1. Insert H, I, J</a:t>
            </a:r>
            <a:endParaRPr lang="en-IN" dirty="0"/>
          </a:p>
        </p:txBody>
      </p:sp>
      <p:pic>
        <p:nvPicPr>
          <p:cNvPr id="11" name="Picture 2" descr="AVL Rotations">
            <a:extLst>
              <a:ext uri="{FF2B5EF4-FFF2-40B4-BE49-F238E27FC236}">
                <a16:creationId xmlns:a16="http://schemas.microsoft.com/office/drawing/2014/main" id="{05CBC9BB-6425-4030-8949-7BFB7E22C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2543176"/>
            <a:ext cx="4762500" cy="3248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553871"/>
      </p:ext>
    </p:extLst>
  </p:cSld>
  <p:clrMapOvr>
    <a:masterClrMapping/>
  </p:clrMapOvr>
  <p:transition spd="slow">
    <p:cove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6E091F-F4F6-4B3D-AE9B-86AF98E470EF}"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F22E03B3-5185-408C-8007-171273B82456}"/>
              </a:ext>
            </a:extLst>
          </p:cNvPr>
          <p:cNvSpPr txBox="1"/>
          <p:nvPr/>
        </p:nvSpPr>
        <p:spPr>
          <a:xfrm>
            <a:off x="1066800" y="990601"/>
            <a:ext cx="4648200" cy="2031325"/>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000000"/>
                </a:solidFill>
                <a:latin typeface="verdana" panose="020B0604030504040204" pitchFamily="34" charset="0"/>
              </a:rPr>
              <a:t>On inserting the above elements, especially in the case of H, the BST becomes unbalanced as the Balance Factor of H is -2. </a:t>
            </a:r>
          </a:p>
          <a:p>
            <a:pPr marL="285750" indent="-285750" algn="just">
              <a:buFont typeface="Arial" panose="020B0604020202020204" pitchFamily="34" charset="0"/>
              <a:buChar char="•"/>
            </a:pPr>
            <a:r>
              <a:rPr lang="en-US" dirty="0">
                <a:solidFill>
                  <a:srgbClr val="000000"/>
                </a:solidFill>
                <a:latin typeface="verdana" panose="020B0604030504040204" pitchFamily="34" charset="0"/>
              </a:rPr>
              <a:t>Since the BST is right-skewed, we will perform RR Rotation on node H.</a:t>
            </a:r>
          </a:p>
          <a:p>
            <a:pPr algn="just"/>
            <a:r>
              <a:rPr lang="en-US" b="1" dirty="0">
                <a:solidFill>
                  <a:srgbClr val="000000"/>
                </a:solidFill>
                <a:latin typeface="verdana" panose="020B0604030504040204" pitchFamily="34" charset="0"/>
              </a:rPr>
              <a:t>The resultant balance tree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id="{7C70FFE4-B537-4A47-A211-22468AFABD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276600"/>
            <a:ext cx="3752850" cy="222885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86F9EFCA-8BFB-4EFA-9AD2-8C0BB731A522}"/>
              </a:ext>
            </a:extLst>
          </p:cNvPr>
          <p:cNvCxnSpPr/>
          <p:nvPr/>
        </p:nvCxnSpPr>
        <p:spPr>
          <a:xfrm>
            <a:off x="5867400" y="817164"/>
            <a:ext cx="0" cy="5126437"/>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1D3426E0-516D-46AA-8AF4-1151381CD750}"/>
              </a:ext>
            </a:extLst>
          </p:cNvPr>
          <p:cNvSpPr txBox="1"/>
          <p:nvPr/>
        </p:nvSpPr>
        <p:spPr>
          <a:xfrm>
            <a:off x="6000137" y="1026450"/>
            <a:ext cx="4601496" cy="369332"/>
          </a:xfrm>
          <a:prstGeom prst="rect">
            <a:avLst/>
          </a:prstGeom>
          <a:noFill/>
        </p:spPr>
        <p:txBody>
          <a:bodyPr wrap="square">
            <a:spAutoFit/>
          </a:bodyPr>
          <a:lstStyle/>
          <a:p>
            <a:r>
              <a:rPr lang="en-IN" b="1" dirty="0">
                <a:latin typeface="verdana" panose="020B0604030504040204" pitchFamily="34" charset="0"/>
              </a:rPr>
              <a:t>2. Insert B, A</a:t>
            </a:r>
            <a:endParaRPr lang="en-IN" dirty="0"/>
          </a:p>
        </p:txBody>
      </p:sp>
      <p:pic>
        <p:nvPicPr>
          <p:cNvPr id="13" name="Picture 4" descr="AVL Rotations">
            <a:extLst>
              <a:ext uri="{FF2B5EF4-FFF2-40B4-BE49-F238E27FC236}">
                <a16:creationId xmlns:a16="http://schemas.microsoft.com/office/drawing/2014/main" id="{E71B7071-087F-4FBB-8C29-038290D8EE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1730670"/>
            <a:ext cx="436244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80561"/>
      </p:ext>
    </p:extLst>
  </p:cSld>
  <p:clrMapOvr>
    <a:masterClrMapping/>
  </p:clrMapOvr>
  <p:transition spd="slow">
    <p:cove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3DFF90-8DCF-4ED0-81AF-33A2599099D3}"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169A7877-CAE7-4E1E-B767-62AA25499403}"/>
              </a:ext>
            </a:extLst>
          </p:cNvPr>
          <p:cNvSpPr txBox="1"/>
          <p:nvPr/>
        </p:nvSpPr>
        <p:spPr>
          <a:xfrm>
            <a:off x="838200" y="936071"/>
            <a:ext cx="10896600" cy="1754326"/>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000000"/>
                </a:solidFill>
                <a:latin typeface="verdana" panose="020B0604030504040204" pitchFamily="34" charset="0"/>
              </a:rPr>
              <a:t>On inserting the above elements, especially in case of A, the BST becomes unbalanced as the Balance Factor of H and I is 2, we consider the first node from the last inserted node i.e. H. </a:t>
            </a:r>
          </a:p>
          <a:p>
            <a:pPr marL="285750" indent="-285750" algn="just">
              <a:buFont typeface="Arial" panose="020B0604020202020204" pitchFamily="34" charset="0"/>
              <a:buChar char="•"/>
            </a:pPr>
            <a:r>
              <a:rPr lang="en-US" dirty="0">
                <a:solidFill>
                  <a:srgbClr val="000000"/>
                </a:solidFill>
                <a:latin typeface="verdana" panose="020B0604030504040204" pitchFamily="34" charset="0"/>
              </a:rPr>
              <a:t>Since the BST from H is left-skewed, we will perform LL Rotation on node H.</a:t>
            </a:r>
          </a:p>
          <a:p>
            <a:pPr algn="just"/>
            <a:endParaRPr lang="en-US" b="1" dirty="0">
              <a:solidFill>
                <a:srgbClr val="000000"/>
              </a:solidFill>
              <a:latin typeface="verdana" panose="020B0604030504040204" pitchFamily="34" charset="0"/>
            </a:endParaRPr>
          </a:p>
          <a:p>
            <a:pPr algn="just"/>
            <a:r>
              <a:rPr lang="en-US" b="1" dirty="0">
                <a:solidFill>
                  <a:srgbClr val="000000"/>
                </a:solidFill>
                <a:latin typeface="verdana" panose="020B0604030504040204" pitchFamily="34" charset="0"/>
              </a:rPr>
              <a:t>The resultant balance tree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id="{E7DAEC91-EB08-4CDD-88FA-492352E55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687231"/>
            <a:ext cx="4762500" cy="3257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3239763"/>
      </p:ext>
    </p:extLst>
  </p:cSld>
  <p:clrMapOvr>
    <a:masterClrMapping/>
  </p:clrMapOvr>
  <p:transition spd="slow">
    <p:cove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9615A8D-AD5E-45D4-BF3D-DA108DDBD0DE}"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C7E0A976-6E7A-46EF-A69A-F22B9198CF27}"/>
              </a:ext>
            </a:extLst>
          </p:cNvPr>
          <p:cNvSpPr txBox="1"/>
          <p:nvPr/>
        </p:nvSpPr>
        <p:spPr>
          <a:xfrm>
            <a:off x="1981200" y="1219200"/>
            <a:ext cx="4601496" cy="369332"/>
          </a:xfrm>
          <a:prstGeom prst="rect">
            <a:avLst/>
          </a:prstGeom>
          <a:noFill/>
        </p:spPr>
        <p:txBody>
          <a:bodyPr wrap="square">
            <a:spAutoFit/>
          </a:bodyPr>
          <a:lstStyle/>
          <a:p>
            <a:r>
              <a:rPr lang="en-IN" b="1" dirty="0">
                <a:latin typeface="verdana" panose="020B0604030504040204" pitchFamily="34" charset="0"/>
              </a:rPr>
              <a:t>3. Insert E</a:t>
            </a:r>
            <a:endParaRPr lang="en-IN" dirty="0"/>
          </a:p>
        </p:txBody>
      </p:sp>
      <p:pic>
        <p:nvPicPr>
          <p:cNvPr id="10" name="Picture 2" descr="AVL Rotations">
            <a:extLst>
              <a:ext uri="{FF2B5EF4-FFF2-40B4-BE49-F238E27FC236}">
                <a16:creationId xmlns:a16="http://schemas.microsoft.com/office/drawing/2014/main" id="{EB8E2096-434D-4ACD-A2FD-7678F667CF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6123" y="1588532"/>
            <a:ext cx="4762500" cy="38290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188B26B-3197-41D7-A1C4-A4AF299A0BF4}"/>
              </a:ext>
            </a:extLst>
          </p:cNvPr>
          <p:cNvSpPr txBox="1"/>
          <p:nvPr/>
        </p:nvSpPr>
        <p:spPr>
          <a:xfrm>
            <a:off x="6014884" y="1555164"/>
            <a:ext cx="4424516" cy="2862322"/>
          </a:xfrm>
          <a:prstGeom prst="rect">
            <a:avLst/>
          </a:prstGeom>
          <a:noFill/>
        </p:spPr>
        <p:txBody>
          <a:bodyPr wrap="square">
            <a:spAutoFit/>
          </a:bodyPr>
          <a:lstStyle/>
          <a:p>
            <a:r>
              <a:rPr lang="en-US" dirty="0">
                <a:solidFill>
                  <a:srgbClr val="000000"/>
                </a:solidFill>
                <a:latin typeface="verdana" panose="020B0604030504040204" pitchFamily="34" charset="0"/>
              </a:rPr>
              <a:t>On inserting E, </a:t>
            </a:r>
          </a:p>
          <a:p>
            <a:pPr algn="just"/>
            <a:endParaRPr lang="en-US"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BST becomes unbalanced as the Balance Factor of I is 2, since if we travel from E to I we find that it is inserted in the left subtree of right subtree of I, </a:t>
            </a:r>
          </a:p>
          <a:p>
            <a:pPr algn="just"/>
            <a:endParaRPr lang="en-US"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we will perform LR Rotation on node I. LR = RR + LL rotation</a:t>
            </a:r>
            <a:endParaRPr lang="en-IN" dirty="0"/>
          </a:p>
        </p:txBody>
      </p:sp>
    </p:spTree>
    <p:extLst>
      <p:ext uri="{BB962C8B-B14F-4D97-AF65-F5344CB8AC3E}">
        <p14:creationId xmlns:p14="http://schemas.microsoft.com/office/powerpoint/2010/main" val="234439821"/>
      </p:ext>
    </p:extLst>
  </p:cSld>
  <p:clrMapOvr>
    <a:masterClrMapping/>
  </p:clrMapOvr>
  <p:transition spd="slow">
    <p:cove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014E4E8-D83D-4C79-8AB1-2F803F35BBD0}"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EEEF6E59-490F-4388-9154-E80933A5B401}"/>
              </a:ext>
            </a:extLst>
          </p:cNvPr>
          <p:cNvSpPr txBox="1"/>
          <p:nvPr/>
        </p:nvSpPr>
        <p:spPr>
          <a:xfrm>
            <a:off x="990601" y="1066801"/>
            <a:ext cx="7300452" cy="646331"/>
          </a:xfrm>
          <a:prstGeom prst="rect">
            <a:avLst/>
          </a:prstGeom>
          <a:noFill/>
        </p:spPr>
        <p:txBody>
          <a:bodyPr wrap="square">
            <a:spAutoFit/>
          </a:bodyPr>
          <a:lstStyle/>
          <a:p>
            <a:pPr algn="l"/>
            <a:r>
              <a:rPr lang="en-US" b="1" dirty="0">
                <a:solidFill>
                  <a:srgbClr val="000000"/>
                </a:solidFill>
                <a:latin typeface="verdana" panose="020B0604030504040204" pitchFamily="34" charset="0"/>
              </a:rPr>
              <a:t>3 a) We first perform RR rotation on node B</a:t>
            </a:r>
            <a:endParaRPr lang="en-US" dirty="0">
              <a:solidFill>
                <a:srgbClr val="000000"/>
              </a:solidFill>
              <a:latin typeface="verdana" panose="020B0604030504040204" pitchFamily="34" charset="0"/>
            </a:endParaRPr>
          </a:p>
          <a:p>
            <a:pPr algn="l"/>
            <a:r>
              <a:rPr lang="en-US" b="1" dirty="0">
                <a:solidFill>
                  <a:srgbClr val="000000"/>
                </a:solidFill>
                <a:latin typeface="verdana" panose="020B0604030504040204" pitchFamily="34" charset="0"/>
              </a:rPr>
              <a:t>The resultant tree after RR rotation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id="{F2EC483B-605A-4FA2-8FB4-FA3FB8CEB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905000"/>
            <a:ext cx="476250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720265"/>
      </p:ext>
    </p:extLst>
  </p:cSld>
  <p:clrMapOvr>
    <a:masterClrMapping/>
  </p:clrMapOvr>
  <p:transition spd="slow">
    <p:cove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D9937A-6720-4535-BFB7-FA3FA9932C76}"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88673"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BAEEE307-7667-4364-93E8-447DB26AFAE4}"/>
              </a:ext>
            </a:extLst>
          </p:cNvPr>
          <p:cNvSpPr txBox="1"/>
          <p:nvPr/>
        </p:nvSpPr>
        <p:spPr>
          <a:xfrm>
            <a:off x="946727" y="949326"/>
            <a:ext cx="9213273" cy="646331"/>
          </a:xfrm>
          <a:prstGeom prst="rect">
            <a:avLst/>
          </a:prstGeom>
          <a:noFill/>
        </p:spPr>
        <p:txBody>
          <a:bodyPr wrap="square">
            <a:spAutoFit/>
          </a:bodyPr>
          <a:lstStyle/>
          <a:p>
            <a:pPr algn="l"/>
            <a:r>
              <a:rPr lang="en-US" b="1" dirty="0">
                <a:solidFill>
                  <a:srgbClr val="000000"/>
                </a:solidFill>
                <a:latin typeface="verdana" panose="020B0604030504040204" pitchFamily="34" charset="0"/>
              </a:rPr>
              <a:t>3b) We first perform LL rotation on the node I</a:t>
            </a:r>
            <a:endParaRPr lang="en-US" dirty="0">
              <a:solidFill>
                <a:srgbClr val="000000"/>
              </a:solidFill>
              <a:latin typeface="verdana" panose="020B0604030504040204" pitchFamily="34" charset="0"/>
            </a:endParaRPr>
          </a:p>
          <a:p>
            <a:pPr algn="l"/>
            <a:r>
              <a:rPr lang="en-US" b="1" dirty="0">
                <a:solidFill>
                  <a:srgbClr val="000000"/>
                </a:solidFill>
                <a:latin typeface="verdana" panose="020B0604030504040204" pitchFamily="34" charset="0"/>
              </a:rPr>
              <a:t>The resultant balanced tree after LL rotation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id="{FE7C9878-E4AF-4CAE-A449-66AA08338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9673" y="1981201"/>
            <a:ext cx="4762500"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389684"/>
      </p:ext>
    </p:extLst>
  </p:cSld>
  <p:clrMapOvr>
    <a:masterClrMapping/>
  </p:clrMapOvr>
  <p:transition spd="slow">
    <p:cove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23A8FC-6CD9-44C6-AFCC-CD43150BD801}"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12195AC0-F3C6-4CC8-9764-A6D66BB4DE9F}"/>
              </a:ext>
            </a:extLst>
          </p:cNvPr>
          <p:cNvSpPr txBox="1"/>
          <p:nvPr/>
        </p:nvSpPr>
        <p:spPr>
          <a:xfrm>
            <a:off x="1066800" y="971091"/>
            <a:ext cx="4601496" cy="369332"/>
          </a:xfrm>
          <a:prstGeom prst="rect">
            <a:avLst/>
          </a:prstGeom>
          <a:noFill/>
        </p:spPr>
        <p:txBody>
          <a:bodyPr wrap="square">
            <a:spAutoFit/>
          </a:bodyPr>
          <a:lstStyle/>
          <a:p>
            <a:r>
              <a:rPr lang="en-IN" b="1" dirty="0">
                <a:latin typeface="verdana" panose="020B0604030504040204" pitchFamily="34" charset="0"/>
              </a:rPr>
              <a:t>4. Insert C, F, D</a:t>
            </a:r>
            <a:endParaRPr lang="en-IN" dirty="0"/>
          </a:p>
        </p:txBody>
      </p:sp>
      <p:pic>
        <p:nvPicPr>
          <p:cNvPr id="10" name="Picture 2" descr="AVL Rotations">
            <a:extLst>
              <a:ext uri="{FF2B5EF4-FFF2-40B4-BE49-F238E27FC236}">
                <a16:creationId xmlns:a16="http://schemas.microsoft.com/office/drawing/2014/main" id="{77F12672-82AF-4B80-9B22-0F8EF394C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752601"/>
            <a:ext cx="4648200" cy="43148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01F7D7A-2B3F-46A3-B698-88A1E15B3412}"/>
              </a:ext>
            </a:extLst>
          </p:cNvPr>
          <p:cNvSpPr txBox="1"/>
          <p:nvPr/>
        </p:nvSpPr>
        <p:spPr>
          <a:xfrm>
            <a:off x="1066800" y="1629348"/>
            <a:ext cx="4129549" cy="2585323"/>
          </a:xfrm>
          <a:prstGeom prst="rect">
            <a:avLst/>
          </a:prstGeom>
          <a:noFill/>
        </p:spPr>
        <p:txBody>
          <a:bodyPr wrap="square">
            <a:spAutoFit/>
          </a:bodyPr>
          <a:lstStyle/>
          <a:p>
            <a:pPr algn="just"/>
            <a:r>
              <a:rPr lang="en-US" dirty="0">
                <a:solidFill>
                  <a:srgbClr val="000000"/>
                </a:solidFill>
                <a:latin typeface="verdana" panose="020B0604030504040204" pitchFamily="34" charset="0"/>
              </a:rPr>
              <a:t>On inserting C, F, D, BST becomes unbalanced as the Balance Factor of B and H is -2, since if we travel from D to B we find that it is inserted in the right subtree of left subtree of B, </a:t>
            </a:r>
          </a:p>
          <a:p>
            <a:pPr algn="just"/>
            <a:endParaRPr lang="en-US"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we will perform RL Rotation on node I. RL = LL + RR rotation.</a:t>
            </a:r>
            <a:endParaRPr lang="en-IN" dirty="0"/>
          </a:p>
        </p:txBody>
      </p:sp>
    </p:spTree>
    <p:extLst>
      <p:ext uri="{BB962C8B-B14F-4D97-AF65-F5344CB8AC3E}">
        <p14:creationId xmlns:p14="http://schemas.microsoft.com/office/powerpoint/2010/main" val="2537242196"/>
      </p:ext>
    </p:extLst>
  </p:cSld>
  <p:clrMapOvr>
    <a:masterClrMapping/>
  </p:clrMapOvr>
  <p:transition spd="slow">
    <p:cove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356B5A-3EED-4FBB-8196-18265D0AF2BD}"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84B22984-0D94-464A-AC82-E250B6C1C001}"/>
              </a:ext>
            </a:extLst>
          </p:cNvPr>
          <p:cNvSpPr txBox="1"/>
          <p:nvPr/>
        </p:nvSpPr>
        <p:spPr>
          <a:xfrm>
            <a:off x="1066800" y="958569"/>
            <a:ext cx="6233651" cy="646331"/>
          </a:xfrm>
          <a:prstGeom prst="rect">
            <a:avLst/>
          </a:prstGeom>
          <a:noFill/>
        </p:spPr>
        <p:txBody>
          <a:bodyPr wrap="square">
            <a:spAutoFit/>
          </a:bodyPr>
          <a:lstStyle/>
          <a:p>
            <a:pPr algn="l"/>
            <a:r>
              <a:rPr lang="en-US" b="1" dirty="0">
                <a:solidFill>
                  <a:srgbClr val="000000"/>
                </a:solidFill>
                <a:latin typeface="verdana" panose="020B0604030504040204" pitchFamily="34" charset="0"/>
              </a:rPr>
              <a:t>4a) We first perform LL rotation on node E</a:t>
            </a:r>
            <a:endParaRPr lang="en-US" dirty="0">
              <a:solidFill>
                <a:srgbClr val="000000"/>
              </a:solidFill>
              <a:latin typeface="verdana" panose="020B0604030504040204" pitchFamily="34" charset="0"/>
            </a:endParaRPr>
          </a:p>
          <a:p>
            <a:pPr algn="l"/>
            <a:r>
              <a:rPr lang="en-US" b="1" dirty="0">
                <a:solidFill>
                  <a:srgbClr val="000000"/>
                </a:solidFill>
                <a:latin typeface="verdana" panose="020B0604030504040204" pitchFamily="34" charset="0"/>
              </a:rPr>
              <a:t>The resultant tree after LL rotation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id="{5B0E75F1-05CD-4265-B4BE-D53D66E11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038968"/>
            <a:ext cx="7086600" cy="3599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227807"/>
      </p:ext>
    </p:extLst>
  </p:cSld>
  <p:clrMapOvr>
    <a:masterClrMapping/>
  </p:clrMapOvr>
  <p:transition spd="slow">
    <p:cove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452D8D-47AE-4F46-876A-6B7542D5DE72}"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83B12334-C8B5-42FD-B504-81E3516E99DF}"/>
              </a:ext>
            </a:extLst>
          </p:cNvPr>
          <p:cNvSpPr txBox="1"/>
          <p:nvPr/>
        </p:nvSpPr>
        <p:spPr>
          <a:xfrm>
            <a:off x="990600" y="938980"/>
            <a:ext cx="6462251" cy="646331"/>
          </a:xfrm>
          <a:prstGeom prst="rect">
            <a:avLst/>
          </a:prstGeom>
          <a:noFill/>
        </p:spPr>
        <p:txBody>
          <a:bodyPr wrap="square">
            <a:spAutoFit/>
          </a:bodyPr>
          <a:lstStyle/>
          <a:p>
            <a:pPr algn="l"/>
            <a:r>
              <a:rPr lang="en-US" b="1" dirty="0">
                <a:solidFill>
                  <a:srgbClr val="000000"/>
                </a:solidFill>
                <a:latin typeface="verdana" panose="020B0604030504040204" pitchFamily="34" charset="0"/>
              </a:rPr>
              <a:t>4b) We then perform RR rotation on node B</a:t>
            </a:r>
            <a:endParaRPr lang="en-US" dirty="0">
              <a:solidFill>
                <a:srgbClr val="000000"/>
              </a:solidFill>
              <a:latin typeface="verdana" panose="020B0604030504040204" pitchFamily="34" charset="0"/>
            </a:endParaRPr>
          </a:p>
          <a:p>
            <a:pPr algn="l"/>
            <a:r>
              <a:rPr lang="en-US" b="1" dirty="0">
                <a:solidFill>
                  <a:srgbClr val="000000"/>
                </a:solidFill>
                <a:latin typeface="verdana" panose="020B0604030504040204" pitchFamily="34" charset="0"/>
              </a:rPr>
              <a:t>The resultant balanced tree after RR rotation is:</a:t>
            </a:r>
            <a:endParaRPr lang="en-US" dirty="0">
              <a:solidFill>
                <a:srgbClr val="000000"/>
              </a:solidFill>
              <a:latin typeface="verdana" panose="020B0604030504040204" pitchFamily="34" charset="0"/>
            </a:endParaRPr>
          </a:p>
        </p:txBody>
      </p:sp>
      <p:pic>
        <p:nvPicPr>
          <p:cNvPr id="10" name="Picture 2" descr="AVL Rotations">
            <a:extLst>
              <a:ext uri="{FF2B5EF4-FFF2-40B4-BE49-F238E27FC236}">
                <a16:creationId xmlns:a16="http://schemas.microsoft.com/office/drawing/2014/main" id="{1064E6F0-B266-406F-AFF1-CB229CF21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123630"/>
            <a:ext cx="6629400" cy="3819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851034"/>
      </p:ext>
    </p:extLst>
  </p:cSld>
  <p:clrMapOvr>
    <a:masterClrMapping/>
  </p:clrMapOvr>
  <p:transition spd="slow">
    <p:cove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FA929F-FCC0-4364-827F-443A65F2846F}"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39AE245D-CCA0-4B16-B4D8-BFEF35C744E1}"/>
              </a:ext>
            </a:extLst>
          </p:cNvPr>
          <p:cNvSpPr txBox="1"/>
          <p:nvPr/>
        </p:nvSpPr>
        <p:spPr>
          <a:xfrm>
            <a:off x="2155723" y="1066800"/>
            <a:ext cx="4601496" cy="369332"/>
          </a:xfrm>
          <a:prstGeom prst="rect">
            <a:avLst/>
          </a:prstGeom>
          <a:noFill/>
        </p:spPr>
        <p:txBody>
          <a:bodyPr wrap="square">
            <a:spAutoFit/>
          </a:bodyPr>
          <a:lstStyle/>
          <a:p>
            <a:r>
              <a:rPr lang="en-IN" b="1" dirty="0">
                <a:latin typeface="verdana" panose="020B0604030504040204" pitchFamily="34" charset="0"/>
              </a:rPr>
              <a:t>5. Insert G</a:t>
            </a:r>
            <a:endParaRPr lang="en-IN" dirty="0"/>
          </a:p>
        </p:txBody>
      </p:sp>
      <p:pic>
        <p:nvPicPr>
          <p:cNvPr id="10" name="Picture 2" descr="AVL Rotations">
            <a:extLst>
              <a:ext uri="{FF2B5EF4-FFF2-40B4-BE49-F238E27FC236}">
                <a16:creationId xmlns:a16="http://schemas.microsoft.com/office/drawing/2014/main" id="{141555F7-3236-4B0D-AB40-802CEBA5D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4749" y="1143000"/>
            <a:ext cx="4762500" cy="30861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3DD6AC6-9267-44D8-81D3-B91691B0A3C8}"/>
              </a:ext>
            </a:extLst>
          </p:cNvPr>
          <p:cNvSpPr txBox="1"/>
          <p:nvPr/>
        </p:nvSpPr>
        <p:spPr>
          <a:xfrm>
            <a:off x="1752600" y="4381107"/>
            <a:ext cx="9601200" cy="1477328"/>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000000"/>
                </a:solidFill>
                <a:latin typeface="verdana" panose="020B0604030504040204" pitchFamily="34" charset="0"/>
              </a:rPr>
              <a:t>On inserting G, BST become unbalanced as the Balance Factor of H is 2, since if we travel from G to H, we find that it is inserted in the left subtree of right subtree of H, we will perform LR Rotation on node I.</a:t>
            </a:r>
          </a:p>
          <a:p>
            <a:pPr algn="just"/>
            <a:r>
              <a:rPr lang="en-US" dirty="0">
                <a:solidFill>
                  <a:srgbClr val="000000"/>
                </a:solidFill>
                <a:latin typeface="verdana" panose="020B0604030504040204" pitchFamily="34" charset="0"/>
              </a:rPr>
              <a:t> </a:t>
            </a:r>
          </a:p>
          <a:p>
            <a:pPr algn="just"/>
            <a:r>
              <a:rPr lang="en-US" dirty="0">
                <a:solidFill>
                  <a:srgbClr val="000000"/>
                </a:solidFill>
                <a:latin typeface="verdana" panose="020B0604030504040204" pitchFamily="34" charset="0"/>
              </a:rPr>
              <a:t>LR = RR + LL rotation.</a:t>
            </a:r>
            <a:endParaRPr lang="en-IN" dirty="0"/>
          </a:p>
        </p:txBody>
      </p:sp>
    </p:spTree>
    <p:extLst>
      <p:ext uri="{BB962C8B-B14F-4D97-AF65-F5344CB8AC3E}">
        <p14:creationId xmlns:p14="http://schemas.microsoft.com/office/powerpoint/2010/main" val="350532564"/>
      </p:ext>
    </p:extLst>
  </p:cSld>
  <p:clrMapOvr>
    <a:masterClrMapping/>
  </p:clrMapOvr>
  <p:transition spd="slow">
    <p:cove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8FF9A5-B2CF-48AA-BA26-2FAF409DA9BD}"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FC7ECBAC-CB99-41E7-9041-CE4068A8A09C}"/>
              </a:ext>
            </a:extLst>
          </p:cNvPr>
          <p:cNvSpPr txBox="1"/>
          <p:nvPr/>
        </p:nvSpPr>
        <p:spPr>
          <a:xfrm>
            <a:off x="2057400" y="1371600"/>
            <a:ext cx="4601496" cy="369332"/>
          </a:xfrm>
          <a:prstGeom prst="rect">
            <a:avLst/>
          </a:prstGeom>
          <a:noFill/>
        </p:spPr>
        <p:txBody>
          <a:bodyPr wrap="square">
            <a:spAutoFit/>
          </a:bodyPr>
          <a:lstStyle/>
          <a:p>
            <a:r>
              <a:rPr lang="en-IN" b="1" dirty="0">
                <a:latin typeface="verdana" panose="020B0604030504040204" pitchFamily="34" charset="0"/>
              </a:rPr>
              <a:t>6. Insert K</a:t>
            </a:r>
            <a:endParaRPr lang="en-IN" dirty="0"/>
          </a:p>
        </p:txBody>
      </p:sp>
      <p:pic>
        <p:nvPicPr>
          <p:cNvPr id="10" name="Picture 2" descr="AVL Rotations">
            <a:extLst>
              <a:ext uri="{FF2B5EF4-FFF2-40B4-BE49-F238E27FC236}">
                <a16:creationId xmlns:a16="http://schemas.microsoft.com/office/drawing/2014/main" id="{70963198-616E-4D4B-A817-15B7C5AC4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563641"/>
            <a:ext cx="4762500" cy="29813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869205D-6C69-4B77-B4EB-BED438A72215}"/>
              </a:ext>
            </a:extLst>
          </p:cNvPr>
          <p:cNvSpPr txBox="1"/>
          <p:nvPr/>
        </p:nvSpPr>
        <p:spPr>
          <a:xfrm>
            <a:off x="1828800" y="4693918"/>
            <a:ext cx="9525000" cy="923330"/>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rgbClr val="000000"/>
                </a:solidFill>
                <a:latin typeface="verdana" panose="020B0604030504040204" pitchFamily="34" charset="0"/>
              </a:rPr>
              <a:t>On inserting K, BST becomes unbalanced as the Balance Factor of I is -2. </a:t>
            </a:r>
          </a:p>
          <a:p>
            <a:pPr marL="285750" indent="-285750" algn="just">
              <a:buFont typeface="Arial" panose="020B0604020202020204" pitchFamily="34" charset="0"/>
              <a:buChar char="•"/>
            </a:pPr>
            <a:r>
              <a:rPr lang="en-US" dirty="0">
                <a:solidFill>
                  <a:srgbClr val="000000"/>
                </a:solidFill>
                <a:latin typeface="verdana" panose="020B0604030504040204" pitchFamily="34" charset="0"/>
              </a:rPr>
              <a:t>Since the BST is right-skewed from I to K, hence we will perform RR Rotation on the node I.</a:t>
            </a:r>
            <a:endParaRPr lang="en-IN" dirty="0"/>
          </a:p>
        </p:txBody>
      </p:sp>
    </p:spTree>
    <p:extLst>
      <p:ext uri="{BB962C8B-B14F-4D97-AF65-F5344CB8AC3E}">
        <p14:creationId xmlns:p14="http://schemas.microsoft.com/office/powerpoint/2010/main" val="4011644674"/>
      </p:ext>
    </p:extLst>
  </p:cSld>
  <p:clrMapOvr>
    <a:masterClrMapping/>
  </p:clrMapOvr>
  <p:transition spd="slow">
    <p:cove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C5BE8F4-0BBD-4C5B-9D87-75A6811FE870}"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544558B0-4187-4B64-855D-64647F699C96}"/>
              </a:ext>
            </a:extLst>
          </p:cNvPr>
          <p:cNvSpPr txBox="1"/>
          <p:nvPr/>
        </p:nvSpPr>
        <p:spPr>
          <a:xfrm>
            <a:off x="1447800" y="1066800"/>
            <a:ext cx="6462251" cy="923330"/>
          </a:xfrm>
          <a:prstGeom prst="rect">
            <a:avLst/>
          </a:prstGeom>
          <a:noFill/>
        </p:spPr>
        <p:txBody>
          <a:bodyPr wrap="square">
            <a:spAutoFit/>
          </a:bodyPr>
          <a:lstStyle/>
          <a:p>
            <a:pPr algn="l"/>
            <a:r>
              <a:rPr lang="en-US" b="1" dirty="0">
                <a:solidFill>
                  <a:srgbClr val="000000"/>
                </a:solidFill>
                <a:latin typeface="verdana" panose="020B0604030504040204" pitchFamily="34" charset="0"/>
              </a:rPr>
              <a:t>The resultant balanced tree after RR rotation is:</a:t>
            </a:r>
            <a:endParaRPr lang="en-US" dirty="0">
              <a:solidFill>
                <a:srgbClr val="000000"/>
              </a:solidFill>
              <a:latin typeface="verdana" panose="020B0604030504040204" pitchFamily="34" charset="0"/>
            </a:endParaRPr>
          </a:p>
          <a:p>
            <a:br>
              <a:rPr lang="en-US" dirty="0"/>
            </a:br>
            <a:endParaRPr lang="en-IN" dirty="0"/>
          </a:p>
        </p:txBody>
      </p:sp>
      <p:pic>
        <p:nvPicPr>
          <p:cNvPr id="10" name="Picture 2" descr="AVL Rotations">
            <a:extLst>
              <a:ext uri="{FF2B5EF4-FFF2-40B4-BE49-F238E27FC236}">
                <a16:creationId xmlns:a16="http://schemas.microsoft.com/office/drawing/2014/main" id="{849957A1-83D0-4BE5-AC4B-BF1D6B7FB4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690697"/>
            <a:ext cx="6629400" cy="3851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62028"/>
      </p:ext>
    </p:extLst>
  </p:cSld>
  <p:clrMapOvr>
    <a:masterClrMapping/>
  </p:clrMapOvr>
  <p:transition spd="slow">
    <p:cove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8320B01-4EEA-40DC-BE64-A7173011E975}"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8C6C277D-A285-46FB-AC5D-D584260DADD0}"/>
              </a:ext>
            </a:extLst>
          </p:cNvPr>
          <p:cNvSpPr txBox="1"/>
          <p:nvPr/>
        </p:nvSpPr>
        <p:spPr>
          <a:xfrm>
            <a:off x="990600" y="946559"/>
            <a:ext cx="5592096" cy="369332"/>
          </a:xfrm>
          <a:prstGeom prst="rect">
            <a:avLst/>
          </a:prstGeom>
          <a:noFill/>
        </p:spPr>
        <p:txBody>
          <a:bodyPr wrap="square">
            <a:spAutoFit/>
          </a:bodyPr>
          <a:lstStyle/>
          <a:p>
            <a:r>
              <a:rPr lang="en-IN" b="1" dirty="0">
                <a:latin typeface="verdana" panose="020B0604030504040204" pitchFamily="34" charset="0"/>
              </a:rPr>
              <a:t>7. Insert L</a:t>
            </a:r>
            <a:endParaRPr lang="en-IN" dirty="0"/>
          </a:p>
        </p:txBody>
      </p:sp>
      <p:pic>
        <p:nvPicPr>
          <p:cNvPr id="10" name="Picture 2" descr="AVL Rotations">
            <a:extLst>
              <a:ext uri="{FF2B5EF4-FFF2-40B4-BE49-F238E27FC236}">
                <a16:creationId xmlns:a16="http://schemas.microsoft.com/office/drawing/2014/main" id="{A561E7ED-803D-4F50-9CDD-065C44304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2300" y="2189428"/>
            <a:ext cx="5943600" cy="383037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930BE16-1CCF-4BD3-A6A7-257B213811BC}"/>
              </a:ext>
            </a:extLst>
          </p:cNvPr>
          <p:cNvSpPr txBox="1"/>
          <p:nvPr/>
        </p:nvSpPr>
        <p:spPr>
          <a:xfrm>
            <a:off x="990600" y="1398038"/>
            <a:ext cx="10667999" cy="646331"/>
          </a:xfrm>
          <a:prstGeom prst="rect">
            <a:avLst/>
          </a:prstGeom>
          <a:noFill/>
        </p:spPr>
        <p:txBody>
          <a:bodyPr wrap="square">
            <a:spAutoFit/>
          </a:bodyPr>
          <a:lstStyle/>
          <a:p>
            <a:r>
              <a:rPr lang="en-US" dirty="0">
                <a:solidFill>
                  <a:srgbClr val="000000"/>
                </a:solidFill>
                <a:latin typeface="verdana" panose="020B0604030504040204" pitchFamily="34" charset="0"/>
              </a:rPr>
              <a:t>On inserting the L tree is still balanced as the Balance Factor of each node is now either, -1, 0, +1. Hence the tree is a Balanced AVL tree</a:t>
            </a:r>
            <a:endParaRPr lang="en-IN" dirty="0"/>
          </a:p>
        </p:txBody>
      </p:sp>
    </p:spTree>
    <p:extLst>
      <p:ext uri="{BB962C8B-B14F-4D97-AF65-F5344CB8AC3E}">
        <p14:creationId xmlns:p14="http://schemas.microsoft.com/office/powerpoint/2010/main" val="1051617470"/>
      </p:ext>
    </p:extLst>
  </p:cSld>
  <p:clrMapOvr>
    <a:masterClrMapping/>
  </p:clrMapOvr>
  <p:transition spd="slow">
    <p:cove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36E01C-AAA2-4281-95C4-78F654138289}"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C188A8A8-A42A-440E-B86B-D92184E8A1AF}"/>
              </a:ext>
            </a:extLst>
          </p:cNvPr>
          <p:cNvSpPr txBox="1"/>
          <p:nvPr/>
        </p:nvSpPr>
        <p:spPr>
          <a:xfrm>
            <a:off x="1153652" y="763467"/>
            <a:ext cx="4601496" cy="584775"/>
          </a:xfrm>
          <a:prstGeom prst="rect">
            <a:avLst/>
          </a:prstGeom>
          <a:noFill/>
        </p:spPr>
        <p:txBody>
          <a:bodyPr wrap="square">
            <a:spAutoFit/>
          </a:bodyPr>
          <a:lstStyle/>
          <a:p>
            <a:pPr algn="l"/>
            <a:r>
              <a:rPr lang="en-IN" sz="3200" dirty="0">
                <a:solidFill>
                  <a:srgbClr val="610B38"/>
                </a:solidFill>
                <a:latin typeface="+mj-lt"/>
              </a:rPr>
              <a:t>Deletion in AVL Tree</a:t>
            </a:r>
          </a:p>
        </p:txBody>
      </p:sp>
      <p:sp>
        <p:nvSpPr>
          <p:cNvPr id="10" name="TextBox 9">
            <a:extLst>
              <a:ext uri="{FF2B5EF4-FFF2-40B4-BE49-F238E27FC236}">
                <a16:creationId xmlns:a16="http://schemas.microsoft.com/office/drawing/2014/main" id="{762127A3-CB42-4677-8EA6-1281D9B40282}"/>
              </a:ext>
            </a:extLst>
          </p:cNvPr>
          <p:cNvSpPr txBox="1"/>
          <p:nvPr/>
        </p:nvSpPr>
        <p:spPr>
          <a:xfrm>
            <a:off x="1066800" y="1447800"/>
            <a:ext cx="10515600" cy="4093428"/>
          </a:xfrm>
          <a:prstGeom prst="rect">
            <a:avLst/>
          </a:prstGeom>
          <a:noFill/>
        </p:spPr>
        <p:txBody>
          <a:bodyPr wrap="square">
            <a:spAutoFit/>
          </a:bodyPr>
          <a:lstStyle/>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Deleting a node from an AVL tree is similar to that in a binary search tree. Deletion may disturb the balance factor of an AVL tree and therefore the tree needs to be rebalanced in order to maintain the </a:t>
            </a:r>
            <a:r>
              <a:rPr lang="en-US" sz="2000" dirty="0" err="1">
                <a:solidFill>
                  <a:srgbClr val="000000"/>
                </a:solidFill>
                <a:latin typeface="verdana" panose="020B0604030504040204" pitchFamily="34" charset="0"/>
              </a:rPr>
              <a:t>AVLness</a:t>
            </a:r>
            <a:r>
              <a:rPr lang="en-US" sz="2000" dirty="0">
                <a:solidFill>
                  <a:srgbClr val="000000"/>
                </a:solidFill>
                <a:latin typeface="verdana" panose="020B0604030504040204" pitchFamily="34" charset="0"/>
              </a:rPr>
              <a:t>. </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For this purpose, we need to perform rotations. </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The two types of rotations are L rotation and R rotation. </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If the node which is to be deleted is present in the left sub-tree of the critical node, then L rotation needs to be applied else if, the node which is to be deleted is present in the right sub-tree of the critical node, the R rotation will be applied.</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Let us consider that, A is the critical node and B is the root node of its left sub-tree. </a:t>
            </a:r>
          </a:p>
          <a:p>
            <a:pPr marL="285750" indent="-285750" algn="just">
              <a:buFont typeface="Arial" panose="020B0604020202020204" pitchFamily="34" charset="0"/>
              <a:buChar char="•"/>
            </a:pPr>
            <a:r>
              <a:rPr lang="en-US" sz="2000" dirty="0">
                <a:solidFill>
                  <a:srgbClr val="000000"/>
                </a:solidFill>
                <a:latin typeface="verdana" panose="020B0604030504040204" pitchFamily="34" charset="0"/>
              </a:rPr>
              <a:t>If node X, present in the right sub-tree of A, is to be deleted, then there can be three different situations:</a:t>
            </a:r>
          </a:p>
        </p:txBody>
      </p:sp>
    </p:spTree>
    <p:extLst>
      <p:ext uri="{BB962C8B-B14F-4D97-AF65-F5344CB8AC3E}">
        <p14:creationId xmlns:p14="http://schemas.microsoft.com/office/powerpoint/2010/main" val="2268879030"/>
      </p:ext>
    </p:extLst>
  </p:cSld>
  <p:clrMapOvr>
    <a:masterClrMapping/>
  </p:clrMapOvr>
  <p:transition spd="slow">
    <p:cove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F80F98-8737-4422-B4A6-1B7513EFC8AE}"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F233CD56-45D0-46DC-B0B5-0CB216026749}"/>
              </a:ext>
            </a:extLst>
          </p:cNvPr>
          <p:cNvSpPr txBox="1"/>
          <p:nvPr/>
        </p:nvSpPr>
        <p:spPr>
          <a:xfrm>
            <a:off x="914400" y="823000"/>
            <a:ext cx="10591800" cy="2554545"/>
          </a:xfrm>
          <a:prstGeom prst="rect">
            <a:avLst/>
          </a:prstGeom>
          <a:noFill/>
        </p:spPr>
        <p:txBody>
          <a:bodyPr wrap="square">
            <a:spAutoFit/>
          </a:bodyPr>
          <a:lstStyle/>
          <a:p>
            <a:pPr algn="just"/>
            <a:r>
              <a:rPr lang="en-US" sz="2000" dirty="0">
                <a:solidFill>
                  <a:srgbClr val="610B38"/>
                </a:solidFill>
                <a:latin typeface="erdana"/>
              </a:rPr>
              <a:t>R0 rotation (Node B has balance factor 0 )</a:t>
            </a:r>
          </a:p>
          <a:p>
            <a:pPr algn="just"/>
            <a:r>
              <a:rPr lang="en-US" sz="2000" dirty="0">
                <a:solidFill>
                  <a:srgbClr val="000000"/>
                </a:solidFill>
                <a:latin typeface="verdana" panose="020B0604030504040204" pitchFamily="34" charset="0"/>
              </a:rPr>
              <a:t>If the node B has 0 balance factor, and the balance factor of node A disturbed upon deleting the node X, then the tree will be rebalanced by rotating tree using R0 rotation.</a:t>
            </a:r>
          </a:p>
          <a:p>
            <a:pPr algn="just"/>
            <a:r>
              <a:rPr lang="en-US" sz="2000" dirty="0">
                <a:solidFill>
                  <a:srgbClr val="000000"/>
                </a:solidFill>
                <a:latin typeface="verdana" panose="020B0604030504040204" pitchFamily="34" charset="0"/>
              </a:rPr>
              <a:t>The critical node A is moved to its right and the node B becomes the root of the tree with T1 as its left sub-tree. The sub-trees T2 and T3 becomes the left and right sub-tree of the node A. the process involved in R0 rotation is shown in the following image.</a:t>
            </a:r>
          </a:p>
        </p:txBody>
      </p:sp>
      <p:pic>
        <p:nvPicPr>
          <p:cNvPr id="10" name="Picture 2" descr="Deletion in AVL Tree">
            <a:extLst>
              <a:ext uri="{FF2B5EF4-FFF2-40B4-BE49-F238E27FC236}">
                <a16:creationId xmlns:a16="http://schemas.microsoft.com/office/drawing/2014/main" id="{FC83A0F6-C270-44C6-91C7-34C2DBCED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1426" y="3675491"/>
            <a:ext cx="8549148" cy="2600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246222"/>
      </p:ext>
    </p:extLst>
  </p:cSld>
  <p:clrMapOvr>
    <a:masterClrMapping/>
  </p:clrMapOvr>
  <p:transition spd="slow">
    <p:cove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B62A58D-27F6-4997-85BC-CDC4130EB1D2}"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CEAB7312-E5E8-403F-AC6B-516088088D80}"/>
              </a:ext>
            </a:extLst>
          </p:cNvPr>
          <p:cNvSpPr txBox="1"/>
          <p:nvPr/>
        </p:nvSpPr>
        <p:spPr>
          <a:xfrm>
            <a:off x="914400" y="856354"/>
            <a:ext cx="9579077" cy="646331"/>
          </a:xfrm>
          <a:prstGeom prst="rect">
            <a:avLst/>
          </a:prstGeom>
          <a:noFill/>
        </p:spPr>
        <p:txBody>
          <a:bodyPr wrap="square">
            <a:spAutoFit/>
          </a:bodyPr>
          <a:lstStyle/>
          <a:p>
            <a:pPr algn="l"/>
            <a:r>
              <a:rPr lang="en-US" dirty="0">
                <a:solidFill>
                  <a:srgbClr val="610B4B"/>
                </a:solidFill>
                <a:latin typeface="erdana"/>
              </a:rPr>
              <a:t>Example:</a:t>
            </a:r>
          </a:p>
          <a:p>
            <a:pPr algn="l"/>
            <a:r>
              <a:rPr lang="en-US" dirty="0">
                <a:solidFill>
                  <a:srgbClr val="000000"/>
                </a:solidFill>
                <a:latin typeface="verdana" panose="020B0604030504040204" pitchFamily="34" charset="0"/>
              </a:rPr>
              <a:t>Delete the node 30 from the AVL tree shown in the following image.</a:t>
            </a:r>
          </a:p>
        </p:txBody>
      </p:sp>
      <p:sp>
        <p:nvSpPr>
          <p:cNvPr id="10" name="TextBox 9">
            <a:extLst>
              <a:ext uri="{FF2B5EF4-FFF2-40B4-BE49-F238E27FC236}">
                <a16:creationId xmlns:a16="http://schemas.microsoft.com/office/drawing/2014/main" id="{9227D85D-685A-4001-A4A1-39DD05028E13}"/>
              </a:ext>
            </a:extLst>
          </p:cNvPr>
          <p:cNvSpPr txBox="1"/>
          <p:nvPr/>
        </p:nvSpPr>
        <p:spPr>
          <a:xfrm>
            <a:off x="914400" y="1605807"/>
            <a:ext cx="10668000" cy="1477328"/>
          </a:xfrm>
          <a:prstGeom prst="rect">
            <a:avLst/>
          </a:prstGeom>
          <a:noFill/>
        </p:spPr>
        <p:txBody>
          <a:bodyPr wrap="square">
            <a:spAutoFit/>
          </a:bodyPr>
          <a:lstStyle/>
          <a:p>
            <a:pPr algn="l"/>
            <a:r>
              <a:rPr lang="en-US" dirty="0">
                <a:solidFill>
                  <a:srgbClr val="610B4B"/>
                </a:solidFill>
                <a:latin typeface="erdana"/>
              </a:rPr>
              <a:t>Solution</a:t>
            </a:r>
          </a:p>
          <a:p>
            <a:pPr algn="just"/>
            <a:r>
              <a:rPr lang="en-US" dirty="0">
                <a:solidFill>
                  <a:srgbClr val="000000"/>
                </a:solidFill>
                <a:latin typeface="verdana" panose="020B0604030504040204" pitchFamily="34" charset="0"/>
              </a:rPr>
              <a:t>In this case, the node B has balance factor 0, therefore the tree will be rotated by using R0 rotation as shown in the following image. The node B(10) becomes the root, while the node A is moved to its right. The right child of node B will now become the left child of node A.</a:t>
            </a:r>
          </a:p>
        </p:txBody>
      </p:sp>
      <p:pic>
        <p:nvPicPr>
          <p:cNvPr id="11" name="Picture 2" descr="Deletion in AVL Tree">
            <a:extLst>
              <a:ext uri="{FF2B5EF4-FFF2-40B4-BE49-F238E27FC236}">
                <a16:creationId xmlns:a16="http://schemas.microsoft.com/office/drawing/2014/main" id="{3338A656-32BB-4B0B-BF2B-D75280DB04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186257"/>
            <a:ext cx="8229600" cy="3170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2022136"/>
      </p:ext>
    </p:extLst>
  </p:cSld>
  <p:clrMapOvr>
    <a:masterClrMapping/>
  </p:clrMapOvr>
  <p:transition spd="slow">
    <p:cove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335D86-E2F6-42D3-8965-34569F66E727}"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AA58670B-6B4F-4430-9A85-4C3D5A7C66C2}"/>
              </a:ext>
            </a:extLst>
          </p:cNvPr>
          <p:cNvSpPr txBox="1"/>
          <p:nvPr/>
        </p:nvSpPr>
        <p:spPr>
          <a:xfrm>
            <a:off x="914400" y="883523"/>
            <a:ext cx="8077200" cy="369332"/>
          </a:xfrm>
          <a:prstGeom prst="rect">
            <a:avLst/>
          </a:prstGeom>
          <a:noFill/>
        </p:spPr>
        <p:txBody>
          <a:bodyPr wrap="square">
            <a:spAutoFit/>
          </a:bodyPr>
          <a:lstStyle/>
          <a:p>
            <a:pPr algn="l"/>
            <a:r>
              <a:rPr lang="en-US" dirty="0">
                <a:solidFill>
                  <a:srgbClr val="610B38"/>
                </a:solidFill>
                <a:latin typeface="erdana"/>
              </a:rPr>
              <a:t>R1 Rotation (Node B has balance factor 1)</a:t>
            </a:r>
          </a:p>
        </p:txBody>
      </p:sp>
      <p:sp>
        <p:nvSpPr>
          <p:cNvPr id="10" name="TextBox 9">
            <a:extLst>
              <a:ext uri="{FF2B5EF4-FFF2-40B4-BE49-F238E27FC236}">
                <a16:creationId xmlns:a16="http://schemas.microsoft.com/office/drawing/2014/main" id="{F8AC27EF-37DB-4155-B324-8BED97905207}"/>
              </a:ext>
            </a:extLst>
          </p:cNvPr>
          <p:cNvSpPr txBox="1"/>
          <p:nvPr/>
        </p:nvSpPr>
        <p:spPr>
          <a:xfrm>
            <a:off x="914400" y="1305297"/>
            <a:ext cx="10729452" cy="1200329"/>
          </a:xfrm>
          <a:prstGeom prst="rect">
            <a:avLst/>
          </a:prstGeom>
          <a:noFill/>
        </p:spPr>
        <p:txBody>
          <a:bodyPr wrap="square">
            <a:spAutoFit/>
          </a:bodyPr>
          <a:lstStyle/>
          <a:p>
            <a:pPr algn="just"/>
            <a:r>
              <a:rPr lang="en-US" dirty="0">
                <a:solidFill>
                  <a:srgbClr val="000000"/>
                </a:solidFill>
                <a:latin typeface="verdana" panose="020B0604030504040204" pitchFamily="34" charset="0"/>
              </a:rPr>
              <a:t>R1 Rotation is to be performed if the balance factor of Node B is 1. In R1 rotation, the critical node A is moved to its right having sub-trees T2 and T3 as its left and right child respectively. T1 is to be placed as the left sub-tree of the node B.</a:t>
            </a:r>
          </a:p>
          <a:p>
            <a:pPr algn="just"/>
            <a:r>
              <a:rPr lang="en-US" dirty="0">
                <a:solidFill>
                  <a:srgbClr val="000000"/>
                </a:solidFill>
                <a:latin typeface="verdana" panose="020B0604030504040204" pitchFamily="34" charset="0"/>
              </a:rPr>
              <a:t>The process involved in R1 rotation is shown in the following image.</a:t>
            </a:r>
          </a:p>
        </p:txBody>
      </p:sp>
      <p:pic>
        <p:nvPicPr>
          <p:cNvPr id="11" name="Picture 2" descr="Deletion in AVL Tree">
            <a:extLst>
              <a:ext uri="{FF2B5EF4-FFF2-40B4-BE49-F238E27FC236}">
                <a16:creationId xmlns:a16="http://schemas.microsoft.com/office/drawing/2014/main" id="{13182A99-8B6E-4F31-9EE4-97B2D14FF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2878569"/>
            <a:ext cx="8305800" cy="3369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887822"/>
      </p:ext>
    </p:extLst>
  </p:cSld>
  <p:clrMapOvr>
    <a:masterClrMapping/>
  </p:clrMapOvr>
  <p:transition spd="slow">
    <p:cove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44282-CB42-4666-BB03-9B492C85BFCB}"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85FC68B9-D661-43F8-8D00-2E8F36ACE33A}"/>
              </a:ext>
            </a:extLst>
          </p:cNvPr>
          <p:cNvSpPr txBox="1"/>
          <p:nvPr/>
        </p:nvSpPr>
        <p:spPr>
          <a:xfrm>
            <a:off x="990601" y="811767"/>
            <a:ext cx="9169400" cy="646331"/>
          </a:xfrm>
          <a:prstGeom prst="rect">
            <a:avLst/>
          </a:prstGeom>
          <a:noFill/>
        </p:spPr>
        <p:txBody>
          <a:bodyPr wrap="square">
            <a:spAutoFit/>
          </a:bodyPr>
          <a:lstStyle/>
          <a:p>
            <a:pPr algn="l"/>
            <a:r>
              <a:rPr lang="en-US" dirty="0">
                <a:solidFill>
                  <a:srgbClr val="610B4B"/>
                </a:solidFill>
                <a:latin typeface="erdana"/>
              </a:rPr>
              <a:t>Example</a:t>
            </a:r>
          </a:p>
          <a:p>
            <a:pPr algn="l"/>
            <a:r>
              <a:rPr lang="en-US" dirty="0">
                <a:solidFill>
                  <a:srgbClr val="000000"/>
                </a:solidFill>
                <a:latin typeface="verdana" panose="020B0604030504040204" pitchFamily="34" charset="0"/>
              </a:rPr>
              <a:t>Delete Node 55 from the AVL tree shown in the following image.</a:t>
            </a:r>
          </a:p>
        </p:txBody>
      </p:sp>
      <p:sp>
        <p:nvSpPr>
          <p:cNvPr id="10" name="TextBox 9">
            <a:extLst>
              <a:ext uri="{FF2B5EF4-FFF2-40B4-BE49-F238E27FC236}">
                <a16:creationId xmlns:a16="http://schemas.microsoft.com/office/drawing/2014/main" id="{F025F2EC-ABB2-49CB-9712-6DCD790120FE}"/>
              </a:ext>
            </a:extLst>
          </p:cNvPr>
          <p:cNvSpPr txBox="1"/>
          <p:nvPr/>
        </p:nvSpPr>
        <p:spPr>
          <a:xfrm>
            <a:off x="990601" y="1458098"/>
            <a:ext cx="10744199" cy="1477328"/>
          </a:xfrm>
          <a:prstGeom prst="rect">
            <a:avLst/>
          </a:prstGeom>
          <a:noFill/>
        </p:spPr>
        <p:txBody>
          <a:bodyPr wrap="square">
            <a:spAutoFit/>
          </a:bodyPr>
          <a:lstStyle/>
          <a:p>
            <a:pPr algn="just"/>
            <a:r>
              <a:rPr lang="en-US" dirty="0">
                <a:solidFill>
                  <a:srgbClr val="000000"/>
                </a:solidFill>
                <a:latin typeface="verdana" panose="020B0604030504040204" pitchFamily="34" charset="0"/>
              </a:rPr>
              <a:t>Deleting 55 from the AVL Tree disturbs the balance factor of the node 50 i.e. node A which becomes the critical node. This is the condition of R1 rotation in which, the node A will be moved to its right (shown in the image below). The right of B is now become the left of A (i.e. 45).</a:t>
            </a:r>
          </a:p>
          <a:p>
            <a:pPr algn="just"/>
            <a:r>
              <a:rPr lang="en-US" dirty="0">
                <a:solidFill>
                  <a:srgbClr val="000000"/>
                </a:solidFill>
                <a:latin typeface="verdana" panose="020B0604030504040204" pitchFamily="34" charset="0"/>
              </a:rPr>
              <a:t>The process involved in the solution is shown in the following image.</a:t>
            </a:r>
          </a:p>
        </p:txBody>
      </p:sp>
      <p:pic>
        <p:nvPicPr>
          <p:cNvPr id="11" name="Picture 2" descr="Deletion in AVL Tree">
            <a:extLst>
              <a:ext uri="{FF2B5EF4-FFF2-40B4-BE49-F238E27FC236}">
                <a16:creationId xmlns:a16="http://schemas.microsoft.com/office/drawing/2014/main" id="{22A92132-F298-42C3-AA21-DC3B134D0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124200"/>
            <a:ext cx="8153400"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427309"/>
      </p:ext>
    </p:extLst>
  </p:cSld>
  <p:clrMapOvr>
    <a:masterClrMapping/>
  </p:clrMapOvr>
  <p:transition spd="slow">
    <p:cove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C5CD712-2EE8-43B0-AB39-279484ED71F6}"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BF1B140E-C53A-448E-9CED-946B016F63AC}"/>
              </a:ext>
            </a:extLst>
          </p:cNvPr>
          <p:cNvSpPr txBox="1"/>
          <p:nvPr/>
        </p:nvSpPr>
        <p:spPr>
          <a:xfrm>
            <a:off x="914400" y="849427"/>
            <a:ext cx="4601496" cy="369332"/>
          </a:xfrm>
          <a:prstGeom prst="rect">
            <a:avLst/>
          </a:prstGeom>
          <a:noFill/>
        </p:spPr>
        <p:txBody>
          <a:bodyPr wrap="square">
            <a:spAutoFit/>
          </a:bodyPr>
          <a:lstStyle/>
          <a:p>
            <a:pPr algn="l"/>
            <a:r>
              <a:rPr lang="en-US" dirty="0">
                <a:solidFill>
                  <a:srgbClr val="610B38"/>
                </a:solidFill>
                <a:latin typeface="erdana"/>
              </a:rPr>
              <a:t>R-1 Rotation (Node B has balance factor 1)</a:t>
            </a:r>
          </a:p>
        </p:txBody>
      </p:sp>
      <p:sp>
        <p:nvSpPr>
          <p:cNvPr id="10" name="TextBox 9">
            <a:extLst>
              <a:ext uri="{FF2B5EF4-FFF2-40B4-BE49-F238E27FC236}">
                <a16:creationId xmlns:a16="http://schemas.microsoft.com/office/drawing/2014/main" id="{37BC9849-B91F-4C8A-AD27-7F1D67B85102}"/>
              </a:ext>
            </a:extLst>
          </p:cNvPr>
          <p:cNvSpPr txBox="1"/>
          <p:nvPr/>
        </p:nvSpPr>
        <p:spPr>
          <a:xfrm>
            <a:off x="914400" y="1244295"/>
            <a:ext cx="10744200" cy="1661993"/>
          </a:xfrm>
          <a:prstGeom prst="rect">
            <a:avLst/>
          </a:prstGeom>
          <a:noFill/>
        </p:spPr>
        <p:txBody>
          <a:bodyPr wrap="square">
            <a:spAutoFit/>
          </a:bodyPr>
          <a:lstStyle/>
          <a:p>
            <a:pPr algn="just"/>
            <a:r>
              <a:rPr lang="en-US" sz="1700" dirty="0">
                <a:solidFill>
                  <a:srgbClr val="000000"/>
                </a:solidFill>
                <a:latin typeface="verdana" panose="020B0604030504040204" pitchFamily="34" charset="0"/>
              </a:rPr>
              <a:t>R-1 rotation is to be performed if the node B has balance factor -1. This case is treated in the same way as LR rotation. In this case, the node C, which is the right child of node B, becomes the root node of the tree with B and A as its left and right children respectively.</a:t>
            </a:r>
          </a:p>
          <a:p>
            <a:pPr algn="just"/>
            <a:r>
              <a:rPr lang="en-US" sz="1700" dirty="0">
                <a:solidFill>
                  <a:srgbClr val="000000"/>
                </a:solidFill>
                <a:latin typeface="verdana" panose="020B0604030504040204" pitchFamily="34" charset="0"/>
              </a:rPr>
              <a:t>The sub-trees T1, T2 becomes the left and right sub-trees of B whereas, T3, T4 become the left and right sub-trees of A.</a:t>
            </a:r>
          </a:p>
          <a:p>
            <a:pPr algn="just"/>
            <a:r>
              <a:rPr lang="en-US" sz="1700" dirty="0">
                <a:solidFill>
                  <a:srgbClr val="000000"/>
                </a:solidFill>
                <a:latin typeface="verdana" panose="020B0604030504040204" pitchFamily="34" charset="0"/>
              </a:rPr>
              <a:t>The process involved in R-1 rotation is shown in the following image.</a:t>
            </a:r>
          </a:p>
        </p:txBody>
      </p:sp>
      <p:pic>
        <p:nvPicPr>
          <p:cNvPr id="11" name="Picture 2" descr="Deletion in AVL Tree">
            <a:extLst>
              <a:ext uri="{FF2B5EF4-FFF2-40B4-BE49-F238E27FC236}">
                <a16:creationId xmlns:a16="http://schemas.microsoft.com/office/drawing/2014/main" id="{2F05C218-8468-45E8-9483-09B33097FF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124200"/>
            <a:ext cx="8534400" cy="3169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6321003"/>
      </p:ext>
    </p:extLst>
  </p:cSld>
  <p:clrMapOvr>
    <a:masterClrMapping/>
  </p:clrMapOvr>
  <p:transition spd="slow">
    <p:cove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DDEB4FD-D667-4897-A5C0-F087860AF805}"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7" name="Title 1">
            <a:extLst>
              <a:ext uri="{FF2B5EF4-FFF2-40B4-BE49-F238E27FC236}">
                <a16:creationId xmlns:a16="http://schemas.microsoft.com/office/drawing/2014/main" id="{81F7731E-E924-46C9-9CE7-D66B771DDA96}"/>
              </a:ext>
            </a:extLst>
          </p:cNvPr>
          <p:cNvSpPr txBox="1">
            <a:spLocks/>
          </p:cNvSpPr>
          <p:nvPr/>
        </p:nvSpPr>
        <p:spPr>
          <a:xfrm>
            <a:off x="2895600" y="-29497"/>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AVL Tree</a:t>
            </a:r>
          </a:p>
        </p:txBody>
      </p:sp>
      <p:sp>
        <p:nvSpPr>
          <p:cNvPr id="9" name="TextBox 8">
            <a:extLst>
              <a:ext uri="{FF2B5EF4-FFF2-40B4-BE49-F238E27FC236}">
                <a16:creationId xmlns:a16="http://schemas.microsoft.com/office/drawing/2014/main" id="{9C84603C-FACF-454B-9A36-5AAEF49050EB}"/>
              </a:ext>
            </a:extLst>
          </p:cNvPr>
          <p:cNvSpPr txBox="1"/>
          <p:nvPr/>
        </p:nvSpPr>
        <p:spPr>
          <a:xfrm>
            <a:off x="838200" y="780997"/>
            <a:ext cx="10744200" cy="646331"/>
          </a:xfrm>
          <a:prstGeom prst="rect">
            <a:avLst/>
          </a:prstGeom>
          <a:noFill/>
        </p:spPr>
        <p:txBody>
          <a:bodyPr wrap="square">
            <a:spAutoFit/>
          </a:bodyPr>
          <a:lstStyle/>
          <a:p>
            <a:pPr algn="l"/>
            <a:r>
              <a:rPr lang="en-US" dirty="0">
                <a:solidFill>
                  <a:srgbClr val="610B4B"/>
                </a:solidFill>
                <a:latin typeface="erdana"/>
              </a:rPr>
              <a:t>Example</a:t>
            </a:r>
          </a:p>
          <a:p>
            <a:pPr algn="l"/>
            <a:r>
              <a:rPr lang="en-US" dirty="0">
                <a:solidFill>
                  <a:srgbClr val="000000"/>
                </a:solidFill>
                <a:latin typeface="verdana" panose="020B0604030504040204" pitchFamily="34" charset="0"/>
              </a:rPr>
              <a:t>Delete the node 60 from the AVL tree shown in the following image.</a:t>
            </a:r>
          </a:p>
        </p:txBody>
      </p:sp>
      <p:sp>
        <p:nvSpPr>
          <p:cNvPr id="10" name="TextBox 9">
            <a:extLst>
              <a:ext uri="{FF2B5EF4-FFF2-40B4-BE49-F238E27FC236}">
                <a16:creationId xmlns:a16="http://schemas.microsoft.com/office/drawing/2014/main" id="{F2F48973-E2AC-4EC0-9CD0-056CDB8FF71D}"/>
              </a:ext>
            </a:extLst>
          </p:cNvPr>
          <p:cNvSpPr txBox="1"/>
          <p:nvPr/>
        </p:nvSpPr>
        <p:spPr>
          <a:xfrm>
            <a:off x="838200" y="1427328"/>
            <a:ext cx="10896600" cy="1200329"/>
          </a:xfrm>
          <a:prstGeom prst="rect">
            <a:avLst/>
          </a:prstGeom>
          <a:noFill/>
        </p:spPr>
        <p:txBody>
          <a:bodyPr wrap="square">
            <a:spAutoFit/>
          </a:bodyPr>
          <a:lstStyle/>
          <a:p>
            <a:pPr algn="l"/>
            <a:r>
              <a:rPr lang="en-US" dirty="0">
                <a:solidFill>
                  <a:srgbClr val="610B4B"/>
                </a:solidFill>
                <a:latin typeface="erdana"/>
              </a:rPr>
              <a:t>Solution:</a:t>
            </a:r>
          </a:p>
          <a:p>
            <a:pPr algn="l"/>
            <a:r>
              <a:rPr lang="en-US" dirty="0">
                <a:solidFill>
                  <a:srgbClr val="000000"/>
                </a:solidFill>
                <a:latin typeface="verdana" panose="020B0604030504040204" pitchFamily="34" charset="0"/>
              </a:rPr>
              <a:t>in this case, node B has balance factor -1. Deleting the node 60, disturbs the balance factor of the node 50 therefore, it needs to be R-1 rotated. The node C i.e. 45 becomes the root of the tree with the node B(40) and A(50) as its left and right child.</a:t>
            </a:r>
          </a:p>
        </p:txBody>
      </p:sp>
      <p:pic>
        <p:nvPicPr>
          <p:cNvPr id="11" name="Picture 2" descr="Deletion in AVL Tree">
            <a:extLst>
              <a:ext uri="{FF2B5EF4-FFF2-40B4-BE49-F238E27FC236}">
                <a16:creationId xmlns:a16="http://schemas.microsoft.com/office/drawing/2014/main" id="{F696A071-6304-4EE4-A7FD-DFE84141D1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570" y="2784066"/>
            <a:ext cx="8469262" cy="3754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001701"/>
      </p:ext>
    </p:extLst>
  </p:cSld>
  <p:clrMapOvr>
    <a:masterClrMapping/>
  </p:clrMapOvr>
  <p:transition spd="slow">
    <p:cove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9832"/>
            <a:ext cx="8277097" cy="697230"/>
          </a:xfrm>
        </p:spPr>
        <p:txBody>
          <a:bodyPr/>
          <a:lstStyle/>
          <a:p>
            <a:r>
              <a:rPr lang="en-US" sz="3000" dirty="0"/>
              <a:t>Threaded Binary Tree(CO1)</a:t>
            </a:r>
          </a:p>
        </p:txBody>
      </p:sp>
      <p:sp>
        <p:nvSpPr>
          <p:cNvPr id="3" name="Date Placeholder 2"/>
          <p:cNvSpPr>
            <a:spLocks noGrp="1"/>
          </p:cNvSpPr>
          <p:nvPr>
            <p:ph type="dt" sz="half" idx="10"/>
          </p:nvPr>
        </p:nvSpPr>
        <p:spPr/>
        <p:txBody>
          <a:bodyPr/>
          <a:lstStyle/>
          <a:p>
            <a:pPr marL="12700">
              <a:lnSpc>
                <a:spcPts val="1580"/>
              </a:lnSpc>
            </a:pPr>
            <a:fld id="{1A9C11FD-E0E0-4C9F-B413-B23E7F439905}"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121</a:t>
            </a:fld>
            <a:endParaRPr lang="en-US"/>
          </a:p>
        </p:txBody>
      </p:sp>
      <p:sp>
        <p:nvSpPr>
          <p:cNvPr id="5" name="object 4"/>
          <p:cNvSpPr txBox="1"/>
          <p:nvPr/>
        </p:nvSpPr>
        <p:spPr>
          <a:xfrm>
            <a:off x="685800" y="1066800"/>
            <a:ext cx="11125200" cy="4158190"/>
          </a:xfrm>
          <a:prstGeom prst="rect">
            <a:avLst/>
          </a:prstGeom>
        </p:spPr>
        <p:txBody>
          <a:bodyPr vert="horz" wrap="square" lIns="0" tIns="53975" rIns="0" bIns="0" rtlCol="0">
            <a:spAutoFit/>
          </a:bodyPr>
          <a:lstStyle/>
          <a:p>
            <a:pPr marL="332740" marR="181610" indent="-320040">
              <a:lnSpc>
                <a:spcPts val="2590"/>
              </a:lnSpc>
              <a:spcBef>
                <a:spcPts val="425"/>
              </a:spcBef>
              <a:buClr>
                <a:srgbClr val="DD8046"/>
              </a:buClr>
              <a:buSzPct val="60416"/>
              <a:tabLst>
                <a:tab pos="332105" algn="l"/>
                <a:tab pos="332740" algn="l"/>
              </a:tabLst>
            </a:pPr>
            <a:r>
              <a:rPr lang="en-US" sz="3200" dirty="0">
                <a:latin typeface="Arial"/>
                <a:cs typeface="Arial"/>
              </a:rPr>
              <a:t>Introduction</a:t>
            </a:r>
          </a:p>
          <a:p>
            <a:pPr marL="332740" marR="181610" indent="-320040" algn="just">
              <a:lnSpc>
                <a:spcPts val="2590"/>
              </a:lnSpc>
              <a:spcBef>
                <a:spcPts val="425"/>
              </a:spcBef>
              <a:buClr>
                <a:srgbClr val="DD8046"/>
              </a:buClr>
              <a:buSzPct val="60416"/>
              <a:tabLst>
                <a:tab pos="332105" algn="l"/>
                <a:tab pos="332740" algn="l"/>
              </a:tabLst>
            </a:pPr>
            <a:r>
              <a:rPr lang="en-US" dirty="0">
                <a:latin typeface="Times New Roman" pitchFamily="18" charset="0"/>
                <a:cs typeface="Times New Roman" pitchFamily="18" charset="0"/>
              </a:rPr>
              <a:t>     </a:t>
            </a:r>
            <a:r>
              <a:rPr lang="en-US" sz="2000" dirty="0">
                <a:latin typeface="Times New Roman" pitchFamily="18" charset="0"/>
                <a:cs typeface="Times New Roman" pitchFamily="18" charset="0"/>
              </a:rPr>
              <a:t>A binary tree can be represented using array representation or linked list representation. When a binary tree is represented using linked list representation, the reference part of the node which doesn't have a child is filled with NULL pointer. In any binary tree linked list representation, there are more number of NULL pointers than actual pointers. Generally, in any binary tree linked list representation, if there are </a:t>
            </a:r>
            <a:r>
              <a:rPr lang="en-US" sz="2000" b="1" dirty="0">
                <a:latin typeface="Times New Roman" pitchFamily="18" charset="0"/>
                <a:cs typeface="Times New Roman" pitchFamily="18" charset="0"/>
              </a:rPr>
              <a:t>2N</a:t>
            </a:r>
            <a:r>
              <a:rPr lang="en-US" sz="2000" dirty="0">
                <a:latin typeface="Times New Roman" pitchFamily="18" charset="0"/>
                <a:cs typeface="Times New Roman" pitchFamily="18" charset="0"/>
              </a:rPr>
              <a:t> number of reference fields, then </a:t>
            </a:r>
            <a:r>
              <a:rPr lang="en-US" sz="2000" b="1" dirty="0">
                <a:latin typeface="Times New Roman" pitchFamily="18" charset="0"/>
                <a:cs typeface="Times New Roman" pitchFamily="18" charset="0"/>
              </a:rPr>
              <a:t>N+1</a:t>
            </a:r>
            <a:r>
              <a:rPr lang="en-US" sz="2000" dirty="0">
                <a:latin typeface="Times New Roman" pitchFamily="18" charset="0"/>
                <a:cs typeface="Times New Roman" pitchFamily="18" charset="0"/>
              </a:rPr>
              <a:t> number of reference fields are filled with NULL ( </a:t>
            </a:r>
            <a:r>
              <a:rPr lang="en-US" sz="2000" b="1" dirty="0">
                <a:latin typeface="Times New Roman" pitchFamily="18" charset="0"/>
                <a:cs typeface="Times New Roman" pitchFamily="18" charset="0"/>
              </a:rPr>
              <a:t>N+1 are NULL out of 2N</a:t>
            </a:r>
            <a:r>
              <a:rPr lang="en-US" sz="2000" dirty="0">
                <a:latin typeface="Times New Roman" pitchFamily="18" charset="0"/>
                <a:cs typeface="Times New Roman" pitchFamily="18" charset="0"/>
              </a:rPr>
              <a:t> ). </a:t>
            </a:r>
          </a:p>
          <a:p>
            <a:pPr marL="332740" marR="181610" indent="-320040" algn="just">
              <a:lnSpc>
                <a:spcPts val="2590"/>
              </a:lnSpc>
              <a:spcBef>
                <a:spcPts val="425"/>
              </a:spcBef>
              <a:buClr>
                <a:srgbClr val="DD8046"/>
              </a:buClr>
              <a:buSzPct val="60416"/>
              <a:tabLst>
                <a:tab pos="332105" algn="l"/>
                <a:tab pos="332740" algn="l"/>
              </a:tabLst>
            </a:pPr>
            <a:r>
              <a:rPr lang="en-US" sz="2000" dirty="0">
                <a:latin typeface="Times New Roman" pitchFamily="18" charset="0"/>
                <a:cs typeface="Times New Roman" pitchFamily="18" charset="0"/>
              </a:rPr>
              <a:t>    This NULL pointer does not play any role except indicating that there is no link (no child).</a:t>
            </a:r>
            <a:br>
              <a:rPr lang="en-US" sz="2000" dirty="0">
                <a:latin typeface="Times New Roman" pitchFamily="18" charset="0"/>
                <a:cs typeface="Times New Roman" pitchFamily="18" charset="0"/>
              </a:rPr>
            </a:b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 J. Perlis and C. Thornton have proposed new binary tree called "</a:t>
            </a:r>
            <a:r>
              <a:rPr lang="en-US" sz="2000" b="1" i="1" dirty="0">
                <a:latin typeface="Times New Roman" pitchFamily="18" charset="0"/>
                <a:cs typeface="Times New Roman" pitchFamily="18" charset="0"/>
              </a:rPr>
              <a:t>Threaded Binary Tree</a:t>
            </a:r>
            <a:r>
              <a:rPr lang="en-US" sz="2000" dirty="0">
                <a:latin typeface="Times New Roman" pitchFamily="18" charset="0"/>
                <a:cs typeface="Times New Roman" pitchFamily="18" charset="0"/>
              </a:rPr>
              <a:t>", which makes use of NULL pointers to improve its traversal process. In threaded binary tree, NULL pointers are replaced by references of other nodes in the tree. These extra references are called as </a:t>
            </a:r>
            <a:r>
              <a:rPr lang="en-US" sz="2000" b="1" i="1" dirty="0">
                <a:latin typeface="Times New Roman" pitchFamily="18" charset="0"/>
                <a:cs typeface="Times New Roman" pitchFamily="18" charset="0"/>
              </a:rPr>
              <a:t>threads</a:t>
            </a:r>
            <a:r>
              <a:rPr lang="en-US" sz="2000" dirty="0">
                <a:latin typeface="Times New Roman" pitchFamily="18" charset="0"/>
                <a:cs typeface="Times New Roman" pitchFamily="18" charset="0"/>
              </a:rPr>
              <a:t>.</a:t>
            </a:r>
            <a:endParaRPr sz="4000" dirty="0">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id="{F913CA38-6C95-D6E0-61B5-AF9A6F382FCB}"/>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0"/>
            <a:ext cx="8277097" cy="697230"/>
          </a:xfrm>
        </p:spPr>
        <p:txBody>
          <a:bodyPr/>
          <a:lstStyle/>
          <a:p>
            <a:r>
              <a:rPr lang="en-US" dirty="0"/>
              <a:t>TBT </a:t>
            </a:r>
            <a:r>
              <a:rPr lang="en-US" dirty="0" err="1"/>
              <a:t>Contd</a:t>
            </a:r>
            <a:r>
              <a:rPr lang="en-US" dirty="0"/>
              <a:t>…</a:t>
            </a:r>
          </a:p>
        </p:txBody>
      </p:sp>
      <p:sp>
        <p:nvSpPr>
          <p:cNvPr id="3" name="Date Placeholder 2"/>
          <p:cNvSpPr>
            <a:spLocks noGrp="1"/>
          </p:cNvSpPr>
          <p:nvPr>
            <p:ph type="dt" sz="half" idx="10"/>
          </p:nvPr>
        </p:nvSpPr>
        <p:spPr/>
        <p:txBody>
          <a:bodyPr/>
          <a:lstStyle/>
          <a:p>
            <a:pPr marL="12700">
              <a:lnSpc>
                <a:spcPts val="1580"/>
              </a:lnSpc>
            </a:pPr>
            <a:fld id="{FA064FC2-BF4D-4ED5-854B-DE0F687CFF23}"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122</a:t>
            </a:fld>
            <a:endParaRPr lang="en-US"/>
          </a:p>
        </p:txBody>
      </p:sp>
      <p:sp>
        <p:nvSpPr>
          <p:cNvPr id="5" name="Rectangle 4"/>
          <p:cNvSpPr/>
          <p:nvPr/>
        </p:nvSpPr>
        <p:spPr>
          <a:xfrm>
            <a:off x="685800" y="946908"/>
            <a:ext cx="10972800" cy="1631216"/>
          </a:xfrm>
          <a:prstGeom prst="rect">
            <a:avLst/>
          </a:prstGeom>
        </p:spPr>
        <p:txBody>
          <a:bodyPr wrap="square">
            <a:spAutoFit/>
          </a:bodyPr>
          <a:lstStyle/>
          <a:p>
            <a:pPr algn="just"/>
            <a:r>
              <a:rPr lang="en-US" sz="2000" dirty="0"/>
              <a:t>Threaded Binary Tree is also a binary tree in which all left child pointers that are NULL (in Linked list representation) points to its in-order predecessor, and all right child pointers that are NULL (in Linked list representation) points to its in-order successor.</a:t>
            </a:r>
          </a:p>
          <a:p>
            <a:pPr algn="just"/>
            <a:r>
              <a:rPr lang="en-US" sz="2000" dirty="0"/>
              <a:t>If there is no in-order predecessor or in-order successor, then it points to the root node.</a:t>
            </a:r>
          </a:p>
          <a:p>
            <a:pPr algn="just"/>
            <a:r>
              <a:rPr lang="en-US" sz="2000" dirty="0"/>
              <a:t>Consider the following binary tree...</a:t>
            </a:r>
          </a:p>
        </p:txBody>
      </p:sp>
      <p:pic>
        <p:nvPicPr>
          <p:cNvPr id="17410" name="Picture 2" descr="Binary Tree"/>
          <p:cNvPicPr>
            <a:picLocks noChangeAspect="1" noChangeArrowheads="1"/>
          </p:cNvPicPr>
          <p:nvPr/>
        </p:nvPicPr>
        <p:blipFill>
          <a:blip r:embed="rId2"/>
          <a:srcRect/>
          <a:stretch>
            <a:fillRect/>
          </a:stretch>
        </p:blipFill>
        <p:spPr bwMode="auto">
          <a:xfrm>
            <a:off x="3022600" y="2592872"/>
            <a:ext cx="5715000" cy="3499722"/>
          </a:xfrm>
          <a:prstGeom prst="rect">
            <a:avLst/>
          </a:prstGeom>
          <a:noFill/>
        </p:spPr>
      </p:pic>
      <p:sp>
        <p:nvSpPr>
          <p:cNvPr id="6" name="Footer Placeholder 5">
            <a:extLst>
              <a:ext uri="{FF2B5EF4-FFF2-40B4-BE49-F238E27FC236}">
                <a16:creationId xmlns:a16="http://schemas.microsoft.com/office/drawing/2014/main" id="{9FB9EE9E-6F47-4418-2706-1F64F10D6858}"/>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27672"/>
            <a:ext cx="8277097" cy="697230"/>
          </a:xfrm>
        </p:spPr>
        <p:txBody>
          <a:bodyPr/>
          <a:lstStyle/>
          <a:p>
            <a:r>
              <a:rPr lang="en-US" dirty="0"/>
              <a:t>TBT </a:t>
            </a:r>
            <a:r>
              <a:rPr lang="en-US" dirty="0" err="1"/>
              <a:t>Contd</a:t>
            </a:r>
            <a:r>
              <a:rPr lang="en-US" dirty="0"/>
              <a:t>…</a:t>
            </a:r>
          </a:p>
        </p:txBody>
      </p:sp>
      <p:sp>
        <p:nvSpPr>
          <p:cNvPr id="3" name="Date Placeholder 2"/>
          <p:cNvSpPr>
            <a:spLocks noGrp="1"/>
          </p:cNvSpPr>
          <p:nvPr>
            <p:ph type="dt" sz="half" idx="10"/>
          </p:nvPr>
        </p:nvSpPr>
        <p:spPr>
          <a:xfrm>
            <a:off x="1752600" y="6400800"/>
            <a:ext cx="2124710" cy="205184"/>
          </a:xfrm>
        </p:spPr>
        <p:txBody>
          <a:bodyPr/>
          <a:lstStyle/>
          <a:p>
            <a:pPr marL="12700">
              <a:lnSpc>
                <a:spcPts val="1580"/>
              </a:lnSpc>
            </a:pPr>
            <a:fld id="{E68E13EA-C3C2-49F9-958B-A4BCB3E2D80F}"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123</a:t>
            </a:fld>
            <a:endParaRPr lang="en-US"/>
          </a:p>
        </p:txBody>
      </p:sp>
      <p:sp>
        <p:nvSpPr>
          <p:cNvPr id="5" name="Rectangle 4"/>
          <p:cNvSpPr/>
          <p:nvPr/>
        </p:nvSpPr>
        <p:spPr>
          <a:xfrm>
            <a:off x="990600" y="868660"/>
            <a:ext cx="10744200" cy="2031325"/>
          </a:xfrm>
          <a:prstGeom prst="rect">
            <a:avLst/>
          </a:prstGeom>
        </p:spPr>
        <p:txBody>
          <a:bodyPr wrap="square">
            <a:spAutoFit/>
          </a:bodyPr>
          <a:lstStyle/>
          <a:p>
            <a:pPr algn="just"/>
            <a:r>
              <a:rPr lang="en-US" b="1" dirty="0"/>
              <a:t>In-order traversal of above binary tree: H - D - I - B - E - A - F - J - C - G</a:t>
            </a:r>
          </a:p>
          <a:p>
            <a:pPr algn="just"/>
            <a:r>
              <a:rPr lang="en-US" dirty="0"/>
              <a:t>When we represent the above binary tree using linked list representation, nodes </a:t>
            </a:r>
            <a:r>
              <a:rPr lang="en-US" b="1" dirty="0"/>
              <a:t>H, I, E, F, J</a:t>
            </a:r>
            <a:r>
              <a:rPr lang="en-US" dirty="0"/>
              <a:t> and </a:t>
            </a:r>
            <a:r>
              <a:rPr lang="en-US" b="1" dirty="0"/>
              <a:t>G</a:t>
            </a:r>
            <a:r>
              <a:rPr lang="en-US" dirty="0"/>
              <a:t> left child pointers are NULL. This NULL is replaced by address of its in-order predecessor respectively, but here the node H does not have its in-order predecessor, so it points to the root node A. And nodes </a:t>
            </a:r>
            <a:r>
              <a:rPr lang="en-US" b="1" dirty="0"/>
              <a:t>H, I, E, J</a:t>
            </a:r>
            <a:r>
              <a:rPr lang="en-US" dirty="0"/>
              <a:t> and </a:t>
            </a:r>
            <a:r>
              <a:rPr lang="en-US" b="1" dirty="0"/>
              <a:t>G</a:t>
            </a:r>
            <a:r>
              <a:rPr lang="en-US" dirty="0"/>
              <a:t> right child pointers are NULL. This NULL pointers are replaced by address of its in-order successor respectively, but here the node G does not have its in-order successor, so it points to the root node A. </a:t>
            </a:r>
            <a:br>
              <a:rPr lang="en-US" dirty="0"/>
            </a:br>
            <a:endParaRPr lang="en-US" dirty="0"/>
          </a:p>
        </p:txBody>
      </p:sp>
      <p:pic>
        <p:nvPicPr>
          <p:cNvPr id="16386" name="Picture 2" descr="threaded binary tree"/>
          <p:cNvPicPr>
            <a:picLocks noChangeAspect="1" noChangeArrowheads="1"/>
          </p:cNvPicPr>
          <p:nvPr/>
        </p:nvPicPr>
        <p:blipFill>
          <a:blip r:embed="rId2"/>
          <a:srcRect/>
          <a:stretch>
            <a:fillRect/>
          </a:stretch>
        </p:blipFill>
        <p:spPr bwMode="auto">
          <a:xfrm>
            <a:off x="2590800" y="2667000"/>
            <a:ext cx="7848600" cy="3429000"/>
          </a:xfrm>
          <a:prstGeom prst="rect">
            <a:avLst/>
          </a:prstGeom>
          <a:noFill/>
        </p:spPr>
      </p:pic>
      <p:sp>
        <p:nvSpPr>
          <p:cNvPr id="6" name="Footer Placeholder 5">
            <a:extLst>
              <a:ext uri="{FF2B5EF4-FFF2-40B4-BE49-F238E27FC236}">
                <a16:creationId xmlns:a16="http://schemas.microsoft.com/office/drawing/2014/main" id="{87701E23-1C3C-A0BA-752E-F9A57234DD62}"/>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pPr marL="12700">
              <a:lnSpc>
                <a:spcPts val="1580"/>
              </a:lnSpc>
            </a:pPr>
            <a:fld id="{46741B91-F4C4-4A0A-9640-C7E91A8ED3C1}"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124</a:t>
            </a:fld>
            <a:endParaRPr lang="en-US"/>
          </a:p>
        </p:txBody>
      </p:sp>
      <p:sp>
        <p:nvSpPr>
          <p:cNvPr id="5" name="Rectangle 4"/>
          <p:cNvSpPr/>
          <p:nvPr/>
        </p:nvSpPr>
        <p:spPr>
          <a:xfrm>
            <a:off x="990600" y="990600"/>
            <a:ext cx="10591800" cy="2246769"/>
          </a:xfrm>
          <a:prstGeom prst="rect">
            <a:avLst/>
          </a:prstGeom>
        </p:spPr>
        <p:txBody>
          <a:bodyPr wrap="square">
            <a:spAutoFit/>
          </a:bodyPr>
          <a:lstStyle/>
          <a:p>
            <a:pPr fontAlgn="base"/>
            <a:r>
              <a:rPr lang="en-US" sz="2000" dirty="0"/>
              <a:t>There are two types of threaded binary trees: </a:t>
            </a:r>
          </a:p>
          <a:p>
            <a:pPr fontAlgn="base"/>
            <a:r>
              <a:rPr lang="en-US" sz="2000" b="1" dirty="0">
                <a:hlinkClick r:id="rId2"/>
              </a:rPr>
              <a:t>Single Threaded</a:t>
            </a:r>
            <a:r>
              <a:rPr lang="en-US" sz="2000" dirty="0"/>
              <a:t>: each node is threaded towards either the in-order predecessor or successor (left </a:t>
            </a:r>
            <a:r>
              <a:rPr lang="en-US" sz="2000" b="1" dirty="0" err="1"/>
              <a:t>or</a:t>
            </a:r>
            <a:r>
              <a:rPr lang="en-US" sz="2000" dirty="0" err="1"/>
              <a:t>right</a:t>
            </a:r>
            <a:r>
              <a:rPr lang="en-US" sz="2000" dirty="0"/>
              <a:t>) means all right null pointers will point to </a:t>
            </a:r>
            <a:r>
              <a:rPr lang="en-US" sz="2000" dirty="0" err="1"/>
              <a:t>inorder</a:t>
            </a:r>
            <a:r>
              <a:rPr lang="en-US" sz="2000" dirty="0"/>
              <a:t> successor </a:t>
            </a:r>
            <a:r>
              <a:rPr lang="en-US" sz="2000" b="1" dirty="0"/>
              <a:t>OR</a:t>
            </a:r>
            <a:r>
              <a:rPr lang="en-US" sz="2000" dirty="0"/>
              <a:t> all left null pointers will point to </a:t>
            </a:r>
            <a:r>
              <a:rPr lang="en-US" sz="2000" dirty="0" err="1"/>
              <a:t>inorder</a:t>
            </a:r>
            <a:r>
              <a:rPr lang="en-US" sz="2000" dirty="0"/>
              <a:t> predecessor.</a:t>
            </a:r>
          </a:p>
          <a:p>
            <a:pPr fontAlgn="base"/>
            <a:r>
              <a:rPr lang="en-US" sz="2000" b="1" dirty="0">
                <a:hlinkClick r:id="rId3"/>
              </a:rPr>
              <a:t>Double threaded</a:t>
            </a:r>
            <a:r>
              <a:rPr lang="en-US" sz="2000" b="1" dirty="0"/>
              <a:t>:</a:t>
            </a:r>
            <a:r>
              <a:rPr lang="en-US" sz="2000" dirty="0"/>
              <a:t> each node is threaded towards both the in-order predecessor and successor (left </a:t>
            </a:r>
            <a:r>
              <a:rPr lang="en-US" sz="2000" b="1" dirty="0" err="1"/>
              <a:t>and</a:t>
            </a:r>
            <a:r>
              <a:rPr lang="en-US" sz="2000" dirty="0" err="1"/>
              <a:t>right</a:t>
            </a:r>
            <a:r>
              <a:rPr lang="en-US" sz="2000" dirty="0"/>
              <a:t>) means all right null pointers will point to </a:t>
            </a:r>
            <a:r>
              <a:rPr lang="en-US" sz="2000" dirty="0" err="1"/>
              <a:t>inorder</a:t>
            </a:r>
            <a:r>
              <a:rPr lang="en-US" sz="2000" dirty="0"/>
              <a:t> successor </a:t>
            </a:r>
            <a:r>
              <a:rPr lang="en-US" sz="2000" b="1" dirty="0"/>
              <a:t>AND</a:t>
            </a:r>
            <a:r>
              <a:rPr lang="en-US" sz="2000" dirty="0"/>
              <a:t> all left null pointers will point to </a:t>
            </a:r>
            <a:r>
              <a:rPr lang="en-US" sz="2000" dirty="0" err="1"/>
              <a:t>inorder</a:t>
            </a:r>
            <a:r>
              <a:rPr lang="en-US" sz="2000" dirty="0"/>
              <a:t> predecessor.</a:t>
            </a:r>
          </a:p>
        </p:txBody>
      </p:sp>
      <p:pic>
        <p:nvPicPr>
          <p:cNvPr id="15362" name="Picture 2" descr="https://i2.wp.com/algorithms.tutorialhorizon.com/files/2016/03/Single-and-Double-threaded-binary-tree-1.png"/>
          <p:cNvPicPr>
            <a:picLocks noChangeAspect="1" noChangeArrowheads="1"/>
          </p:cNvPicPr>
          <p:nvPr/>
        </p:nvPicPr>
        <p:blipFill>
          <a:blip r:embed="rId4"/>
          <a:srcRect/>
          <a:stretch>
            <a:fillRect/>
          </a:stretch>
        </p:blipFill>
        <p:spPr bwMode="auto">
          <a:xfrm>
            <a:off x="1981200" y="3620632"/>
            <a:ext cx="8077200" cy="2703968"/>
          </a:xfrm>
          <a:prstGeom prst="rect">
            <a:avLst/>
          </a:prstGeom>
          <a:noFill/>
        </p:spPr>
      </p:pic>
      <p:sp>
        <p:nvSpPr>
          <p:cNvPr id="6" name="Title 1">
            <a:extLst>
              <a:ext uri="{FF2B5EF4-FFF2-40B4-BE49-F238E27FC236}">
                <a16:creationId xmlns:a16="http://schemas.microsoft.com/office/drawing/2014/main" id="{891188D3-7794-E387-D078-A7B240ABEC31}"/>
              </a:ext>
            </a:extLst>
          </p:cNvPr>
          <p:cNvSpPr txBox="1">
            <a:spLocks/>
          </p:cNvSpPr>
          <p:nvPr/>
        </p:nvSpPr>
        <p:spPr>
          <a:xfrm>
            <a:off x="2743200" y="-9832"/>
            <a:ext cx="8277097" cy="69723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000" dirty="0"/>
              <a:t>Types of TBT</a:t>
            </a:r>
          </a:p>
        </p:txBody>
      </p:sp>
      <p:sp>
        <p:nvSpPr>
          <p:cNvPr id="7" name="Footer Placeholder 6">
            <a:extLst>
              <a:ext uri="{FF2B5EF4-FFF2-40B4-BE49-F238E27FC236}">
                <a16:creationId xmlns:a16="http://schemas.microsoft.com/office/drawing/2014/main" id="{1517440A-BB29-E695-BD3E-80CF1DA3D665}"/>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4484"/>
            <a:ext cx="8277097" cy="697230"/>
          </a:xfrm>
        </p:spPr>
        <p:txBody>
          <a:bodyPr/>
          <a:lstStyle/>
          <a:p>
            <a:r>
              <a:rPr lang="en-US" sz="3200" dirty="0"/>
              <a:t>TBT Node Implementation</a:t>
            </a:r>
          </a:p>
        </p:txBody>
      </p:sp>
      <p:sp>
        <p:nvSpPr>
          <p:cNvPr id="3" name="Date Placeholder 2"/>
          <p:cNvSpPr>
            <a:spLocks noGrp="1"/>
          </p:cNvSpPr>
          <p:nvPr>
            <p:ph type="dt" sz="half" idx="10"/>
          </p:nvPr>
        </p:nvSpPr>
        <p:spPr/>
        <p:txBody>
          <a:bodyPr/>
          <a:lstStyle/>
          <a:p>
            <a:pPr marL="12700">
              <a:lnSpc>
                <a:spcPts val="1580"/>
              </a:lnSpc>
            </a:pPr>
            <a:fld id="{FCEA50DB-61C4-4B94-AF5D-0BBFE6715F08}"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125</a:t>
            </a:fld>
            <a:endParaRPr lang="en-US"/>
          </a:p>
        </p:txBody>
      </p:sp>
      <p:sp>
        <p:nvSpPr>
          <p:cNvPr id="7" name="Rectangle 6"/>
          <p:cNvSpPr/>
          <p:nvPr/>
        </p:nvSpPr>
        <p:spPr>
          <a:xfrm>
            <a:off x="1369961" y="990006"/>
            <a:ext cx="8839200" cy="4001095"/>
          </a:xfrm>
          <a:prstGeom prst="rect">
            <a:avLst/>
          </a:prstGeom>
        </p:spPr>
        <p:txBody>
          <a:bodyPr wrap="square">
            <a:spAutoFit/>
          </a:bodyPr>
          <a:lstStyle/>
          <a:p>
            <a:endParaRPr lang="en-US" dirty="0"/>
          </a:p>
          <a:p>
            <a:r>
              <a:rPr lang="en-US" sz="2000" b="1" dirty="0"/>
              <a:t>Defining the TBT Node</a:t>
            </a:r>
          </a:p>
          <a:p>
            <a:r>
              <a:rPr lang="en-US" dirty="0" err="1"/>
              <a:t>struct</a:t>
            </a:r>
            <a:r>
              <a:rPr lang="en-US" dirty="0"/>
              <a:t> </a:t>
            </a:r>
            <a:r>
              <a:rPr lang="en-US" dirty="0" err="1"/>
              <a:t>TBTNode</a:t>
            </a:r>
            <a:endParaRPr lang="en-US" dirty="0"/>
          </a:p>
          <a:p>
            <a:r>
              <a:rPr lang="en-US" dirty="0"/>
              <a:t>{</a:t>
            </a:r>
          </a:p>
          <a:p>
            <a:r>
              <a:rPr lang="en-US" dirty="0"/>
              <a:t>	</a:t>
            </a:r>
            <a:r>
              <a:rPr lang="en-US" dirty="0" err="1"/>
              <a:t>struct</a:t>
            </a:r>
            <a:r>
              <a:rPr lang="en-US" dirty="0"/>
              <a:t> </a:t>
            </a:r>
            <a:r>
              <a:rPr lang="en-US" dirty="0" err="1"/>
              <a:t>TBTNode</a:t>
            </a:r>
            <a:r>
              <a:rPr lang="en-US" dirty="0"/>
              <a:t> *</a:t>
            </a:r>
            <a:r>
              <a:rPr lang="en-US" dirty="0" err="1"/>
              <a:t>Lchild</a:t>
            </a:r>
            <a:r>
              <a:rPr lang="en-US" dirty="0"/>
              <a:t>, *</a:t>
            </a:r>
            <a:r>
              <a:rPr lang="en-US" dirty="0" err="1"/>
              <a:t>Rchild</a:t>
            </a:r>
            <a:r>
              <a:rPr lang="en-US" dirty="0"/>
              <a:t>; </a:t>
            </a:r>
          </a:p>
          <a:p>
            <a:r>
              <a:rPr lang="en-US" dirty="0"/>
              <a:t>	</a:t>
            </a:r>
            <a:r>
              <a:rPr lang="en-US" dirty="0" err="1"/>
              <a:t>int</a:t>
            </a:r>
            <a:r>
              <a:rPr lang="en-US" dirty="0"/>
              <a:t> data; </a:t>
            </a:r>
          </a:p>
          <a:p>
            <a:r>
              <a:rPr lang="en-US" dirty="0"/>
              <a:t>	</a:t>
            </a:r>
            <a:r>
              <a:rPr lang="en-US" dirty="0" err="1"/>
              <a:t>boolean</a:t>
            </a:r>
            <a:r>
              <a:rPr lang="en-US" dirty="0"/>
              <a:t> </a:t>
            </a:r>
            <a:r>
              <a:rPr lang="en-US" dirty="0" err="1"/>
              <a:t>Lbit</a:t>
            </a:r>
            <a:r>
              <a:rPr lang="en-US" dirty="0"/>
              <a:t>; </a:t>
            </a:r>
          </a:p>
          <a:p>
            <a:r>
              <a:rPr lang="en-US" dirty="0"/>
              <a:t>	</a:t>
            </a:r>
            <a:r>
              <a:rPr lang="en-US" dirty="0" err="1"/>
              <a:t>boolean</a:t>
            </a:r>
            <a:r>
              <a:rPr lang="en-US" dirty="0"/>
              <a:t> </a:t>
            </a:r>
            <a:r>
              <a:rPr lang="en-US" dirty="0" err="1"/>
              <a:t>Rbit</a:t>
            </a:r>
            <a:r>
              <a:rPr lang="en-US" dirty="0"/>
              <a:t>;</a:t>
            </a:r>
          </a:p>
          <a:p>
            <a:r>
              <a:rPr lang="en-US" dirty="0"/>
              <a:t>};</a:t>
            </a:r>
          </a:p>
          <a:p>
            <a:endParaRPr lang="en-US" dirty="0"/>
          </a:p>
          <a:p>
            <a:endParaRPr lang="en-US" dirty="0"/>
          </a:p>
          <a:p>
            <a:endParaRPr lang="en-US" dirty="0"/>
          </a:p>
          <a:p>
            <a:endParaRPr lang="en-US" dirty="0"/>
          </a:p>
          <a:p>
            <a:endParaRPr lang="en-US" dirty="0"/>
          </a:p>
        </p:txBody>
      </p:sp>
      <p:sp>
        <p:nvSpPr>
          <p:cNvPr id="8" name="Rectangle 7"/>
          <p:cNvSpPr/>
          <p:nvPr/>
        </p:nvSpPr>
        <p:spPr>
          <a:xfrm>
            <a:off x="42672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Lbit</a:t>
            </a:r>
            <a:endParaRPr lang="en-US" dirty="0"/>
          </a:p>
        </p:txBody>
      </p:sp>
      <p:sp>
        <p:nvSpPr>
          <p:cNvPr id="9" name="Rectangle 8"/>
          <p:cNvSpPr/>
          <p:nvPr/>
        </p:nvSpPr>
        <p:spPr>
          <a:xfrm>
            <a:off x="51054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Lchild</a:t>
            </a:r>
            <a:endParaRPr lang="en-US" dirty="0"/>
          </a:p>
        </p:txBody>
      </p:sp>
      <p:sp>
        <p:nvSpPr>
          <p:cNvPr id="10" name="Rectangle 9"/>
          <p:cNvSpPr/>
          <p:nvPr/>
        </p:nvSpPr>
        <p:spPr>
          <a:xfrm>
            <a:off x="59436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11" name="Rectangle 10"/>
          <p:cNvSpPr/>
          <p:nvPr/>
        </p:nvSpPr>
        <p:spPr>
          <a:xfrm>
            <a:off x="67818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Rchild</a:t>
            </a:r>
            <a:endParaRPr lang="en-US" dirty="0"/>
          </a:p>
        </p:txBody>
      </p:sp>
      <p:sp>
        <p:nvSpPr>
          <p:cNvPr id="12" name="Rectangle 11"/>
          <p:cNvSpPr/>
          <p:nvPr/>
        </p:nvSpPr>
        <p:spPr>
          <a:xfrm>
            <a:off x="76200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Rbit</a:t>
            </a:r>
            <a:endParaRPr lang="en-US" dirty="0"/>
          </a:p>
        </p:txBody>
      </p:sp>
      <p:sp>
        <p:nvSpPr>
          <p:cNvPr id="13" name="Rectangle 12"/>
          <p:cNvSpPr/>
          <p:nvPr/>
        </p:nvSpPr>
        <p:spPr>
          <a:xfrm>
            <a:off x="1752600" y="5257800"/>
            <a:ext cx="8610600" cy="369332"/>
          </a:xfrm>
          <a:prstGeom prst="rect">
            <a:avLst/>
          </a:prstGeom>
        </p:spPr>
        <p:txBody>
          <a:bodyPr wrap="square">
            <a:spAutoFit/>
          </a:bodyPr>
          <a:lstStyle/>
          <a:p>
            <a:r>
              <a:rPr lang="en-US" dirty="0"/>
              <a:t>                                                                         TBT Node Structure</a:t>
            </a:r>
          </a:p>
        </p:txBody>
      </p:sp>
      <p:sp>
        <p:nvSpPr>
          <p:cNvPr id="5" name="Footer Placeholder 4">
            <a:extLst>
              <a:ext uri="{FF2B5EF4-FFF2-40B4-BE49-F238E27FC236}">
                <a16:creationId xmlns:a16="http://schemas.microsoft.com/office/drawing/2014/main" id="{12125615-C55C-E25A-9204-16E873BA092B}"/>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4258" y="32521"/>
            <a:ext cx="8610600" cy="578231"/>
          </a:xfrm>
        </p:spPr>
        <p:txBody>
          <a:bodyPr>
            <a:normAutofit fontScale="90000"/>
          </a:bodyPr>
          <a:lstStyle/>
          <a:p>
            <a:pPr lvl="2" algn="ctr"/>
            <a:r>
              <a:rPr lang="en-US" sz="3600" kern="1200" dirty="0">
                <a:solidFill>
                  <a:schemeClr val="tx1"/>
                </a:solidFill>
                <a:latin typeface="+mj-lt"/>
                <a:ea typeface="+mj-ea"/>
                <a:cs typeface="+mj-cs"/>
              </a:rPr>
              <a:t>Traversing a Threaded Binary Tree</a:t>
            </a:r>
            <a:br>
              <a:rPr lang="en-US" sz="3600" dirty="0">
                <a:solidFill>
                  <a:srgbClr val="775F54"/>
                </a:solidFill>
                <a:latin typeface="Arial"/>
                <a:ea typeface="+mj-ea"/>
                <a:cs typeface="Arial"/>
              </a:rPr>
            </a:br>
            <a:endParaRPr lang="en-US" sz="3600" dirty="0">
              <a:solidFill>
                <a:srgbClr val="775F54"/>
              </a:solidFill>
              <a:latin typeface="Arial"/>
              <a:ea typeface="+mj-ea"/>
              <a:cs typeface="Arial"/>
            </a:endParaRPr>
          </a:p>
        </p:txBody>
      </p:sp>
      <p:sp>
        <p:nvSpPr>
          <p:cNvPr id="3" name="Date Placeholder 2"/>
          <p:cNvSpPr>
            <a:spLocks noGrp="1"/>
          </p:cNvSpPr>
          <p:nvPr>
            <p:ph type="dt" sz="half" idx="10"/>
          </p:nvPr>
        </p:nvSpPr>
        <p:spPr/>
        <p:txBody>
          <a:bodyPr/>
          <a:lstStyle/>
          <a:p>
            <a:pPr marL="12700">
              <a:lnSpc>
                <a:spcPts val="1580"/>
              </a:lnSpc>
            </a:pPr>
            <a:fld id="{59CC5CFF-3038-4794-969F-1C575E922994}"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126</a:t>
            </a:fld>
            <a:endParaRPr lang="en-US"/>
          </a:p>
        </p:txBody>
      </p:sp>
      <p:sp>
        <p:nvSpPr>
          <p:cNvPr id="5" name="Rectangle 4"/>
          <p:cNvSpPr/>
          <p:nvPr/>
        </p:nvSpPr>
        <p:spPr>
          <a:xfrm>
            <a:off x="687857" y="822745"/>
            <a:ext cx="10894542" cy="1384995"/>
          </a:xfrm>
          <a:prstGeom prst="rect">
            <a:avLst/>
          </a:prstGeom>
        </p:spPr>
        <p:txBody>
          <a:bodyPr wrap="square">
            <a:spAutoFit/>
          </a:bodyPr>
          <a:lstStyle/>
          <a:p>
            <a:r>
              <a:rPr lang="en-US" sz="2000" dirty="0"/>
              <a:t>For every node, visit the left sub-tree first, provided if one exists and has not been visited earlier. Then the node (root) itself is followed by visiting its right sub-tree (if one exists). In case there is no right sub-tree, check for the threaded link and make the threaded node the current node in consideration. </a:t>
            </a:r>
          </a:p>
          <a:p>
            <a:r>
              <a:rPr lang="en-US" sz="2400" b="1" dirty="0"/>
              <a:t>The algorithm for in-order traversal of a threaded binary tree is</a:t>
            </a:r>
          </a:p>
        </p:txBody>
      </p:sp>
      <p:grpSp>
        <p:nvGrpSpPr>
          <p:cNvPr id="164866" name="Group 2"/>
          <p:cNvGrpSpPr>
            <a:grpSpLocks/>
          </p:cNvGrpSpPr>
          <p:nvPr/>
        </p:nvGrpSpPr>
        <p:grpSpPr bwMode="auto">
          <a:xfrm>
            <a:off x="921223" y="2590800"/>
            <a:ext cx="10661176" cy="3655973"/>
            <a:chOff x="1826" y="220"/>
            <a:chExt cx="7812" cy="2442"/>
          </a:xfrm>
        </p:grpSpPr>
        <p:sp>
          <p:nvSpPr>
            <p:cNvPr id="164867" name="Rectangle 3"/>
            <p:cNvSpPr>
              <a:spLocks noChangeArrowheads="1"/>
            </p:cNvSpPr>
            <p:nvPr/>
          </p:nvSpPr>
          <p:spPr bwMode="auto">
            <a:xfrm>
              <a:off x="1881" y="274"/>
              <a:ext cx="7757" cy="2388"/>
            </a:xfrm>
            <a:prstGeom prst="rect">
              <a:avLst/>
            </a:prstGeom>
            <a:solidFill>
              <a:srgbClr val="000000">
                <a:alpha val="39999"/>
              </a:srgb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868" name="Rectangle 4"/>
            <p:cNvSpPr>
              <a:spLocks noChangeArrowheads="1"/>
            </p:cNvSpPr>
            <p:nvPr/>
          </p:nvSpPr>
          <p:spPr bwMode="auto">
            <a:xfrm>
              <a:off x="1826" y="220"/>
              <a:ext cx="7746" cy="2376"/>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869" name="Rectangle 5"/>
            <p:cNvSpPr>
              <a:spLocks noChangeArrowheads="1"/>
            </p:cNvSpPr>
            <p:nvPr/>
          </p:nvSpPr>
          <p:spPr bwMode="auto">
            <a:xfrm>
              <a:off x="1826" y="220"/>
              <a:ext cx="7746" cy="2376"/>
            </a:xfrm>
            <a:prstGeom prst="rect">
              <a:avLst/>
            </a:prstGeom>
            <a:no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870" name="Text Box 6"/>
            <p:cNvSpPr txBox="1">
              <a:spLocks noChangeArrowheads="1"/>
            </p:cNvSpPr>
            <p:nvPr/>
          </p:nvSpPr>
          <p:spPr bwMode="auto">
            <a:xfrm>
              <a:off x="1931" y="274"/>
              <a:ext cx="7536" cy="2217"/>
            </a:xfrm>
            <a:prstGeom prst="rect">
              <a:avLst/>
            </a:prstGeom>
            <a:solidFill>
              <a:srgbClr val="E5E5E5"/>
            </a:solidFill>
            <a:ln w="9525">
              <a:noFill/>
              <a:miter lim="800000"/>
              <a:headEnd/>
              <a:tailEnd/>
            </a:ln>
          </p:spPr>
          <p:txBody>
            <a:bodyPr vert="horz" wrap="square" lIns="0" tIns="0" rIns="0" bIns="0" numCol="1" anchor="t" anchorCtr="0" compatLnSpc="1">
              <a:prstTxWarp prst="textNoShape">
                <a:avLst/>
              </a:prstTxWarp>
            </a:bodyPr>
            <a:lstStyle/>
            <a:p>
              <a:pPr marR="34925" lvl="1" fontAlgn="base">
                <a:spcBef>
                  <a:spcPts val="300"/>
                </a:spcBef>
                <a:spcAft>
                  <a:spcPts val="1000"/>
                </a:spcAft>
              </a:pPr>
              <a:r>
                <a:rPr lang="en-US" sz="1400" b="1" dirty="0">
                  <a:latin typeface="Arial" pitchFamily="34" charset="0"/>
                  <a:cs typeface="Arial" pitchFamily="34" charset="0"/>
                </a:rPr>
                <a:t>Step 1: </a:t>
              </a:r>
              <a:r>
                <a:rPr lang="en-US" sz="1400" dirty="0">
                  <a:latin typeface="Arial" pitchFamily="34" charset="0"/>
                  <a:cs typeface="Arial" pitchFamily="34" charset="0"/>
                </a:rPr>
                <a:t>check if the current node has a left child that has not been visited. If a left child exists that has not been visited, go to Step 2, else go to Step 3.</a:t>
              </a:r>
            </a:p>
            <a:p>
              <a:pPr marR="34925" lvl="1" fontAlgn="base">
                <a:spcBef>
                  <a:spcPct val="0"/>
                </a:spcBef>
                <a:spcAft>
                  <a:spcPts val="1000"/>
                </a:spcAft>
              </a:pPr>
              <a:r>
                <a:rPr lang="en-US" sz="1400" b="1" dirty="0">
                  <a:latin typeface="Arial" pitchFamily="34" charset="0"/>
                  <a:cs typeface="Arial" pitchFamily="34" charset="0"/>
                </a:rPr>
                <a:t>Step 2: </a:t>
              </a:r>
              <a:r>
                <a:rPr lang="en-US" sz="1400" dirty="0">
                  <a:latin typeface="Arial" pitchFamily="34" charset="0"/>
                  <a:cs typeface="Arial" pitchFamily="34" charset="0"/>
                </a:rPr>
                <a:t>add the left child in the list of visited nodes. Make it as the current node and then go to Step 6.</a:t>
              </a:r>
            </a:p>
            <a:p>
              <a:pPr lvl="1" fontAlgn="base">
                <a:lnSpc>
                  <a:spcPct val="82000"/>
                </a:lnSpc>
                <a:spcBef>
                  <a:spcPct val="0"/>
                </a:spcBef>
                <a:spcAft>
                  <a:spcPts val="1000"/>
                </a:spcAft>
              </a:pPr>
              <a:r>
                <a:rPr lang="en-US" sz="1400" b="1" dirty="0">
                  <a:latin typeface="Arial" pitchFamily="34" charset="0"/>
                  <a:cs typeface="Arial" pitchFamily="34" charset="0"/>
                </a:rPr>
                <a:t>Step 3: </a:t>
              </a:r>
              <a:r>
                <a:rPr lang="en-US" sz="1400" dirty="0">
                  <a:latin typeface="Arial" pitchFamily="34" charset="0"/>
                  <a:cs typeface="Arial" pitchFamily="34" charset="0"/>
                </a:rPr>
                <a:t>If the current node has a right child, go to Step 4 else go to Step 5.</a:t>
              </a:r>
            </a:p>
            <a:p>
              <a:pPr lvl="1" fontAlgn="base">
                <a:spcBef>
                  <a:spcPts val="250"/>
                </a:spcBef>
                <a:spcAft>
                  <a:spcPts val="1000"/>
                </a:spcAft>
              </a:pPr>
              <a:r>
                <a:rPr lang="en-US" sz="1400" b="1" dirty="0">
                  <a:latin typeface="Arial" pitchFamily="34" charset="0"/>
                  <a:cs typeface="Arial" pitchFamily="34" charset="0"/>
                </a:rPr>
                <a:t>Step 4: </a:t>
              </a:r>
              <a:r>
                <a:rPr lang="en-US" sz="1400" dirty="0">
                  <a:latin typeface="Arial" pitchFamily="34" charset="0"/>
                  <a:cs typeface="Arial" pitchFamily="34" charset="0"/>
                </a:rPr>
                <a:t>Make that right child as current node and go to Step 6.</a:t>
              </a:r>
            </a:p>
            <a:p>
              <a:pPr lvl="1" fontAlgn="base">
                <a:spcBef>
                  <a:spcPts val="263"/>
                </a:spcBef>
                <a:spcAft>
                  <a:spcPts val="1000"/>
                </a:spcAft>
              </a:pPr>
              <a:r>
                <a:rPr lang="en-US" sz="1400" b="1" dirty="0">
                  <a:latin typeface="Arial" pitchFamily="34" charset="0"/>
                  <a:cs typeface="Arial" pitchFamily="34" charset="0"/>
                </a:rPr>
                <a:t>Step 5: </a:t>
              </a:r>
              <a:r>
                <a:rPr lang="en-US" sz="1400" dirty="0">
                  <a:latin typeface="Arial" pitchFamily="34" charset="0"/>
                  <a:cs typeface="Arial" pitchFamily="34" charset="0"/>
                </a:rPr>
                <a:t>print the node and if there is a threaded node make it the current node.</a:t>
              </a:r>
            </a:p>
            <a:p>
              <a:pPr lvl="1" fontAlgn="base">
                <a:spcBef>
                  <a:spcPts val="263"/>
                </a:spcBef>
                <a:spcAft>
                  <a:spcPts val="1000"/>
                </a:spcAft>
              </a:pPr>
              <a:r>
                <a:rPr lang="en-US" sz="1400" b="1" dirty="0">
                  <a:latin typeface="Arial" pitchFamily="34" charset="0"/>
                  <a:cs typeface="Arial" pitchFamily="34" charset="0"/>
                </a:rPr>
                <a:t>Step 6: </a:t>
              </a:r>
              <a:r>
                <a:rPr lang="en-US" sz="1400" dirty="0">
                  <a:latin typeface="Arial" pitchFamily="34" charset="0"/>
                  <a:cs typeface="Arial" pitchFamily="34" charset="0"/>
                </a:rPr>
                <a:t>If all the nodes have visited then END else go to Step 1.</a:t>
              </a:r>
              <a:endParaRPr lang="en-US" sz="3600" dirty="0">
                <a:latin typeface="Arial" pitchFamily="34" charset="0"/>
                <a:cs typeface="Arial" pitchFamily="34" charset="0"/>
              </a:endParaRPr>
            </a:p>
          </p:txBody>
        </p:sp>
      </p:grpSp>
      <p:sp>
        <p:nvSpPr>
          <p:cNvPr id="6" name="Footer Placeholder 5">
            <a:extLst>
              <a:ext uri="{FF2B5EF4-FFF2-40B4-BE49-F238E27FC236}">
                <a16:creationId xmlns:a16="http://schemas.microsoft.com/office/drawing/2014/main" id="{67BB8767-9316-0382-2518-5AA8804BA58C}"/>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3751"/>
            <a:ext cx="8534400" cy="505908"/>
          </a:xfrm>
          <a:prstGeom prst="rect">
            <a:avLst/>
          </a:prstGeom>
        </p:spPr>
        <p:txBody>
          <a:bodyPr vert="horz" wrap="square" lIns="0" tIns="13335" rIns="0" bIns="0" rtlCol="0">
            <a:spAutoFit/>
          </a:bodyPr>
          <a:lstStyle/>
          <a:p>
            <a:pPr marL="12700">
              <a:spcBef>
                <a:spcPts val="105"/>
              </a:spcBef>
            </a:pPr>
            <a:r>
              <a:rPr lang="en-US" sz="3200" dirty="0"/>
              <a:t>TBT </a:t>
            </a:r>
            <a:r>
              <a:rPr lang="en-US" sz="3200" dirty="0" err="1"/>
              <a:t>inorder</a:t>
            </a:r>
            <a:r>
              <a:rPr lang="en-US" sz="3200" dirty="0"/>
              <a:t> traversal</a:t>
            </a:r>
            <a:endParaRPr sz="3200" dirty="0"/>
          </a:p>
        </p:txBody>
      </p:sp>
      <p:sp>
        <p:nvSpPr>
          <p:cNvPr id="4" name="object 4"/>
          <p:cNvSpPr txBox="1">
            <a:spLocks noGrp="1"/>
          </p:cNvSpPr>
          <p:nvPr>
            <p:ph type="dt" sz="half" idx="10"/>
          </p:nvPr>
        </p:nvSpPr>
        <p:spPr>
          <a:xfrm>
            <a:off x="1752600" y="6324600"/>
            <a:ext cx="2124710" cy="205184"/>
          </a:xfrm>
          <a:prstGeom prst="rect">
            <a:avLst/>
          </a:prstGeom>
        </p:spPr>
        <p:txBody>
          <a:bodyPr vert="horz" wrap="square" lIns="0" tIns="0" rIns="0" bIns="0" rtlCol="0">
            <a:spAutoFit/>
          </a:bodyPr>
          <a:lstStyle/>
          <a:p>
            <a:pPr marL="12700">
              <a:lnSpc>
                <a:spcPts val="1580"/>
              </a:lnSpc>
            </a:pPr>
            <a:fld id="{CE5CE769-160A-488C-B691-D6764A3DC091}" type="datetime1">
              <a:rPr lang="en-US" spc="-5" smtClean="0"/>
              <a:t>8/26/2026</a:t>
            </a:fld>
            <a:endParaRPr spc="-5"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127</a:t>
            </a:fld>
            <a:endParaRPr lang="en-US"/>
          </a:p>
        </p:txBody>
      </p:sp>
      <p:sp>
        <p:nvSpPr>
          <p:cNvPr id="3" name="object 3"/>
          <p:cNvSpPr txBox="1"/>
          <p:nvPr/>
        </p:nvSpPr>
        <p:spPr>
          <a:xfrm>
            <a:off x="1656689" y="1266190"/>
            <a:ext cx="267970"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153</a:t>
            </a:r>
            <a:endParaRPr sz="1200">
              <a:latin typeface="Trebuchet MS"/>
              <a:cs typeface="Trebuchet MS"/>
            </a:endParaRPr>
          </a:p>
        </p:txBody>
      </p:sp>
      <p:sp>
        <p:nvSpPr>
          <p:cNvPr id="7" name="Rectangle 6"/>
          <p:cNvSpPr/>
          <p:nvPr/>
        </p:nvSpPr>
        <p:spPr>
          <a:xfrm>
            <a:off x="685800" y="759457"/>
            <a:ext cx="10896600" cy="5878532"/>
          </a:xfrm>
          <a:prstGeom prst="rect">
            <a:avLst/>
          </a:prstGeom>
        </p:spPr>
        <p:txBody>
          <a:bodyPr wrap="square">
            <a:spAutoFit/>
          </a:bodyPr>
          <a:lstStyle/>
          <a:p>
            <a:r>
              <a:rPr lang="en-US" sz="2000" b="1" dirty="0" err="1"/>
              <a:t>Inorder</a:t>
            </a:r>
            <a:r>
              <a:rPr lang="en-US" sz="2000" b="1" dirty="0"/>
              <a:t> </a:t>
            </a:r>
            <a:r>
              <a:rPr lang="en-US" sz="2000" b="1" dirty="0" err="1"/>
              <a:t>Taversal</a:t>
            </a:r>
            <a:r>
              <a:rPr lang="en-US" sz="2000" b="1" dirty="0"/>
              <a:t> using Threads</a:t>
            </a:r>
            <a:br>
              <a:rPr lang="en-US" sz="2000" dirty="0"/>
            </a:br>
            <a:r>
              <a:rPr lang="en-US" sz="2000" dirty="0"/>
              <a:t>Following is C++ code for </a:t>
            </a:r>
            <a:r>
              <a:rPr lang="en-US" sz="2000" dirty="0" err="1"/>
              <a:t>inorder</a:t>
            </a:r>
            <a:r>
              <a:rPr lang="en-US" sz="2000" dirty="0"/>
              <a:t> traversal in a threaded binary tree.</a:t>
            </a:r>
          </a:p>
          <a:p>
            <a:pPr fontAlgn="base"/>
            <a:r>
              <a:rPr lang="en-US" sz="1200" dirty="0" err="1"/>
              <a:t>struct</a:t>
            </a:r>
            <a:r>
              <a:rPr lang="en-US" sz="1200" dirty="0"/>
              <a:t> Node* </a:t>
            </a:r>
            <a:r>
              <a:rPr lang="en-US" sz="1200" dirty="0" err="1"/>
              <a:t>leftMost</a:t>
            </a:r>
            <a:r>
              <a:rPr lang="en-US" sz="1200" dirty="0"/>
              <a:t>(</a:t>
            </a:r>
            <a:r>
              <a:rPr lang="en-US" sz="1200" dirty="0" err="1"/>
              <a:t>struct</a:t>
            </a:r>
            <a:r>
              <a:rPr lang="en-US" sz="1200" dirty="0"/>
              <a:t> Node *n) </a:t>
            </a:r>
          </a:p>
          <a:p>
            <a:pPr fontAlgn="base"/>
            <a:r>
              <a:rPr lang="en-US" sz="1200" dirty="0"/>
              <a:t>{ </a:t>
            </a:r>
          </a:p>
          <a:p>
            <a:pPr fontAlgn="base"/>
            <a:r>
              <a:rPr lang="en-US" sz="1200" dirty="0"/>
              <a:t>    if (n == NULL) </a:t>
            </a:r>
          </a:p>
          <a:p>
            <a:pPr fontAlgn="base"/>
            <a:r>
              <a:rPr lang="en-US" sz="1200" dirty="0"/>
              <a:t>       return NULL; </a:t>
            </a:r>
          </a:p>
          <a:p>
            <a:pPr fontAlgn="base"/>
            <a:r>
              <a:rPr lang="en-US" sz="1200" dirty="0"/>
              <a:t>  </a:t>
            </a:r>
          </a:p>
          <a:p>
            <a:pPr fontAlgn="base"/>
            <a:r>
              <a:rPr lang="en-US" sz="1200" dirty="0"/>
              <a:t>    while (n-&gt;left != NULL) </a:t>
            </a:r>
          </a:p>
          <a:p>
            <a:pPr fontAlgn="base"/>
            <a:r>
              <a:rPr lang="en-US" sz="1200" dirty="0"/>
              <a:t>        n = n-&gt;left; </a:t>
            </a:r>
          </a:p>
          <a:p>
            <a:pPr fontAlgn="base"/>
            <a:r>
              <a:rPr lang="en-US" sz="1200" dirty="0"/>
              <a:t>  </a:t>
            </a:r>
          </a:p>
          <a:p>
            <a:pPr fontAlgn="base"/>
            <a:r>
              <a:rPr lang="en-US" sz="1200" dirty="0"/>
              <a:t>    return n; </a:t>
            </a:r>
          </a:p>
          <a:p>
            <a:pPr fontAlgn="base"/>
            <a:r>
              <a:rPr lang="en-US" sz="1200" dirty="0"/>
              <a:t>} </a:t>
            </a:r>
          </a:p>
          <a:p>
            <a:r>
              <a:rPr lang="en-US" sz="1200" dirty="0"/>
              <a:t>void </a:t>
            </a:r>
            <a:r>
              <a:rPr lang="en-US" sz="1200" dirty="0" err="1"/>
              <a:t>inOrder</a:t>
            </a:r>
            <a:r>
              <a:rPr lang="en-US" sz="1200" dirty="0"/>
              <a:t>(</a:t>
            </a:r>
            <a:r>
              <a:rPr lang="en-US" sz="1200" dirty="0" err="1"/>
              <a:t>struct</a:t>
            </a:r>
            <a:r>
              <a:rPr lang="en-US" sz="1200" dirty="0"/>
              <a:t> Node *root) </a:t>
            </a:r>
          </a:p>
          <a:p>
            <a:r>
              <a:rPr lang="en-US" sz="1200" dirty="0"/>
              <a:t>{ </a:t>
            </a:r>
          </a:p>
          <a:p>
            <a:r>
              <a:rPr lang="en-US" sz="1200" dirty="0"/>
              <a:t>    </a:t>
            </a:r>
            <a:r>
              <a:rPr lang="en-US" sz="1200" dirty="0" err="1"/>
              <a:t>struct</a:t>
            </a:r>
            <a:r>
              <a:rPr lang="en-US" sz="1200" dirty="0"/>
              <a:t> Node *cur = leftmost(root); </a:t>
            </a:r>
          </a:p>
          <a:p>
            <a:r>
              <a:rPr lang="en-US" sz="1200" dirty="0"/>
              <a:t>    while (cur != NULL) </a:t>
            </a:r>
          </a:p>
          <a:p>
            <a:r>
              <a:rPr lang="en-US" sz="1200" dirty="0"/>
              <a:t>    { </a:t>
            </a:r>
          </a:p>
          <a:p>
            <a:r>
              <a:rPr lang="en-US" sz="1200" dirty="0"/>
              <a:t>        </a:t>
            </a:r>
            <a:r>
              <a:rPr lang="en-US" sz="1200" dirty="0" err="1"/>
              <a:t>cout</a:t>
            </a:r>
            <a:r>
              <a:rPr lang="en-US" sz="1200" dirty="0"/>
              <a:t>&lt;&lt;cur-&gt;data; </a:t>
            </a:r>
          </a:p>
          <a:p>
            <a:r>
              <a:rPr lang="en-US" sz="1200" dirty="0"/>
              <a:t>  </a:t>
            </a:r>
          </a:p>
          <a:p>
            <a:r>
              <a:rPr lang="en-US" sz="1200" dirty="0"/>
              <a:t>        // If this node is a thread node, then go to </a:t>
            </a:r>
          </a:p>
          <a:p>
            <a:r>
              <a:rPr lang="en-US" sz="1200" dirty="0"/>
              <a:t>        // </a:t>
            </a:r>
            <a:r>
              <a:rPr lang="en-US" sz="1200" dirty="0" err="1"/>
              <a:t>inorder</a:t>
            </a:r>
            <a:r>
              <a:rPr lang="en-US" sz="1200" dirty="0"/>
              <a:t> successor </a:t>
            </a:r>
          </a:p>
          <a:p>
            <a:r>
              <a:rPr lang="en-US" sz="1200" dirty="0"/>
              <a:t>        if (cur-&gt;</a:t>
            </a:r>
            <a:r>
              <a:rPr lang="en-US" sz="1200" dirty="0" err="1"/>
              <a:t>rightThread</a:t>
            </a:r>
            <a:r>
              <a:rPr lang="en-US" sz="1200" dirty="0"/>
              <a:t>) </a:t>
            </a:r>
          </a:p>
          <a:p>
            <a:r>
              <a:rPr lang="en-US" sz="1200" dirty="0"/>
              <a:t>            cur = cur-&gt;right; </a:t>
            </a:r>
          </a:p>
          <a:p>
            <a:r>
              <a:rPr lang="en-US" sz="1200" dirty="0"/>
              <a:t>        else // Else go to the leftmost child in right </a:t>
            </a:r>
            <a:r>
              <a:rPr lang="en-US" sz="1200" dirty="0" err="1"/>
              <a:t>subtree</a:t>
            </a:r>
            <a:r>
              <a:rPr lang="en-US" sz="1200" dirty="0"/>
              <a:t> </a:t>
            </a:r>
          </a:p>
          <a:p>
            <a:r>
              <a:rPr lang="en-US" sz="1200" dirty="0"/>
              <a:t>            cur = leftmost(cur-&gt;right); </a:t>
            </a:r>
          </a:p>
          <a:p>
            <a:r>
              <a:rPr lang="en-US" sz="1200" dirty="0"/>
              <a:t>    } </a:t>
            </a:r>
          </a:p>
          <a:p>
            <a:r>
              <a:rPr lang="en-US" sz="1200" dirty="0"/>
              <a:t>}</a:t>
            </a:r>
            <a:endParaRPr lang="en-US" sz="2000" dirty="0"/>
          </a:p>
          <a:p>
            <a:pPr fontAlgn="base"/>
            <a:endParaRPr lang="en-US" dirty="0"/>
          </a:p>
          <a:p>
            <a:endParaRPr lang="en-US" dirty="0"/>
          </a:p>
        </p:txBody>
      </p:sp>
      <p:sp>
        <p:nvSpPr>
          <p:cNvPr id="5" name="Footer Placeholder 4">
            <a:extLst>
              <a:ext uri="{FF2B5EF4-FFF2-40B4-BE49-F238E27FC236}">
                <a16:creationId xmlns:a16="http://schemas.microsoft.com/office/drawing/2014/main" id="{21E5FC7C-3B1E-9A80-4014-12CC96ACABE9}"/>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0"/>
            <a:ext cx="8610600" cy="697230"/>
          </a:xfrm>
        </p:spPr>
        <p:txBody>
          <a:bodyPr/>
          <a:lstStyle/>
          <a:p>
            <a:r>
              <a:rPr lang="en-US" sz="3200" dirty="0"/>
              <a:t>In the Example</a:t>
            </a:r>
          </a:p>
        </p:txBody>
      </p:sp>
      <p:sp>
        <p:nvSpPr>
          <p:cNvPr id="3" name="Date Placeholder 2"/>
          <p:cNvSpPr>
            <a:spLocks noGrp="1"/>
          </p:cNvSpPr>
          <p:nvPr>
            <p:ph type="dt" sz="half" idx="10"/>
          </p:nvPr>
        </p:nvSpPr>
        <p:spPr/>
        <p:txBody>
          <a:bodyPr/>
          <a:lstStyle/>
          <a:p>
            <a:pPr marL="12700">
              <a:lnSpc>
                <a:spcPts val="1580"/>
              </a:lnSpc>
            </a:pPr>
            <a:fld id="{C36D3CEC-CCD3-49A5-AAF4-255CA2040488}"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128</a:t>
            </a:fld>
            <a:endParaRPr lang="en-US"/>
          </a:p>
        </p:txBody>
      </p:sp>
      <p:pic>
        <p:nvPicPr>
          <p:cNvPr id="13316" name="Picture 4" descr="https://www.geeksforgeeks.org/wp-content/uploads/gq/2014/07/threadedTraversal.png"/>
          <p:cNvPicPr>
            <a:picLocks noChangeAspect="1" noChangeArrowheads="1"/>
          </p:cNvPicPr>
          <p:nvPr/>
        </p:nvPicPr>
        <p:blipFill>
          <a:blip r:embed="rId2"/>
          <a:srcRect/>
          <a:stretch>
            <a:fillRect/>
          </a:stretch>
        </p:blipFill>
        <p:spPr bwMode="auto">
          <a:xfrm>
            <a:off x="914400" y="711085"/>
            <a:ext cx="10515600" cy="6146915"/>
          </a:xfrm>
          <a:prstGeom prst="rect">
            <a:avLst/>
          </a:prstGeom>
          <a:noFill/>
        </p:spPr>
      </p:pic>
      <p:sp>
        <p:nvSpPr>
          <p:cNvPr id="5" name="Footer Placeholder 4">
            <a:extLst>
              <a:ext uri="{FF2B5EF4-FFF2-40B4-BE49-F238E27FC236}">
                <a16:creationId xmlns:a16="http://schemas.microsoft.com/office/drawing/2014/main" id="{26C380DA-9411-4157-53D5-E5D4118188B3}"/>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Date Placeholder 2"/>
          <p:cNvSpPr>
            <a:spLocks noGrp="1"/>
          </p:cNvSpPr>
          <p:nvPr>
            <p:ph type="dt" sz="half" idx="10"/>
          </p:nvPr>
        </p:nvSpPr>
        <p:spPr/>
        <p:txBody>
          <a:bodyPr/>
          <a:lstStyle/>
          <a:p>
            <a:pPr marL="12700">
              <a:lnSpc>
                <a:spcPts val="1580"/>
              </a:lnSpc>
            </a:pPr>
            <a:fld id="{29ECE4CA-FB85-4DF8-A809-A9EB53F949F0}"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129</a:t>
            </a:fld>
            <a:endParaRPr lang="en-US"/>
          </a:p>
        </p:txBody>
      </p:sp>
      <p:sp>
        <p:nvSpPr>
          <p:cNvPr id="12289" name="Rectangle 1"/>
          <p:cNvSpPr>
            <a:spLocks noChangeArrowheads="1"/>
          </p:cNvSpPr>
          <p:nvPr/>
        </p:nvSpPr>
        <p:spPr bwMode="auto">
          <a:xfrm>
            <a:off x="762000" y="914400"/>
            <a:ext cx="10959930" cy="36009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tabLst>
                <a:tab pos="736600" algn="l"/>
              </a:tabLst>
            </a:pPr>
            <a:r>
              <a:rPr lang="en-US" sz="2000" b="1" i="1" dirty="0">
                <a:latin typeface="Arial" pitchFamily="34" charset="0"/>
                <a:ea typeface="Arial" pitchFamily="34" charset="0"/>
                <a:cs typeface="Arial" pitchFamily="34" charset="0"/>
              </a:rPr>
              <a:t>Advantages of Threaded Binary Tree</a:t>
            </a:r>
          </a:p>
          <a:p>
            <a:pPr fontAlgn="base">
              <a:spcBef>
                <a:spcPct val="0"/>
              </a:spcBef>
              <a:spcAft>
                <a:spcPct val="0"/>
              </a:spcAft>
              <a:tabLst>
                <a:tab pos="736600" algn="l"/>
              </a:tabLst>
            </a:pPr>
            <a:endParaRPr lang="en-US" sz="1600" dirty="0">
              <a:latin typeface="Arial" pitchFamily="34" charset="0"/>
              <a:cs typeface="Arial" pitchFamily="34" charset="0"/>
            </a:endParaRPr>
          </a:p>
          <a:p>
            <a:pPr algn="just" eaLnBrk="0" fontAlgn="base" hangingPunct="0">
              <a:spcBef>
                <a:spcPct val="0"/>
              </a:spcBef>
              <a:spcAft>
                <a:spcPct val="0"/>
              </a:spcAft>
              <a:buFontTx/>
              <a:buChar char="•"/>
              <a:tabLst>
                <a:tab pos="736600" algn="l"/>
              </a:tabLst>
            </a:pPr>
            <a:r>
              <a:rPr lang="en-US" sz="2400" dirty="0">
                <a:latin typeface="Arial" pitchFamily="34" charset="0"/>
                <a:ea typeface="Times New Roman" pitchFamily="18" charset="0"/>
                <a:cs typeface="Arial" pitchFamily="34" charset="0"/>
              </a:rPr>
              <a:t>It enables linear traversal of elements in the tree.</a:t>
            </a:r>
            <a:endParaRPr lang="en-US" dirty="0">
              <a:latin typeface="Arial" pitchFamily="34" charset="0"/>
              <a:cs typeface="Arial" pitchFamily="34" charset="0"/>
            </a:endParaRPr>
          </a:p>
          <a:p>
            <a:pPr algn="just" eaLnBrk="0" fontAlgn="base" hangingPunct="0">
              <a:spcBef>
                <a:spcPct val="0"/>
              </a:spcBef>
              <a:spcAft>
                <a:spcPct val="0"/>
              </a:spcAft>
              <a:buFontTx/>
              <a:buChar char="•"/>
              <a:tabLst>
                <a:tab pos="736600" algn="l"/>
              </a:tabLst>
            </a:pPr>
            <a:r>
              <a:rPr lang="en-US" sz="2400" dirty="0">
                <a:latin typeface="Arial" pitchFamily="34" charset="0"/>
                <a:ea typeface="Times New Roman" pitchFamily="18" charset="0"/>
                <a:cs typeface="Arial" pitchFamily="34" charset="0"/>
              </a:rPr>
              <a:t>Linear traversal eliminates the use of stacks which in turn consume a lot of memory space and computer time.</a:t>
            </a:r>
            <a:endParaRPr lang="en-US" dirty="0">
              <a:latin typeface="Arial" pitchFamily="34" charset="0"/>
              <a:cs typeface="Arial" pitchFamily="34" charset="0"/>
            </a:endParaRPr>
          </a:p>
          <a:p>
            <a:pPr algn="just" eaLnBrk="0" fontAlgn="base" hangingPunct="0">
              <a:spcBef>
                <a:spcPct val="0"/>
              </a:spcBef>
              <a:spcAft>
                <a:spcPct val="0"/>
              </a:spcAft>
              <a:buFontTx/>
              <a:buChar char="•"/>
              <a:tabLst>
                <a:tab pos="736600" algn="l"/>
              </a:tabLst>
            </a:pPr>
            <a:r>
              <a:rPr lang="en-US" sz="2400" dirty="0">
                <a:latin typeface="Arial" pitchFamily="34" charset="0"/>
                <a:ea typeface="Times New Roman" pitchFamily="18" charset="0"/>
                <a:cs typeface="Arial" pitchFamily="34" charset="0"/>
              </a:rPr>
              <a:t>It enables to find the parent of a given element without explicit use of parent pointers.</a:t>
            </a:r>
            <a:endParaRPr lang="en-US" dirty="0">
              <a:latin typeface="Arial" pitchFamily="34" charset="0"/>
              <a:cs typeface="Arial" pitchFamily="34" charset="0"/>
            </a:endParaRPr>
          </a:p>
          <a:p>
            <a:pPr algn="just" eaLnBrk="0" fontAlgn="base" hangingPunct="0">
              <a:spcBef>
                <a:spcPct val="0"/>
              </a:spcBef>
              <a:spcAft>
                <a:spcPct val="0"/>
              </a:spcAft>
              <a:buFontTx/>
              <a:buChar char="•"/>
              <a:tabLst>
                <a:tab pos="736600" algn="l"/>
              </a:tabLst>
            </a:pPr>
            <a:r>
              <a:rPr lang="en-US" sz="2400" dirty="0">
                <a:latin typeface="Arial" pitchFamily="34" charset="0"/>
                <a:ea typeface="Times New Roman" pitchFamily="18" charset="0"/>
                <a:cs typeface="Arial" pitchFamily="34" charset="0"/>
              </a:rPr>
              <a:t>Since nodes contain pointers to in-order predecessor and successor, the threaded tree enables forward and backward traversal of the nodes as given by in-order fashion.</a:t>
            </a:r>
            <a:endParaRPr lang="en-US" sz="4800" dirty="0">
              <a:latin typeface="Arial" pitchFamily="34" charset="0"/>
              <a:cs typeface="Arial" pitchFamily="34" charset="0"/>
            </a:endParaRPr>
          </a:p>
        </p:txBody>
      </p:sp>
      <p:sp>
        <p:nvSpPr>
          <p:cNvPr id="6" name="TextBox 5">
            <a:extLst>
              <a:ext uri="{FF2B5EF4-FFF2-40B4-BE49-F238E27FC236}">
                <a16:creationId xmlns:a16="http://schemas.microsoft.com/office/drawing/2014/main" id="{F92137B8-D83D-A18A-B80C-444CF4064805}"/>
              </a:ext>
            </a:extLst>
          </p:cNvPr>
          <p:cNvSpPr txBox="1"/>
          <p:nvPr/>
        </p:nvSpPr>
        <p:spPr>
          <a:xfrm>
            <a:off x="3886200" y="0"/>
            <a:ext cx="6125496" cy="584775"/>
          </a:xfrm>
          <a:prstGeom prst="rect">
            <a:avLst/>
          </a:prstGeom>
          <a:noFill/>
        </p:spPr>
        <p:txBody>
          <a:bodyPr wrap="square">
            <a:spAutoFit/>
          </a:bodyPr>
          <a:lstStyle/>
          <a:p>
            <a:pPr algn="ctr"/>
            <a:r>
              <a:rPr lang="en-US" sz="3200" dirty="0"/>
              <a:t>TBT Advantages</a:t>
            </a:r>
            <a:endParaRPr lang="en-IN" sz="3200" dirty="0"/>
          </a:p>
        </p:txBody>
      </p:sp>
      <p:sp>
        <p:nvSpPr>
          <p:cNvPr id="7" name="Footer Placeholder 6">
            <a:extLst>
              <a:ext uri="{FF2B5EF4-FFF2-40B4-BE49-F238E27FC236}">
                <a16:creationId xmlns:a16="http://schemas.microsoft.com/office/drawing/2014/main" id="{11CE7920-974B-7466-3538-2ED5933A9616}"/>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pPr marL="12700">
              <a:lnSpc>
                <a:spcPts val="1580"/>
              </a:lnSpc>
            </a:pPr>
            <a:fld id="{BB972A6B-0C87-4425-9BC4-CF45D602E9F9}"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130</a:t>
            </a:fld>
            <a:endParaRPr lang="en-US"/>
          </a:p>
        </p:txBody>
      </p:sp>
      <p:sp>
        <p:nvSpPr>
          <p:cNvPr id="5" name="Rectangle 4"/>
          <p:cNvSpPr/>
          <p:nvPr/>
        </p:nvSpPr>
        <p:spPr>
          <a:xfrm>
            <a:off x="914400" y="887373"/>
            <a:ext cx="9664530" cy="4739759"/>
          </a:xfrm>
          <a:prstGeom prst="rect">
            <a:avLst/>
          </a:prstGeom>
        </p:spPr>
        <p:txBody>
          <a:bodyPr wrap="square">
            <a:spAutoFit/>
          </a:bodyPr>
          <a:lstStyle/>
          <a:p>
            <a:r>
              <a:rPr lang="en-US" sz="2400" dirty="0"/>
              <a:t>Insertion in Binary threaded tree is similar to insertion in binary tree but we will have to adjust the threads after insertion of each element.</a:t>
            </a:r>
          </a:p>
          <a:p>
            <a:endParaRPr lang="en-US" dirty="0"/>
          </a:p>
          <a:p>
            <a:r>
              <a:rPr lang="en-US" sz="2000" b="1" dirty="0"/>
              <a:t>Defining the TBT Node</a:t>
            </a:r>
          </a:p>
          <a:p>
            <a:r>
              <a:rPr lang="en-US" dirty="0" err="1"/>
              <a:t>struct</a:t>
            </a:r>
            <a:r>
              <a:rPr lang="en-US" dirty="0"/>
              <a:t> </a:t>
            </a:r>
            <a:r>
              <a:rPr lang="en-US" dirty="0" err="1"/>
              <a:t>TBTNode</a:t>
            </a:r>
            <a:endParaRPr lang="en-US" dirty="0"/>
          </a:p>
          <a:p>
            <a:r>
              <a:rPr lang="en-US" dirty="0"/>
              <a:t>{</a:t>
            </a:r>
          </a:p>
          <a:p>
            <a:r>
              <a:rPr lang="en-US" dirty="0"/>
              <a:t>	</a:t>
            </a:r>
            <a:r>
              <a:rPr lang="en-US" dirty="0" err="1"/>
              <a:t>struct</a:t>
            </a:r>
            <a:r>
              <a:rPr lang="en-US" dirty="0"/>
              <a:t> </a:t>
            </a:r>
            <a:r>
              <a:rPr lang="en-US" dirty="0" err="1"/>
              <a:t>TBTNode</a:t>
            </a:r>
            <a:r>
              <a:rPr lang="en-US" dirty="0"/>
              <a:t> *</a:t>
            </a:r>
            <a:r>
              <a:rPr lang="en-US" dirty="0" err="1"/>
              <a:t>Lchild</a:t>
            </a:r>
            <a:r>
              <a:rPr lang="en-US" dirty="0"/>
              <a:t>, *</a:t>
            </a:r>
            <a:r>
              <a:rPr lang="en-US" dirty="0" err="1"/>
              <a:t>Rchild</a:t>
            </a:r>
            <a:r>
              <a:rPr lang="en-US" dirty="0"/>
              <a:t>; </a:t>
            </a:r>
          </a:p>
          <a:p>
            <a:r>
              <a:rPr lang="en-US" dirty="0"/>
              <a:t>	</a:t>
            </a:r>
            <a:r>
              <a:rPr lang="en-US" dirty="0" err="1"/>
              <a:t>int</a:t>
            </a:r>
            <a:r>
              <a:rPr lang="en-US" dirty="0"/>
              <a:t> data; </a:t>
            </a:r>
          </a:p>
          <a:p>
            <a:r>
              <a:rPr lang="en-US" dirty="0"/>
              <a:t>	</a:t>
            </a:r>
            <a:r>
              <a:rPr lang="en-US" dirty="0" err="1"/>
              <a:t>boolean</a:t>
            </a:r>
            <a:r>
              <a:rPr lang="en-US" dirty="0"/>
              <a:t> </a:t>
            </a:r>
            <a:r>
              <a:rPr lang="en-US" dirty="0" err="1"/>
              <a:t>Lbit</a:t>
            </a:r>
            <a:r>
              <a:rPr lang="en-US" dirty="0"/>
              <a:t>; </a:t>
            </a:r>
          </a:p>
          <a:p>
            <a:r>
              <a:rPr lang="en-US" dirty="0"/>
              <a:t>	</a:t>
            </a:r>
            <a:r>
              <a:rPr lang="en-US" dirty="0" err="1"/>
              <a:t>boolean</a:t>
            </a:r>
            <a:r>
              <a:rPr lang="en-US" dirty="0"/>
              <a:t> </a:t>
            </a:r>
            <a:r>
              <a:rPr lang="en-US" dirty="0" err="1"/>
              <a:t>Rbit</a:t>
            </a:r>
            <a:r>
              <a:rPr lang="en-US" dirty="0"/>
              <a:t>;</a:t>
            </a:r>
          </a:p>
          <a:p>
            <a:r>
              <a:rPr lang="en-US" dirty="0"/>
              <a:t>};</a:t>
            </a:r>
          </a:p>
          <a:p>
            <a:endParaRPr lang="en-US" dirty="0"/>
          </a:p>
          <a:p>
            <a:endParaRPr lang="en-US" dirty="0"/>
          </a:p>
          <a:p>
            <a:endParaRPr lang="en-US" dirty="0"/>
          </a:p>
          <a:p>
            <a:endParaRPr lang="en-US" dirty="0"/>
          </a:p>
          <a:p>
            <a:endParaRPr lang="en-US" dirty="0"/>
          </a:p>
        </p:txBody>
      </p:sp>
      <p:sp>
        <p:nvSpPr>
          <p:cNvPr id="7" name="Rectangle 6"/>
          <p:cNvSpPr/>
          <p:nvPr/>
        </p:nvSpPr>
        <p:spPr>
          <a:xfrm>
            <a:off x="42672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Lbit</a:t>
            </a:r>
            <a:endParaRPr lang="en-US" dirty="0"/>
          </a:p>
        </p:txBody>
      </p:sp>
      <p:sp>
        <p:nvSpPr>
          <p:cNvPr id="9" name="Rectangle 8"/>
          <p:cNvSpPr/>
          <p:nvPr/>
        </p:nvSpPr>
        <p:spPr>
          <a:xfrm>
            <a:off x="51054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Lchild</a:t>
            </a:r>
            <a:endParaRPr lang="en-US" dirty="0"/>
          </a:p>
        </p:txBody>
      </p:sp>
      <p:sp>
        <p:nvSpPr>
          <p:cNvPr id="10" name="Rectangle 9"/>
          <p:cNvSpPr/>
          <p:nvPr/>
        </p:nvSpPr>
        <p:spPr>
          <a:xfrm>
            <a:off x="59436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11" name="Rectangle 10"/>
          <p:cNvSpPr/>
          <p:nvPr/>
        </p:nvSpPr>
        <p:spPr>
          <a:xfrm>
            <a:off x="67818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Rchild</a:t>
            </a:r>
            <a:endParaRPr lang="en-US" dirty="0"/>
          </a:p>
        </p:txBody>
      </p:sp>
      <p:sp>
        <p:nvSpPr>
          <p:cNvPr id="12" name="Rectangle 11"/>
          <p:cNvSpPr/>
          <p:nvPr/>
        </p:nvSpPr>
        <p:spPr>
          <a:xfrm>
            <a:off x="7620000" y="4800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Rbit</a:t>
            </a:r>
            <a:endParaRPr lang="en-US" dirty="0"/>
          </a:p>
        </p:txBody>
      </p:sp>
      <p:sp>
        <p:nvSpPr>
          <p:cNvPr id="13" name="Rectangle 12"/>
          <p:cNvSpPr/>
          <p:nvPr/>
        </p:nvSpPr>
        <p:spPr>
          <a:xfrm>
            <a:off x="1752600" y="5257800"/>
            <a:ext cx="8610600" cy="369332"/>
          </a:xfrm>
          <a:prstGeom prst="rect">
            <a:avLst/>
          </a:prstGeom>
        </p:spPr>
        <p:txBody>
          <a:bodyPr wrap="square">
            <a:spAutoFit/>
          </a:bodyPr>
          <a:lstStyle/>
          <a:p>
            <a:r>
              <a:rPr lang="en-US" dirty="0"/>
              <a:t>                                                                         TBT Node Structure</a:t>
            </a:r>
          </a:p>
        </p:txBody>
      </p:sp>
      <p:sp>
        <p:nvSpPr>
          <p:cNvPr id="8" name="TextBox 7">
            <a:extLst>
              <a:ext uri="{FF2B5EF4-FFF2-40B4-BE49-F238E27FC236}">
                <a16:creationId xmlns:a16="http://schemas.microsoft.com/office/drawing/2014/main" id="{8EB9F6B0-C468-ECF6-F096-453687D7675D}"/>
              </a:ext>
            </a:extLst>
          </p:cNvPr>
          <p:cNvSpPr txBox="1"/>
          <p:nvPr/>
        </p:nvSpPr>
        <p:spPr>
          <a:xfrm>
            <a:off x="4002549" y="135396"/>
            <a:ext cx="6125496" cy="584775"/>
          </a:xfrm>
          <a:prstGeom prst="rect">
            <a:avLst/>
          </a:prstGeom>
          <a:noFill/>
        </p:spPr>
        <p:txBody>
          <a:bodyPr wrap="square">
            <a:spAutoFit/>
          </a:bodyPr>
          <a:lstStyle/>
          <a:p>
            <a:pPr algn="ctr"/>
            <a:r>
              <a:rPr lang="en-US" sz="3200" dirty="0"/>
              <a:t>Insertion in TBT</a:t>
            </a:r>
            <a:endParaRPr lang="en-IN" sz="3200" dirty="0"/>
          </a:p>
        </p:txBody>
      </p:sp>
      <p:sp>
        <p:nvSpPr>
          <p:cNvPr id="14" name="Footer Placeholder 13">
            <a:extLst>
              <a:ext uri="{FF2B5EF4-FFF2-40B4-BE49-F238E27FC236}">
                <a16:creationId xmlns:a16="http://schemas.microsoft.com/office/drawing/2014/main" id="{A1CAF987-39E1-1620-CA88-F38A1A50C985}"/>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0"/>
            <a:ext cx="8277097" cy="697230"/>
          </a:xfrm>
        </p:spPr>
        <p:txBody>
          <a:bodyPr/>
          <a:lstStyle/>
          <a:p>
            <a:r>
              <a:rPr lang="en-US" dirty="0"/>
              <a:t>Insertion in TBT</a:t>
            </a:r>
          </a:p>
        </p:txBody>
      </p:sp>
      <p:sp>
        <p:nvSpPr>
          <p:cNvPr id="3" name="Date Placeholder 2"/>
          <p:cNvSpPr>
            <a:spLocks noGrp="1"/>
          </p:cNvSpPr>
          <p:nvPr>
            <p:ph type="dt" sz="half" idx="10"/>
          </p:nvPr>
        </p:nvSpPr>
        <p:spPr/>
        <p:txBody>
          <a:bodyPr/>
          <a:lstStyle/>
          <a:p>
            <a:pPr marL="12700">
              <a:lnSpc>
                <a:spcPts val="1580"/>
              </a:lnSpc>
            </a:pPr>
            <a:fld id="{D688CBEA-72A2-4149-8699-BBDF18BE6B4F}"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131</a:t>
            </a:fld>
            <a:endParaRPr lang="en-US"/>
          </a:p>
        </p:txBody>
      </p:sp>
      <p:sp>
        <p:nvSpPr>
          <p:cNvPr id="10241" name="Rectangle 1"/>
          <p:cNvSpPr>
            <a:spLocks noChangeArrowheads="1"/>
          </p:cNvSpPr>
          <p:nvPr/>
        </p:nvSpPr>
        <p:spPr bwMode="auto">
          <a:xfrm>
            <a:off x="762000" y="914400"/>
            <a:ext cx="10972800" cy="4860277"/>
          </a:xfrm>
          <a:prstGeom prst="rect">
            <a:avLst/>
          </a:prstGeom>
          <a:solidFill>
            <a:schemeClr val="bg1"/>
          </a:solidFill>
          <a:ln w="9525">
            <a:noFill/>
            <a:miter lim="800000"/>
            <a:headEnd/>
            <a:tailEnd/>
          </a:ln>
          <a:effectLst/>
        </p:spPr>
        <p:txBody>
          <a:bodyPr vert="horz" wrap="square" lIns="0" tIns="0" rIns="0" bIns="88872" numCol="1" anchor="ctr" anchorCtr="0" compatLnSpc="1">
            <a:prstTxWarp prst="textNoShape">
              <a:avLst/>
            </a:prstTxWarp>
            <a:spAutoFit/>
          </a:bodyPr>
          <a:lstStyle/>
          <a:p>
            <a:pPr fontAlgn="base">
              <a:spcBef>
                <a:spcPct val="0"/>
              </a:spcBef>
              <a:spcAft>
                <a:spcPct val="0"/>
              </a:spcAft>
            </a:pPr>
            <a:r>
              <a:rPr lang="en-US" sz="2400" dirty="0">
                <a:latin typeface="Roboto"/>
                <a:cs typeface="Arial" pitchFamily="34" charset="0"/>
              </a:rPr>
              <a:t>There can be three cases during insertion:</a:t>
            </a:r>
            <a:endParaRPr lang="en-US" sz="1200" dirty="0">
              <a:latin typeface="Arial" pitchFamily="34" charset="0"/>
              <a:cs typeface="Arial" pitchFamily="34" charset="0"/>
            </a:endParaRPr>
          </a:p>
          <a:p>
            <a:pPr eaLnBrk="0" fontAlgn="base" hangingPunct="0">
              <a:spcBef>
                <a:spcPct val="0"/>
              </a:spcBef>
              <a:spcAft>
                <a:spcPct val="0"/>
              </a:spcAft>
            </a:pPr>
            <a:r>
              <a:rPr lang="en-US" sz="2000" b="1" dirty="0">
                <a:latin typeface="Roboto"/>
                <a:cs typeface="Arial" pitchFamily="34" charset="0"/>
              </a:rPr>
              <a:t>Case 1: Insertion in empty tree</a:t>
            </a:r>
            <a:br>
              <a:rPr lang="en-US" sz="2000" dirty="0">
                <a:latin typeface="Roboto"/>
                <a:cs typeface="Arial" pitchFamily="34" charset="0"/>
              </a:rPr>
            </a:br>
            <a:r>
              <a:rPr lang="en-US" sz="2000" dirty="0">
                <a:latin typeface="Roboto"/>
                <a:cs typeface="Arial" pitchFamily="34" charset="0"/>
              </a:rPr>
              <a:t>Both left and right pointers of </a:t>
            </a:r>
            <a:r>
              <a:rPr lang="en-US" sz="2000" dirty="0" err="1">
                <a:latin typeface="Roboto"/>
                <a:cs typeface="Arial" pitchFamily="34" charset="0"/>
              </a:rPr>
              <a:t>tmp</a:t>
            </a:r>
            <a:r>
              <a:rPr lang="en-US" sz="2000" dirty="0">
                <a:latin typeface="Roboto"/>
                <a:cs typeface="Arial" pitchFamily="34" charset="0"/>
              </a:rPr>
              <a:t> will be set to NULL and new node becomes the root.</a:t>
            </a:r>
            <a:endParaRPr lang="en-US" dirty="0">
              <a:latin typeface="Consolas" pitchFamily="49" charset="0"/>
              <a:cs typeface="Consolas" pitchFamily="49" charset="0"/>
            </a:endParaRPr>
          </a:p>
          <a:p>
            <a:pPr eaLnBrk="0" fontAlgn="base" hangingPunct="0">
              <a:spcBef>
                <a:spcPct val="0"/>
              </a:spcBef>
              <a:spcAft>
                <a:spcPct val="0"/>
              </a:spcAft>
            </a:pPr>
            <a:r>
              <a:rPr lang="en-US" dirty="0">
                <a:latin typeface="Consolas" pitchFamily="49" charset="0"/>
                <a:cs typeface="Consolas" pitchFamily="49" charset="0"/>
              </a:rPr>
              <a:t>root = </a:t>
            </a:r>
            <a:r>
              <a:rPr lang="en-US" dirty="0" err="1">
                <a:latin typeface="Consolas" pitchFamily="49" charset="0"/>
                <a:cs typeface="Consolas" pitchFamily="49" charset="0"/>
              </a:rPr>
              <a:t>tmp</a:t>
            </a:r>
            <a:r>
              <a:rPr lang="en-US" dirty="0">
                <a:latin typeface="Consolas" pitchFamily="49" charset="0"/>
                <a:cs typeface="Consolas" pitchFamily="49" charset="0"/>
              </a:rPr>
              <a:t>; </a:t>
            </a:r>
          </a:p>
          <a:p>
            <a:pPr eaLnBrk="0" fontAlgn="base" hangingPunct="0">
              <a:spcBef>
                <a:spcPct val="0"/>
              </a:spcBef>
              <a:spcAft>
                <a:spcPct val="0"/>
              </a:spcAft>
            </a:pPr>
            <a:r>
              <a:rPr lang="en-US" dirty="0" err="1">
                <a:latin typeface="Consolas" pitchFamily="49" charset="0"/>
                <a:cs typeface="Consolas" pitchFamily="49" charset="0"/>
              </a:rPr>
              <a:t>tmp</a:t>
            </a:r>
            <a:r>
              <a:rPr lang="en-US" dirty="0">
                <a:latin typeface="Consolas" pitchFamily="49" charset="0"/>
                <a:cs typeface="Consolas" pitchFamily="49" charset="0"/>
              </a:rPr>
              <a:t> -&gt; left = NULL; </a:t>
            </a:r>
          </a:p>
          <a:p>
            <a:pPr eaLnBrk="0" fontAlgn="base" hangingPunct="0">
              <a:spcBef>
                <a:spcPct val="0"/>
              </a:spcBef>
              <a:spcAft>
                <a:spcPct val="0"/>
              </a:spcAft>
            </a:pPr>
            <a:r>
              <a:rPr lang="en-US" dirty="0" err="1">
                <a:latin typeface="Consolas" pitchFamily="49" charset="0"/>
                <a:cs typeface="Consolas" pitchFamily="49" charset="0"/>
              </a:rPr>
              <a:t>tmp</a:t>
            </a:r>
            <a:r>
              <a:rPr lang="en-US" dirty="0">
                <a:latin typeface="Consolas" pitchFamily="49" charset="0"/>
                <a:cs typeface="Consolas" pitchFamily="49" charset="0"/>
              </a:rPr>
              <a:t> -&gt; right = NULL;</a:t>
            </a:r>
            <a:endParaRPr lang="en-US" sz="1100" dirty="0">
              <a:latin typeface="Arial" pitchFamily="34" charset="0"/>
              <a:cs typeface="Arial" pitchFamily="34" charset="0"/>
            </a:endParaRPr>
          </a:p>
          <a:p>
            <a:pPr eaLnBrk="0" fontAlgn="base" hangingPunct="0">
              <a:spcBef>
                <a:spcPct val="0"/>
              </a:spcBef>
              <a:spcAft>
                <a:spcPct val="0"/>
              </a:spcAft>
            </a:pPr>
            <a:r>
              <a:rPr lang="en-US" sz="2000" b="1" dirty="0">
                <a:latin typeface="Roboto"/>
                <a:cs typeface="Arial" pitchFamily="34" charset="0"/>
              </a:rPr>
              <a:t>Case 2: When new node inserted as the left child</a:t>
            </a:r>
            <a:br>
              <a:rPr lang="en-US" sz="2000" dirty="0">
                <a:latin typeface="Roboto"/>
                <a:cs typeface="Arial" pitchFamily="34" charset="0"/>
              </a:rPr>
            </a:br>
            <a:r>
              <a:rPr lang="en-US" sz="2000" dirty="0">
                <a:latin typeface="Roboto"/>
                <a:cs typeface="Arial" pitchFamily="34" charset="0"/>
              </a:rPr>
              <a:t>After inserting the node at its proper place we have to make its left and right threads points to </a:t>
            </a:r>
            <a:r>
              <a:rPr lang="en-US" sz="2000" dirty="0" err="1">
                <a:latin typeface="Roboto"/>
                <a:cs typeface="Arial" pitchFamily="34" charset="0"/>
              </a:rPr>
              <a:t>inorder</a:t>
            </a:r>
            <a:r>
              <a:rPr lang="en-US" sz="2000" dirty="0">
                <a:latin typeface="Roboto"/>
                <a:cs typeface="Arial" pitchFamily="34" charset="0"/>
              </a:rPr>
              <a:t> predecessor and successor respectively. </a:t>
            </a:r>
          </a:p>
          <a:p>
            <a:pPr eaLnBrk="0" fontAlgn="base" hangingPunct="0">
              <a:spcBef>
                <a:spcPct val="0"/>
              </a:spcBef>
              <a:spcAft>
                <a:spcPct val="0"/>
              </a:spcAft>
            </a:pPr>
            <a:r>
              <a:rPr lang="en-US" sz="2000" dirty="0">
                <a:latin typeface="Roboto"/>
                <a:cs typeface="Arial" pitchFamily="34" charset="0"/>
              </a:rPr>
              <a:t>The node which was </a:t>
            </a:r>
            <a:r>
              <a:rPr lang="en-US" sz="2000" dirty="0" err="1">
                <a:solidFill>
                  <a:srgbClr val="EC4E20"/>
                </a:solidFill>
                <a:latin typeface="Roboto"/>
                <a:cs typeface="Arial" pitchFamily="34" charset="0"/>
                <a:hlinkClick r:id="rId2"/>
              </a:rPr>
              <a:t>inorder</a:t>
            </a:r>
            <a:r>
              <a:rPr lang="en-US" sz="2000" dirty="0">
                <a:solidFill>
                  <a:srgbClr val="EC4E20"/>
                </a:solidFill>
                <a:latin typeface="Roboto"/>
                <a:cs typeface="Arial" pitchFamily="34" charset="0"/>
                <a:hlinkClick r:id="rId2"/>
              </a:rPr>
              <a:t> successor</a:t>
            </a:r>
            <a:r>
              <a:rPr lang="en-US" sz="2000" dirty="0">
                <a:latin typeface="Roboto"/>
                <a:cs typeface="Arial" pitchFamily="34" charset="0"/>
              </a:rPr>
              <a:t>. So the left and right threads of the new node will be-</a:t>
            </a:r>
            <a:endParaRPr lang="en-US" dirty="0">
              <a:latin typeface="Consolas" pitchFamily="49" charset="0"/>
              <a:cs typeface="Consolas" pitchFamily="49" charset="0"/>
            </a:endParaRPr>
          </a:p>
          <a:p>
            <a:pPr eaLnBrk="0" fontAlgn="base" hangingPunct="0">
              <a:spcBef>
                <a:spcPct val="0"/>
              </a:spcBef>
              <a:spcAft>
                <a:spcPct val="0"/>
              </a:spcAft>
            </a:pPr>
            <a:r>
              <a:rPr lang="en-US" dirty="0" err="1">
                <a:latin typeface="Consolas" pitchFamily="49" charset="0"/>
                <a:cs typeface="Consolas" pitchFamily="49" charset="0"/>
              </a:rPr>
              <a:t>tmp</a:t>
            </a:r>
            <a:r>
              <a:rPr lang="en-US" dirty="0">
                <a:latin typeface="Consolas" pitchFamily="49" charset="0"/>
                <a:cs typeface="Consolas" pitchFamily="49" charset="0"/>
              </a:rPr>
              <a:t> -&gt; left = par -&gt;left; </a:t>
            </a:r>
          </a:p>
          <a:p>
            <a:pPr eaLnBrk="0" fontAlgn="base" hangingPunct="0">
              <a:spcBef>
                <a:spcPct val="0"/>
              </a:spcBef>
              <a:spcAft>
                <a:spcPct val="0"/>
              </a:spcAft>
            </a:pPr>
            <a:r>
              <a:rPr lang="en-US" dirty="0" err="1">
                <a:latin typeface="Consolas" pitchFamily="49" charset="0"/>
                <a:cs typeface="Consolas" pitchFamily="49" charset="0"/>
              </a:rPr>
              <a:t>tmp</a:t>
            </a:r>
            <a:r>
              <a:rPr lang="en-US" dirty="0">
                <a:latin typeface="Consolas" pitchFamily="49" charset="0"/>
                <a:cs typeface="Consolas" pitchFamily="49" charset="0"/>
              </a:rPr>
              <a:t> -&gt; right = par;</a:t>
            </a:r>
            <a:endParaRPr lang="en-US" sz="1100" dirty="0">
              <a:latin typeface="Arial" pitchFamily="34" charset="0"/>
              <a:cs typeface="Arial" pitchFamily="34" charset="0"/>
            </a:endParaRPr>
          </a:p>
          <a:p>
            <a:pPr eaLnBrk="0" fontAlgn="base" hangingPunct="0">
              <a:spcBef>
                <a:spcPct val="0"/>
              </a:spcBef>
              <a:spcAft>
                <a:spcPct val="0"/>
              </a:spcAft>
            </a:pPr>
            <a:r>
              <a:rPr lang="en-US" sz="2000" dirty="0">
                <a:latin typeface="Roboto"/>
                <a:cs typeface="Arial" pitchFamily="34" charset="0"/>
              </a:rPr>
              <a:t>Before insertion, the left pointer of parent was a thread, but after insertion it will be a link pointing to the new node.</a:t>
            </a:r>
            <a:endParaRPr lang="en-US" dirty="0">
              <a:latin typeface="Consolas" pitchFamily="49" charset="0"/>
              <a:cs typeface="Consolas" pitchFamily="49" charset="0"/>
            </a:endParaRPr>
          </a:p>
          <a:p>
            <a:pPr eaLnBrk="0" fontAlgn="base" hangingPunct="0">
              <a:spcBef>
                <a:spcPct val="0"/>
              </a:spcBef>
              <a:spcAft>
                <a:spcPct val="0"/>
              </a:spcAft>
            </a:pPr>
            <a:r>
              <a:rPr lang="en-US" dirty="0">
                <a:latin typeface="Consolas" pitchFamily="49" charset="0"/>
                <a:cs typeface="Consolas" pitchFamily="49" charset="0"/>
              </a:rPr>
              <a:t>par -&gt; </a:t>
            </a:r>
            <a:r>
              <a:rPr lang="en-US" dirty="0" err="1">
                <a:latin typeface="Consolas" pitchFamily="49" charset="0"/>
                <a:cs typeface="Consolas" pitchFamily="49" charset="0"/>
              </a:rPr>
              <a:t>lthread</a:t>
            </a:r>
            <a:r>
              <a:rPr lang="en-US" dirty="0">
                <a:latin typeface="Consolas" pitchFamily="49" charset="0"/>
                <a:cs typeface="Consolas" pitchFamily="49" charset="0"/>
              </a:rPr>
              <a:t> = false; </a:t>
            </a:r>
          </a:p>
          <a:p>
            <a:pPr eaLnBrk="0" fontAlgn="base" hangingPunct="0">
              <a:spcBef>
                <a:spcPct val="0"/>
              </a:spcBef>
              <a:spcAft>
                <a:spcPct val="0"/>
              </a:spcAft>
            </a:pPr>
            <a:r>
              <a:rPr lang="en-US" dirty="0">
                <a:latin typeface="Consolas" pitchFamily="49" charset="0"/>
                <a:cs typeface="Consolas" pitchFamily="49" charset="0"/>
              </a:rPr>
              <a:t>par -&gt; left = temp;</a:t>
            </a:r>
            <a:r>
              <a:rPr lang="en-US" sz="1100" dirty="0">
                <a:latin typeface="Arial" pitchFamily="34" charset="0"/>
                <a:cs typeface="Arial" pitchFamily="34" charset="0"/>
              </a:rPr>
              <a:t> </a:t>
            </a:r>
            <a:endParaRPr lang="en-US" sz="3200" dirty="0">
              <a:latin typeface="Arial" pitchFamily="34" charset="0"/>
              <a:cs typeface="Arial" pitchFamily="34" charset="0"/>
            </a:endParaRPr>
          </a:p>
        </p:txBody>
      </p:sp>
      <p:sp>
        <p:nvSpPr>
          <p:cNvPr id="5" name="Footer Placeholder 4">
            <a:extLst>
              <a:ext uri="{FF2B5EF4-FFF2-40B4-BE49-F238E27FC236}">
                <a16:creationId xmlns:a16="http://schemas.microsoft.com/office/drawing/2014/main" id="{AAD42D4F-3FCA-39C1-A5B9-F1E2C27D41D2}"/>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9832"/>
            <a:ext cx="8353297" cy="697230"/>
          </a:xfrm>
        </p:spPr>
        <p:txBody>
          <a:bodyPr/>
          <a:lstStyle/>
          <a:p>
            <a:r>
              <a:rPr lang="en-US" sz="3200" dirty="0"/>
              <a:t>Insertion in TBT</a:t>
            </a:r>
          </a:p>
        </p:txBody>
      </p:sp>
      <p:sp>
        <p:nvSpPr>
          <p:cNvPr id="3" name="Date Placeholder 2"/>
          <p:cNvSpPr>
            <a:spLocks noGrp="1"/>
          </p:cNvSpPr>
          <p:nvPr>
            <p:ph type="dt" sz="half" idx="10"/>
          </p:nvPr>
        </p:nvSpPr>
        <p:spPr/>
        <p:txBody>
          <a:bodyPr/>
          <a:lstStyle/>
          <a:p>
            <a:pPr marL="12700">
              <a:lnSpc>
                <a:spcPts val="1580"/>
              </a:lnSpc>
            </a:pPr>
            <a:fld id="{DA79BBFA-D95E-432F-9CC0-32E2D34F67F9}"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132</a:t>
            </a:fld>
            <a:endParaRPr lang="en-US"/>
          </a:p>
        </p:txBody>
      </p:sp>
      <p:pic>
        <p:nvPicPr>
          <p:cNvPr id="9218" name="Picture 2" descr="https://cdncontribute.geeksforgeeks.org/wp-content/uploads/threadbinarytree.png"/>
          <p:cNvPicPr>
            <a:picLocks noChangeAspect="1" noChangeArrowheads="1"/>
          </p:cNvPicPr>
          <p:nvPr/>
        </p:nvPicPr>
        <p:blipFill>
          <a:blip r:embed="rId2"/>
          <a:srcRect/>
          <a:stretch>
            <a:fillRect/>
          </a:stretch>
        </p:blipFill>
        <p:spPr bwMode="auto">
          <a:xfrm>
            <a:off x="1828800" y="1600200"/>
            <a:ext cx="8382000" cy="3686176"/>
          </a:xfrm>
          <a:prstGeom prst="rect">
            <a:avLst/>
          </a:prstGeom>
          <a:noFill/>
        </p:spPr>
      </p:pic>
      <p:sp>
        <p:nvSpPr>
          <p:cNvPr id="5" name="Footer Placeholder 4">
            <a:extLst>
              <a:ext uri="{FF2B5EF4-FFF2-40B4-BE49-F238E27FC236}">
                <a16:creationId xmlns:a16="http://schemas.microsoft.com/office/drawing/2014/main" id="{80E271EE-F7DD-5DBA-E521-1DA8FB5EEE27}"/>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pPr marL="12700">
              <a:lnSpc>
                <a:spcPts val="1580"/>
              </a:lnSpc>
            </a:pPr>
            <a:fld id="{F039B6D3-0561-42E1-8E4A-74BCCD375AD6}"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133</a:t>
            </a:fld>
            <a:endParaRPr lang="en-US"/>
          </a:p>
        </p:txBody>
      </p:sp>
      <p:pic>
        <p:nvPicPr>
          <p:cNvPr id="8194" name="Picture 2" descr="https://cdncontribute.geeksforgeeks.org/wp-content/uploads/tbt13inserted.png"/>
          <p:cNvPicPr>
            <a:picLocks noChangeAspect="1" noChangeArrowheads="1"/>
          </p:cNvPicPr>
          <p:nvPr/>
        </p:nvPicPr>
        <p:blipFill>
          <a:blip r:embed="rId2"/>
          <a:srcRect/>
          <a:stretch>
            <a:fillRect/>
          </a:stretch>
        </p:blipFill>
        <p:spPr bwMode="auto">
          <a:xfrm>
            <a:off x="1828800" y="1524000"/>
            <a:ext cx="8458200" cy="3886200"/>
          </a:xfrm>
          <a:prstGeom prst="rect">
            <a:avLst/>
          </a:prstGeom>
          <a:noFill/>
        </p:spPr>
      </p:pic>
      <p:sp>
        <p:nvSpPr>
          <p:cNvPr id="6" name="Rectangle 5"/>
          <p:cNvSpPr/>
          <p:nvPr/>
        </p:nvSpPr>
        <p:spPr>
          <a:xfrm>
            <a:off x="1752600" y="5410200"/>
            <a:ext cx="8610600" cy="923330"/>
          </a:xfrm>
          <a:prstGeom prst="rect">
            <a:avLst/>
          </a:prstGeom>
        </p:spPr>
        <p:txBody>
          <a:bodyPr wrap="square">
            <a:spAutoFit/>
          </a:bodyPr>
          <a:lstStyle/>
          <a:p>
            <a:r>
              <a:rPr lang="en-US" dirty="0"/>
              <a:t>Predecessor of 14 becomes the predecessor of 13, so left thread of 13 points to 10.</a:t>
            </a:r>
            <a:br>
              <a:rPr lang="en-US" dirty="0"/>
            </a:br>
            <a:r>
              <a:rPr lang="en-US" dirty="0"/>
              <a:t>Successor of 13 is 14, so right thread of 13 points to left child which is 13.</a:t>
            </a:r>
            <a:br>
              <a:rPr lang="en-US" dirty="0"/>
            </a:br>
            <a:r>
              <a:rPr lang="en-US" dirty="0"/>
              <a:t>Left pointer of 14 is not a thread now, it points to left child which is 13.</a:t>
            </a:r>
          </a:p>
        </p:txBody>
      </p:sp>
      <p:sp>
        <p:nvSpPr>
          <p:cNvPr id="8" name="Title 1">
            <a:extLst>
              <a:ext uri="{FF2B5EF4-FFF2-40B4-BE49-F238E27FC236}">
                <a16:creationId xmlns:a16="http://schemas.microsoft.com/office/drawing/2014/main" id="{F4F1DA8C-4C11-1AD3-546D-9836D0677BA5}"/>
              </a:ext>
            </a:extLst>
          </p:cNvPr>
          <p:cNvSpPr txBox="1">
            <a:spLocks/>
          </p:cNvSpPr>
          <p:nvPr/>
        </p:nvSpPr>
        <p:spPr>
          <a:xfrm>
            <a:off x="2895600" y="-9832"/>
            <a:ext cx="8353297" cy="69723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a:t>Insertion in TBT</a:t>
            </a:r>
            <a:endParaRPr lang="en-US" sz="3200" dirty="0"/>
          </a:p>
        </p:txBody>
      </p:sp>
      <p:sp>
        <p:nvSpPr>
          <p:cNvPr id="9" name="Footer Placeholder 8">
            <a:extLst>
              <a:ext uri="{FF2B5EF4-FFF2-40B4-BE49-F238E27FC236}">
                <a16:creationId xmlns:a16="http://schemas.microsoft.com/office/drawing/2014/main" id="{ED0C00AA-ACC8-F6F5-A755-4408862BD1CA}"/>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34413"/>
            <a:ext cx="8277097" cy="697230"/>
          </a:xfrm>
        </p:spPr>
        <p:txBody>
          <a:bodyPr/>
          <a:lstStyle/>
          <a:p>
            <a:r>
              <a:rPr lang="en-US" sz="3200" dirty="0"/>
              <a:t>Insertion in TBT</a:t>
            </a:r>
          </a:p>
        </p:txBody>
      </p:sp>
      <p:sp>
        <p:nvSpPr>
          <p:cNvPr id="3" name="Date Placeholder 2"/>
          <p:cNvSpPr>
            <a:spLocks noGrp="1"/>
          </p:cNvSpPr>
          <p:nvPr>
            <p:ph type="dt" sz="half" idx="10"/>
          </p:nvPr>
        </p:nvSpPr>
        <p:spPr/>
        <p:txBody>
          <a:bodyPr/>
          <a:lstStyle/>
          <a:p>
            <a:pPr marL="12700">
              <a:lnSpc>
                <a:spcPts val="1580"/>
              </a:lnSpc>
            </a:pPr>
            <a:fld id="{9F33F8D0-65BD-4E48-96FB-CC221030E9B1}"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134</a:t>
            </a:fld>
            <a:endParaRPr lang="en-US"/>
          </a:p>
        </p:txBody>
      </p:sp>
      <p:sp>
        <p:nvSpPr>
          <p:cNvPr id="165889" name="Rectangle 1"/>
          <p:cNvSpPr>
            <a:spLocks noChangeArrowheads="1"/>
          </p:cNvSpPr>
          <p:nvPr/>
        </p:nvSpPr>
        <p:spPr bwMode="auto">
          <a:xfrm>
            <a:off x="762000" y="838200"/>
            <a:ext cx="10820400" cy="3906169"/>
          </a:xfrm>
          <a:prstGeom prst="rect">
            <a:avLst/>
          </a:prstGeom>
          <a:solidFill>
            <a:schemeClr val="bg1"/>
          </a:solidFill>
          <a:ln w="9525">
            <a:noFill/>
            <a:miter lim="800000"/>
            <a:headEnd/>
            <a:tailEnd/>
          </a:ln>
          <a:effectLst/>
        </p:spPr>
        <p:txBody>
          <a:bodyPr vert="horz" wrap="square" lIns="0" tIns="0" rIns="0" bIns="88872" numCol="1" anchor="ctr" anchorCtr="0" compatLnSpc="1">
            <a:prstTxWarp prst="textNoShape">
              <a:avLst/>
            </a:prstTxWarp>
            <a:spAutoFit/>
          </a:bodyPr>
          <a:lstStyle/>
          <a:p>
            <a:pPr fontAlgn="base">
              <a:spcBef>
                <a:spcPct val="0"/>
              </a:spcBef>
              <a:spcAft>
                <a:spcPct val="0"/>
              </a:spcAft>
            </a:pPr>
            <a:r>
              <a:rPr lang="en-US" sz="2400" b="1" dirty="0">
                <a:latin typeface="Roboto"/>
                <a:cs typeface="Arial" pitchFamily="34" charset="0"/>
              </a:rPr>
              <a:t>Case 3: When new node is inserted as the right child</a:t>
            </a:r>
          </a:p>
          <a:p>
            <a:pPr fontAlgn="base">
              <a:spcBef>
                <a:spcPct val="0"/>
              </a:spcBef>
              <a:spcAft>
                <a:spcPct val="0"/>
              </a:spcAft>
            </a:pPr>
            <a:br>
              <a:rPr lang="en-US" sz="2400" dirty="0">
                <a:latin typeface="Roboto"/>
                <a:cs typeface="Arial" pitchFamily="34" charset="0"/>
              </a:rPr>
            </a:br>
            <a:r>
              <a:rPr lang="en-US" sz="2400" dirty="0">
                <a:latin typeface="Roboto"/>
                <a:cs typeface="Arial" pitchFamily="34" charset="0"/>
              </a:rPr>
              <a:t>The parent of </a:t>
            </a:r>
            <a:r>
              <a:rPr lang="en-US" sz="2400" dirty="0" err="1">
                <a:latin typeface="Roboto"/>
                <a:cs typeface="Arial" pitchFamily="34" charset="0"/>
              </a:rPr>
              <a:t>tmp</a:t>
            </a:r>
            <a:r>
              <a:rPr lang="en-US" sz="2400" dirty="0">
                <a:latin typeface="Roboto"/>
                <a:cs typeface="Arial" pitchFamily="34" charset="0"/>
              </a:rPr>
              <a:t> is its </a:t>
            </a:r>
            <a:r>
              <a:rPr lang="en-US" sz="2400" dirty="0" err="1">
                <a:latin typeface="Roboto"/>
                <a:cs typeface="Arial" pitchFamily="34" charset="0"/>
              </a:rPr>
              <a:t>inorder</a:t>
            </a:r>
            <a:r>
              <a:rPr lang="en-US" sz="2400" dirty="0">
                <a:latin typeface="Roboto"/>
                <a:cs typeface="Arial" pitchFamily="34" charset="0"/>
              </a:rPr>
              <a:t> predecessor. The node which was </a:t>
            </a:r>
            <a:r>
              <a:rPr lang="en-US" sz="2400" dirty="0" err="1">
                <a:latin typeface="Roboto"/>
                <a:cs typeface="Arial" pitchFamily="34" charset="0"/>
              </a:rPr>
              <a:t>inorder</a:t>
            </a:r>
            <a:r>
              <a:rPr lang="en-US" sz="2400" dirty="0">
                <a:latin typeface="Roboto"/>
                <a:cs typeface="Arial" pitchFamily="34" charset="0"/>
              </a:rPr>
              <a:t> successor of the parent is now the </a:t>
            </a:r>
            <a:r>
              <a:rPr lang="en-US" sz="2400" dirty="0" err="1">
                <a:latin typeface="Roboto"/>
                <a:cs typeface="Arial" pitchFamily="34" charset="0"/>
              </a:rPr>
              <a:t>inorder</a:t>
            </a:r>
            <a:r>
              <a:rPr lang="en-US" sz="2400" dirty="0">
                <a:latin typeface="Roboto"/>
                <a:cs typeface="Arial" pitchFamily="34" charset="0"/>
              </a:rPr>
              <a:t> successor of this node </a:t>
            </a:r>
            <a:r>
              <a:rPr lang="en-US" sz="2400" dirty="0" err="1">
                <a:latin typeface="Roboto"/>
                <a:cs typeface="Arial" pitchFamily="34" charset="0"/>
              </a:rPr>
              <a:t>tmp</a:t>
            </a:r>
            <a:r>
              <a:rPr lang="en-US" sz="2400" dirty="0">
                <a:latin typeface="Roboto"/>
                <a:cs typeface="Arial" pitchFamily="34" charset="0"/>
              </a:rPr>
              <a:t>. </a:t>
            </a:r>
          </a:p>
          <a:p>
            <a:pPr fontAlgn="base">
              <a:spcBef>
                <a:spcPct val="0"/>
              </a:spcBef>
              <a:spcAft>
                <a:spcPct val="0"/>
              </a:spcAft>
            </a:pPr>
            <a:r>
              <a:rPr lang="en-US" sz="2400" dirty="0">
                <a:latin typeface="Roboto"/>
                <a:cs typeface="Arial" pitchFamily="34" charset="0"/>
              </a:rPr>
              <a:t>So the left and right threads of the new node will be-</a:t>
            </a:r>
            <a:endParaRPr lang="en-US" sz="2000" dirty="0">
              <a:latin typeface="Consolas" pitchFamily="49" charset="0"/>
              <a:cs typeface="Consolas" pitchFamily="49" charset="0"/>
            </a:endParaRPr>
          </a:p>
          <a:p>
            <a:pPr eaLnBrk="0" fontAlgn="base" hangingPunct="0">
              <a:spcBef>
                <a:spcPct val="0"/>
              </a:spcBef>
              <a:spcAft>
                <a:spcPct val="0"/>
              </a:spcAft>
            </a:pPr>
            <a:r>
              <a:rPr lang="en-US" sz="2000" dirty="0" err="1">
                <a:latin typeface="Consolas" pitchFamily="49" charset="0"/>
                <a:cs typeface="Consolas" pitchFamily="49" charset="0"/>
              </a:rPr>
              <a:t>tmp</a:t>
            </a:r>
            <a:r>
              <a:rPr lang="en-US" sz="2000" dirty="0">
                <a:latin typeface="Consolas" pitchFamily="49" charset="0"/>
                <a:cs typeface="Consolas" pitchFamily="49" charset="0"/>
              </a:rPr>
              <a:t> -&gt; left = par; </a:t>
            </a:r>
          </a:p>
          <a:p>
            <a:pPr eaLnBrk="0" fontAlgn="base" hangingPunct="0">
              <a:spcBef>
                <a:spcPct val="0"/>
              </a:spcBef>
              <a:spcAft>
                <a:spcPct val="0"/>
              </a:spcAft>
            </a:pPr>
            <a:r>
              <a:rPr lang="en-US" sz="2000" dirty="0" err="1">
                <a:latin typeface="Consolas" pitchFamily="49" charset="0"/>
                <a:cs typeface="Consolas" pitchFamily="49" charset="0"/>
              </a:rPr>
              <a:t>tmp</a:t>
            </a:r>
            <a:r>
              <a:rPr lang="en-US" sz="2000" dirty="0">
                <a:latin typeface="Consolas" pitchFamily="49" charset="0"/>
                <a:cs typeface="Consolas" pitchFamily="49" charset="0"/>
              </a:rPr>
              <a:t> -&gt; right = par -&gt; right;</a:t>
            </a:r>
            <a:endParaRPr lang="en-US" sz="1200" dirty="0">
              <a:latin typeface="Arial" pitchFamily="34" charset="0"/>
              <a:cs typeface="Arial" pitchFamily="34" charset="0"/>
            </a:endParaRPr>
          </a:p>
          <a:p>
            <a:pPr eaLnBrk="0" fontAlgn="base" hangingPunct="0">
              <a:spcBef>
                <a:spcPct val="0"/>
              </a:spcBef>
              <a:spcAft>
                <a:spcPct val="0"/>
              </a:spcAft>
            </a:pPr>
            <a:r>
              <a:rPr lang="en-US" sz="2400" dirty="0">
                <a:latin typeface="Roboto"/>
                <a:cs typeface="Arial" pitchFamily="34" charset="0"/>
              </a:rPr>
              <a:t>Before insertion, the right pointer of parent was a thread, but after insertion it will be a link pointing to the new node.</a:t>
            </a:r>
            <a:endParaRPr lang="en-US" sz="2000" dirty="0">
              <a:latin typeface="Consolas" pitchFamily="49" charset="0"/>
              <a:cs typeface="Consolas" pitchFamily="49" charset="0"/>
            </a:endParaRPr>
          </a:p>
          <a:p>
            <a:pPr eaLnBrk="0" fontAlgn="base" hangingPunct="0">
              <a:spcBef>
                <a:spcPct val="0"/>
              </a:spcBef>
              <a:spcAft>
                <a:spcPct val="0"/>
              </a:spcAft>
            </a:pPr>
            <a:r>
              <a:rPr lang="en-US" sz="2000" dirty="0">
                <a:latin typeface="Consolas" pitchFamily="49" charset="0"/>
                <a:cs typeface="Consolas" pitchFamily="49" charset="0"/>
              </a:rPr>
              <a:t>par -&gt; </a:t>
            </a:r>
            <a:r>
              <a:rPr lang="en-US" sz="2000" dirty="0" err="1">
                <a:latin typeface="Consolas" pitchFamily="49" charset="0"/>
                <a:cs typeface="Consolas" pitchFamily="49" charset="0"/>
              </a:rPr>
              <a:t>rthread</a:t>
            </a:r>
            <a:r>
              <a:rPr lang="en-US" sz="2000" dirty="0">
                <a:latin typeface="Consolas" pitchFamily="49" charset="0"/>
                <a:cs typeface="Consolas" pitchFamily="49" charset="0"/>
              </a:rPr>
              <a:t> = false; </a:t>
            </a:r>
          </a:p>
          <a:p>
            <a:pPr eaLnBrk="0" fontAlgn="base" hangingPunct="0">
              <a:spcBef>
                <a:spcPct val="0"/>
              </a:spcBef>
              <a:spcAft>
                <a:spcPct val="0"/>
              </a:spcAft>
            </a:pPr>
            <a:r>
              <a:rPr lang="en-US" sz="2000" dirty="0">
                <a:latin typeface="Consolas" pitchFamily="49" charset="0"/>
                <a:cs typeface="Consolas" pitchFamily="49" charset="0"/>
              </a:rPr>
              <a:t>par -&gt; right = </a:t>
            </a:r>
            <a:r>
              <a:rPr lang="en-US" sz="2000" dirty="0" err="1">
                <a:latin typeface="Consolas" pitchFamily="49" charset="0"/>
                <a:cs typeface="Consolas" pitchFamily="49" charset="0"/>
              </a:rPr>
              <a:t>tmp</a:t>
            </a:r>
            <a:r>
              <a:rPr lang="en-US" sz="2000" dirty="0">
                <a:latin typeface="Consolas" pitchFamily="49" charset="0"/>
                <a:cs typeface="Consolas" pitchFamily="49" charset="0"/>
              </a:rPr>
              <a:t>;</a:t>
            </a:r>
            <a:r>
              <a:rPr lang="en-US" sz="1200" dirty="0">
                <a:latin typeface="Arial" pitchFamily="34" charset="0"/>
                <a:cs typeface="Arial" pitchFamily="34" charset="0"/>
              </a:rPr>
              <a:t> </a:t>
            </a:r>
            <a:endParaRPr lang="en-US" sz="3600" dirty="0">
              <a:latin typeface="Arial" pitchFamily="34" charset="0"/>
              <a:cs typeface="Arial" pitchFamily="34" charset="0"/>
            </a:endParaRPr>
          </a:p>
        </p:txBody>
      </p:sp>
      <p:sp>
        <p:nvSpPr>
          <p:cNvPr id="5" name="Footer Placeholder 4">
            <a:extLst>
              <a:ext uri="{FF2B5EF4-FFF2-40B4-BE49-F238E27FC236}">
                <a16:creationId xmlns:a16="http://schemas.microsoft.com/office/drawing/2014/main" id="{C994F2AF-987F-E965-B5BD-101805F379AA}"/>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0"/>
            <a:ext cx="8353297" cy="697230"/>
          </a:xfrm>
        </p:spPr>
        <p:txBody>
          <a:bodyPr/>
          <a:lstStyle/>
          <a:p>
            <a:r>
              <a:rPr lang="en-US" sz="3200" dirty="0"/>
              <a:t>Insertion in TBT</a:t>
            </a:r>
          </a:p>
        </p:txBody>
      </p:sp>
      <p:sp>
        <p:nvSpPr>
          <p:cNvPr id="3" name="Date Placeholder 2"/>
          <p:cNvSpPr>
            <a:spLocks noGrp="1"/>
          </p:cNvSpPr>
          <p:nvPr>
            <p:ph type="dt" sz="half" idx="10"/>
          </p:nvPr>
        </p:nvSpPr>
        <p:spPr/>
        <p:txBody>
          <a:bodyPr/>
          <a:lstStyle/>
          <a:p>
            <a:pPr marL="12700">
              <a:lnSpc>
                <a:spcPts val="1580"/>
              </a:lnSpc>
            </a:pPr>
            <a:fld id="{545C4184-F683-4082-899E-624871D77BEA}"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135</a:t>
            </a:fld>
            <a:endParaRPr lang="en-US"/>
          </a:p>
        </p:txBody>
      </p:sp>
      <p:pic>
        <p:nvPicPr>
          <p:cNvPr id="5" name="Picture 3" descr="https://cdncontribute.geeksforgeeks.org/wp-content/uploads/tbtinsert15.png"/>
          <p:cNvPicPr>
            <a:picLocks noChangeAspect="1" noChangeArrowheads="1"/>
          </p:cNvPicPr>
          <p:nvPr/>
        </p:nvPicPr>
        <p:blipFill>
          <a:blip r:embed="rId2"/>
          <a:srcRect/>
          <a:stretch>
            <a:fillRect/>
          </a:stretch>
        </p:blipFill>
        <p:spPr bwMode="auto">
          <a:xfrm>
            <a:off x="1905000" y="1524000"/>
            <a:ext cx="8382000" cy="4114800"/>
          </a:xfrm>
          <a:prstGeom prst="rect">
            <a:avLst/>
          </a:prstGeom>
          <a:noFill/>
        </p:spPr>
      </p:pic>
      <p:sp>
        <p:nvSpPr>
          <p:cNvPr id="6" name="Footer Placeholder 5">
            <a:extLst>
              <a:ext uri="{FF2B5EF4-FFF2-40B4-BE49-F238E27FC236}">
                <a16:creationId xmlns:a16="http://schemas.microsoft.com/office/drawing/2014/main" id="{8ADE961B-9295-5215-EE4A-1BDF706863EA}"/>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29497"/>
            <a:ext cx="8353297" cy="697230"/>
          </a:xfrm>
        </p:spPr>
        <p:txBody>
          <a:bodyPr/>
          <a:lstStyle/>
          <a:p>
            <a:r>
              <a:rPr lang="en-US" sz="3200" dirty="0"/>
              <a:t>Insertion in TBT</a:t>
            </a:r>
          </a:p>
        </p:txBody>
      </p:sp>
      <p:sp>
        <p:nvSpPr>
          <p:cNvPr id="3" name="Date Placeholder 2"/>
          <p:cNvSpPr>
            <a:spLocks noGrp="1"/>
          </p:cNvSpPr>
          <p:nvPr>
            <p:ph type="dt" sz="half" idx="10"/>
          </p:nvPr>
        </p:nvSpPr>
        <p:spPr/>
        <p:txBody>
          <a:bodyPr/>
          <a:lstStyle/>
          <a:p>
            <a:pPr marL="12700">
              <a:lnSpc>
                <a:spcPts val="1580"/>
              </a:lnSpc>
            </a:pPr>
            <a:fld id="{A6141923-8D22-4F5A-A333-3D12884AA27F}" type="datetime1">
              <a:rPr lang="en-US" spc="-5" smtClean="0"/>
              <a:t>8/26/2026</a:t>
            </a:fld>
            <a:endParaRPr lang="en-US" spc="-5"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136</a:t>
            </a:fld>
            <a:endParaRPr lang="en-US"/>
          </a:p>
        </p:txBody>
      </p:sp>
      <p:pic>
        <p:nvPicPr>
          <p:cNvPr id="166914" name="Picture 2" descr="https://cdncontribute.geeksforgeeks.org/wp-content/uploads/hojaupload.jpg"/>
          <p:cNvPicPr>
            <a:picLocks noChangeAspect="1" noChangeArrowheads="1"/>
          </p:cNvPicPr>
          <p:nvPr/>
        </p:nvPicPr>
        <p:blipFill>
          <a:blip r:embed="rId2"/>
          <a:srcRect/>
          <a:stretch>
            <a:fillRect/>
          </a:stretch>
        </p:blipFill>
        <p:spPr bwMode="auto">
          <a:xfrm>
            <a:off x="1905000" y="1524000"/>
            <a:ext cx="8496300" cy="3581400"/>
          </a:xfrm>
          <a:prstGeom prst="rect">
            <a:avLst/>
          </a:prstGeom>
          <a:noFill/>
        </p:spPr>
      </p:pic>
      <p:sp>
        <p:nvSpPr>
          <p:cNvPr id="6" name="Rectangle 5"/>
          <p:cNvSpPr/>
          <p:nvPr/>
        </p:nvSpPr>
        <p:spPr>
          <a:xfrm>
            <a:off x="1676400" y="5103674"/>
            <a:ext cx="8763000" cy="923330"/>
          </a:xfrm>
          <a:prstGeom prst="rect">
            <a:avLst/>
          </a:prstGeom>
        </p:spPr>
        <p:txBody>
          <a:bodyPr wrap="square">
            <a:spAutoFit/>
          </a:bodyPr>
          <a:lstStyle/>
          <a:p>
            <a:r>
              <a:rPr lang="en-US" dirty="0"/>
              <a:t>Successor of 14 becomes the successor of 15, so right thread of 15 points to 16</a:t>
            </a:r>
            <a:br>
              <a:rPr lang="en-US" dirty="0"/>
            </a:br>
            <a:r>
              <a:rPr lang="en-US" dirty="0"/>
              <a:t>Predecessor of 15 is 14, so left thread of 15 points to 14.</a:t>
            </a:r>
            <a:br>
              <a:rPr lang="en-US" dirty="0"/>
            </a:br>
            <a:r>
              <a:rPr lang="en-US" dirty="0"/>
              <a:t>Right pointer of 14 is not a thread now, it points to right child which is 15.</a:t>
            </a:r>
          </a:p>
        </p:txBody>
      </p:sp>
      <p:sp>
        <p:nvSpPr>
          <p:cNvPr id="5" name="Footer Placeholder 4">
            <a:extLst>
              <a:ext uri="{FF2B5EF4-FFF2-40B4-BE49-F238E27FC236}">
                <a16:creationId xmlns:a16="http://schemas.microsoft.com/office/drawing/2014/main" id="{82E746A1-59D5-62CF-FA9A-3BAFF19114B1}"/>
              </a:ext>
            </a:extLst>
          </p:cNvPr>
          <p:cNvSpPr>
            <a:spLocks noGrp="1"/>
          </p:cNvSpPr>
          <p:nvPr>
            <p:ph type="ftr" sz="quarter" idx="11"/>
          </p:nvPr>
        </p:nvSpPr>
        <p:spPr/>
        <p:txBody>
          <a:bodyPr/>
          <a:lstStyle/>
          <a:p>
            <a:pPr marL="12700">
              <a:lnSpc>
                <a:spcPts val="1580"/>
              </a:lnSpc>
            </a:pPr>
            <a:r>
              <a:rPr lang="en-US" spc="-5" dirty="0"/>
              <a:t>Mr. Shamshad Ali             BCSE401: DSA-II  Unit-I                          </a:t>
            </a:r>
          </a:p>
        </p:txBody>
      </p:sp>
    </p:spTree>
  </p:cSld>
  <p:clrMapOvr>
    <a:masterClrMapping/>
  </p:clrMapOvr>
  <p:transition spd="slow">
    <p:cove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70072" y="918483"/>
            <a:ext cx="7651856" cy="370356"/>
          </a:xfrm>
          <a:prstGeom prst="rect">
            <a:avLst/>
          </a:prstGeom>
        </p:spPr>
        <p:txBody>
          <a:bodyPr vert="horz" wrap="square" lIns="0" tIns="31494" rIns="0" bIns="0" rtlCol="0">
            <a:spAutoFit/>
          </a:bodyPr>
          <a:lstStyle/>
          <a:p>
            <a:pPr marL="474572" indent="-463712">
              <a:spcBef>
                <a:spcPts val="248"/>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E15C98B2-C6A9-4AA6-A9F7-C50207666D65}"/>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id="{39CD65BF-ED10-495B-B73B-22E5C245B58A}"/>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578DB9-D0BA-4725-B72D-B6AA6BE2DCE8}" type="datetime1">
              <a:rPr lang="en-US" smtClean="0"/>
              <a:t>8/26/2026</a:t>
            </a:fld>
            <a:endParaRPr lang="en-US" sz="1200" dirty="0"/>
          </a:p>
        </p:txBody>
      </p:sp>
      <p:sp>
        <p:nvSpPr>
          <p:cNvPr id="7" name="Slide Number Placeholder 6">
            <a:extLst>
              <a:ext uri="{FF2B5EF4-FFF2-40B4-BE49-F238E27FC236}">
                <a16:creationId xmlns:a16="http://schemas.microsoft.com/office/drawing/2014/main" id="{DA92282B-F194-4F03-8B66-92B886A71F44}"/>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137</a:t>
            </a:fld>
            <a:endParaRPr lang="en-IN" sz="1200" dirty="0"/>
          </a:p>
        </p:txBody>
      </p:sp>
      <p:pic>
        <p:nvPicPr>
          <p:cNvPr id="9" name="Picture 8">
            <a:extLst>
              <a:ext uri="{FF2B5EF4-FFF2-40B4-BE49-F238E27FC236}">
                <a16:creationId xmlns:a16="http://schemas.microsoft.com/office/drawing/2014/main" id="{630BB611-E41B-49ED-BF91-DC7CBDFE638E}"/>
              </a:ext>
            </a:extLst>
          </p:cNvPr>
          <p:cNvPicPr>
            <a:picLocks noChangeAspect="1"/>
          </p:cNvPicPr>
          <p:nvPr/>
        </p:nvPicPr>
        <p:blipFill>
          <a:blip r:embed="rId2"/>
          <a:stretch>
            <a:fillRect/>
          </a:stretch>
        </p:blipFill>
        <p:spPr>
          <a:xfrm>
            <a:off x="1524000" y="817164"/>
            <a:ext cx="9144000" cy="5813291"/>
          </a:xfrm>
          <a:prstGeom prst="rect">
            <a:avLst/>
          </a:prstGeom>
        </p:spPr>
      </p:pic>
      <p:sp>
        <p:nvSpPr>
          <p:cNvPr id="8" name="Footer Placeholder 7"/>
          <p:cNvSpPr>
            <a:spLocks noGrp="1"/>
          </p:cNvSpPr>
          <p:nvPr>
            <p:ph type="ftr" sz="quarter" idx="11"/>
          </p:nvPr>
        </p:nvSpPr>
        <p:spPr/>
        <p:txBody>
          <a:bodyPr/>
          <a:lstStyle/>
          <a:p>
            <a:r>
              <a:rPr lang="it-IT" dirty="0"/>
              <a:t>Mr. Shamshad Ali             BCSE401: DSA-II  Unit-I                          </a:t>
            </a:r>
            <a:endParaRPr lang="en-US" dirty="0"/>
          </a:p>
        </p:txBody>
      </p:sp>
    </p:spTree>
    <p:extLst>
      <p:ext uri="{BB962C8B-B14F-4D97-AF65-F5344CB8AC3E}">
        <p14:creationId xmlns:p14="http://schemas.microsoft.com/office/powerpoint/2010/main" val="4168473797"/>
      </p:ext>
    </p:extLst>
  </p:cSld>
  <p:clrMapOvr>
    <a:masterClrMapping/>
  </p:clrMapOvr>
  <p:transition spd="slow">
    <p:cove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70072" y="918483"/>
            <a:ext cx="7651856" cy="5266568"/>
          </a:xfrm>
          <a:prstGeom prst="rect">
            <a:avLst/>
          </a:prstGeom>
        </p:spPr>
        <p:txBody>
          <a:bodyPr vert="horz" wrap="square" lIns="0" tIns="31494" rIns="0" bIns="0" rtlCol="0">
            <a:spAutoFit/>
          </a:bodyPr>
          <a:lstStyle/>
          <a:p>
            <a:pPr marL="474572" indent="-463712">
              <a:spcBef>
                <a:spcPts val="248"/>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Huffman </a:t>
            </a:r>
            <a:r>
              <a:rPr sz="2200" dirty="0">
                <a:solidFill>
                  <a:srgbClr val="2F2F2F"/>
                </a:solidFill>
                <a:latin typeface="Times New Roman" panose="02020603050405020304" pitchFamily="18" charset="0"/>
                <a:cs typeface="Times New Roman" panose="02020603050405020304" pitchFamily="18" charset="0"/>
              </a:rPr>
              <a:t>Coding </a:t>
            </a:r>
            <a:r>
              <a:rPr sz="2200" spc="-4" dirty="0">
                <a:solidFill>
                  <a:srgbClr val="2F2F2F"/>
                </a:solidFill>
                <a:latin typeface="Times New Roman" panose="02020603050405020304" pitchFamily="18" charset="0"/>
                <a:cs typeface="Times New Roman" panose="02020603050405020304" pitchFamily="18" charset="0"/>
              </a:rPr>
              <a:t>is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famous Greedy</a:t>
            </a:r>
            <a:r>
              <a:rPr sz="2200" spc="21"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Algorithm.</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248"/>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It </a:t>
            </a:r>
            <a:r>
              <a:rPr sz="2200" spc="-9" dirty="0">
                <a:solidFill>
                  <a:srgbClr val="2F2F2F"/>
                </a:solidFill>
                <a:latin typeface="Times New Roman" panose="02020603050405020304" pitchFamily="18" charset="0"/>
                <a:cs typeface="Times New Roman" panose="02020603050405020304" pitchFamily="18" charset="0"/>
              </a:rPr>
              <a:t>is </a:t>
            </a:r>
            <a:r>
              <a:rPr sz="2200" dirty="0">
                <a:solidFill>
                  <a:srgbClr val="2F2F2F"/>
                </a:solidFill>
                <a:latin typeface="Times New Roman" panose="02020603050405020304" pitchFamily="18" charset="0"/>
                <a:cs typeface="Times New Roman" panose="02020603050405020304" pitchFamily="18" charset="0"/>
              </a:rPr>
              <a:t>used </a:t>
            </a:r>
            <a:r>
              <a:rPr sz="2200" spc="-4" dirty="0">
                <a:solidFill>
                  <a:srgbClr val="2F2F2F"/>
                </a:solidFill>
                <a:latin typeface="Times New Roman" panose="02020603050405020304" pitchFamily="18" charset="0"/>
                <a:cs typeface="Times New Roman" panose="02020603050405020304" pitchFamily="18" charset="0"/>
              </a:rPr>
              <a:t>for the lossless compression </a:t>
            </a:r>
            <a:r>
              <a:rPr sz="2200" dirty="0">
                <a:solidFill>
                  <a:srgbClr val="2F2F2F"/>
                </a:solidFill>
                <a:latin typeface="Times New Roman" panose="02020603050405020304" pitchFamily="18" charset="0"/>
                <a:cs typeface="Times New Roman" panose="02020603050405020304" pitchFamily="18" charset="0"/>
              </a:rPr>
              <a:t>of</a:t>
            </a:r>
            <a:r>
              <a:rPr sz="2200" spc="38"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data.</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It </a:t>
            </a:r>
            <a:r>
              <a:rPr sz="2200" spc="-9" dirty="0">
                <a:solidFill>
                  <a:srgbClr val="2F2F2F"/>
                </a:solidFill>
                <a:latin typeface="Times New Roman" panose="02020603050405020304" pitchFamily="18" charset="0"/>
                <a:cs typeface="Times New Roman" panose="02020603050405020304" pitchFamily="18" charset="0"/>
              </a:rPr>
              <a:t>uses </a:t>
            </a:r>
            <a:r>
              <a:rPr sz="2200" spc="-4" dirty="0">
                <a:solidFill>
                  <a:srgbClr val="2F2F2F"/>
                </a:solidFill>
                <a:latin typeface="Times New Roman" panose="02020603050405020304" pitchFamily="18" charset="0"/>
                <a:cs typeface="Times New Roman" panose="02020603050405020304" pitchFamily="18" charset="0"/>
              </a:rPr>
              <a:t>variable length</a:t>
            </a:r>
            <a:r>
              <a:rPr sz="2200" spc="3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encoding.</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206336" marR="4344" indent="-195476">
              <a:lnSpc>
                <a:spcPts val="2163"/>
              </a:lnSpc>
              <a:spcBef>
                <a:spcPts val="312"/>
              </a:spcBef>
              <a:buClr>
                <a:srgbClr val="2F2F2F"/>
              </a:buClr>
              <a:buFont typeface="Symbol"/>
              <a:buChar char=""/>
              <a:tabLst>
                <a:tab pos="473075" algn="l"/>
                <a:tab pos="473075" algn="l"/>
                <a:tab pos="717550" algn="l"/>
              </a:tabLst>
            </a:pPr>
            <a:r>
              <a:rPr sz="2200" dirty="0">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It assigns variable length codes to all the characters </a:t>
            </a:r>
            <a:r>
              <a:rPr sz="2200" dirty="0">
                <a:solidFill>
                  <a:srgbClr val="2F2F2F"/>
                </a:solidFill>
                <a:latin typeface="Times New Roman" panose="02020603050405020304" pitchFamily="18" charset="0"/>
                <a:cs typeface="Times New Roman" panose="02020603050405020304" pitchFamily="18" charset="0"/>
              </a:rPr>
              <a:t>depending</a:t>
            </a:r>
            <a:r>
              <a:rPr lang="en-US" sz="2200"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on how</a:t>
            </a:r>
            <a:r>
              <a:rPr lang="en-US" sz="220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frequently they occur in the </a:t>
            </a:r>
            <a:r>
              <a:rPr sz="2200" dirty="0">
                <a:solidFill>
                  <a:srgbClr val="2F2F2F"/>
                </a:solidFill>
                <a:latin typeface="Times New Roman" panose="02020603050405020304" pitchFamily="18" charset="0"/>
                <a:cs typeface="Times New Roman" panose="02020603050405020304" pitchFamily="18" charset="0"/>
              </a:rPr>
              <a:t>given</a:t>
            </a:r>
            <a:r>
              <a:rPr sz="2200" spc="26"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text.</a:t>
            </a:r>
            <a:endParaRPr sz="2200" dirty="0">
              <a:latin typeface="Times New Roman" panose="02020603050405020304" pitchFamily="18" charset="0"/>
              <a:cs typeface="Times New Roman" panose="02020603050405020304" pitchFamily="18" charset="0"/>
            </a:endParaRPr>
          </a:p>
          <a:p>
            <a:pPr marL="474572" indent="-463712">
              <a:spcBef>
                <a:spcPts val="107"/>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The character which occurs most frequently gets the smallest</a:t>
            </a:r>
            <a:r>
              <a:rPr sz="2200" spc="73"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code.</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107"/>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The character which occurs least frequently gets </a:t>
            </a:r>
            <a:r>
              <a:rPr sz="2200" spc="-9" dirty="0">
                <a:solidFill>
                  <a:srgbClr val="2F2F2F"/>
                </a:solidFill>
                <a:latin typeface="Times New Roman" panose="02020603050405020304" pitchFamily="18" charset="0"/>
                <a:cs typeface="Times New Roman" panose="02020603050405020304" pitchFamily="18" charset="0"/>
              </a:rPr>
              <a:t>the </a:t>
            </a:r>
            <a:r>
              <a:rPr sz="2200" spc="-4" dirty="0">
                <a:solidFill>
                  <a:srgbClr val="2F2F2F"/>
                </a:solidFill>
                <a:latin typeface="Times New Roman" panose="02020603050405020304" pitchFamily="18" charset="0"/>
                <a:cs typeface="Times New Roman" panose="02020603050405020304" pitchFamily="18" charset="0"/>
              </a:rPr>
              <a:t>largest</a:t>
            </a:r>
            <a:r>
              <a:rPr sz="2200" spc="9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code.</a:t>
            </a:r>
            <a:endParaRPr lang="en-US" sz="2200" spc="-4" dirty="0">
              <a:solidFill>
                <a:srgbClr val="2F2F2F"/>
              </a:solidFill>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It </a:t>
            </a:r>
            <a:r>
              <a:rPr sz="2200" spc="-9" dirty="0">
                <a:solidFill>
                  <a:srgbClr val="2F2F2F"/>
                </a:solidFill>
                <a:latin typeface="Times New Roman" panose="02020603050405020304" pitchFamily="18" charset="0"/>
                <a:cs typeface="Times New Roman" panose="02020603050405020304" pitchFamily="18" charset="0"/>
              </a:rPr>
              <a:t>is </a:t>
            </a:r>
            <a:r>
              <a:rPr sz="2200" spc="-4" dirty="0">
                <a:solidFill>
                  <a:srgbClr val="2F2F2F"/>
                </a:solidFill>
                <a:latin typeface="Times New Roman" panose="02020603050405020304" pitchFamily="18" charset="0"/>
                <a:cs typeface="Times New Roman" panose="02020603050405020304" pitchFamily="18" charset="0"/>
              </a:rPr>
              <a:t>also </a:t>
            </a:r>
            <a:r>
              <a:rPr sz="2200" dirty="0">
                <a:solidFill>
                  <a:srgbClr val="2F2F2F"/>
                </a:solidFill>
                <a:latin typeface="Times New Roman" panose="02020603050405020304" pitchFamily="18" charset="0"/>
                <a:cs typeface="Times New Roman" panose="02020603050405020304" pitchFamily="18" charset="0"/>
              </a:rPr>
              <a:t>known </a:t>
            </a:r>
            <a:r>
              <a:rPr sz="2200" spc="-4" dirty="0">
                <a:solidFill>
                  <a:srgbClr val="2F2F2F"/>
                </a:solidFill>
                <a:latin typeface="Times New Roman" panose="02020603050405020304" pitchFamily="18" charset="0"/>
                <a:cs typeface="Times New Roman" panose="02020603050405020304" pitchFamily="18" charset="0"/>
              </a:rPr>
              <a:t>as </a:t>
            </a:r>
            <a:r>
              <a:rPr sz="2200" b="1" spc="-4" dirty="0">
                <a:solidFill>
                  <a:srgbClr val="2F2F2F"/>
                </a:solidFill>
                <a:latin typeface="Times New Roman" panose="02020603050405020304" pitchFamily="18" charset="0"/>
                <a:cs typeface="Times New Roman" panose="02020603050405020304" pitchFamily="18" charset="0"/>
              </a:rPr>
              <a:t>Huffman</a:t>
            </a:r>
            <a:r>
              <a:rPr sz="2200" b="1" spc="26" dirty="0">
                <a:solidFill>
                  <a:srgbClr val="2F2F2F"/>
                </a:solidFill>
                <a:latin typeface="Times New Roman" panose="02020603050405020304" pitchFamily="18" charset="0"/>
                <a:cs typeface="Times New Roman" panose="02020603050405020304" pitchFamily="18" charset="0"/>
              </a:rPr>
              <a:t> </a:t>
            </a:r>
            <a:r>
              <a:rPr sz="2200" b="1" spc="-4" dirty="0">
                <a:solidFill>
                  <a:srgbClr val="2F2F2F"/>
                </a:solidFill>
                <a:latin typeface="Times New Roman" panose="02020603050405020304" pitchFamily="18" charset="0"/>
                <a:cs typeface="Times New Roman" panose="02020603050405020304" pitchFamily="18" charset="0"/>
              </a:rPr>
              <a:t>Encoding</a:t>
            </a:r>
            <a:r>
              <a:rPr sz="2200" spc="-4" dirty="0">
                <a:solidFill>
                  <a:srgbClr val="2F2F2F"/>
                </a:solidFill>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E15C98B2-C6A9-4AA6-A9F7-C50207666D65}"/>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id="{39CD65BF-ED10-495B-B73B-22E5C245B58A}"/>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4CA8933-DF94-4FCC-AC97-E527CCF4B8D6}" type="datetime1">
              <a:rPr lang="en-US" smtClean="0"/>
              <a:t>8/26/2026</a:t>
            </a:fld>
            <a:endParaRPr lang="en-US" sz="1200" dirty="0"/>
          </a:p>
        </p:txBody>
      </p:sp>
      <p:sp>
        <p:nvSpPr>
          <p:cNvPr id="6" name="Footer Placeholder 5">
            <a:extLst>
              <a:ext uri="{FF2B5EF4-FFF2-40B4-BE49-F238E27FC236}">
                <a16:creationId xmlns:a16="http://schemas.microsoft.com/office/drawing/2014/main" id="{00EC1AC0-624D-4B00-B592-71ECA7253211}"/>
              </a:ext>
            </a:extLst>
          </p:cNvPr>
          <p:cNvSpPr>
            <a:spLocks noGrp="1"/>
          </p:cNvSpPr>
          <p:nvPr>
            <p:ph type="ftr" sz="quarter" idx="4294967295"/>
          </p:nvPr>
        </p:nvSpPr>
        <p:spPr>
          <a:xfrm>
            <a:off x="3581400" y="6410890"/>
            <a:ext cx="56388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7" name="Slide Number Placeholder 6">
            <a:extLst>
              <a:ext uri="{FF2B5EF4-FFF2-40B4-BE49-F238E27FC236}">
                <a16:creationId xmlns:a16="http://schemas.microsoft.com/office/drawing/2014/main" id="{DA92282B-F194-4F03-8B66-92B886A71F44}"/>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138</a:t>
            </a:fld>
            <a:endParaRPr lang="en-IN" sz="1200" dirty="0"/>
          </a:p>
        </p:txBody>
      </p:sp>
    </p:spTree>
  </p:cSld>
  <p:clrMapOvr>
    <a:masterClrMapping/>
  </p:clrMapOvr>
  <p:transition spd="slow">
    <p:cove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6" y="951335"/>
            <a:ext cx="2733065" cy="441853"/>
          </a:xfrm>
          <a:prstGeom prst="rect">
            <a:avLst/>
          </a:prstGeom>
        </p:spPr>
        <p:txBody>
          <a:bodyPr vert="horz" wrap="square" lIns="0" tIns="10860" rIns="0" bIns="0" rtlCol="0" anchor="ctr">
            <a:spAutoFit/>
          </a:bodyPr>
          <a:lstStyle/>
          <a:p>
            <a:pPr marL="10860">
              <a:spcBef>
                <a:spcPts val="86"/>
              </a:spcBef>
            </a:pPr>
            <a:r>
              <a:rPr sz="2800" b="1" spc="-4" dirty="0"/>
              <a:t>Prefix</a:t>
            </a:r>
            <a:r>
              <a:rPr sz="2800" b="1" spc="-60" dirty="0"/>
              <a:t> </a:t>
            </a:r>
            <a:r>
              <a:rPr sz="2800" b="1" spc="-4" dirty="0"/>
              <a:t>Rule-</a:t>
            </a:r>
          </a:p>
        </p:txBody>
      </p:sp>
      <p:sp>
        <p:nvSpPr>
          <p:cNvPr id="3" name="object 3"/>
          <p:cNvSpPr txBox="1"/>
          <p:nvPr/>
        </p:nvSpPr>
        <p:spPr>
          <a:xfrm>
            <a:off x="2223376" y="1631161"/>
            <a:ext cx="7656743" cy="4203094"/>
          </a:xfrm>
          <a:prstGeom prst="rect">
            <a:avLst/>
          </a:prstGeom>
        </p:spPr>
        <p:txBody>
          <a:bodyPr vert="horz" wrap="square" lIns="0" tIns="29865" rIns="0" bIns="0" rtlCol="0">
            <a:spAutoFit/>
          </a:bodyPr>
          <a:lstStyle/>
          <a:p>
            <a:pPr marL="206336" marR="401269" indent="-195476">
              <a:lnSpc>
                <a:spcPts val="2163"/>
              </a:lnSpc>
              <a:spcBef>
                <a:spcPts val="235"/>
              </a:spcBef>
              <a:buClr>
                <a:srgbClr val="2F2F2F"/>
              </a:buClr>
              <a:buFont typeface="Symbol"/>
              <a:buChar char=""/>
              <a:tabLst>
                <a:tab pos="474029" algn="l"/>
                <a:tab pos="474572" algn="l"/>
              </a:tabLst>
            </a:pPr>
            <a:r>
              <a:rPr sz="2200" dirty="0">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To prevent ambiguities while </a:t>
            </a:r>
            <a:r>
              <a:rPr sz="2200" dirty="0">
                <a:solidFill>
                  <a:srgbClr val="2F2F2F"/>
                </a:solidFill>
                <a:latin typeface="Times New Roman" panose="02020603050405020304" pitchFamily="18" charset="0"/>
                <a:cs typeface="Times New Roman" panose="02020603050405020304" pitchFamily="18" charset="0"/>
              </a:rPr>
              <a:t>decoding, </a:t>
            </a:r>
            <a:r>
              <a:rPr sz="2200" spc="-4" dirty="0">
                <a:solidFill>
                  <a:srgbClr val="2F2F2F"/>
                </a:solidFill>
                <a:latin typeface="Times New Roman" panose="02020603050405020304" pitchFamily="18" charset="0"/>
                <a:cs typeface="Times New Roman" panose="02020603050405020304" pitchFamily="18" charset="0"/>
              </a:rPr>
              <a:t>Huffman </a:t>
            </a:r>
            <a:r>
              <a:rPr sz="2200" dirty="0">
                <a:solidFill>
                  <a:srgbClr val="2F2F2F"/>
                </a:solidFill>
                <a:latin typeface="Times New Roman" panose="02020603050405020304" pitchFamily="18" charset="0"/>
                <a:cs typeface="Times New Roman" panose="02020603050405020304" pitchFamily="18" charset="0"/>
              </a:rPr>
              <a:t>coding </a:t>
            </a:r>
            <a:r>
              <a:rPr sz="2200" spc="-4" dirty="0">
                <a:solidFill>
                  <a:srgbClr val="2F2F2F"/>
                </a:solidFill>
                <a:latin typeface="Times New Roman" panose="02020603050405020304" pitchFamily="18" charset="0"/>
                <a:cs typeface="Times New Roman" panose="02020603050405020304" pitchFamily="18" charset="0"/>
              </a:rPr>
              <a:t>implements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rule </a:t>
            </a:r>
            <a:r>
              <a:rPr sz="2200" dirty="0">
                <a:solidFill>
                  <a:srgbClr val="2F2F2F"/>
                </a:solidFill>
                <a:latin typeface="Times New Roman" panose="02020603050405020304" pitchFamily="18" charset="0"/>
                <a:cs typeface="Times New Roman" panose="02020603050405020304" pitchFamily="18" charset="0"/>
              </a:rPr>
              <a:t>known </a:t>
            </a:r>
            <a:r>
              <a:rPr sz="2200" spc="-4" dirty="0">
                <a:solidFill>
                  <a:srgbClr val="2F2F2F"/>
                </a:solidFill>
                <a:latin typeface="Times New Roman" panose="02020603050405020304" pitchFamily="18" charset="0"/>
                <a:cs typeface="Times New Roman" panose="02020603050405020304" pitchFamily="18" charset="0"/>
              </a:rPr>
              <a:t>as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prefix</a:t>
            </a:r>
            <a:r>
              <a:rPr sz="2200" spc="4"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rule.</a:t>
            </a:r>
            <a:endParaRPr sz="2200" dirty="0">
              <a:latin typeface="Times New Roman" panose="02020603050405020304" pitchFamily="18" charset="0"/>
              <a:cs typeface="Times New Roman" panose="02020603050405020304" pitchFamily="18" charset="0"/>
            </a:endParaRPr>
          </a:p>
          <a:p>
            <a:pPr marL="206336" marR="4344" indent="-195476">
              <a:lnSpc>
                <a:spcPts val="2163"/>
              </a:lnSpc>
              <a:spcBef>
                <a:spcPts val="257"/>
              </a:spcBef>
              <a:buClr>
                <a:srgbClr val="2F2F2F"/>
              </a:buClr>
              <a:buFont typeface="Symbol"/>
              <a:buChar char=""/>
              <a:tabLst>
                <a:tab pos="474029" algn="l"/>
                <a:tab pos="474572" algn="l"/>
              </a:tabLst>
            </a:pPr>
            <a:r>
              <a:rPr sz="2200" dirty="0">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It ensures that the code assigned to </a:t>
            </a:r>
            <a:r>
              <a:rPr sz="2200" dirty="0">
                <a:solidFill>
                  <a:srgbClr val="2F2F2F"/>
                </a:solidFill>
                <a:latin typeface="Times New Roman" panose="02020603050405020304" pitchFamily="18" charset="0"/>
                <a:cs typeface="Times New Roman" panose="02020603050405020304" pitchFamily="18" charset="0"/>
              </a:rPr>
              <a:t>any </a:t>
            </a:r>
            <a:r>
              <a:rPr sz="2200" spc="-4" dirty="0">
                <a:solidFill>
                  <a:srgbClr val="2F2F2F"/>
                </a:solidFill>
                <a:latin typeface="Times New Roman" panose="02020603050405020304" pitchFamily="18" charset="0"/>
                <a:cs typeface="Times New Roman" panose="02020603050405020304" pitchFamily="18" charset="0"/>
              </a:rPr>
              <a:t>character </a:t>
            </a:r>
            <a:r>
              <a:rPr sz="2200" spc="-9" dirty="0">
                <a:solidFill>
                  <a:srgbClr val="2F2F2F"/>
                </a:solidFill>
                <a:latin typeface="Times New Roman" panose="02020603050405020304" pitchFamily="18" charset="0"/>
                <a:cs typeface="Times New Roman" panose="02020603050405020304" pitchFamily="18" charset="0"/>
              </a:rPr>
              <a:t>is </a:t>
            </a:r>
            <a:r>
              <a:rPr sz="2200" dirty="0">
                <a:solidFill>
                  <a:srgbClr val="2F2F2F"/>
                </a:solidFill>
                <a:latin typeface="Times New Roman" panose="02020603050405020304" pitchFamily="18" charset="0"/>
                <a:cs typeface="Times New Roman" panose="02020603050405020304" pitchFamily="18" charset="0"/>
              </a:rPr>
              <a:t>not a </a:t>
            </a:r>
            <a:r>
              <a:rPr sz="2200" spc="-4" dirty="0">
                <a:solidFill>
                  <a:srgbClr val="2F2F2F"/>
                </a:solidFill>
                <a:latin typeface="Times New Roman" panose="02020603050405020304" pitchFamily="18" charset="0"/>
                <a:cs typeface="Times New Roman" panose="02020603050405020304" pitchFamily="18" charset="0"/>
              </a:rPr>
              <a:t>prefix </a:t>
            </a:r>
            <a:r>
              <a:rPr sz="2200" dirty="0">
                <a:solidFill>
                  <a:srgbClr val="2F2F2F"/>
                </a:solidFill>
                <a:latin typeface="Times New Roman" panose="02020603050405020304" pitchFamily="18" charset="0"/>
                <a:cs typeface="Times New Roman" panose="02020603050405020304" pitchFamily="18" charset="0"/>
              </a:rPr>
              <a:t>of </a:t>
            </a:r>
            <a:r>
              <a:rPr sz="2200" spc="-4" dirty="0">
                <a:solidFill>
                  <a:srgbClr val="2F2F2F"/>
                </a:solidFill>
                <a:latin typeface="Times New Roman" panose="02020603050405020304" pitchFamily="18" charset="0"/>
                <a:cs typeface="Times New Roman" panose="02020603050405020304" pitchFamily="18" charset="0"/>
              </a:rPr>
              <a:t>the </a:t>
            </a:r>
            <a:r>
              <a:rPr sz="2200" dirty="0">
                <a:solidFill>
                  <a:srgbClr val="2F2F2F"/>
                </a:solidFill>
                <a:latin typeface="Times New Roman" panose="02020603050405020304" pitchFamily="18" charset="0"/>
                <a:cs typeface="Times New Roman" panose="02020603050405020304" pitchFamily="18" charset="0"/>
              </a:rPr>
              <a:t>code  </a:t>
            </a:r>
            <a:r>
              <a:rPr sz="2200" spc="-4" dirty="0">
                <a:solidFill>
                  <a:srgbClr val="2F2F2F"/>
                </a:solidFill>
                <a:latin typeface="Times New Roman" panose="02020603050405020304" pitchFamily="18" charset="0"/>
                <a:cs typeface="Times New Roman" panose="02020603050405020304" pitchFamily="18" charset="0"/>
              </a:rPr>
              <a:t>assigned to </a:t>
            </a:r>
            <a:r>
              <a:rPr sz="2200" dirty="0">
                <a:solidFill>
                  <a:srgbClr val="2F2F2F"/>
                </a:solidFill>
                <a:latin typeface="Times New Roman" panose="02020603050405020304" pitchFamily="18" charset="0"/>
                <a:cs typeface="Times New Roman" panose="02020603050405020304" pitchFamily="18" charset="0"/>
              </a:rPr>
              <a:t>any other</a:t>
            </a:r>
            <a:r>
              <a:rPr sz="2200" spc="9"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character.</a:t>
            </a:r>
            <a:endParaRPr sz="2200" dirty="0">
              <a:latin typeface="Times New Roman" panose="02020603050405020304" pitchFamily="18" charset="0"/>
              <a:cs typeface="Times New Roman" panose="02020603050405020304" pitchFamily="18" charset="0"/>
            </a:endParaRPr>
          </a:p>
          <a:p>
            <a:pPr>
              <a:lnSpc>
                <a:spcPct val="100000"/>
              </a:lnSpc>
            </a:pPr>
            <a:endParaRPr sz="2052" dirty="0">
              <a:latin typeface="Times New Roman"/>
              <a:cs typeface="Times New Roman"/>
            </a:endParaRPr>
          </a:p>
          <a:p>
            <a:pPr>
              <a:spcBef>
                <a:spcPts val="38"/>
              </a:spcBef>
            </a:pPr>
            <a:endParaRPr sz="2437" dirty="0">
              <a:latin typeface="Times New Roman"/>
              <a:cs typeface="Times New Roman"/>
            </a:endParaRPr>
          </a:p>
          <a:p>
            <a:pPr marL="83077"/>
            <a:r>
              <a:rPr sz="2800" b="1" spc="-4" dirty="0">
                <a:solidFill>
                  <a:srgbClr val="2F2F2F"/>
                </a:solidFill>
                <a:uFill>
                  <a:solidFill>
                    <a:srgbClr val="2F2F2F"/>
                  </a:solidFill>
                </a:uFill>
                <a:latin typeface="Times New Roman"/>
                <a:cs typeface="Times New Roman"/>
              </a:rPr>
              <a:t>Major Steps in Huffman</a:t>
            </a:r>
            <a:r>
              <a:rPr sz="2800" b="1" spc="17" dirty="0">
                <a:solidFill>
                  <a:srgbClr val="2F2F2F"/>
                </a:solidFill>
                <a:uFill>
                  <a:solidFill>
                    <a:srgbClr val="2F2F2F"/>
                  </a:solidFill>
                </a:uFill>
                <a:latin typeface="Times New Roman"/>
                <a:cs typeface="Times New Roman"/>
              </a:rPr>
              <a:t> </a:t>
            </a:r>
            <a:r>
              <a:rPr sz="2800" b="1" spc="-4" dirty="0">
                <a:solidFill>
                  <a:srgbClr val="2F2F2F"/>
                </a:solidFill>
                <a:uFill>
                  <a:solidFill>
                    <a:srgbClr val="2F2F2F"/>
                  </a:solidFill>
                </a:uFill>
                <a:latin typeface="Times New Roman"/>
                <a:cs typeface="Times New Roman"/>
              </a:rPr>
              <a:t>Coding-</a:t>
            </a:r>
            <a:endParaRPr sz="2800" dirty="0">
              <a:latin typeface="Times New Roman"/>
              <a:cs typeface="Times New Roman"/>
            </a:endParaRPr>
          </a:p>
          <a:p>
            <a:pPr>
              <a:lnSpc>
                <a:spcPct val="100000"/>
              </a:lnSpc>
            </a:pPr>
            <a:endParaRPr sz="2694" dirty="0">
              <a:latin typeface="Times New Roman"/>
              <a:cs typeface="Times New Roman"/>
            </a:endParaRPr>
          </a:p>
          <a:p>
            <a:pPr marL="83077"/>
            <a:r>
              <a:rPr sz="2200" spc="-4" dirty="0">
                <a:solidFill>
                  <a:srgbClr val="2F2F2F"/>
                </a:solidFill>
                <a:latin typeface="Times New Roman"/>
                <a:cs typeface="Times New Roman"/>
              </a:rPr>
              <a:t>There are two major steps in Huffman</a:t>
            </a:r>
            <a:r>
              <a:rPr sz="2200" spc="34" dirty="0">
                <a:solidFill>
                  <a:srgbClr val="2F2F2F"/>
                </a:solidFill>
                <a:latin typeface="Times New Roman"/>
                <a:cs typeface="Times New Roman"/>
              </a:rPr>
              <a:t> </a:t>
            </a:r>
            <a:r>
              <a:rPr sz="2200" dirty="0">
                <a:solidFill>
                  <a:srgbClr val="2F2F2F"/>
                </a:solidFill>
                <a:latin typeface="Times New Roman"/>
                <a:cs typeface="Times New Roman"/>
              </a:rPr>
              <a:t>coding-</a:t>
            </a:r>
            <a:endParaRPr sz="2200" dirty="0">
              <a:latin typeface="Times New Roman"/>
              <a:cs typeface="Times New Roman"/>
            </a:endParaRPr>
          </a:p>
          <a:p>
            <a:pPr marL="474572" indent="-463712">
              <a:spcBef>
                <a:spcPts val="676"/>
              </a:spcBef>
              <a:buAutoNum type="arabicPeriod"/>
              <a:tabLst>
                <a:tab pos="474029" algn="l"/>
                <a:tab pos="474572" algn="l"/>
              </a:tabLst>
            </a:pPr>
            <a:r>
              <a:rPr sz="2200" dirty="0">
                <a:solidFill>
                  <a:srgbClr val="2F2F2F"/>
                </a:solidFill>
                <a:latin typeface="Times New Roman"/>
                <a:cs typeface="Times New Roman"/>
              </a:rPr>
              <a:t>Building a </a:t>
            </a:r>
            <a:r>
              <a:rPr sz="2200" spc="-4" dirty="0">
                <a:solidFill>
                  <a:srgbClr val="2F2F2F"/>
                </a:solidFill>
                <a:latin typeface="Times New Roman"/>
                <a:cs typeface="Times New Roman"/>
              </a:rPr>
              <a:t>Huffman tree from the input</a:t>
            </a:r>
            <a:r>
              <a:rPr sz="2200" spc="17" dirty="0">
                <a:solidFill>
                  <a:srgbClr val="2F2F2F"/>
                </a:solidFill>
                <a:latin typeface="Times New Roman"/>
                <a:cs typeface="Times New Roman"/>
              </a:rPr>
              <a:t> </a:t>
            </a:r>
            <a:r>
              <a:rPr sz="2200" spc="-4" dirty="0">
                <a:solidFill>
                  <a:srgbClr val="2F2F2F"/>
                </a:solidFill>
                <a:latin typeface="Times New Roman"/>
                <a:cs typeface="Times New Roman"/>
              </a:rPr>
              <a:t>characters.</a:t>
            </a:r>
            <a:endParaRPr sz="2200" dirty="0">
              <a:latin typeface="Times New Roman"/>
              <a:cs typeface="Times New Roman"/>
            </a:endParaRPr>
          </a:p>
          <a:p>
            <a:pPr marL="474572" indent="-463712">
              <a:spcBef>
                <a:spcPts val="162"/>
              </a:spcBef>
              <a:buAutoNum type="arabicPeriod"/>
              <a:tabLst>
                <a:tab pos="474029" algn="l"/>
                <a:tab pos="474572" algn="l"/>
              </a:tabLst>
            </a:pPr>
            <a:r>
              <a:rPr sz="2200" spc="-4" dirty="0">
                <a:solidFill>
                  <a:srgbClr val="2F2F2F"/>
                </a:solidFill>
                <a:latin typeface="Times New Roman"/>
                <a:cs typeface="Times New Roman"/>
              </a:rPr>
              <a:t>Assigning codes to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characters </a:t>
            </a:r>
            <a:r>
              <a:rPr sz="2200" dirty="0">
                <a:solidFill>
                  <a:srgbClr val="2F2F2F"/>
                </a:solidFill>
                <a:latin typeface="Times New Roman"/>
                <a:cs typeface="Times New Roman"/>
              </a:rPr>
              <a:t>by </a:t>
            </a:r>
            <a:r>
              <a:rPr sz="2200" spc="-4" dirty="0">
                <a:solidFill>
                  <a:srgbClr val="2F2F2F"/>
                </a:solidFill>
                <a:latin typeface="Times New Roman"/>
                <a:cs typeface="Times New Roman"/>
              </a:rPr>
              <a:t>traversing the Huffman</a:t>
            </a:r>
            <a:r>
              <a:rPr sz="2200" spc="86" dirty="0">
                <a:solidFill>
                  <a:srgbClr val="2F2F2F"/>
                </a:solidFill>
                <a:latin typeface="Times New Roman"/>
                <a:cs typeface="Times New Roman"/>
              </a:rPr>
              <a:t> </a:t>
            </a:r>
            <a:r>
              <a:rPr sz="2200" spc="-4" dirty="0">
                <a:solidFill>
                  <a:srgbClr val="2F2F2F"/>
                </a:solidFill>
                <a:latin typeface="Times New Roman"/>
                <a:cs typeface="Times New Roman"/>
              </a:rPr>
              <a:t>tree.</a:t>
            </a:r>
            <a:endParaRPr sz="2200" dirty="0">
              <a:latin typeface="Times New Roman"/>
              <a:cs typeface="Times New Roman"/>
            </a:endParaRPr>
          </a:p>
        </p:txBody>
      </p:sp>
      <p:sp>
        <p:nvSpPr>
          <p:cNvPr id="5" name="Title 1">
            <a:extLst>
              <a:ext uri="{FF2B5EF4-FFF2-40B4-BE49-F238E27FC236}">
                <a16:creationId xmlns:a16="http://schemas.microsoft.com/office/drawing/2014/main" id="{A7150E0A-1DA7-470A-985D-9FA0E94E190E}"/>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id="{6487C5FA-C335-4CC0-AADA-867060BAAE30}"/>
              </a:ext>
            </a:extLst>
          </p:cNvPr>
          <p:cNvSpPr>
            <a:spLocks noGrp="1"/>
          </p:cNvSpPr>
          <p:nvPr>
            <p:ph type="dt" sz="half" idx="4294967295"/>
          </p:nvPr>
        </p:nvSpPr>
        <p:spPr>
          <a:xfrm>
            <a:off x="792480" y="6410890"/>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F43455-BC79-4A85-A905-7AB8DDE9BB11}" type="datetime1">
              <a:rPr lang="en-US" smtClean="0"/>
              <a:t>8/26/2026</a:t>
            </a:fld>
            <a:endParaRPr lang="en-US" sz="1200" dirty="0"/>
          </a:p>
        </p:txBody>
      </p:sp>
      <p:sp>
        <p:nvSpPr>
          <p:cNvPr id="7" name="Footer Placeholder 6">
            <a:extLst>
              <a:ext uri="{FF2B5EF4-FFF2-40B4-BE49-F238E27FC236}">
                <a16:creationId xmlns:a16="http://schemas.microsoft.com/office/drawing/2014/main" id="{C57A7694-6893-468C-9796-02965F124A2B}"/>
              </a:ext>
            </a:extLst>
          </p:cNvPr>
          <p:cNvSpPr>
            <a:spLocks noGrp="1"/>
          </p:cNvSpPr>
          <p:nvPr>
            <p:ph type="ftr" sz="quarter" idx="4294967295"/>
          </p:nvPr>
        </p:nvSpPr>
        <p:spPr>
          <a:xfrm>
            <a:off x="3352800" y="6410890"/>
            <a:ext cx="55626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8" name="Slide Number Placeholder 7">
            <a:extLst>
              <a:ext uri="{FF2B5EF4-FFF2-40B4-BE49-F238E27FC236}">
                <a16:creationId xmlns:a16="http://schemas.microsoft.com/office/drawing/2014/main" id="{4F56481C-A019-46E7-A552-B230461E844F}"/>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139</a:t>
            </a:fld>
            <a:endParaRPr lang="en-IN" sz="1200" dirty="0"/>
          </a:p>
        </p:txBody>
      </p:sp>
    </p:spTree>
  </p:cSld>
  <p:clrMapOvr>
    <a:masterClrMapping/>
  </p:clrMapOvr>
  <p:transition spd="slow">
    <p:cove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90700" y="1371600"/>
            <a:ext cx="8610600" cy="3763596"/>
          </a:xfrm>
          <a:prstGeom prst="rect">
            <a:avLst/>
          </a:prstGeom>
        </p:spPr>
        <p:txBody>
          <a:bodyPr vert="horz" wrap="square" lIns="0" tIns="10860" rIns="0" bIns="0" rtlCol="0">
            <a:spAutoFit/>
          </a:bodyPr>
          <a:lstStyle/>
          <a:p>
            <a:pPr marL="83077">
              <a:spcBef>
                <a:spcPts val="86"/>
              </a:spcBef>
            </a:pPr>
            <a:r>
              <a:rPr sz="2800" b="1" spc="-4" dirty="0">
                <a:solidFill>
                  <a:srgbClr val="2F2F2F"/>
                </a:solidFill>
                <a:latin typeface="Times New Roman"/>
                <a:cs typeface="Times New Roman"/>
              </a:rPr>
              <a:t>The steps involved in the construction </a:t>
            </a:r>
            <a:r>
              <a:rPr sz="2800" b="1" dirty="0">
                <a:solidFill>
                  <a:srgbClr val="2F2F2F"/>
                </a:solidFill>
                <a:latin typeface="Times New Roman"/>
                <a:cs typeface="Times New Roman"/>
              </a:rPr>
              <a:t>of </a:t>
            </a:r>
            <a:r>
              <a:rPr sz="2800" b="1" spc="-4" dirty="0">
                <a:solidFill>
                  <a:srgbClr val="2F2F2F"/>
                </a:solidFill>
                <a:latin typeface="Times New Roman"/>
                <a:cs typeface="Times New Roman"/>
              </a:rPr>
              <a:t>Huffman Tree are </a:t>
            </a:r>
            <a:r>
              <a:rPr sz="2800" b="1" dirty="0">
                <a:solidFill>
                  <a:srgbClr val="2F2F2F"/>
                </a:solidFill>
                <a:latin typeface="Times New Roman"/>
                <a:cs typeface="Times New Roman"/>
              </a:rPr>
              <a:t>as</a:t>
            </a:r>
            <a:r>
              <a:rPr sz="2800" b="1" spc="94" dirty="0">
                <a:solidFill>
                  <a:srgbClr val="2F2F2F"/>
                </a:solidFill>
                <a:latin typeface="Times New Roman"/>
                <a:cs typeface="Times New Roman"/>
              </a:rPr>
              <a:t> </a:t>
            </a:r>
            <a:r>
              <a:rPr sz="2800" b="1" spc="-4" dirty="0">
                <a:solidFill>
                  <a:srgbClr val="2F2F2F"/>
                </a:solidFill>
                <a:latin typeface="Times New Roman"/>
                <a:cs typeface="Times New Roman"/>
              </a:rPr>
              <a:t>follows-</a:t>
            </a:r>
            <a:endParaRPr sz="2800" b="1" dirty="0">
              <a:latin typeface="Times New Roman"/>
              <a:cs typeface="Times New Roman"/>
            </a:endParaRPr>
          </a:p>
          <a:p>
            <a:pPr>
              <a:lnSpc>
                <a:spcPct val="100000"/>
              </a:lnSpc>
            </a:pPr>
            <a:endParaRPr sz="2052" dirty="0">
              <a:latin typeface="Times New Roman"/>
              <a:cs typeface="Times New Roman"/>
            </a:endParaRPr>
          </a:p>
          <a:p>
            <a:pPr marL="83077">
              <a:spcBef>
                <a:spcPts val="1248"/>
              </a:spcBef>
            </a:pPr>
            <a:r>
              <a:rPr sz="2200" b="1" u="heavy" spc="-4" dirty="0">
                <a:solidFill>
                  <a:srgbClr val="2F2F2F"/>
                </a:solidFill>
                <a:uFill>
                  <a:solidFill>
                    <a:srgbClr val="2F2F2F"/>
                  </a:solidFill>
                </a:uFill>
                <a:latin typeface="Times New Roman"/>
                <a:cs typeface="Times New Roman"/>
              </a:rPr>
              <a:t>Step-01: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spc="-4" dirty="0">
                <a:solidFill>
                  <a:srgbClr val="2F2F2F"/>
                </a:solidFill>
                <a:latin typeface="Times New Roman"/>
                <a:cs typeface="Times New Roman"/>
              </a:rPr>
              <a:t>Create </a:t>
            </a:r>
            <a:r>
              <a:rPr sz="2200" dirty="0">
                <a:solidFill>
                  <a:srgbClr val="2F2F2F"/>
                </a:solidFill>
                <a:latin typeface="Times New Roman"/>
                <a:cs typeface="Times New Roman"/>
              </a:rPr>
              <a:t>a </a:t>
            </a:r>
            <a:r>
              <a:rPr sz="2200" spc="-4" dirty="0">
                <a:solidFill>
                  <a:srgbClr val="2F2F2F"/>
                </a:solidFill>
                <a:latin typeface="Times New Roman"/>
                <a:cs typeface="Times New Roman"/>
              </a:rPr>
              <a:t>leaf node for all </a:t>
            </a:r>
            <a:r>
              <a:rPr sz="2200" spc="-9" dirty="0">
                <a:solidFill>
                  <a:srgbClr val="2F2F2F"/>
                </a:solidFill>
                <a:latin typeface="Times New Roman"/>
                <a:cs typeface="Times New Roman"/>
              </a:rPr>
              <a:t>the </a:t>
            </a:r>
            <a:r>
              <a:rPr sz="2200" dirty="0">
                <a:solidFill>
                  <a:srgbClr val="2F2F2F"/>
                </a:solidFill>
                <a:latin typeface="Times New Roman"/>
                <a:cs typeface="Times New Roman"/>
              </a:rPr>
              <a:t>given</a:t>
            </a:r>
            <a:r>
              <a:rPr sz="2200" spc="51" dirty="0">
                <a:solidFill>
                  <a:srgbClr val="2F2F2F"/>
                </a:solidFill>
                <a:latin typeface="Times New Roman"/>
                <a:cs typeface="Times New Roman"/>
              </a:rPr>
              <a:t> </a:t>
            </a:r>
            <a:r>
              <a:rPr sz="2200" spc="-4" dirty="0">
                <a:solidFill>
                  <a:srgbClr val="2F2F2F"/>
                </a:solidFill>
                <a:latin typeface="Times New Roman"/>
                <a:cs typeface="Times New Roman"/>
              </a:rPr>
              <a:t>characters.</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spc="-4" dirty="0">
                <a:solidFill>
                  <a:srgbClr val="2F2F2F"/>
                </a:solidFill>
                <a:latin typeface="Times New Roman"/>
                <a:cs typeface="Times New Roman"/>
              </a:rPr>
              <a:t>Leaf </a:t>
            </a:r>
            <a:r>
              <a:rPr sz="2200" dirty="0">
                <a:solidFill>
                  <a:srgbClr val="2F2F2F"/>
                </a:solidFill>
                <a:latin typeface="Times New Roman"/>
                <a:cs typeface="Times New Roman"/>
              </a:rPr>
              <a:t>node </a:t>
            </a:r>
            <a:r>
              <a:rPr sz="2200" spc="-4" dirty="0">
                <a:solidFill>
                  <a:srgbClr val="2F2F2F"/>
                </a:solidFill>
                <a:latin typeface="Times New Roman"/>
                <a:cs typeface="Times New Roman"/>
              </a:rPr>
              <a:t>contains the occurring frequency </a:t>
            </a:r>
            <a:r>
              <a:rPr sz="2200" dirty="0">
                <a:solidFill>
                  <a:srgbClr val="2F2F2F"/>
                </a:solidFill>
                <a:latin typeface="Times New Roman"/>
                <a:cs typeface="Times New Roman"/>
              </a:rPr>
              <a:t>of </a:t>
            </a:r>
            <a:r>
              <a:rPr sz="2200" spc="-4" dirty="0">
                <a:solidFill>
                  <a:srgbClr val="2F2F2F"/>
                </a:solidFill>
                <a:latin typeface="Times New Roman"/>
                <a:cs typeface="Times New Roman"/>
              </a:rPr>
              <a:t>that</a:t>
            </a:r>
            <a:r>
              <a:rPr sz="2200" spc="47" dirty="0">
                <a:solidFill>
                  <a:srgbClr val="2F2F2F"/>
                </a:solidFill>
                <a:latin typeface="Times New Roman"/>
                <a:cs typeface="Times New Roman"/>
              </a:rPr>
              <a:t> </a:t>
            </a:r>
            <a:r>
              <a:rPr sz="2200" spc="-4" dirty="0">
                <a:solidFill>
                  <a:srgbClr val="2F2F2F"/>
                </a:solidFill>
                <a:latin typeface="Times New Roman"/>
                <a:cs typeface="Times New Roman"/>
              </a:rPr>
              <a:t>character.</a:t>
            </a:r>
            <a:endParaRPr sz="2200" dirty="0">
              <a:latin typeface="Times New Roman"/>
              <a:cs typeface="Times New Roman"/>
            </a:endParaRPr>
          </a:p>
          <a:p>
            <a:pPr>
              <a:spcBef>
                <a:spcPts val="26"/>
              </a:spcBef>
              <a:buClr>
                <a:srgbClr val="2F2F2F"/>
              </a:buClr>
              <a:buFont typeface="Symbol"/>
              <a:buChar char=""/>
            </a:pPr>
            <a:endParaRPr sz="2200" dirty="0">
              <a:latin typeface="Times New Roman"/>
              <a:cs typeface="Times New Roman"/>
            </a:endParaRPr>
          </a:p>
          <a:p>
            <a:pPr marL="83077"/>
            <a:r>
              <a:rPr sz="2200" b="1" u="heavy" spc="-4" dirty="0">
                <a:solidFill>
                  <a:srgbClr val="2F2F2F"/>
                </a:solidFill>
                <a:uFill>
                  <a:solidFill>
                    <a:srgbClr val="2F2F2F"/>
                  </a:solidFill>
                </a:uFill>
                <a:latin typeface="Times New Roman"/>
                <a:cs typeface="Times New Roman"/>
              </a:rPr>
              <a:t>Step-02:</a:t>
            </a:r>
            <a:endParaRPr sz="2200" dirty="0">
              <a:latin typeface="Times New Roman"/>
              <a:cs typeface="Times New Roman"/>
            </a:endParaRPr>
          </a:p>
          <a:p>
            <a:pPr>
              <a:spcBef>
                <a:spcPts val="47"/>
              </a:spcBef>
            </a:pPr>
            <a:endParaRPr sz="2200" dirty="0">
              <a:latin typeface="Times New Roman"/>
              <a:cs typeface="Times New Roman"/>
            </a:endParaRPr>
          </a:p>
          <a:p>
            <a:pPr marL="474572" indent="-463712">
              <a:buFont typeface="Symbol"/>
              <a:buChar char=""/>
              <a:tabLst>
                <a:tab pos="474029" algn="l"/>
                <a:tab pos="474572" algn="l"/>
              </a:tabLst>
            </a:pPr>
            <a:r>
              <a:rPr sz="2200" spc="-4" dirty="0">
                <a:solidFill>
                  <a:srgbClr val="2F2F2F"/>
                </a:solidFill>
                <a:latin typeface="Times New Roman"/>
                <a:cs typeface="Times New Roman"/>
              </a:rPr>
              <a:t>Arrange all the nodes in increasing order </a:t>
            </a:r>
            <a:r>
              <a:rPr sz="2200" dirty="0">
                <a:solidFill>
                  <a:srgbClr val="2F2F2F"/>
                </a:solidFill>
                <a:latin typeface="Times New Roman"/>
                <a:cs typeface="Times New Roman"/>
              </a:rPr>
              <a:t>of </a:t>
            </a:r>
            <a:r>
              <a:rPr sz="2200" spc="-4" dirty="0">
                <a:solidFill>
                  <a:srgbClr val="2F2F2F"/>
                </a:solidFill>
                <a:latin typeface="Times New Roman"/>
                <a:cs typeface="Times New Roman"/>
              </a:rPr>
              <a:t>their frequency</a:t>
            </a:r>
            <a:r>
              <a:rPr sz="2200" spc="77" dirty="0">
                <a:solidFill>
                  <a:srgbClr val="2F2F2F"/>
                </a:solidFill>
                <a:latin typeface="Times New Roman"/>
                <a:cs typeface="Times New Roman"/>
              </a:rPr>
              <a:t> </a:t>
            </a:r>
            <a:r>
              <a:rPr sz="2200" spc="-4" dirty="0">
                <a:solidFill>
                  <a:srgbClr val="2F2F2F"/>
                </a:solidFill>
                <a:latin typeface="Times New Roman"/>
                <a:cs typeface="Times New Roman"/>
              </a:rPr>
              <a:t>value.</a:t>
            </a:r>
            <a:endParaRPr sz="2200" dirty="0">
              <a:latin typeface="Times New Roman"/>
              <a:cs typeface="Times New Roman"/>
            </a:endParaRPr>
          </a:p>
        </p:txBody>
      </p:sp>
      <p:sp>
        <p:nvSpPr>
          <p:cNvPr id="5" name="Title 1">
            <a:extLst>
              <a:ext uri="{FF2B5EF4-FFF2-40B4-BE49-F238E27FC236}">
                <a16:creationId xmlns:a16="http://schemas.microsoft.com/office/drawing/2014/main" id="{20658F7D-AA3A-4407-A6C3-12212552EF25}"/>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id="{33654FF3-B02D-4997-9BC0-C185074EA0DB}"/>
              </a:ext>
            </a:extLst>
          </p:cNvPr>
          <p:cNvSpPr>
            <a:spLocks noGrp="1"/>
          </p:cNvSpPr>
          <p:nvPr>
            <p:ph type="dt" sz="half" idx="4294967295"/>
          </p:nvPr>
        </p:nvSpPr>
        <p:spPr>
          <a:xfrm>
            <a:off x="739140" y="6442003"/>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38B2D32-A92F-4E37-A0CC-D31DBA27A12C}" type="datetime1">
              <a:rPr lang="en-US" smtClean="0"/>
              <a:t>8/26/2026</a:t>
            </a:fld>
            <a:endParaRPr lang="en-US" sz="1200" dirty="0"/>
          </a:p>
        </p:txBody>
      </p:sp>
      <p:sp>
        <p:nvSpPr>
          <p:cNvPr id="6" name="Footer Placeholder 5">
            <a:extLst>
              <a:ext uri="{FF2B5EF4-FFF2-40B4-BE49-F238E27FC236}">
                <a16:creationId xmlns:a16="http://schemas.microsoft.com/office/drawing/2014/main" id="{D0B44817-4BB3-4A86-8675-3335B31FD0D7}"/>
              </a:ext>
            </a:extLst>
          </p:cNvPr>
          <p:cNvSpPr>
            <a:spLocks noGrp="1"/>
          </p:cNvSpPr>
          <p:nvPr>
            <p:ph type="ftr" sz="quarter" idx="4294967295"/>
          </p:nvPr>
        </p:nvSpPr>
        <p:spPr>
          <a:xfrm>
            <a:off x="3276600" y="6410890"/>
            <a:ext cx="57150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7" name="Slide Number Placeholder 6">
            <a:extLst>
              <a:ext uri="{FF2B5EF4-FFF2-40B4-BE49-F238E27FC236}">
                <a16:creationId xmlns:a16="http://schemas.microsoft.com/office/drawing/2014/main" id="{56543D53-6A30-41A7-820F-544DA5482FD6}"/>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140</a:t>
            </a:fld>
            <a:endParaRPr lang="en-IN" sz="1200" dirty="0"/>
          </a:p>
        </p:txBody>
      </p:sp>
    </p:spTree>
  </p:cSld>
  <p:clrMapOvr>
    <a:masterClrMapping/>
  </p:clrMapOvr>
  <p:transition spd="slow">
    <p:cove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23376" y="1610527"/>
            <a:ext cx="7630679" cy="4226932"/>
          </a:xfrm>
          <a:prstGeom prst="rect">
            <a:avLst/>
          </a:prstGeom>
        </p:spPr>
        <p:txBody>
          <a:bodyPr vert="horz" wrap="square" lIns="0" tIns="96653" rIns="0" bIns="0" rtlCol="0">
            <a:spAutoFit/>
          </a:bodyPr>
          <a:lstStyle/>
          <a:p>
            <a:pPr marL="83077">
              <a:spcBef>
                <a:spcPts val="761"/>
              </a:spcBef>
            </a:pPr>
            <a:r>
              <a:rPr sz="2200" spc="-4" dirty="0">
                <a:solidFill>
                  <a:srgbClr val="2F2F2F"/>
                </a:solidFill>
                <a:latin typeface="Times New Roman" panose="02020603050405020304" pitchFamily="18" charset="0"/>
                <a:cs typeface="Times New Roman" panose="02020603050405020304" pitchFamily="18" charset="0"/>
              </a:rPr>
              <a:t>Considering </a:t>
            </a:r>
            <a:r>
              <a:rPr sz="2200" spc="-9" dirty="0">
                <a:solidFill>
                  <a:srgbClr val="2F2F2F"/>
                </a:solidFill>
                <a:latin typeface="Times New Roman" panose="02020603050405020304" pitchFamily="18" charset="0"/>
                <a:cs typeface="Times New Roman" panose="02020603050405020304" pitchFamily="18" charset="0"/>
              </a:rPr>
              <a:t>the </a:t>
            </a:r>
            <a:r>
              <a:rPr sz="2200" spc="-4" dirty="0">
                <a:solidFill>
                  <a:srgbClr val="2F2F2F"/>
                </a:solidFill>
                <a:latin typeface="Times New Roman" panose="02020603050405020304" pitchFamily="18" charset="0"/>
                <a:cs typeface="Times New Roman" panose="02020603050405020304" pitchFamily="18" charset="0"/>
              </a:rPr>
              <a:t>first two nodes </a:t>
            </a:r>
            <a:r>
              <a:rPr sz="2200" dirty="0">
                <a:solidFill>
                  <a:srgbClr val="2F2F2F"/>
                </a:solidFill>
                <a:latin typeface="Times New Roman" panose="02020603050405020304" pitchFamily="18" charset="0"/>
                <a:cs typeface="Times New Roman" panose="02020603050405020304" pitchFamily="18" charset="0"/>
              </a:rPr>
              <a:t>having </a:t>
            </a:r>
            <a:r>
              <a:rPr sz="2200" spc="-4" dirty="0">
                <a:solidFill>
                  <a:srgbClr val="2F2F2F"/>
                </a:solidFill>
                <a:latin typeface="Times New Roman" panose="02020603050405020304" pitchFamily="18" charset="0"/>
                <a:cs typeface="Times New Roman" panose="02020603050405020304" pitchFamily="18" charset="0"/>
              </a:rPr>
              <a:t>minimum</a:t>
            </a:r>
            <a:r>
              <a:rPr sz="2200" spc="6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frequency,</a:t>
            </a:r>
            <a:endParaRPr sz="2200" dirty="0">
              <a:latin typeface="Times New Roman" panose="02020603050405020304" pitchFamily="18" charset="0"/>
              <a:cs typeface="Times New Roman" panose="02020603050405020304" pitchFamily="18" charset="0"/>
            </a:endParaRPr>
          </a:p>
          <a:p>
            <a:pPr marL="474572" indent="-463712">
              <a:spcBef>
                <a:spcPts val="676"/>
              </a:spcBef>
              <a:buFont typeface="Symbol"/>
              <a:buChar char=""/>
              <a:tabLst>
                <a:tab pos="474029" algn="l"/>
                <a:tab pos="474572" algn="l"/>
                <a:tab pos="1841274" algn="l"/>
              </a:tabLst>
            </a:pPr>
            <a:r>
              <a:rPr sz="2200" spc="-4" dirty="0">
                <a:solidFill>
                  <a:srgbClr val="2F2F2F"/>
                </a:solidFill>
                <a:latin typeface="Times New Roman" panose="02020603050405020304" pitchFamily="18" charset="0"/>
                <a:cs typeface="Times New Roman" panose="02020603050405020304" pitchFamily="18" charset="0"/>
              </a:rPr>
              <a:t>Create</a:t>
            </a:r>
            <a:r>
              <a:rPr sz="2200" spc="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a</a:t>
            </a:r>
            <a:r>
              <a:rPr sz="2200" spc="4"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ne</a:t>
            </a:r>
            <a:r>
              <a:rPr lang="en-US" sz="2200" dirty="0">
                <a:solidFill>
                  <a:srgbClr val="2F2F2F"/>
                </a:solidFill>
                <a:latin typeface="Times New Roman" panose="02020603050405020304" pitchFamily="18" charset="0"/>
                <a:cs typeface="Times New Roman" panose="02020603050405020304" pitchFamily="18" charset="0"/>
              </a:rPr>
              <a:t>w int</a:t>
            </a:r>
            <a:r>
              <a:rPr sz="2200" spc="-4" dirty="0">
                <a:solidFill>
                  <a:srgbClr val="2F2F2F"/>
                </a:solidFill>
                <a:latin typeface="Times New Roman" panose="02020603050405020304" pitchFamily="18" charset="0"/>
                <a:cs typeface="Times New Roman" panose="02020603050405020304" pitchFamily="18" charset="0"/>
              </a:rPr>
              <a:t>ernal</a:t>
            </a:r>
            <a:r>
              <a:rPr sz="2200" dirty="0">
                <a:solidFill>
                  <a:srgbClr val="2F2F2F"/>
                </a:solidFill>
                <a:latin typeface="Times New Roman" panose="02020603050405020304" pitchFamily="18" charset="0"/>
                <a:cs typeface="Times New Roman" panose="02020603050405020304" pitchFamily="18" charset="0"/>
              </a:rPr>
              <a:t> node.</a:t>
            </a: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The frequency </a:t>
            </a:r>
            <a:r>
              <a:rPr sz="2200" dirty="0">
                <a:solidFill>
                  <a:srgbClr val="2F2F2F"/>
                </a:solidFill>
                <a:latin typeface="Times New Roman" panose="02020603050405020304" pitchFamily="18" charset="0"/>
                <a:cs typeface="Times New Roman" panose="02020603050405020304" pitchFamily="18" charset="0"/>
              </a:rPr>
              <a:t>of </a:t>
            </a:r>
            <a:r>
              <a:rPr sz="2200" spc="-4" dirty="0">
                <a:solidFill>
                  <a:srgbClr val="2F2F2F"/>
                </a:solidFill>
                <a:latin typeface="Times New Roman" panose="02020603050405020304" pitchFamily="18" charset="0"/>
                <a:cs typeface="Times New Roman" panose="02020603050405020304" pitchFamily="18" charset="0"/>
              </a:rPr>
              <a:t>this </a:t>
            </a:r>
            <a:r>
              <a:rPr sz="2200" dirty="0">
                <a:solidFill>
                  <a:srgbClr val="2F2F2F"/>
                </a:solidFill>
                <a:latin typeface="Times New Roman" panose="02020603050405020304" pitchFamily="18" charset="0"/>
                <a:cs typeface="Times New Roman" panose="02020603050405020304" pitchFamily="18" charset="0"/>
              </a:rPr>
              <a:t>node </a:t>
            </a:r>
            <a:r>
              <a:rPr sz="2200" spc="-9" dirty="0">
                <a:solidFill>
                  <a:srgbClr val="2F2F2F"/>
                </a:solidFill>
                <a:latin typeface="Times New Roman" panose="02020603050405020304" pitchFamily="18" charset="0"/>
                <a:cs typeface="Times New Roman" panose="02020603050405020304" pitchFamily="18" charset="0"/>
              </a:rPr>
              <a:t>is </a:t>
            </a:r>
            <a:r>
              <a:rPr sz="2200" spc="-4" dirty="0">
                <a:solidFill>
                  <a:srgbClr val="2F2F2F"/>
                </a:solidFill>
                <a:latin typeface="Times New Roman" panose="02020603050405020304" pitchFamily="18" charset="0"/>
                <a:cs typeface="Times New Roman" panose="02020603050405020304" pitchFamily="18" charset="0"/>
              </a:rPr>
              <a:t>the </a:t>
            </a:r>
            <a:r>
              <a:rPr sz="2200" dirty="0">
                <a:solidFill>
                  <a:srgbClr val="2F2F2F"/>
                </a:solidFill>
                <a:latin typeface="Times New Roman" panose="02020603050405020304" pitchFamily="18" charset="0"/>
                <a:cs typeface="Times New Roman" panose="02020603050405020304" pitchFamily="18" charset="0"/>
              </a:rPr>
              <a:t>sum of </a:t>
            </a:r>
            <a:r>
              <a:rPr sz="2200" spc="-4" dirty="0">
                <a:solidFill>
                  <a:srgbClr val="2F2F2F"/>
                </a:solidFill>
                <a:latin typeface="Times New Roman" panose="02020603050405020304" pitchFamily="18" charset="0"/>
                <a:cs typeface="Times New Roman" panose="02020603050405020304" pitchFamily="18" charset="0"/>
              </a:rPr>
              <a:t>the frequency </a:t>
            </a:r>
            <a:r>
              <a:rPr sz="2200" dirty="0">
                <a:solidFill>
                  <a:srgbClr val="2F2F2F"/>
                </a:solidFill>
                <a:latin typeface="Times New Roman" panose="02020603050405020304" pitchFamily="18" charset="0"/>
                <a:cs typeface="Times New Roman" panose="02020603050405020304" pitchFamily="18" charset="0"/>
              </a:rPr>
              <a:t>of </a:t>
            </a:r>
            <a:r>
              <a:rPr sz="2200" spc="-4" dirty="0">
                <a:solidFill>
                  <a:srgbClr val="2F2F2F"/>
                </a:solidFill>
                <a:latin typeface="Times New Roman" panose="02020603050405020304" pitchFamily="18" charset="0"/>
                <a:cs typeface="Times New Roman" panose="02020603050405020304" pitchFamily="18" charset="0"/>
              </a:rPr>
              <a:t>those two</a:t>
            </a:r>
            <a:r>
              <a:rPr sz="2200" spc="64"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nodes.</a:t>
            </a:r>
            <a:endParaRPr sz="2200" dirty="0">
              <a:latin typeface="Times New Roman" panose="02020603050405020304" pitchFamily="18" charset="0"/>
              <a:cs typeface="Times New Roman" panose="02020603050405020304" pitchFamily="18" charset="0"/>
            </a:endParaRPr>
          </a:p>
          <a:p>
            <a:pPr marL="206336" marR="31493" indent="-195476">
              <a:lnSpc>
                <a:spcPts val="2163"/>
              </a:lnSpc>
              <a:spcBef>
                <a:spcPts val="312"/>
              </a:spcBef>
              <a:buClr>
                <a:srgbClr val="2F2F2F"/>
              </a:buClr>
              <a:buFont typeface="Symbol"/>
              <a:buChar char=""/>
              <a:tabLst>
                <a:tab pos="474029" algn="l"/>
                <a:tab pos="474572" algn="l"/>
              </a:tabLst>
            </a:pPr>
            <a:r>
              <a:rPr sz="2200" dirty="0">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Make the first </a:t>
            </a:r>
            <a:r>
              <a:rPr sz="2200" dirty="0">
                <a:solidFill>
                  <a:srgbClr val="2F2F2F"/>
                </a:solidFill>
                <a:latin typeface="Times New Roman" panose="02020603050405020304" pitchFamily="18" charset="0"/>
                <a:cs typeface="Times New Roman" panose="02020603050405020304" pitchFamily="18" charset="0"/>
              </a:rPr>
              <a:t>node </a:t>
            </a:r>
            <a:r>
              <a:rPr sz="2200" spc="-4" dirty="0">
                <a:solidFill>
                  <a:srgbClr val="2F2F2F"/>
                </a:solidFill>
                <a:latin typeface="Times New Roman" panose="02020603050405020304" pitchFamily="18" charset="0"/>
                <a:cs typeface="Times New Roman" panose="02020603050405020304" pitchFamily="18" charset="0"/>
              </a:rPr>
              <a:t>as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left </a:t>
            </a:r>
            <a:r>
              <a:rPr sz="2200" dirty="0">
                <a:solidFill>
                  <a:srgbClr val="2F2F2F"/>
                </a:solidFill>
                <a:latin typeface="Times New Roman" panose="02020603050405020304" pitchFamily="18" charset="0"/>
                <a:cs typeface="Times New Roman" panose="02020603050405020304" pitchFamily="18" charset="0"/>
              </a:rPr>
              <a:t>child </a:t>
            </a:r>
            <a:r>
              <a:rPr sz="2200" spc="-4" dirty="0">
                <a:solidFill>
                  <a:srgbClr val="2F2F2F"/>
                </a:solidFill>
                <a:latin typeface="Times New Roman" panose="02020603050405020304" pitchFamily="18" charset="0"/>
                <a:cs typeface="Times New Roman" panose="02020603050405020304" pitchFamily="18" charset="0"/>
              </a:rPr>
              <a:t>and the </a:t>
            </a:r>
            <a:r>
              <a:rPr sz="2200" dirty="0">
                <a:solidFill>
                  <a:srgbClr val="2F2F2F"/>
                </a:solidFill>
                <a:latin typeface="Times New Roman" panose="02020603050405020304" pitchFamily="18" charset="0"/>
                <a:cs typeface="Times New Roman" panose="02020603050405020304" pitchFamily="18" charset="0"/>
              </a:rPr>
              <a:t>other node </a:t>
            </a:r>
            <a:r>
              <a:rPr sz="2200" spc="-4" dirty="0">
                <a:solidFill>
                  <a:srgbClr val="2F2F2F"/>
                </a:solidFill>
                <a:latin typeface="Times New Roman" panose="02020603050405020304" pitchFamily="18" charset="0"/>
                <a:cs typeface="Times New Roman" panose="02020603050405020304" pitchFamily="18" charset="0"/>
              </a:rPr>
              <a:t>as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right </a:t>
            </a:r>
            <a:r>
              <a:rPr sz="2200" dirty="0">
                <a:solidFill>
                  <a:srgbClr val="2F2F2F"/>
                </a:solidFill>
                <a:latin typeface="Times New Roman" panose="02020603050405020304" pitchFamily="18" charset="0"/>
                <a:cs typeface="Times New Roman" panose="02020603050405020304" pitchFamily="18" charset="0"/>
              </a:rPr>
              <a:t>child of </a:t>
            </a:r>
            <a:r>
              <a:rPr sz="2200" spc="-4" dirty="0">
                <a:solidFill>
                  <a:srgbClr val="2F2F2F"/>
                </a:solidFill>
                <a:latin typeface="Times New Roman" panose="02020603050405020304" pitchFamily="18" charset="0"/>
                <a:cs typeface="Times New Roman" panose="02020603050405020304" pitchFamily="18" charset="0"/>
              </a:rPr>
              <a:t>the  newly created</a:t>
            </a:r>
            <a:r>
              <a:rPr sz="2200" spc="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node.</a:t>
            </a:r>
            <a:endParaRPr sz="2200" dirty="0">
              <a:latin typeface="Times New Roman" panose="02020603050405020304" pitchFamily="18" charset="0"/>
              <a:cs typeface="Times New Roman" panose="02020603050405020304" pitchFamily="18" charset="0"/>
            </a:endParaRPr>
          </a:p>
          <a:p>
            <a:pPr>
              <a:spcBef>
                <a:spcPts val="9"/>
              </a:spcBef>
              <a:buClr>
                <a:srgbClr val="2F2F2F"/>
              </a:buClr>
              <a:buFont typeface="Symbol"/>
              <a:buChar char=""/>
            </a:pPr>
            <a:endParaRPr sz="2200" dirty="0">
              <a:latin typeface="Times New Roman" panose="02020603050405020304" pitchFamily="18" charset="0"/>
              <a:cs typeface="Times New Roman" panose="02020603050405020304" pitchFamily="18" charset="0"/>
            </a:endParaRPr>
          </a:p>
          <a:p>
            <a:pPr marL="83077"/>
            <a:r>
              <a:rPr sz="2200" b="1" u="heavy" spc="-4" dirty="0">
                <a:solidFill>
                  <a:srgbClr val="2F2F2F"/>
                </a:solidFill>
                <a:uFill>
                  <a:solidFill>
                    <a:srgbClr val="2F2F2F"/>
                  </a:solidFill>
                </a:uFill>
                <a:latin typeface="Times New Roman" panose="02020603050405020304" pitchFamily="18" charset="0"/>
                <a:cs typeface="Times New Roman" panose="02020603050405020304" pitchFamily="18" charset="0"/>
              </a:rPr>
              <a:t>Step-04:</a:t>
            </a:r>
            <a:endParaRPr sz="2200" dirty="0">
              <a:latin typeface="Times New Roman" panose="02020603050405020304" pitchFamily="18" charset="0"/>
              <a:cs typeface="Times New Roman" panose="02020603050405020304" pitchFamily="18" charset="0"/>
            </a:endParaRPr>
          </a:p>
          <a:p>
            <a:pPr>
              <a:spcBef>
                <a:spcPts val="47"/>
              </a:spcBef>
            </a:pPr>
            <a:endParaRPr sz="2200" dirty="0">
              <a:latin typeface="Times New Roman" panose="02020603050405020304" pitchFamily="18" charset="0"/>
              <a:cs typeface="Times New Roman" panose="02020603050405020304" pitchFamily="18" charset="0"/>
            </a:endParaRPr>
          </a:p>
          <a:p>
            <a:pPr marL="474572" indent="-463712">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Keep repeating Step-02 </a:t>
            </a:r>
            <a:r>
              <a:rPr sz="2200" dirty="0">
                <a:solidFill>
                  <a:srgbClr val="2F2F2F"/>
                </a:solidFill>
                <a:latin typeface="Times New Roman" panose="02020603050405020304" pitchFamily="18" charset="0"/>
                <a:cs typeface="Times New Roman" panose="02020603050405020304" pitchFamily="18" charset="0"/>
              </a:rPr>
              <a:t>and </a:t>
            </a:r>
            <a:r>
              <a:rPr sz="2200" spc="-4" dirty="0">
                <a:solidFill>
                  <a:srgbClr val="2F2F2F"/>
                </a:solidFill>
                <a:latin typeface="Times New Roman" panose="02020603050405020304" pitchFamily="18" charset="0"/>
                <a:cs typeface="Times New Roman" panose="02020603050405020304" pitchFamily="18" charset="0"/>
              </a:rPr>
              <a:t>Step-03 </a:t>
            </a:r>
            <a:r>
              <a:rPr sz="2200" dirty="0">
                <a:solidFill>
                  <a:srgbClr val="2F2F2F"/>
                </a:solidFill>
                <a:latin typeface="Times New Roman" panose="02020603050405020304" pitchFamily="18" charset="0"/>
                <a:cs typeface="Times New Roman" panose="02020603050405020304" pitchFamily="18" charset="0"/>
              </a:rPr>
              <a:t>until </a:t>
            </a:r>
            <a:r>
              <a:rPr sz="2200" spc="-4" dirty="0">
                <a:solidFill>
                  <a:srgbClr val="2F2F2F"/>
                </a:solidFill>
                <a:latin typeface="Times New Roman" panose="02020603050405020304" pitchFamily="18" charset="0"/>
                <a:cs typeface="Times New Roman" panose="02020603050405020304" pitchFamily="18" charset="0"/>
              </a:rPr>
              <a:t>all the nodes form </a:t>
            </a:r>
            <a:r>
              <a:rPr sz="2200" dirty="0">
                <a:solidFill>
                  <a:srgbClr val="2F2F2F"/>
                </a:solidFill>
                <a:latin typeface="Times New Roman" panose="02020603050405020304" pitchFamily="18" charset="0"/>
                <a:cs typeface="Times New Roman" panose="02020603050405020304" pitchFamily="18" charset="0"/>
              </a:rPr>
              <a:t>a </a:t>
            </a:r>
            <a:r>
              <a:rPr sz="2200" spc="-4" dirty="0">
                <a:solidFill>
                  <a:srgbClr val="2F2F2F"/>
                </a:solidFill>
                <a:latin typeface="Times New Roman" panose="02020603050405020304" pitchFamily="18" charset="0"/>
                <a:cs typeface="Times New Roman" panose="02020603050405020304" pitchFamily="18" charset="0"/>
              </a:rPr>
              <a:t>single</a:t>
            </a:r>
            <a:r>
              <a:rPr sz="2200" spc="73"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tree.</a:t>
            </a:r>
            <a:endParaRPr sz="2200" dirty="0">
              <a:latin typeface="Times New Roman" panose="02020603050405020304" pitchFamily="18" charset="0"/>
              <a:cs typeface="Times New Roman" panose="02020603050405020304" pitchFamily="18" charset="0"/>
            </a:endParaRPr>
          </a:p>
          <a:p>
            <a:pPr marL="474572" indent="-463712">
              <a:spcBef>
                <a:spcPts val="162"/>
              </a:spcBef>
              <a:buFont typeface="Symbol"/>
              <a:buChar char=""/>
              <a:tabLst>
                <a:tab pos="474029" algn="l"/>
                <a:tab pos="474572" algn="l"/>
              </a:tabLst>
            </a:pPr>
            <a:r>
              <a:rPr sz="2200" spc="-4" dirty="0">
                <a:solidFill>
                  <a:srgbClr val="2F2F2F"/>
                </a:solidFill>
                <a:latin typeface="Times New Roman" panose="02020603050405020304" pitchFamily="18" charset="0"/>
                <a:cs typeface="Times New Roman" panose="02020603050405020304" pitchFamily="18" charset="0"/>
              </a:rPr>
              <a:t>The tree finally obtained will </a:t>
            </a:r>
            <a:r>
              <a:rPr sz="2200" dirty="0">
                <a:solidFill>
                  <a:srgbClr val="2F2F2F"/>
                </a:solidFill>
                <a:latin typeface="Times New Roman" panose="02020603050405020304" pitchFamily="18" charset="0"/>
                <a:cs typeface="Times New Roman" panose="02020603050405020304" pitchFamily="18" charset="0"/>
              </a:rPr>
              <a:t>be </a:t>
            </a:r>
            <a:r>
              <a:rPr sz="2200" spc="-9" dirty="0">
                <a:solidFill>
                  <a:srgbClr val="2F2F2F"/>
                </a:solidFill>
                <a:latin typeface="Times New Roman" panose="02020603050405020304" pitchFamily="18" charset="0"/>
                <a:cs typeface="Times New Roman" panose="02020603050405020304" pitchFamily="18" charset="0"/>
              </a:rPr>
              <a:t>the </a:t>
            </a:r>
            <a:r>
              <a:rPr sz="2200" spc="-4" dirty="0">
                <a:solidFill>
                  <a:srgbClr val="2F2F2F"/>
                </a:solidFill>
                <a:latin typeface="Times New Roman" panose="02020603050405020304" pitchFamily="18" charset="0"/>
                <a:cs typeface="Times New Roman" panose="02020603050405020304" pitchFamily="18" charset="0"/>
              </a:rPr>
              <a:t>desired Huffman</a:t>
            </a:r>
            <a:r>
              <a:rPr sz="2200" spc="64"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Tree.</a:t>
            </a:r>
            <a:endParaRPr sz="22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5A8E33F3-8AD0-41C9-84AB-1ACDF5B9CD9E}"/>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id="{DC7850DD-0B0E-4941-8966-2496A8E0CC4F}"/>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4E366A-D775-4477-B914-556FE72AC295}" type="datetime1">
              <a:rPr lang="en-US" smtClean="0"/>
              <a:t>8/26/2026</a:t>
            </a:fld>
            <a:endParaRPr lang="en-US" sz="1200" dirty="0"/>
          </a:p>
        </p:txBody>
      </p:sp>
      <p:sp>
        <p:nvSpPr>
          <p:cNvPr id="6" name="Footer Placeholder 5">
            <a:extLst>
              <a:ext uri="{FF2B5EF4-FFF2-40B4-BE49-F238E27FC236}">
                <a16:creationId xmlns:a16="http://schemas.microsoft.com/office/drawing/2014/main" id="{26C364A9-C9DD-4FC3-BE34-8F07F9F04BDF}"/>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7" name="Slide Number Placeholder 6">
            <a:extLst>
              <a:ext uri="{FF2B5EF4-FFF2-40B4-BE49-F238E27FC236}">
                <a16:creationId xmlns:a16="http://schemas.microsoft.com/office/drawing/2014/main" id="{551E50D0-2031-4F8F-9FE3-A09371D47F48}"/>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141</a:t>
            </a:fld>
            <a:endParaRPr lang="en-IN" sz="1200" dirty="0"/>
          </a:p>
        </p:txBody>
      </p:sp>
    </p:spTree>
  </p:cSld>
  <p:clrMapOvr>
    <a:masterClrMapping/>
  </p:clrMapOvr>
  <p:transition spd="slow">
    <p:cove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5" y="1226088"/>
            <a:ext cx="5019065" cy="441853"/>
          </a:xfrm>
          <a:prstGeom prst="rect">
            <a:avLst/>
          </a:prstGeom>
        </p:spPr>
        <p:txBody>
          <a:bodyPr vert="horz" wrap="square" lIns="0" tIns="10860" rIns="0" bIns="0" rtlCol="0" anchor="ctr">
            <a:spAutoFit/>
          </a:bodyPr>
          <a:lstStyle/>
          <a:p>
            <a:pPr marL="10860">
              <a:spcBef>
                <a:spcPts val="86"/>
              </a:spcBef>
            </a:pPr>
            <a:r>
              <a:rPr sz="2800" b="1" spc="-4" dirty="0"/>
              <a:t>Important</a:t>
            </a:r>
            <a:r>
              <a:rPr sz="2800" b="1" spc="-38" dirty="0"/>
              <a:t> </a:t>
            </a:r>
            <a:r>
              <a:rPr sz="2800" b="1" spc="-4" dirty="0"/>
              <a:t>Formulas-</a:t>
            </a:r>
          </a:p>
        </p:txBody>
      </p:sp>
      <p:sp>
        <p:nvSpPr>
          <p:cNvPr id="3" name="object 3"/>
          <p:cNvSpPr txBox="1"/>
          <p:nvPr/>
        </p:nvSpPr>
        <p:spPr>
          <a:xfrm>
            <a:off x="2296136" y="1905915"/>
            <a:ext cx="2885465" cy="349520"/>
          </a:xfrm>
          <a:prstGeom prst="rect">
            <a:avLst/>
          </a:prstGeom>
        </p:spPr>
        <p:txBody>
          <a:bodyPr vert="horz" wrap="square" lIns="0" tIns="10860" rIns="0" bIns="0" rtlCol="0">
            <a:spAutoFit/>
          </a:bodyPr>
          <a:lstStyle/>
          <a:p>
            <a:pPr marL="10860">
              <a:spcBef>
                <a:spcPts val="86"/>
              </a:spcBef>
            </a:pPr>
            <a:r>
              <a:rPr sz="2200" b="1" u="heavy" spc="-4" dirty="0">
                <a:solidFill>
                  <a:srgbClr val="2F2F2F"/>
                </a:solidFill>
                <a:uFill>
                  <a:solidFill>
                    <a:srgbClr val="2F2F2F"/>
                  </a:solidFill>
                </a:uFill>
                <a:latin typeface="Times New Roman"/>
                <a:cs typeface="Times New Roman"/>
              </a:rPr>
              <a:t>Formula-01:</a:t>
            </a:r>
            <a:endParaRPr sz="2200" dirty="0">
              <a:latin typeface="Times New Roman"/>
              <a:cs typeface="Times New Roman"/>
            </a:endParaRPr>
          </a:p>
        </p:txBody>
      </p:sp>
      <p:sp>
        <p:nvSpPr>
          <p:cNvPr id="4" name="object 4"/>
          <p:cNvSpPr/>
          <p:nvPr/>
        </p:nvSpPr>
        <p:spPr>
          <a:xfrm>
            <a:off x="2305910" y="2611264"/>
            <a:ext cx="7219090" cy="2646537"/>
          </a:xfrm>
          <a:prstGeom prst="rect">
            <a:avLst/>
          </a:prstGeom>
          <a:blipFill>
            <a:blip r:embed="rId2" cstate="print"/>
            <a:stretch>
              <a:fillRect/>
            </a:stretch>
          </a:blipFill>
        </p:spPr>
        <p:txBody>
          <a:bodyPr wrap="square" lIns="0" tIns="0" rIns="0" bIns="0" rtlCol="0"/>
          <a:lstStyle/>
          <a:p>
            <a:endParaRPr sz="1539"/>
          </a:p>
        </p:txBody>
      </p:sp>
      <p:sp>
        <p:nvSpPr>
          <p:cNvPr id="6" name="Title 1">
            <a:extLst>
              <a:ext uri="{FF2B5EF4-FFF2-40B4-BE49-F238E27FC236}">
                <a16:creationId xmlns:a16="http://schemas.microsoft.com/office/drawing/2014/main" id="{84B4F5C2-3108-4C5B-865C-54D45109D337}"/>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7" name="Date Placeholder 6">
            <a:extLst>
              <a:ext uri="{FF2B5EF4-FFF2-40B4-BE49-F238E27FC236}">
                <a16:creationId xmlns:a16="http://schemas.microsoft.com/office/drawing/2014/main" id="{D6B24650-4B12-413B-AC8E-8925AC1E9B02}"/>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A27CA3B-503F-4B3C-8DB0-E7723EA81FC0}" type="datetime1">
              <a:rPr lang="en-US" smtClean="0"/>
              <a:t>8/26/2026</a:t>
            </a:fld>
            <a:endParaRPr lang="en-US" sz="1200" dirty="0"/>
          </a:p>
        </p:txBody>
      </p:sp>
      <p:sp>
        <p:nvSpPr>
          <p:cNvPr id="8" name="Footer Placeholder 7">
            <a:extLst>
              <a:ext uri="{FF2B5EF4-FFF2-40B4-BE49-F238E27FC236}">
                <a16:creationId xmlns:a16="http://schemas.microsoft.com/office/drawing/2014/main" id="{6BBD3109-8A5C-49A2-8E26-3F383E18F637}"/>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9" name="Slide Number Placeholder 8">
            <a:extLst>
              <a:ext uri="{FF2B5EF4-FFF2-40B4-BE49-F238E27FC236}">
                <a16:creationId xmlns:a16="http://schemas.microsoft.com/office/drawing/2014/main" id="{56C44050-986C-4790-8B60-5A7762F0663A}"/>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142</a:t>
            </a:fld>
            <a:endParaRPr lang="en-IN" sz="1200" dirty="0"/>
          </a:p>
        </p:txBody>
      </p:sp>
    </p:spTree>
  </p:cSld>
  <p:clrMapOvr>
    <a:masterClrMapping/>
  </p:clrMapOvr>
  <p:transition spd="slow">
    <p:cove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47800" y="1066800"/>
            <a:ext cx="7517555" cy="2201309"/>
          </a:xfrm>
          <a:prstGeom prst="rect">
            <a:avLst/>
          </a:prstGeom>
        </p:spPr>
        <p:txBody>
          <a:bodyPr vert="horz" wrap="square" lIns="0" tIns="10860" rIns="0" bIns="0" rtlCol="0">
            <a:spAutoFit/>
          </a:bodyPr>
          <a:lstStyle/>
          <a:p>
            <a:pPr marL="43439">
              <a:spcBef>
                <a:spcPts val="86"/>
              </a:spcBef>
            </a:pPr>
            <a:r>
              <a:rPr sz="2800" b="1" spc="-4" dirty="0">
                <a:solidFill>
                  <a:srgbClr val="2F2F2F"/>
                </a:solidFill>
                <a:uFill>
                  <a:solidFill>
                    <a:srgbClr val="2F2F2F"/>
                  </a:solidFill>
                </a:uFill>
                <a:latin typeface="Times New Roman"/>
                <a:cs typeface="Times New Roman"/>
              </a:rPr>
              <a:t>Formula-02:</a:t>
            </a:r>
            <a:endParaRPr sz="2800" dirty="0">
              <a:latin typeface="Times New Roman"/>
              <a:cs typeface="Times New Roman"/>
            </a:endParaRPr>
          </a:p>
          <a:p>
            <a:pPr>
              <a:spcBef>
                <a:spcPts val="47"/>
              </a:spcBef>
            </a:pPr>
            <a:endParaRPr sz="2200" dirty="0">
              <a:latin typeface="Times New Roman"/>
              <a:cs typeface="Times New Roman"/>
            </a:endParaRPr>
          </a:p>
          <a:p>
            <a:pPr marL="43439"/>
            <a:r>
              <a:rPr sz="2200" spc="-4" dirty="0">
                <a:solidFill>
                  <a:srgbClr val="2F2F2F"/>
                </a:solidFill>
                <a:latin typeface="Times New Roman"/>
                <a:cs typeface="Times New Roman"/>
              </a:rPr>
              <a:t>Total number </a:t>
            </a:r>
            <a:r>
              <a:rPr sz="2200" dirty="0">
                <a:solidFill>
                  <a:srgbClr val="2F2F2F"/>
                </a:solidFill>
                <a:latin typeface="Times New Roman"/>
                <a:cs typeface="Times New Roman"/>
              </a:rPr>
              <a:t>of bits </a:t>
            </a:r>
            <a:r>
              <a:rPr sz="2200" spc="-4" dirty="0">
                <a:solidFill>
                  <a:srgbClr val="2F2F2F"/>
                </a:solidFill>
                <a:latin typeface="Times New Roman"/>
                <a:cs typeface="Times New Roman"/>
              </a:rPr>
              <a:t>in Huffman encoded</a:t>
            </a:r>
            <a:r>
              <a:rPr sz="2200" spc="26" dirty="0">
                <a:solidFill>
                  <a:srgbClr val="2F2F2F"/>
                </a:solidFill>
                <a:latin typeface="Times New Roman"/>
                <a:cs typeface="Times New Roman"/>
              </a:rPr>
              <a:t> </a:t>
            </a:r>
            <a:r>
              <a:rPr sz="2200" spc="-4" dirty="0">
                <a:solidFill>
                  <a:srgbClr val="2F2F2F"/>
                </a:solidFill>
                <a:latin typeface="Times New Roman"/>
                <a:cs typeface="Times New Roman"/>
              </a:rPr>
              <a:t>message</a:t>
            </a:r>
            <a:endParaRPr sz="2200" dirty="0">
              <a:latin typeface="Times New Roman"/>
              <a:cs typeface="Times New Roman"/>
            </a:endParaRPr>
          </a:p>
          <a:p>
            <a:pPr marL="43439" marR="36923">
              <a:lnSpc>
                <a:spcPts val="2163"/>
              </a:lnSpc>
              <a:spcBef>
                <a:spcPts val="825"/>
              </a:spcBef>
            </a:pPr>
            <a:r>
              <a:rPr sz="2200" dirty="0">
                <a:solidFill>
                  <a:srgbClr val="2F2F2F"/>
                </a:solidFill>
                <a:latin typeface="Times New Roman"/>
                <a:cs typeface="Times New Roman"/>
              </a:rPr>
              <a:t>= </a:t>
            </a:r>
            <a:r>
              <a:rPr sz="2200" spc="-4" dirty="0">
                <a:solidFill>
                  <a:srgbClr val="2F2F2F"/>
                </a:solidFill>
                <a:latin typeface="Times New Roman"/>
                <a:cs typeface="Times New Roman"/>
              </a:rPr>
              <a:t>Total number </a:t>
            </a:r>
            <a:r>
              <a:rPr sz="2200" dirty="0">
                <a:solidFill>
                  <a:srgbClr val="2F2F2F"/>
                </a:solidFill>
                <a:latin typeface="Times New Roman"/>
                <a:cs typeface="Times New Roman"/>
              </a:rPr>
              <a:t>of </a:t>
            </a:r>
            <a:r>
              <a:rPr sz="2200" spc="-4" dirty="0">
                <a:solidFill>
                  <a:srgbClr val="2F2F2F"/>
                </a:solidFill>
                <a:latin typeface="Times New Roman"/>
                <a:cs typeface="Times New Roman"/>
              </a:rPr>
              <a:t>characters in the message </a:t>
            </a:r>
            <a:r>
              <a:rPr sz="2200" dirty="0">
                <a:solidFill>
                  <a:srgbClr val="2F2F2F"/>
                </a:solidFill>
                <a:latin typeface="Times New Roman"/>
                <a:cs typeface="Times New Roman"/>
              </a:rPr>
              <a:t>x </a:t>
            </a:r>
            <a:r>
              <a:rPr sz="2200" spc="-4" dirty="0">
                <a:solidFill>
                  <a:srgbClr val="2F2F2F"/>
                </a:solidFill>
                <a:latin typeface="Times New Roman"/>
                <a:cs typeface="Times New Roman"/>
              </a:rPr>
              <a:t>Average code length per  character</a:t>
            </a:r>
            <a:endParaRPr sz="2200" dirty="0">
              <a:latin typeface="Times New Roman"/>
              <a:cs typeface="Times New Roman"/>
            </a:endParaRPr>
          </a:p>
          <a:p>
            <a:pPr marL="43439">
              <a:spcBef>
                <a:spcPts val="620"/>
              </a:spcBef>
            </a:pPr>
            <a:r>
              <a:rPr sz="2200" dirty="0">
                <a:solidFill>
                  <a:srgbClr val="2F2F2F"/>
                </a:solidFill>
                <a:latin typeface="Times New Roman"/>
                <a:cs typeface="Times New Roman"/>
              </a:rPr>
              <a:t>= ∑ ( frequency</a:t>
            </a:r>
            <a:r>
              <a:rPr sz="2200" baseline="-8888" dirty="0">
                <a:solidFill>
                  <a:srgbClr val="2F2F2F"/>
                </a:solidFill>
                <a:latin typeface="Times New Roman"/>
                <a:cs typeface="Times New Roman"/>
              </a:rPr>
              <a:t>i </a:t>
            </a:r>
            <a:r>
              <a:rPr sz="2200" dirty="0">
                <a:solidFill>
                  <a:srgbClr val="2F2F2F"/>
                </a:solidFill>
                <a:latin typeface="Times New Roman"/>
                <a:cs typeface="Times New Roman"/>
              </a:rPr>
              <a:t>x Code length</a:t>
            </a:r>
            <a:r>
              <a:rPr sz="2200" baseline="-8888" dirty="0">
                <a:solidFill>
                  <a:srgbClr val="2F2F2F"/>
                </a:solidFill>
                <a:latin typeface="Times New Roman"/>
                <a:cs typeface="Times New Roman"/>
              </a:rPr>
              <a:t>i</a:t>
            </a:r>
            <a:r>
              <a:rPr sz="2200" spc="-128" baseline="-8888" dirty="0">
                <a:solidFill>
                  <a:srgbClr val="2F2F2F"/>
                </a:solidFill>
                <a:latin typeface="Times New Roman"/>
                <a:cs typeface="Times New Roman"/>
              </a:rPr>
              <a:t> </a:t>
            </a:r>
            <a:r>
              <a:rPr sz="2200" dirty="0">
                <a:solidFill>
                  <a:srgbClr val="2F2F2F"/>
                </a:solidFill>
                <a:latin typeface="Times New Roman"/>
                <a:cs typeface="Times New Roman"/>
              </a:rPr>
              <a:t>)</a:t>
            </a:r>
            <a:endParaRPr sz="2200" dirty="0">
              <a:latin typeface="Times New Roman"/>
              <a:cs typeface="Times New Roman"/>
            </a:endParaRPr>
          </a:p>
        </p:txBody>
      </p:sp>
      <p:sp>
        <p:nvSpPr>
          <p:cNvPr id="4" name="Title 1">
            <a:extLst>
              <a:ext uri="{FF2B5EF4-FFF2-40B4-BE49-F238E27FC236}">
                <a16:creationId xmlns:a16="http://schemas.microsoft.com/office/drawing/2014/main" id="{D8433000-90FB-413B-BB80-93229068BAD7}"/>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id="{79FFF881-A5B7-4E78-8B37-30255D79EA35}"/>
              </a:ext>
            </a:extLst>
          </p:cNvPr>
          <p:cNvSpPr>
            <a:spLocks noGrp="1"/>
          </p:cNvSpPr>
          <p:nvPr>
            <p:ph type="dt" sz="half" idx="4294967295"/>
          </p:nvPr>
        </p:nvSpPr>
        <p:spPr>
          <a:xfrm>
            <a:off x="533400" y="6410890"/>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143DC2-302B-4B4C-8347-348D3B318146}" type="datetime1">
              <a:rPr lang="en-US" smtClean="0"/>
              <a:t>8/26/2026</a:t>
            </a:fld>
            <a:endParaRPr lang="en-US" sz="1200" dirty="0"/>
          </a:p>
        </p:txBody>
      </p:sp>
      <p:sp>
        <p:nvSpPr>
          <p:cNvPr id="6" name="Footer Placeholder 5">
            <a:extLst>
              <a:ext uri="{FF2B5EF4-FFF2-40B4-BE49-F238E27FC236}">
                <a16:creationId xmlns:a16="http://schemas.microsoft.com/office/drawing/2014/main" id="{D8957989-8B0E-43B4-A8A2-01FDD43098C8}"/>
              </a:ext>
            </a:extLst>
          </p:cNvPr>
          <p:cNvSpPr>
            <a:spLocks noGrp="1"/>
          </p:cNvSpPr>
          <p:nvPr>
            <p:ph type="ftr" sz="quarter" idx="4294967295"/>
          </p:nvPr>
        </p:nvSpPr>
        <p:spPr>
          <a:xfrm>
            <a:off x="2971800" y="6410890"/>
            <a:ext cx="67056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7" name="Slide Number Placeholder 6">
            <a:extLst>
              <a:ext uri="{FF2B5EF4-FFF2-40B4-BE49-F238E27FC236}">
                <a16:creationId xmlns:a16="http://schemas.microsoft.com/office/drawing/2014/main" id="{4AF77445-29F6-4B48-8A25-4DB7E72DD684}"/>
              </a:ext>
            </a:extLst>
          </p:cNvPr>
          <p:cNvSpPr>
            <a:spLocks noGrp="1"/>
          </p:cNvSpPr>
          <p:nvPr>
            <p:ph type="sldNum" sz="quarter" idx="4294967295"/>
          </p:nvPr>
        </p:nvSpPr>
        <p:spPr>
          <a:xfrm>
            <a:off x="9448800" y="6410890"/>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143</a:t>
            </a:fld>
            <a:endParaRPr lang="en-IN" sz="1200" dirty="0"/>
          </a:p>
        </p:txBody>
      </p:sp>
    </p:spTree>
  </p:cSld>
  <p:clrMapOvr>
    <a:masterClrMapping/>
  </p:clrMapOvr>
  <p:transition spd="slow">
    <p:cove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88574" y="990600"/>
            <a:ext cx="7987425" cy="3073343"/>
          </a:xfrm>
          <a:prstGeom prst="rect">
            <a:avLst/>
          </a:prstGeom>
        </p:spPr>
        <p:txBody>
          <a:bodyPr vert="horz" wrap="square" lIns="0" tIns="10860" rIns="0" bIns="0" rtlCol="0">
            <a:spAutoFit/>
          </a:bodyPr>
          <a:lstStyle/>
          <a:p>
            <a:pPr marL="83077">
              <a:spcBef>
                <a:spcPts val="86"/>
              </a:spcBef>
            </a:pPr>
            <a:r>
              <a:rPr sz="2200" b="1" spc="-4" dirty="0">
                <a:solidFill>
                  <a:srgbClr val="2F2F2F"/>
                </a:solidFill>
                <a:uFill>
                  <a:solidFill>
                    <a:srgbClr val="2F2F2F"/>
                  </a:solidFill>
                </a:uFill>
                <a:latin typeface="Times New Roman"/>
                <a:cs typeface="Times New Roman"/>
              </a:rPr>
              <a:t>PRACTICE PROBLEM BASED ON HUFFMAN</a:t>
            </a:r>
            <a:r>
              <a:rPr sz="2200" b="1" dirty="0">
                <a:solidFill>
                  <a:srgbClr val="2F2F2F"/>
                </a:solidFill>
                <a:uFill>
                  <a:solidFill>
                    <a:srgbClr val="2F2F2F"/>
                  </a:solidFill>
                </a:uFill>
                <a:latin typeface="Times New Roman"/>
                <a:cs typeface="Times New Roman"/>
              </a:rPr>
              <a:t> </a:t>
            </a:r>
            <a:r>
              <a:rPr sz="2200" b="1" spc="-4" dirty="0">
                <a:solidFill>
                  <a:srgbClr val="2F2F2F"/>
                </a:solidFill>
                <a:uFill>
                  <a:solidFill>
                    <a:srgbClr val="2F2F2F"/>
                  </a:solidFill>
                </a:uFill>
                <a:latin typeface="Times New Roman"/>
                <a:cs typeface="Times New Roman"/>
              </a:rPr>
              <a:t>CODING-</a:t>
            </a:r>
            <a:endParaRPr sz="2200" b="1" dirty="0">
              <a:latin typeface="Times New Roman"/>
              <a:cs typeface="Times New Roman"/>
            </a:endParaRPr>
          </a:p>
          <a:p>
            <a:pPr>
              <a:spcBef>
                <a:spcPts val="47"/>
              </a:spcBef>
            </a:pPr>
            <a:endParaRPr sz="2200" b="1" dirty="0">
              <a:latin typeface="Times New Roman"/>
              <a:cs typeface="Times New Roman"/>
            </a:endParaRPr>
          </a:p>
          <a:p>
            <a:pPr marL="83077"/>
            <a:r>
              <a:rPr sz="2200" b="1" spc="-4" dirty="0">
                <a:solidFill>
                  <a:srgbClr val="2F2F2F"/>
                </a:solidFill>
                <a:uFill>
                  <a:solidFill>
                    <a:srgbClr val="2F2F2F"/>
                  </a:solidFill>
                </a:uFill>
                <a:latin typeface="Times New Roman"/>
                <a:cs typeface="Times New Roman"/>
              </a:rPr>
              <a:t>Problem-</a:t>
            </a:r>
            <a:endParaRPr sz="2200" b="1" dirty="0">
              <a:latin typeface="Times New Roman"/>
              <a:cs typeface="Times New Roman"/>
            </a:endParaRPr>
          </a:p>
          <a:p>
            <a:pPr>
              <a:lnSpc>
                <a:spcPct val="100000"/>
              </a:lnSpc>
            </a:pPr>
            <a:endParaRPr sz="2200" dirty="0">
              <a:latin typeface="Times New Roman"/>
              <a:cs typeface="Times New Roman"/>
            </a:endParaRPr>
          </a:p>
          <a:p>
            <a:pPr marL="83077" marR="4344">
              <a:lnSpc>
                <a:spcPts val="2163"/>
              </a:lnSpc>
            </a:pPr>
            <a:r>
              <a:rPr sz="2200" dirty="0">
                <a:solidFill>
                  <a:srgbClr val="2F2F2F"/>
                </a:solidFill>
                <a:latin typeface="Times New Roman"/>
                <a:cs typeface="Times New Roman"/>
              </a:rPr>
              <a:t>A </a:t>
            </a:r>
            <a:r>
              <a:rPr sz="2200" spc="-4" dirty="0">
                <a:solidFill>
                  <a:srgbClr val="2F2F2F"/>
                </a:solidFill>
                <a:latin typeface="Times New Roman"/>
                <a:cs typeface="Times New Roman"/>
              </a:rPr>
              <a:t>file contains the following characters with the frequencies as shown. If  Huffman </a:t>
            </a:r>
            <a:r>
              <a:rPr sz="2200" dirty="0">
                <a:solidFill>
                  <a:srgbClr val="2F2F2F"/>
                </a:solidFill>
                <a:latin typeface="Times New Roman"/>
                <a:cs typeface="Times New Roman"/>
              </a:rPr>
              <a:t>coding </a:t>
            </a:r>
            <a:r>
              <a:rPr sz="2200" spc="-4" dirty="0">
                <a:solidFill>
                  <a:srgbClr val="2F2F2F"/>
                </a:solidFill>
                <a:latin typeface="Times New Roman"/>
                <a:cs typeface="Times New Roman"/>
              </a:rPr>
              <a:t>is used for data compression,</a:t>
            </a:r>
            <a:r>
              <a:rPr sz="2200" spc="34" dirty="0">
                <a:solidFill>
                  <a:srgbClr val="2F2F2F"/>
                </a:solidFill>
                <a:latin typeface="Times New Roman"/>
                <a:cs typeface="Times New Roman"/>
              </a:rPr>
              <a:t> </a:t>
            </a:r>
            <a:r>
              <a:rPr sz="2200" spc="-4" dirty="0">
                <a:solidFill>
                  <a:srgbClr val="2F2F2F"/>
                </a:solidFill>
                <a:latin typeface="Times New Roman"/>
                <a:cs typeface="Times New Roman"/>
              </a:rPr>
              <a:t>determine-</a:t>
            </a:r>
            <a:endParaRPr sz="2200" dirty="0">
              <a:latin typeface="Times New Roman"/>
              <a:cs typeface="Times New Roman"/>
            </a:endParaRPr>
          </a:p>
          <a:p>
            <a:pPr marL="474572" indent="-463712">
              <a:spcBef>
                <a:spcPts val="620"/>
              </a:spcBef>
              <a:buAutoNum type="arabicPeriod"/>
              <a:tabLst>
                <a:tab pos="474029" algn="l"/>
                <a:tab pos="474572" algn="l"/>
              </a:tabLst>
            </a:pPr>
            <a:r>
              <a:rPr sz="2200" spc="-4" dirty="0">
                <a:solidFill>
                  <a:srgbClr val="2F2F2F"/>
                </a:solidFill>
                <a:latin typeface="Times New Roman"/>
                <a:cs typeface="Times New Roman"/>
              </a:rPr>
              <a:t>Huffman </a:t>
            </a:r>
            <a:r>
              <a:rPr sz="2200" dirty="0">
                <a:solidFill>
                  <a:srgbClr val="2F2F2F"/>
                </a:solidFill>
                <a:latin typeface="Times New Roman"/>
                <a:cs typeface="Times New Roman"/>
              </a:rPr>
              <a:t>code </a:t>
            </a:r>
            <a:r>
              <a:rPr sz="2200" spc="-4" dirty="0">
                <a:solidFill>
                  <a:srgbClr val="2F2F2F"/>
                </a:solidFill>
                <a:latin typeface="Times New Roman"/>
                <a:cs typeface="Times New Roman"/>
              </a:rPr>
              <a:t>for each</a:t>
            </a:r>
            <a:r>
              <a:rPr sz="2200" spc="13" dirty="0">
                <a:solidFill>
                  <a:srgbClr val="2F2F2F"/>
                </a:solidFill>
                <a:latin typeface="Times New Roman"/>
                <a:cs typeface="Times New Roman"/>
              </a:rPr>
              <a:t> </a:t>
            </a:r>
            <a:r>
              <a:rPr sz="2200" spc="-4" dirty="0">
                <a:solidFill>
                  <a:srgbClr val="2F2F2F"/>
                </a:solidFill>
                <a:latin typeface="Times New Roman"/>
                <a:cs typeface="Times New Roman"/>
              </a:rPr>
              <a:t>character</a:t>
            </a:r>
            <a:endParaRPr sz="2200" dirty="0">
              <a:latin typeface="Times New Roman"/>
              <a:cs typeface="Times New Roman"/>
            </a:endParaRPr>
          </a:p>
          <a:p>
            <a:pPr marL="474572" indent="-463712">
              <a:spcBef>
                <a:spcPts val="162"/>
              </a:spcBef>
              <a:buAutoNum type="arabicPeriod"/>
              <a:tabLst>
                <a:tab pos="474029" algn="l"/>
                <a:tab pos="474572" algn="l"/>
              </a:tabLst>
            </a:pPr>
            <a:r>
              <a:rPr sz="2200" spc="-4" dirty="0">
                <a:solidFill>
                  <a:srgbClr val="2F2F2F"/>
                </a:solidFill>
                <a:latin typeface="Times New Roman"/>
                <a:cs typeface="Times New Roman"/>
              </a:rPr>
              <a:t>Average </a:t>
            </a:r>
            <a:r>
              <a:rPr sz="2200" dirty="0">
                <a:solidFill>
                  <a:srgbClr val="2F2F2F"/>
                </a:solidFill>
                <a:latin typeface="Times New Roman"/>
                <a:cs typeface="Times New Roman"/>
              </a:rPr>
              <a:t>code</a:t>
            </a:r>
            <a:r>
              <a:rPr sz="2200" spc="13" dirty="0">
                <a:solidFill>
                  <a:srgbClr val="2F2F2F"/>
                </a:solidFill>
                <a:latin typeface="Times New Roman"/>
                <a:cs typeface="Times New Roman"/>
              </a:rPr>
              <a:t> </a:t>
            </a:r>
            <a:r>
              <a:rPr sz="2200" spc="-4" dirty="0">
                <a:solidFill>
                  <a:srgbClr val="2F2F2F"/>
                </a:solidFill>
                <a:latin typeface="Times New Roman"/>
                <a:cs typeface="Times New Roman"/>
              </a:rPr>
              <a:t>length</a:t>
            </a:r>
            <a:endParaRPr sz="2200" dirty="0">
              <a:latin typeface="Times New Roman"/>
              <a:cs typeface="Times New Roman"/>
            </a:endParaRPr>
          </a:p>
          <a:p>
            <a:pPr marL="474572" indent="-463712">
              <a:spcBef>
                <a:spcPts val="162"/>
              </a:spcBef>
              <a:buAutoNum type="arabicPeriod"/>
              <a:tabLst>
                <a:tab pos="474029" algn="l"/>
                <a:tab pos="474572" algn="l"/>
              </a:tabLst>
            </a:pPr>
            <a:r>
              <a:rPr sz="2200" spc="-4" dirty="0">
                <a:solidFill>
                  <a:srgbClr val="2F2F2F"/>
                </a:solidFill>
                <a:latin typeface="Times New Roman"/>
                <a:cs typeface="Times New Roman"/>
              </a:rPr>
              <a:t>Length </a:t>
            </a:r>
            <a:r>
              <a:rPr sz="2200" dirty="0">
                <a:solidFill>
                  <a:srgbClr val="2F2F2F"/>
                </a:solidFill>
                <a:latin typeface="Times New Roman"/>
                <a:cs typeface="Times New Roman"/>
              </a:rPr>
              <a:t>of </a:t>
            </a:r>
            <a:r>
              <a:rPr sz="2200" spc="-4" dirty="0">
                <a:solidFill>
                  <a:srgbClr val="2F2F2F"/>
                </a:solidFill>
                <a:latin typeface="Times New Roman"/>
                <a:cs typeface="Times New Roman"/>
              </a:rPr>
              <a:t>Huffman encoded message (in</a:t>
            </a:r>
            <a:r>
              <a:rPr sz="2200" spc="30" dirty="0">
                <a:solidFill>
                  <a:srgbClr val="2F2F2F"/>
                </a:solidFill>
                <a:latin typeface="Times New Roman"/>
                <a:cs typeface="Times New Roman"/>
              </a:rPr>
              <a:t> </a:t>
            </a:r>
            <a:r>
              <a:rPr sz="2200" dirty="0">
                <a:solidFill>
                  <a:srgbClr val="2F2F2F"/>
                </a:solidFill>
                <a:latin typeface="Times New Roman"/>
                <a:cs typeface="Times New Roman"/>
              </a:rPr>
              <a:t>bits)</a:t>
            </a:r>
            <a:endParaRPr sz="2200" dirty="0">
              <a:latin typeface="Times New Roman"/>
              <a:cs typeface="Times New Roman"/>
            </a:endParaRPr>
          </a:p>
        </p:txBody>
      </p:sp>
      <p:sp>
        <p:nvSpPr>
          <p:cNvPr id="4" name="Title 1">
            <a:extLst>
              <a:ext uri="{FF2B5EF4-FFF2-40B4-BE49-F238E27FC236}">
                <a16:creationId xmlns:a16="http://schemas.microsoft.com/office/drawing/2014/main" id="{43F346B7-AF65-43E8-BFE8-9EA392A51DC4}"/>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id="{3C2981A6-CD2A-439C-BC02-45AEE7116DAC}"/>
              </a:ext>
            </a:extLst>
          </p:cNvPr>
          <p:cNvSpPr>
            <a:spLocks noGrp="1"/>
          </p:cNvSpPr>
          <p:nvPr>
            <p:ph type="dt" sz="half" idx="4294967295"/>
          </p:nvPr>
        </p:nvSpPr>
        <p:spPr>
          <a:xfrm>
            <a:off x="6096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86D969-F0AB-4B55-A828-432A899B2F2F}" type="datetime1">
              <a:rPr lang="en-US" smtClean="0"/>
              <a:t>8/26/2026</a:t>
            </a:fld>
            <a:endParaRPr lang="en-US" sz="1200" dirty="0"/>
          </a:p>
        </p:txBody>
      </p:sp>
      <p:sp>
        <p:nvSpPr>
          <p:cNvPr id="6" name="Footer Placeholder 5">
            <a:extLst>
              <a:ext uri="{FF2B5EF4-FFF2-40B4-BE49-F238E27FC236}">
                <a16:creationId xmlns:a16="http://schemas.microsoft.com/office/drawing/2014/main" id="{9D2CE60C-5A40-41A8-BB70-14635BCFE69E}"/>
              </a:ext>
            </a:extLst>
          </p:cNvPr>
          <p:cNvSpPr>
            <a:spLocks noGrp="1"/>
          </p:cNvSpPr>
          <p:nvPr>
            <p:ph type="ftr" sz="quarter" idx="4294967295"/>
          </p:nvPr>
        </p:nvSpPr>
        <p:spPr>
          <a:xfrm>
            <a:off x="3200400" y="6410890"/>
            <a:ext cx="5562600" cy="276999"/>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7" name="Slide Number Placeholder 6">
            <a:extLst>
              <a:ext uri="{FF2B5EF4-FFF2-40B4-BE49-F238E27FC236}">
                <a16:creationId xmlns:a16="http://schemas.microsoft.com/office/drawing/2014/main" id="{10E7C7B0-C458-4D26-8776-D12B0963A5E7}"/>
              </a:ext>
            </a:extLst>
          </p:cNvPr>
          <p:cNvSpPr>
            <a:spLocks noGrp="1"/>
          </p:cNvSpPr>
          <p:nvPr>
            <p:ph type="sldNum" sz="quarter" idx="4294967295"/>
          </p:nvPr>
        </p:nvSpPr>
        <p:spPr>
          <a:xfrm>
            <a:off x="9372600" y="6401317"/>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144</a:t>
            </a:fld>
            <a:endParaRPr lang="en-IN" sz="1200" dirty="0"/>
          </a:p>
        </p:txBody>
      </p:sp>
    </p:spTree>
  </p:cSld>
  <p:clrMapOvr>
    <a:masterClrMapping/>
  </p:clrMapOvr>
  <p:transition spd="slow">
    <p:cove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C935E27E-703A-4F44-A037-5B85DD316DB7}"/>
              </a:ext>
            </a:extLst>
          </p:cNvPr>
          <p:cNvGraphicFramePr>
            <a:graphicFrameLocks noGrp="1"/>
          </p:cNvGraphicFramePr>
          <p:nvPr/>
        </p:nvGraphicFramePr>
        <p:xfrm>
          <a:off x="3048000" y="1397000"/>
          <a:ext cx="6096000" cy="394817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258281628"/>
                    </a:ext>
                  </a:extLst>
                </a:gridCol>
                <a:gridCol w="3048000">
                  <a:extLst>
                    <a:ext uri="{9D8B030D-6E8A-4147-A177-3AD203B41FA5}">
                      <a16:colId xmlns:a16="http://schemas.microsoft.com/office/drawing/2014/main" val="2084065510"/>
                    </a:ext>
                  </a:extLst>
                </a:gridCol>
              </a:tblGrid>
              <a:tr h="370840">
                <a:tc>
                  <a:txBody>
                    <a:bodyPr/>
                    <a:lstStyle/>
                    <a:p>
                      <a:pPr algn="ctr">
                        <a:lnSpc>
                          <a:spcPct val="107000"/>
                        </a:lnSpc>
                        <a:spcBef>
                          <a:spcPts val="750"/>
                        </a:spcBef>
                        <a:spcAft>
                          <a:spcPts val="750"/>
                        </a:spcAft>
                      </a:pPr>
                      <a:r>
                        <a:rPr lang="en-IN" sz="2200" b="1"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Characters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b="1">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Frequencies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3929449313"/>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a</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3927097964"/>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2441344166"/>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i</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3656459242"/>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o</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204863229"/>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u</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3078394657"/>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2796644041"/>
                  </a:ext>
                </a:extLst>
              </a:tr>
              <a:tr h="370840">
                <a:tc>
                  <a:txBody>
                    <a:bodyPr/>
                    <a:lstStyle/>
                    <a:p>
                      <a:pPr algn="ctr">
                        <a:lnSpc>
                          <a:spcPct val="107000"/>
                        </a:lnSpc>
                        <a:spcBef>
                          <a:spcPts val="750"/>
                        </a:spcBef>
                        <a:spcAft>
                          <a:spcPts val="750"/>
                        </a:spcAft>
                      </a:pPr>
                      <a:r>
                        <a:rPr lang="en-IN" sz="220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tc>
                  <a:txBody>
                    <a:bodyPr/>
                    <a:lstStyle/>
                    <a:p>
                      <a:pPr algn="ctr">
                        <a:lnSpc>
                          <a:spcPct val="107000"/>
                        </a:lnSpc>
                        <a:spcBef>
                          <a:spcPts val="750"/>
                        </a:spcBef>
                        <a:spcAft>
                          <a:spcPts val="750"/>
                        </a:spcAft>
                      </a:pPr>
                      <a:r>
                        <a:rPr lang="en-IN" sz="2200" dirty="0">
                          <a:solidFill>
                            <a:srgbClr val="30303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660839404"/>
                  </a:ext>
                </a:extLst>
              </a:tr>
            </a:tbl>
          </a:graphicData>
        </a:graphic>
      </p:graphicFrame>
      <p:sp>
        <p:nvSpPr>
          <p:cNvPr id="8" name="Title 1">
            <a:extLst>
              <a:ext uri="{FF2B5EF4-FFF2-40B4-BE49-F238E27FC236}">
                <a16:creationId xmlns:a16="http://schemas.microsoft.com/office/drawing/2014/main" id="{406AF810-9F2F-4E90-9007-2198EE5C30AA}"/>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2" name="Date Placeholder 1">
            <a:extLst>
              <a:ext uri="{FF2B5EF4-FFF2-40B4-BE49-F238E27FC236}">
                <a16:creationId xmlns:a16="http://schemas.microsoft.com/office/drawing/2014/main" id="{9B25BE1A-58D0-4544-9524-9A15912AE4EA}"/>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9217EF-56B3-41B8-AAF6-086CB1965E04}" type="datetime1">
              <a:rPr lang="en-US" smtClean="0"/>
              <a:t>8/26/2026</a:t>
            </a:fld>
            <a:endParaRPr lang="en-US" sz="1200" dirty="0"/>
          </a:p>
        </p:txBody>
      </p:sp>
      <p:sp>
        <p:nvSpPr>
          <p:cNvPr id="3" name="Footer Placeholder 2">
            <a:extLst>
              <a:ext uri="{FF2B5EF4-FFF2-40B4-BE49-F238E27FC236}">
                <a16:creationId xmlns:a16="http://schemas.microsoft.com/office/drawing/2014/main" id="{F40F1E5E-EE90-4E48-8F24-C4DBF7F2E837}"/>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4" name="Slide Number Placeholder 3">
            <a:extLst>
              <a:ext uri="{FF2B5EF4-FFF2-40B4-BE49-F238E27FC236}">
                <a16:creationId xmlns:a16="http://schemas.microsoft.com/office/drawing/2014/main" id="{1FF14811-0F3F-4D73-BC9C-AFCE2649670F}"/>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145</a:t>
            </a:fld>
            <a:endParaRPr lang="en-IN" sz="1200" dirty="0"/>
          </a:p>
        </p:txBody>
      </p:sp>
    </p:spTree>
  </p:cSld>
  <p:clrMapOvr>
    <a:masterClrMapping/>
  </p:clrMapOvr>
  <p:transition spd="slow">
    <p:cove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96135" y="865541"/>
            <a:ext cx="4963498" cy="2059672"/>
          </a:xfrm>
          <a:prstGeom prst="rect">
            <a:avLst/>
          </a:prstGeom>
        </p:spPr>
        <p:txBody>
          <a:bodyPr vert="horz" wrap="square" lIns="0" tIns="96653" rIns="0" bIns="0" rtlCol="0">
            <a:spAutoFit/>
          </a:bodyPr>
          <a:lstStyle/>
          <a:p>
            <a:pPr marL="70589">
              <a:spcBef>
                <a:spcPts val="761"/>
              </a:spcBef>
            </a:pPr>
            <a:r>
              <a:rPr sz="2200" b="1" u="heavy" spc="-4" dirty="0">
                <a:solidFill>
                  <a:srgbClr val="2F2F2F"/>
                </a:solidFill>
                <a:uFill>
                  <a:solidFill>
                    <a:srgbClr val="2F2F2F"/>
                  </a:solidFill>
                </a:uFill>
                <a:latin typeface="Times New Roman"/>
                <a:cs typeface="Times New Roman"/>
              </a:rPr>
              <a:t>Solution-</a:t>
            </a:r>
            <a:endParaRPr sz="2200" dirty="0">
              <a:latin typeface="Times New Roman"/>
              <a:cs typeface="Times New Roman"/>
            </a:endParaRPr>
          </a:p>
          <a:p>
            <a:pPr marL="10860">
              <a:spcBef>
                <a:spcPts val="676"/>
              </a:spcBef>
            </a:pPr>
            <a:r>
              <a:rPr sz="2200" spc="-4" dirty="0">
                <a:solidFill>
                  <a:srgbClr val="2F2F2F"/>
                </a:solidFill>
                <a:latin typeface="Times New Roman"/>
                <a:cs typeface="Times New Roman"/>
              </a:rPr>
              <a:t>First let </a:t>
            </a:r>
            <a:r>
              <a:rPr sz="2200" dirty="0">
                <a:solidFill>
                  <a:srgbClr val="2F2F2F"/>
                </a:solidFill>
                <a:latin typeface="Times New Roman"/>
                <a:cs typeface="Times New Roman"/>
              </a:rPr>
              <a:t>us </a:t>
            </a:r>
            <a:r>
              <a:rPr sz="2200" spc="-4" dirty="0">
                <a:solidFill>
                  <a:srgbClr val="2F2F2F"/>
                </a:solidFill>
                <a:latin typeface="Times New Roman"/>
                <a:cs typeface="Times New Roman"/>
              </a:rPr>
              <a:t>construct the Huffman</a:t>
            </a:r>
            <a:r>
              <a:rPr sz="2200" spc="30" dirty="0">
                <a:solidFill>
                  <a:srgbClr val="2F2F2F"/>
                </a:solidFill>
                <a:latin typeface="Times New Roman"/>
                <a:cs typeface="Times New Roman"/>
              </a:rPr>
              <a:t> </a:t>
            </a:r>
            <a:r>
              <a:rPr sz="2200" spc="-4" dirty="0">
                <a:solidFill>
                  <a:srgbClr val="2F2F2F"/>
                </a:solidFill>
                <a:latin typeface="Times New Roman"/>
                <a:cs typeface="Times New Roman"/>
              </a:rPr>
              <a:t>Tree.</a:t>
            </a:r>
            <a:endParaRPr sz="2200" dirty="0">
              <a:latin typeface="Times New Roman"/>
              <a:cs typeface="Times New Roman"/>
            </a:endParaRPr>
          </a:p>
          <a:p>
            <a:pPr marL="10860">
              <a:spcBef>
                <a:spcPts val="676"/>
              </a:spcBef>
            </a:pPr>
            <a:r>
              <a:rPr sz="2200" spc="-4" dirty="0">
                <a:solidFill>
                  <a:srgbClr val="2F2F2F"/>
                </a:solidFill>
                <a:latin typeface="Times New Roman"/>
                <a:cs typeface="Times New Roman"/>
              </a:rPr>
              <a:t>Huffman Tree is constructed in the following</a:t>
            </a:r>
            <a:r>
              <a:rPr sz="2200" spc="47" dirty="0">
                <a:solidFill>
                  <a:srgbClr val="2F2F2F"/>
                </a:solidFill>
                <a:latin typeface="Times New Roman"/>
                <a:cs typeface="Times New Roman"/>
              </a:rPr>
              <a:t> </a:t>
            </a:r>
            <a:r>
              <a:rPr sz="2200" spc="-4" dirty="0">
                <a:solidFill>
                  <a:srgbClr val="2F2F2F"/>
                </a:solidFill>
                <a:latin typeface="Times New Roman"/>
                <a:cs typeface="Times New Roman"/>
              </a:rPr>
              <a:t>steps-</a:t>
            </a:r>
            <a:endParaRPr sz="2200" dirty="0">
              <a:latin typeface="Times New Roman"/>
              <a:cs typeface="Times New Roman"/>
            </a:endParaRPr>
          </a:p>
          <a:p>
            <a:pPr marL="10860">
              <a:spcBef>
                <a:spcPts val="676"/>
              </a:spcBef>
            </a:pPr>
            <a:r>
              <a:rPr sz="2200" b="1" u="heavy" spc="-4" dirty="0">
                <a:solidFill>
                  <a:srgbClr val="2F2F2F"/>
                </a:solidFill>
                <a:uFill>
                  <a:solidFill>
                    <a:srgbClr val="2F2F2F"/>
                  </a:solidFill>
                </a:uFill>
                <a:latin typeface="Times New Roman"/>
                <a:cs typeface="Times New Roman"/>
              </a:rPr>
              <a:t>Step-01:</a:t>
            </a:r>
            <a:endParaRPr sz="2200" dirty="0">
              <a:latin typeface="Times New Roman"/>
              <a:cs typeface="Times New Roman"/>
            </a:endParaRPr>
          </a:p>
        </p:txBody>
      </p:sp>
      <p:sp>
        <p:nvSpPr>
          <p:cNvPr id="3" name="object 3"/>
          <p:cNvSpPr/>
          <p:nvPr/>
        </p:nvSpPr>
        <p:spPr>
          <a:xfrm>
            <a:off x="2318449" y="3073369"/>
            <a:ext cx="4261934" cy="514683"/>
          </a:xfrm>
          <a:prstGeom prst="rect">
            <a:avLst/>
          </a:prstGeom>
          <a:blipFill>
            <a:blip r:embed="rId2" cstate="print"/>
            <a:stretch>
              <a:fillRect/>
            </a:stretch>
          </a:blipFill>
        </p:spPr>
        <p:txBody>
          <a:bodyPr wrap="square" lIns="0" tIns="0" rIns="0" bIns="0" rtlCol="0"/>
          <a:lstStyle/>
          <a:p>
            <a:endParaRPr sz="1539"/>
          </a:p>
        </p:txBody>
      </p:sp>
      <p:sp>
        <p:nvSpPr>
          <p:cNvPr id="4" name="object 4"/>
          <p:cNvSpPr txBox="1"/>
          <p:nvPr/>
        </p:nvSpPr>
        <p:spPr>
          <a:xfrm>
            <a:off x="2296136" y="3659782"/>
            <a:ext cx="870961" cy="300404"/>
          </a:xfrm>
          <a:prstGeom prst="rect">
            <a:avLst/>
          </a:prstGeom>
        </p:spPr>
        <p:txBody>
          <a:bodyPr vert="horz" wrap="square" lIns="0" tIns="10860" rIns="0" bIns="0" rtlCol="0">
            <a:spAutoFit/>
          </a:bodyPr>
          <a:lstStyle/>
          <a:p>
            <a:pPr marL="10860">
              <a:spcBef>
                <a:spcPts val="86"/>
              </a:spcBef>
            </a:pPr>
            <a:r>
              <a:rPr sz="1881" b="1" u="heavy" spc="-4" dirty="0">
                <a:solidFill>
                  <a:srgbClr val="2F2F2F"/>
                </a:solidFill>
                <a:uFill>
                  <a:solidFill>
                    <a:srgbClr val="2F2F2F"/>
                  </a:solidFill>
                </a:uFill>
                <a:latin typeface="Times New Roman"/>
                <a:cs typeface="Times New Roman"/>
              </a:rPr>
              <a:t>Step-02:</a:t>
            </a:r>
            <a:endParaRPr sz="1881">
              <a:latin typeface="Times New Roman"/>
              <a:cs typeface="Times New Roman"/>
            </a:endParaRPr>
          </a:p>
        </p:txBody>
      </p:sp>
      <p:sp>
        <p:nvSpPr>
          <p:cNvPr id="5" name="object 5"/>
          <p:cNvSpPr/>
          <p:nvPr/>
        </p:nvSpPr>
        <p:spPr>
          <a:xfrm>
            <a:off x="2305911" y="4365683"/>
            <a:ext cx="3927467" cy="1166304"/>
          </a:xfrm>
          <a:prstGeom prst="rect">
            <a:avLst/>
          </a:prstGeom>
          <a:blipFill>
            <a:blip r:embed="rId3" cstate="print"/>
            <a:stretch>
              <a:fillRect/>
            </a:stretch>
          </a:blipFill>
        </p:spPr>
        <p:txBody>
          <a:bodyPr wrap="square" lIns="0" tIns="0" rIns="0" bIns="0" rtlCol="0"/>
          <a:lstStyle/>
          <a:p>
            <a:endParaRPr sz="1539"/>
          </a:p>
        </p:txBody>
      </p:sp>
      <p:sp>
        <p:nvSpPr>
          <p:cNvPr id="7" name="Title 1">
            <a:extLst>
              <a:ext uri="{FF2B5EF4-FFF2-40B4-BE49-F238E27FC236}">
                <a16:creationId xmlns:a16="http://schemas.microsoft.com/office/drawing/2014/main" id="{C5ACE1B3-E81F-4369-88C8-B82A9C290B46}"/>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8" name="Date Placeholder 7">
            <a:extLst>
              <a:ext uri="{FF2B5EF4-FFF2-40B4-BE49-F238E27FC236}">
                <a16:creationId xmlns:a16="http://schemas.microsoft.com/office/drawing/2014/main" id="{5CEEE4FF-D54D-4F6A-9902-FF4572E3BDBC}"/>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3DDD09F-9F1B-45B1-97E6-B5F51C642B94}" type="datetime1">
              <a:rPr lang="en-US" smtClean="0"/>
              <a:t>8/26/2026</a:t>
            </a:fld>
            <a:endParaRPr lang="en-US" sz="1200" dirty="0"/>
          </a:p>
        </p:txBody>
      </p:sp>
      <p:sp>
        <p:nvSpPr>
          <p:cNvPr id="9" name="Footer Placeholder 8">
            <a:extLst>
              <a:ext uri="{FF2B5EF4-FFF2-40B4-BE49-F238E27FC236}">
                <a16:creationId xmlns:a16="http://schemas.microsoft.com/office/drawing/2014/main" id="{7F326907-9882-49BD-867D-3977051BB05E}"/>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10" name="Slide Number Placeholder 9">
            <a:extLst>
              <a:ext uri="{FF2B5EF4-FFF2-40B4-BE49-F238E27FC236}">
                <a16:creationId xmlns:a16="http://schemas.microsoft.com/office/drawing/2014/main" id="{5AAE24DB-F39F-44BE-94C4-407E04039F88}"/>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146</a:t>
            </a:fld>
            <a:endParaRPr lang="en-IN" sz="1200" dirty="0"/>
          </a:p>
        </p:txBody>
      </p:sp>
    </p:spTree>
  </p:cSld>
  <p:clrMapOvr>
    <a:masterClrMapping/>
  </p:clrMapOvr>
  <p:transition spd="slow">
    <p:cove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5" y="815996"/>
            <a:ext cx="1447800" cy="1365183"/>
          </a:xfrm>
          <a:prstGeom prst="rect">
            <a:avLst/>
          </a:prstGeom>
        </p:spPr>
        <p:txBody>
          <a:bodyPr vert="horz" wrap="square" lIns="0" tIns="10860" rIns="0" bIns="0" rtlCol="0" anchor="ctr">
            <a:spAutoFit/>
          </a:bodyPr>
          <a:lstStyle/>
          <a:p>
            <a:pPr marL="10860">
              <a:spcBef>
                <a:spcPts val="86"/>
              </a:spcBef>
            </a:pPr>
            <a:r>
              <a:rPr spc="-4" dirty="0"/>
              <a:t>Step-03:</a:t>
            </a:r>
          </a:p>
        </p:txBody>
      </p:sp>
      <p:sp>
        <p:nvSpPr>
          <p:cNvPr id="3" name="object 3"/>
          <p:cNvSpPr/>
          <p:nvPr/>
        </p:nvSpPr>
        <p:spPr>
          <a:xfrm>
            <a:off x="2590800" y="2667000"/>
            <a:ext cx="6705600" cy="2514600"/>
          </a:xfrm>
          <a:prstGeom prst="rect">
            <a:avLst/>
          </a:prstGeom>
          <a:blipFill>
            <a:blip r:embed="rId2" cstate="print"/>
            <a:stretch>
              <a:fillRect/>
            </a:stretch>
          </a:blipFill>
        </p:spPr>
        <p:txBody>
          <a:bodyPr wrap="square" lIns="0" tIns="0" rIns="0" bIns="0" rtlCol="0"/>
          <a:lstStyle/>
          <a:p>
            <a:endParaRPr sz="1539"/>
          </a:p>
        </p:txBody>
      </p:sp>
      <p:sp>
        <p:nvSpPr>
          <p:cNvPr id="5" name="Title 1">
            <a:extLst>
              <a:ext uri="{FF2B5EF4-FFF2-40B4-BE49-F238E27FC236}">
                <a16:creationId xmlns:a16="http://schemas.microsoft.com/office/drawing/2014/main" id="{293DE189-92CC-43EB-8533-998BF90A121C}"/>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id="{D198B8C9-6527-40BB-8769-C5CC6C1804C5}"/>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558909C-BE1F-4780-8D3F-113E2680DDEA}" type="datetime1">
              <a:rPr lang="en-US" smtClean="0"/>
              <a:t>8/26/2026</a:t>
            </a:fld>
            <a:endParaRPr lang="en-US" sz="1200" dirty="0"/>
          </a:p>
        </p:txBody>
      </p:sp>
      <p:sp>
        <p:nvSpPr>
          <p:cNvPr id="7" name="Footer Placeholder 6">
            <a:extLst>
              <a:ext uri="{FF2B5EF4-FFF2-40B4-BE49-F238E27FC236}">
                <a16:creationId xmlns:a16="http://schemas.microsoft.com/office/drawing/2014/main" id="{1AA4D8B9-DFD3-461E-9A01-C1D37241B6D7}"/>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8" name="Slide Number Placeholder 7">
            <a:extLst>
              <a:ext uri="{FF2B5EF4-FFF2-40B4-BE49-F238E27FC236}">
                <a16:creationId xmlns:a16="http://schemas.microsoft.com/office/drawing/2014/main" id="{61DDD8C1-C0BD-4E2E-8C3A-E6B5DE887301}"/>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147</a:t>
            </a:fld>
            <a:endParaRPr lang="en-IN" sz="1200" dirty="0"/>
          </a:p>
        </p:txBody>
      </p:sp>
    </p:spTree>
  </p:cSld>
  <p:clrMapOvr>
    <a:masterClrMapping/>
  </p:clrMapOvr>
  <p:transition spd="slow">
    <p:cove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6" y="443504"/>
            <a:ext cx="1894865" cy="1365183"/>
          </a:xfrm>
          <a:prstGeom prst="rect">
            <a:avLst/>
          </a:prstGeom>
        </p:spPr>
        <p:txBody>
          <a:bodyPr vert="horz" wrap="square" lIns="0" tIns="10860" rIns="0" bIns="0" rtlCol="0" anchor="ctr">
            <a:spAutoFit/>
          </a:bodyPr>
          <a:lstStyle/>
          <a:p>
            <a:pPr marL="10860">
              <a:spcBef>
                <a:spcPts val="86"/>
              </a:spcBef>
            </a:pPr>
            <a:r>
              <a:rPr u="sng" spc="-4" dirty="0"/>
              <a:t>Step-04:</a:t>
            </a:r>
          </a:p>
        </p:txBody>
      </p:sp>
      <p:sp>
        <p:nvSpPr>
          <p:cNvPr id="3" name="object 3"/>
          <p:cNvSpPr/>
          <p:nvPr/>
        </p:nvSpPr>
        <p:spPr>
          <a:xfrm>
            <a:off x="2590800" y="2209801"/>
            <a:ext cx="7315200" cy="2926715"/>
          </a:xfrm>
          <a:prstGeom prst="rect">
            <a:avLst/>
          </a:prstGeom>
          <a:blipFill>
            <a:blip r:embed="rId2" cstate="print"/>
            <a:stretch>
              <a:fillRect/>
            </a:stretch>
          </a:blipFill>
        </p:spPr>
        <p:txBody>
          <a:bodyPr wrap="square" lIns="0" tIns="0" rIns="0" bIns="0" rtlCol="0"/>
          <a:lstStyle/>
          <a:p>
            <a:endParaRPr sz="1539"/>
          </a:p>
        </p:txBody>
      </p:sp>
      <p:sp>
        <p:nvSpPr>
          <p:cNvPr id="5" name="Title 1">
            <a:extLst>
              <a:ext uri="{FF2B5EF4-FFF2-40B4-BE49-F238E27FC236}">
                <a16:creationId xmlns:a16="http://schemas.microsoft.com/office/drawing/2014/main" id="{AA2133FB-498F-45B8-92A5-75E67D3E8733}"/>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id="{73EEC520-A27F-4450-AE4A-B20B34EECC71}"/>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8D3976-C7C3-4840-BF4E-E165D11E7F09}" type="datetime1">
              <a:rPr lang="en-US" smtClean="0"/>
              <a:t>8/26/2026</a:t>
            </a:fld>
            <a:endParaRPr lang="en-US" sz="1200" dirty="0"/>
          </a:p>
        </p:txBody>
      </p:sp>
      <p:sp>
        <p:nvSpPr>
          <p:cNvPr id="7" name="Footer Placeholder 6">
            <a:extLst>
              <a:ext uri="{FF2B5EF4-FFF2-40B4-BE49-F238E27FC236}">
                <a16:creationId xmlns:a16="http://schemas.microsoft.com/office/drawing/2014/main" id="{DF46AE7C-A411-4A33-8B53-1D5F339F35D9}"/>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8" name="Slide Number Placeholder 7">
            <a:extLst>
              <a:ext uri="{FF2B5EF4-FFF2-40B4-BE49-F238E27FC236}">
                <a16:creationId xmlns:a16="http://schemas.microsoft.com/office/drawing/2014/main" id="{BF507F81-860C-4CBA-8670-E6FC115AC24B}"/>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148</a:t>
            </a:fld>
            <a:endParaRPr lang="en-IN" sz="1200" dirty="0"/>
          </a:p>
        </p:txBody>
      </p:sp>
    </p:spTree>
  </p:cSld>
  <p:clrMapOvr>
    <a:masterClrMapping/>
  </p:clrMapOvr>
  <p:transition spd="slow">
    <p:cove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96136" y="782057"/>
            <a:ext cx="1971065" cy="688074"/>
          </a:xfrm>
          <a:prstGeom prst="rect">
            <a:avLst/>
          </a:prstGeom>
        </p:spPr>
        <p:txBody>
          <a:bodyPr vert="horz" wrap="square" lIns="0" tIns="10860" rIns="0" bIns="0" rtlCol="0" anchor="ctr">
            <a:spAutoFit/>
          </a:bodyPr>
          <a:lstStyle/>
          <a:p>
            <a:pPr marL="10860">
              <a:spcBef>
                <a:spcPts val="86"/>
              </a:spcBef>
            </a:pPr>
            <a:r>
              <a:rPr spc="-4" dirty="0"/>
              <a:t>Step-05:</a:t>
            </a:r>
          </a:p>
        </p:txBody>
      </p:sp>
      <p:sp>
        <p:nvSpPr>
          <p:cNvPr id="3" name="object 3"/>
          <p:cNvSpPr/>
          <p:nvPr/>
        </p:nvSpPr>
        <p:spPr>
          <a:xfrm>
            <a:off x="2305910" y="1656682"/>
            <a:ext cx="7219090" cy="4515518"/>
          </a:xfrm>
          <a:prstGeom prst="rect">
            <a:avLst/>
          </a:prstGeom>
          <a:blipFill>
            <a:blip r:embed="rId2" cstate="print"/>
            <a:stretch>
              <a:fillRect/>
            </a:stretch>
          </a:blipFill>
        </p:spPr>
        <p:txBody>
          <a:bodyPr wrap="square" lIns="0" tIns="0" rIns="0" bIns="0" rtlCol="0"/>
          <a:lstStyle/>
          <a:p>
            <a:endParaRPr sz="1539"/>
          </a:p>
        </p:txBody>
      </p:sp>
      <p:sp>
        <p:nvSpPr>
          <p:cNvPr id="5" name="Title 1">
            <a:extLst>
              <a:ext uri="{FF2B5EF4-FFF2-40B4-BE49-F238E27FC236}">
                <a16:creationId xmlns:a16="http://schemas.microsoft.com/office/drawing/2014/main" id="{CE03D731-6DBC-4454-9387-D16581B7C838}"/>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id="{E37D86D8-BF8C-4BA0-B6C0-58EB829C1C11}"/>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DABEBA6-E2E5-499E-B976-9A8FC7FAD15B}" type="datetime1">
              <a:rPr lang="en-US" smtClean="0"/>
              <a:t>8/26/2026</a:t>
            </a:fld>
            <a:endParaRPr lang="en-US" sz="1200" dirty="0"/>
          </a:p>
        </p:txBody>
      </p:sp>
      <p:sp>
        <p:nvSpPr>
          <p:cNvPr id="7" name="Footer Placeholder 6">
            <a:extLst>
              <a:ext uri="{FF2B5EF4-FFF2-40B4-BE49-F238E27FC236}">
                <a16:creationId xmlns:a16="http://schemas.microsoft.com/office/drawing/2014/main" id="{7482BD6A-CC6E-4175-9F50-7A4F1B42ED71}"/>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8" name="Slide Number Placeholder 7">
            <a:extLst>
              <a:ext uri="{FF2B5EF4-FFF2-40B4-BE49-F238E27FC236}">
                <a16:creationId xmlns:a16="http://schemas.microsoft.com/office/drawing/2014/main" id="{0D6A7C37-C26D-41D3-96ED-21B36EE06032}"/>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149</a:t>
            </a:fld>
            <a:endParaRPr lang="en-IN" sz="1200" dirty="0"/>
          </a:p>
        </p:txBody>
      </p:sp>
    </p:spTree>
  </p:cSld>
  <p:clrMapOvr>
    <a:masterClrMapping/>
  </p:clrMapOvr>
  <p:transition spd="slow">
    <p:cove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47901" y="824311"/>
            <a:ext cx="2580665" cy="688074"/>
          </a:xfrm>
          <a:prstGeom prst="rect">
            <a:avLst/>
          </a:prstGeom>
        </p:spPr>
        <p:txBody>
          <a:bodyPr vert="horz" wrap="square" lIns="0" tIns="10860" rIns="0" bIns="0" rtlCol="0" anchor="ctr">
            <a:spAutoFit/>
          </a:bodyPr>
          <a:lstStyle/>
          <a:p>
            <a:pPr marL="10860">
              <a:spcBef>
                <a:spcPts val="86"/>
              </a:spcBef>
            </a:pPr>
            <a:r>
              <a:rPr spc="-4" dirty="0"/>
              <a:t>Step-06:</a:t>
            </a:r>
          </a:p>
        </p:txBody>
      </p:sp>
      <p:sp>
        <p:nvSpPr>
          <p:cNvPr id="3" name="object 3"/>
          <p:cNvSpPr/>
          <p:nvPr/>
        </p:nvSpPr>
        <p:spPr>
          <a:xfrm>
            <a:off x="2486455" y="1519534"/>
            <a:ext cx="7219090" cy="4606875"/>
          </a:xfrm>
          <a:prstGeom prst="rect">
            <a:avLst/>
          </a:prstGeom>
          <a:blipFill>
            <a:blip r:embed="rId2" cstate="print"/>
            <a:stretch>
              <a:fillRect/>
            </a:stretch>
          </a:blipFill>
        </p:spPr>
        <p:txBody>
          <a:bodyPr wrap="square" lIns="0" tIns="0" rIns="0" bIns="0" rtlCol="0"/>
          <a:lstStyle/>
          <a:p>
            <a:endParaRPr sz="1539"/>
          </a:p>
        </p:txBody>
      </p:sp>
      <p:sp>
        <p:nvSpPr>
          <p:cNvPr id="5" name="Title 1">
            <a:extLst>
              <a:ext uri="{FF2B5EF4-FFF2-40B4-BE49-F238E27FC236}">
                <a16:creationId xmlns:a16="http://schemas.microsoft.com/office/drawing/2014/main" id="{6673D295-A663-4BA9-82A2-084CE0AA3D8B}"/>
              </a:ext>
            </a:extLst>
          </p:cNvPr>
          <p:cNvSpPr txBox="1">
            <a:spLocks/>
          </p:cNvSpPr>
          <p:nvPr/>
        </p:nvSpPr>
        <p:spPr>
          <a:xfrm>
            <a:off x="2895600" y="-24114"/>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id="{BA3281BB-6554-4609-B39F-F7EC242FEBCB}"/>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7EB40CB-8351-4C0B-BBA2-66533A83D9C1}" type="datetime1">
              <a:rPr lang="en-US" smtClean="0"/>
              <a:t>8/26/2026</a:t>
            </a:fld>
            <a:endParaRPr lang="en-US" sz="1200" dirty="0"/>
          </a:p>
        </p:txBody>
      </p:sp>
      <p:sp>
        <p:nvSpPr>
          <p:cNvPr id="7" name="Footer Placeholder 6">
            <a:extLst>
              <a:ext uri="{FF2B5EF4-FFF2-40B4-BE49-F238E27FC236}">
                <a16:creationId xmlns:a16="http://schemas.microsoft.com/office/drawing/2014/main" id="{C9DD84EB-2A96-4EFB-92C1-69FC4DF955D7}"/>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8" name="Slide Number Placeholder 7">
            <a:extLst>
              <a:ext uri="{FF2B5EF4-FFF2-40B4-BE49-F238E27FC236}">
                <a16:creationId xmlns:a16="http://schemas.microsoft.com/office/drawing/2014/main" id="{C4758D04-02BC-47BF-A886-F7664178D106}"/>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150</a:t>
            </a:fld>
            <a:endParaRPr lang="en-IN" sz="1200" dirty="0"/>
          </a:p>
        </p:txBody>
      </p:sp>
    </p:spTree>
  </p:cSld>
  <p:clrMapOvr>
    <a:masterClrMapping/>
  </p:clrMapOvr>
  <p:transition spd="slow">
    <p:cove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681469" y="1118340"/>
            <a:ext cx="2123465" cy="688074"/>
          </a:xfrm>
          <a:prstGeom prst="rect">
            <a:avLst/>
          </a:prstGeom>
        </p:spPr>
        <p:txBody>
          <a:bodyPr vert="horz" wrap="square" lIns="0" tIns="10860" rIns="0" bIns="0" rtlCol="0" anchor="ctr">
            <a:spAutoFit/>
          </a:bodyPr>
          <a:lstStyle/>
          <a:p>
            <a:pPr marL="10860">
              <a:spcBef>
                <a:spcPts val="86"/>
              </a:spcBef>
            </a:pPr>
            <a:r>
              <a:rPr spc="-4" dirty="0"/>
              <a:t>Step-07:</a:t>
            </a:r>
          </a:p>
        </p:txBody>
      </p:sp>
      <p:sp>
        <p:nvSpPr>
          <p:cNvPr id="5" name="Title 1">
            <a:extLst>
              <a:ext uri="{FF2B5EF4-FFF2-40B4-BE49-F238E27FC236}">
                <a16:creationId xmlns:a16="http://schemas.microsoft.com/office/drawing/2014/main" id="{F0672537-F1A8-499F-A6D8-D6CBB6C5CA77}"/>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pic>
        <p:nvPicPr>
          <p:cNvPr id="6" name="Picture 5">
            <a:extLst>
              <a:ext uri="{FF2B5EF4-FFF2-40B4-BE49-F238E27FC236}">
                <a16:creationId xmlns:a16="http://schemas.microsoft.com/office/drawing/2014/main" id="{2249B183-97C9-43F6-A195-58F461E5414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05200" y="1127059"/>
            <a:ext cx="5334000" cy="5273358"/>
          </a:xfrm>
          <a:prstGeom prst="rect">
            <a:avLst/>
          </a:prstGeom>
          <a:noFill/>
          <a:ln>
            <a:noFill/>
          </a:ln>
        </p:spPr>
      </p:pic>
      <p:sp>
        <p:nvSpPr>
          <p:cNvPr id="3" name="Date Placeholder 2">
            <a:extLst>
              <a:ext uri="{FF2B5EF4-FFF2-40B4-BE49-F238E27FC236}">
                <a16:creationId xmlns:a16="http://schemas.microsoft.com/office/drawing/2014/main" id="{17500B87-563F-4003-8CD4-787F321D2242}"/>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16E6E7-45A0-4FE1-AAAA-0C87BC75A00B}" type="datetime1">
              <a:rPr lang="en-US" smtClean="0"/>
              <a:t>8/26/2026</a:t>
            </a:fld>
            <a:endParaRPr lang="en-US" sz="1200" dirty="0"/>
          </a:p>
        </p:txBody>
      </p:sp>
      <p:sp>
        <p:nvSpPr>
          <p:cNvPr id="7" name="Footer Placeholder 6">
            <a:extLst>
              <a:ext uri="{FF2B5EF4-FFF2-40B4-BE49-F238E27FC236}">
                <a16:creationId xmlns:a16="http://schemas.microsoft.com/office/drawing/2014/main" id="{AB0F91C5-669A-4987-AE31-F44DD5AA8909}"/>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8" name="Slide Number Placeholder 7">
            <a:extLst>
              <a:ext uri="{FF2B5EF4-FFF2-40B4-BE49-F238E27FC236}">
                <a16:creationId xmlns:a16="http://schemas.microsoft.com/office/drawing/2014/main" id="{F5C428AC-5540-4C6E-AECB-5D7F89E1ED71}"/>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151</a:t>
            </a:fld>
            <a:endParaRPr lang="en-IN" sz="1200" dirty="0"/>
          </a:p>
        </p:txBody>
      </p:sp>
    </p:spTree>
  </p:cSld>
  <p:clrMapOvr>
    <a:masterClrMapping/>
  </p:clrMapOvr>
  <p:transition spd="slow">
    <p:cove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23375" y="865541"/>
            <a:ext cx="7584524" cy="1905784"/>
          </a:xfrm>
          <a:prstGeom prst="rect">
            <a:avLst/>
          </a:prstGeom>
        </p:spPr>
        <p:txBody>
          <a:bodyPr vert="horz" wrap="square" lIns="0" tIns="96653" rIns="0" bIns="0" rtlCol="0">
            <a:spAutoFit/>
          </a:bodyPr>
          <a:lstStyle/>
          <a:p>
            <a:pPr marL="83077">
              <a:spcBef>
                <a:spcPts val="761"/>
              </a:spcBef>
            </a:pPr>
            <a:r>
              <a:rPr sz="2200" spc="-4" dirty="0">
                <a:solidFill>
                  <a:srgbClr val="2F2F2F"/>
                </a:solidFill>
                <a:latin typeface="Times New Roman"/>
                <a:cs typeface="Times New Roman"/>
              </a:rPr>
              <a:t>Now,</a:t>
            </a:r>
            <a:endParaRPr sz="2200" dirty="0">
              <a:latin typeface="Times New Roman"/>
              <a:cs typeface="Times New Roman"/>
            </a:endParaRPr>
          </a:p>
          <a:p>
            <a:pPr marL="474572" indent="-463712">
              <a:spcBef>
                <a:spcPts val="676"/>
              </a:spcBef>
              <a:buFont typeface="Symbol"/>
              <a:buChar char=""/>
              <a:tabLst>
                <a:tab pos="474029" algn="l"/>
                <a:tab pos="474572" algn="l"/>
              </a:tabLst>
            </a:pPr>
            <a:r>
              <a:rPr sz="2200" dirty="0">
                <a:solidFill>
                  <a:srgbClr val="2F2F2F"/>
                </a:solidFill>
                <a:latin typeface="Times New Roman"/>
                <a:cs typeface="Times New Roman"/>
              </a:rPr>
              <a:t>We </a:t>
            </a:r>
            <a:r>
              <a:rPr sz="2200" spc="-4" dirty="0">
                <a:solidFill>
                  <a:srgbClr val="2F2F2F"/>
                </a:solidFill>
                <a:latin typeface="Times New Roman"/>
                <a:cs typeface="Times New Roman"/>
              </a:rPr>
              <a:t>assign weight to all the edges </a:t>
            </a:r>
            <a:r>
              <a:rPr sz="2200" dirty="0">
                <a:solidFill>
                  <a:srgbClr val="2F2F2F"/>
                </a:solidFill>
                <a:latin typeface="Times New Roman"/>
                <a:cs typeface="Times New Roman"/>
              </a:rPr>
              <a:t>of </a:t>
            </a:r>
            <a:r>
              <a:rPr sz="2200" spc="-4" dirty="0">
                <a:solidFill>
                  <a:srgbClr val="2F2F2F"/>
                </a:solidFill>
                <a:latin typeface="Times New Roman"/>
                <a:cs typeface="Times New Roman"/>
              </a:rPr>
              <a:t>the constructed Huffman</a:t>
            </a:r>
            <a:r>
              <a:rPr sz="2200" spc="73" dirty="0">
                <a:solidFill>
                  <a:srgbClr val="2F2F2F"/>
                </a:solidFill>
                <a:latin typeface="Times New Roman"/>
                <a:cs typeface="Times New Roman"/>
              </a:rPr>
              <a:t> </a:t>
            </a:r>
            <a:r>
              <a:rPr sz="2200" spc="-4" dirty="0">
                <a:solidFill>
                  <a:srgbClr val="2F2F2F"/>
                </a:solidFill>
                <a:latin typeface="Times New Roman"/>
                <a:cs typeface="Times New Roman"/>
              </a:rPr>
              <a:t>tree.</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spc="-4" dirty="0">
                <a:solidFill>
                  <a:srgbClr val="2F2F2F"/>
                </a:solidFill>
                <a:latin typeface="Times New Roman"/>
                <a:cs typeface="Times New Roman"/>
              </a:rPr>
              <a:t>Let </a:t>
            </a:r>
            <a:r>
              <a:rPr sz="2200" dirty="0">
                <a:solidFill>
                  <a:srgbClr val="2F2F2F"/>
                </a:solidFill>
                <a:latin typeface="Times New Roman"/>
                <a:cs typeface="Times New Roman"/>
              </a:rPr>
              <a:t>us </a:t>
            </a:r>
            <a:r>
              <a:rPr sz="2200" spc="-4" dirty="0">
                <a:solidFill>
                  <a:srgbClr val="2F2F2F"/>
                </a:solidFill>
                <a:latin typeface="Times New Roman"/>
                <a:cs typeface="Times New Roman"/>
              </a:rPr>
              <a:t>assign weight ‘0’ to the left edges </a:t>
            </a:r>
            <a:r>
              <a:rPr sz="2200" dirty="0">
                <a:solidFill>
                  <a:srgbClr val="2F2F2F"/>
                </a:solidFill>
                <a:latin typeface="Times New Roman"/>
                <a:cs typeface="Times New Roman"/>
              </a:rPr>
              <a:t>and </a:t>
            </a:r>
            <a:r>
              <a:rPr sz="2200" spc="-4" dirty="0">
                <a:solidFill>
                  <a:srgbClr val="2F2F2F"/>
                </a:solidFill>
                <a:latin typeface="Times New Roman"/>
                <a:cs typeface="Times New Roman"/>
              </a:rPr>
              <a:t>weight ‘1’ to the right</a:t>
            </a:r>
            <a:r>
              <a:rPr sz="2200" spc="97" dirty="0">
                <a:solidFill>
                  <a:srgbClr val="2F2F2F"/>
                </a:solidFill>
                <a:latin typeface="Times New Roman"/>
                <a:cs typeface="Times New Roman"/>
              </a:rPr>
              <a:t> </a:t>
            </a:r>
            <a:r>
              <a:rPr sz="2200" spc="-4" dirty="0">
                <a:solidFill>
                  <a:srgbClr val="2F2F2F"/>
                </a:solidFill>
                <a:latin typeface="Times New Roman"/>
                <a:cs typeface="Times New Roman"/>
              </a:rPr>
              <a:t>edges.</a:t>
            </a:r>
            <a:endParaRPr sz="2200" dirty="0">
              <a:latin typeface="Times New Roman"/>
              <a:cs typeface="Times New Roman"/>
            </a:endParaRPr>
          </a:p>
        </p:txBody>
      </p:sp>
      <p:sp>
        <p:nvSpPr>
          <p:cNvPr id="3" name="object 3"/>
          <p:cNvSpPr txBox="1"/>
          <p:nvPr/>
        </p:nvSpPr>
        <p:spPr>
          <a:xfrm>
            <a:off x="2223375" y="2836531"/>
            <a:ext cx="7454025" cy="2200473"/>
          </a:xfrm>
          <a:prstGeom prst="rect">
            <a:avLst/>
          </a:prstGeom>
          <a:ln w="9525">
            <a:solidFill>
              <a:srgbClr val="A9A9A9"/>
            </a:solidFill>
          </a:ln>
        </p:spPr>
        <p:txBody>
          <a:bodyPr vert="horz" wrap="square" lIns="0" tIns="53212" rIns="0" bIns="0" rtlCol="0">
            <a:spAutoFit/>
          </a:bodyPr>
          <a:lstStyle/>
          <a:p>
            <a:pPr marL="2446706">
              <a:spcBef>
                <a:spcPts val="418"/>
              </a:spcBef>
            </a:pPr>
            <a:r>
              <a:rPr sz="2200" b="1" u="heavy" spc="-4" dirty="0">
                <a:solidFill>
                  <a:srgbClr val="2F2F2F"/>
                </a:solidFill>
                <a:uFill>
                  <a:solidFill>
                    <a:srgbClr val="2F2F2F"/>
                  </a:solidFill>
                </a:uFill>
                <a:latin typeface="Times New Roman"/>
                <a:cs typeface="Times New Roman"/>
              </a:rPr>
              <a:t>Rule</a:t>
            </a:r>
            <a:endParaRPr sz="2200" dirty="0">
              <a:latin typeface="Times New Roman"/>
              <a:cs typeface="Times New Roman"/>
            </a:endParaRPr>
          </a:p>
          <a:p>
            <a:pPr marL="205249" marR="496834" indent="-195476">
              <a:lnSpc>
                <a:spcPts val="2163"/>
              </a:lnSpc>
              <a:spcBef>
                <a:spcPts val="312"/>
              </a:spcBef>
              <a:buClr>
                <a:srgbClr val="2F2F2F"/>
              </a:buClr>
              <a:buFont typeface="Symbol"/>
              <a:buChar char=""/>
              <a:tabLst>
                <a:tab pos="472943" algn="l"/>
                <a:tab pos="473486" algn="l"/>
              </a:tabLst>
            </a:pPr>
            <a:r>
              <a:rPr sz="2200" dirty="0"/>
              <a:t>	</a:t>
            </a:r>
            <a:r>
              <a:rPr sz="2200" spc="-4" dirty="0">
                <a:solidFill>
                  <a:srgbClr val="2F2F2F"/>
                </a:solidFill>
                <a:latin typeface="Times New Roman"/>
                <a:cs typeface="Times New Roman"/>
              </a:rPr>
              <a:t>If </a:t>
            </a:r>
            <a:r>
              <a:rPr sz="2200" dirty="0">
                <a:solidFill>
                  <a:srgbClr val="2F2F2F"/>
                </a:solidFill>
                <a:latin typeface="Times New Roman"/>
                <a:cs typeface="Times New Roman"/>
              </a:rPr>
              <a:t>you </a:t>
            </a:r>
            <a:r>
              <a:rPr sz="2200" spc="-4" dirty="0">
                <a:solidFill>
                  <a:srgbClr val="2F2F2F"/>
                </a:solidFill>
                <a:latin typeface="Times New Roman"/>
                <a:cs typeface="Times New Roman"/>
              </a:rPr>
              <a:t>assign weight ‘0’ to the left edges, then  assign weight ‘1’ to the right</a:t>
            </a:r>
            <a:r>
              <a:rPr sz="2200" spc="30" dirty="0">
                <a:solidFill>
                  <a:srgbClr val="2F2F2F"/>
                </a:solidFill>
                <a:latin typeface="Times New Roman"/>
                <a:cs typeface="Times New Roman"/>
              </a:rPr>
              <a:t> </a:t>
            </a:r>
            <a:r>
              <a:rPr sz="2200" spc="-4" dirty="0">
                <a:solidFill>
                  <a:srgbClr val="2F2F2F"/>
                </a:solidFill>
                <a:latin typeface="Times New Roman"/>
                <a:cs typeface="Times New Roman"/>
              </a:rPr>
              <a:t>edges.</a:t>
            </a:r>
            <a:endParaRPr sz="2200" dirty="0">
              <a:latin typeface="Times New Roman"/>
              <a:cs typeface="Times New Roman"/>
            </a:endParaRPr>
          </a:p>
          <a:p>
            <a:pPr marL="205249" marR="496834" indent="-195476">
              <a:lnSpc>
                <a:spcPts val="2163"/>
              </a:lnSpc>
              <a:spcBef>
                <a:spcPts val="257"/>
              </a:spcBef>
              <a:buClr>
                <a:srgbClr val="2F2F2F"/>
              </a:buClr>
              <a:buFont typeface="Symbol"/>
              <a:buChar char=""/>
              <a:tabLst>
                <a:tab pos="472943" algn="l"/>
                <a:tab pos="473486" algn="l"/>
              </a:tabLst>
            </a:pPr>
            <a:r>
              <a:rPr sz="2200" dirty="0"/>
              <a:t>	</a:t>
            </a:r>
            <a:r>
              <a:rPr sz="2200" spc="-4" dirty="0">
                <a:solidFill>
                  <a:srgbClr val="2F2F2F"/>
                </a:solidFill>
                <a:latin typeface="Times New Roman"/>
                <a:cs typeface="Times New Roman"/>
              </a:rPr>
              <a:t>If </a:t>
            </a:r>
            <a:r>
              <a:rPr sz="2200" dirty="0">
                <a:solidFill>
                  <a:srgbClr val="2F2F2F"/>
                </a:solidFill>
                <a:latin typeface="Times New Roman"/>
                <a:cs typeface="Times New Roman"/>
              </a:rPr>
              <a:t>you </a:t>
            </a:r>
            <a:r>
              <a:rPr sz="2200" spc="-4" dirty="0">
                <a:solidFill>
                  <a:srgbClr val="2F2F2F"/>
                </a:solidFill>
                <a:latin typeface="Times New Roman"/>
                <a:cs typeface="Times New Roman"/>
              </a:rPr>
              <a:t>assign weight ‘1’ to the left edges, then  assign weight ‘0’ to the right</a:t>
            </a:r>
            <a:r>
              <a:rPr sz="2200" spc="30" dirty="0">
                <a:solidFill>
                  <a:srgbClr val="2F2F2F"/>
                </a:solidFill>
                <a:latin typeface="Times New Roman"/>
                <a:cs typeface="Times New Roman"/>
              </a:rPr>
              <a:t> </a:t>
            </a:r>
            <a:r>
              <a:rPr sz="2200" spc="-4" dirty="0">
                <a:solidFill>
                  <a:srgbClr val="2F2F2F"/>
                </a:solidFill>
                <a:latin typeface="Times New Roman"/>
                <a:cs typeface="Times New Roman"/>
              </a:rPr>
              <a:t>edges.</a:t>
            </a:r>
            <a:endParaRPr sz="2200" dirty="0">
              <a:latin typeface="Times New Roman"/>
              <a:cs typeface="Times New Roman"/>
            </a:endParaRPr>
          </a:p>
          <a:p>
            <a:pPr marL="205249" marR="294300" indent="-195476">
              <a:lnSpc>
                <a:spcPts val="2163"/>
              </a:lnSpc>
              <a:spcBef>
                <a:spcPts val="257"/>
              </a:spcBef>
              <a:buClr>
                <a:srgbClr val="2F2F2F"/>
              </a:buClr>
              <a:buFont typeface="Symbol"/>
              <a:buChar char=""/>
              <a:tabLst>
                <a:tab pos="472943" algn="l"/>
                <a:tab pos="473486" algn="l"/>
              </a:tabLst>
            </a:pPr>
            <a:r>
              <a:rPr sz="2200" dirty="0"/>
              <a:t>	</a:t>
            </a:r>
            <a:r>
              <a:rPr sz="2200" dirty="0">
                <a:solidFill>
                  <a:srgbClr val="2F2F2F"/>
                </a:solidFill>
                <a:latin typeface="Times New Roman"/>
                <a:cs typeface="Times New Roman"/>
              </a:rPr>
              <a:t>But </a:t>
            </a:r>
            <a:r>
              <a:rPr sz="2200" spc="-4" dirty="0">
                <a:solidFill>
                  <a:srgbClr val="2F2F2F"/>
                </a:solidFill>
                <a:latin typeface="Times New Roman"/>
                <a:cs typeface="Times New Roman"/>
              </a:rPr>
              <a:t>follow the same </a:t>
            </a:r>
            <a:r>
              <a:rPr sz="2200" dirty="0">
                <a:solidFill>
                  <a:srgbClr val="2F2F2F"/>
                </a:solidFill>
                <a:latin typeface="Times New Roman"/>
                <a:cs typeface="Times New Roman"/>
              </a:rPr>
              <a:t>convention </a:t>
            </a:r>
            <a:r>
              <a:rPr sz="2200" spc="-4" dirty="0">
                <a:solidFill>
                  <a:srgbClr val="2F2F2F"/>
                </a:solidFill>
                <a:latin typeface="Times New Roman"/>
                <a:cs typeface="Times New Roman"/>
              </a:rPr>
              <a:t>at the time </a:t>
            </a:r>
            <a:r>
              <a:rPr sz="2200" dirty="0">
                <a:solidFill>
                  <a:srgbClr val="2F2F2F"/>
                </a:solidFill>
                <a:latin typeface="Times New Roman"/>
                <a:cs typeface="Times New Roman"/>
              </a:rPr>
              <a:t>of  </a:t>
            </a:r>
            <a:r>
              <a:rPr sz="2200" spc="-4" dirty="0">
                <a:solidFill>
                  <a:srgbClr val="2F2F2F"/>
                </a:solidFill>
                <a:latin typeface="Times New Roman"/>
                <a:cs typeface="Times New Roman"/>
              </a:rPr>
              <a:t>decoding that was </a:t>
            </a:r>
            <a:r>
              <a:rPr sz="2200" dirty="0">
                <a:solidFill>
                  <a:srgbClr val="2F2F2F"/>
                </a:solidFill>
                <a:latin typeface="Times New Roman"/>
                <a:cs typeface="Times New Roman"/>
              </a:rPr>
              <a:t>adopted </a:t>
            </a:r>
            <a:r>
              <a:rPr sz="2200" spc="-4" dirty="0">
                <a:solidFill>
                  <a:srgbClr val="2F2F2F"/>
                </a:solidFill>
                <a:latin typeface="Times New Roman"/>
                <a:cs typeface="Times New Roman"/>
              </a:rPr>
              <a:t>at the time </a:t>
            </a:r>
            <a:r>
              <a:rPr sz="2200" dirty="0">
                <a:solidFill>
                  <a:srgbClr val="2F2F2F"/>
                </a:solidFill>
                <a:latin typeface="Times New Roman"/>
                <a:cs typeface="Times New Roman"/>
              </a:rPr>
              <a:t>of</a:t>
            </a:r>
            <a:r>
              <a:rPr sz="2200" spc="-13" dirty="0">
                <a:solidFill>
                  <a:srgbClr val="2F2F2F"/>
                </a:solidFill>
                <a:latin typeface="Times New Roman"/>
                <a:cs typeface="Times New Roman"/>
              </a:rPr>
              <a:t> </a:t>
            </a:r>
            <a:r>
              <a:rPr sz="2200" dirty="0">
                <a:solidFill>
                  <a:srgbClr val="2F2F2F"/>
                </a:solidFill>
                <a:latin typeface="Times New Roman"/>
                <a:cs typeface="Times New Roman"/>
              </a:rPr>
              <a:t>encoding.</a:t>
            </a:r>
            <a:endParaRPr sz="2200" dirty="0">
              <a:latin typeface="Times New Roman"/>
              <a:cs typeface="Times New Roman"/>
            </a:endParaRPr>
          </a:p>
        </p:txBody>
      </p:sp>
      <p:sp>
        <p:nvSpPr>
          <p:cNvPr id="4" name="object 4"/>
          <p:cNvSpPr txBox="1"/>
          <p:nvPr/>
        </p:nvSpPr>
        <p:spPr>
          <a:xfrm>
            <a:off x="2113238" y="5486400"/>
            <a:ext cx="7965524" cy="349520"/>
          </a:xfrm>
          <a:prstGeom prst="rect">
            <a:avLst/>
          </a:prstGeom>
        </p:spPr>
        <p:txBody>
          <a:bodyPr vert="horz" wrap="square" lIns="0" tIns="10860" rIns="0" bIns="0" rtlCol="0">
            <a:spAutoFit/>
          </a:bodyPr>
          <a:lstStyle/>
          <a:p>
            <a:pPr marL="10860">
              <a:spcBef>
                <a:spcPts val="86"/>
              </a:spcBef>
            </a:pPr>
            <a:r>
              <a:rPr sz="2200" spc="-4" dirty="0">
                <a:solidFill>
                  <a:srgbClr val="2F2F2F"/>
                </a:solidFill>
                <a:latin typeface="Times New Roman"/>
                <a:cs typeface="Times New Roman"/>
              </a:rPr>
              <a:t>After assigning weight to all the edges, the modified Huffman Tree</a:t>
            </a:r>
            <a:r>
              <a:rPr sz="2200" spc="90" dirty="0">
                <a:solidFill>
                  <a:srgbClr val="2F2F2F"/>
                </a:solidFill>
                <a:latin typeface="Times New Roman"/>
                <a:cs typeface="Times New Roman"/>
              </a:rPr>
              <a:t> </a:t>
            </a:r>
            <a:r>
              <a:rPr sz="2200" spc="-4" dirty="0">
                <a:solidFill>
                  <a:srgbClr val="2F2F2F"/>
                </a:solidFill>
                <a:latin typeface="Times New Roman"/>
                <a:cs typeface="Times New Roman"/>
              </a:rPr>
              <a:t>is-</a:t>
            </a:r>
            <a:endParaRPr sz="2200" dirty="0">
              <a:latin typeface="Times New Roman"/>
              <a:cs typeface="Times New Roman"/>
            </a:endParaRPr>
          </a:p>
        </p:txBody>
      </p:sp>
      <p:sp>
        <p:nvSpPr>
          <p:cNvPr id="6" name="Title 1">
            <a:extLst>
              <a:ext uri="{FF2B5EF4-FFF2-40B4-BE49-F238E27FC236}">
                <a16:creationId xmlns:a16="http://schemas.microsoft.com/office/drawing/2014/main" id="{350CCBE4-02C8-45BB-9A37-96705ADEC0D0}"/>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7" name="Date Placeholder 6">
            <a:extLst>
              <a:ext uri="{FF2B5EF4-FFF2-40B4-BE49-F238E27FC236}">
                <a16:creationId xmlns:a16="http://schemas.microsoft.com/office/drawing/2014/main" id="{1C28B3BC-AB0A-4DCB-9DEF-9F4D4B7BCA56}"/>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FB84959-A7C9-470B-BB50-3AEDAFDD079F}" type="datetime1">
              <a:rPr lang="en-US" smtClean="0"/>
              <a:t>8/26/2026</a:t>
            </a:fld>
            <a:endParaRPr lang="en-US" sz="1200" dirty="0"/>
          </a:p>
        </p:txBody>
      </p:sp>
      <p:sp>
        <p:nvSpPr>
          <p:cNvPr id="8" name="Footer Placeholder 7">
            <a:extLst>
              <a:ext uri="{FF2B5EF4-FFF2-40B4-BE49-F238E27FC236}">
                <a16:creationId xmlns:a16="http://schemas.microsoft.com/office/drawing/2014/main" id="{0A892413-600F-4CEF-9E9D-9A6EB4D646DB}"/>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9" name="Slide Number Placeholder 8">
            <a:extLst>
              <a:ext uri="{FF2B5EF4-FFF2-40B4-BE49-F238E27FC236}">
                <a16:creationId xmlns:a16="http://schemas.microsoft.com/office/drawing/2014/main" id="{BD2FADC6-5B58-4510-9EF4-E170A9F1F251}"/>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152</a:t>
            </a:fld>
            <a:endParaRPr lang="en-IN" sz="1200" dirty="0"/>
          </a:p>
        </p:txBody>
      </p:sp>
    </p:spTree>
  </p:cSld>
  <p:clrMapOvr>
    <a:masterClrMapping/>
  </p:clrMapOvr>
  <p:transition spd="slow">
    <p:cove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05911" y="976855"/>
            <a:ext cx="3927467" cy="4074605"/>
          </a:xfrm>
          <a:prstGeom prst="rect">
            <a:avLst/>
          </a:prstGeom>
          <a:blipFill>
            <a:blip r:embed="rId2" cstate="print"/>
            <a:stretch>
              <a:fillRect/>
            </a:stretch>
          </a:blipFill>
        </p:spPr>
        <p:txBody>
          <a:bodyPr wrap="square" lIns="0" tIns="0" rIns="0" bIns="0" rtlCol="0"/>
          <a:lstStyle/>
          <a:p>
            <a:endParaRPr sz="1539"/>
          </a:p>
        </p:txBody>
      </p:sp>
      <p:sp>
        <p:nvSpPr>
          <p:cNvPr id="3" name="object 3"/>
          <p:cNvSpPr txBox="1"/>
          <p:nvPr/>
        </p:nvSpPr>
        <p:spPr>
          <a:xfrm>
            <a:off x="2296135" y="5520076"/>
            <a:ext cx="5435902" cy="300404"/>
          </a:xfrm>
          <a:prstGeom prst="rect">
            <a:avLst/>
          </a:prstGeom>
        </p:spPr>
        <p:txBody>
          <a:bodyPr vert="horz" wrap="square" lIns="0" tIns="10860" rIns="0" bIns="0" rtlCol="0">
            <a:spAutoFit/>
          </a:bodyPr>
          <a:lstStyle/>
          <a:p>
            <a:pPr marL="10860">
              <a:spcBef>
                <a:spcPts val="86"/>
              </a:spcBef>
            </a:pPr>
            <a:r>
              <a:rPr sz="1881" spc="-4" dirty="0">
                <a:solidFill>
                  <a:srgbClr val="2F2F2F"/>
                </a:solidFill>
                <a:latin typeface="Times New Roman"/>
                <a:cs typeface="Times New Roman"/>
              </a:rPr>
              <a:t>Now, let </a:t>
            </a:r>
            <a:r>
              <a:rPr sz="1881" dirty="0">
                <a:solidFill>
                  <a:srgbClr val="2F2F2F"/>
                </a:solidFill>
                <a:latin typeface="Times New Roman"/>
                <a:cs typeface="Times New Roman"/>
              </a:rPr>
              <a:t>us </a:t>
            </a:r>
            <a:r>
              <a:rPr sz="1881" spc="-4" dirty="0">
                <a:solidFill>
                  <a:srgbClr val="2F2F2F"/>
                </a:solidFill>
                <a:latin typeface="Times New Roman"/>
                <a:cs typeface="Times New Roman"/>
              </a:rPr>
              <a:t>answer each part </a:t>
            </a:r>
            <a:r>
              <a:rPr sz="1881" dirty="0">
                <a:solidFill>
                  <a:srgbClr val="2F2F2F"/>
                </a:solidFill>
                <a:latin typeface="Times New Roman"/>
                <a:cs typeface="Times New Roman"/>
              </a:rPr>
              <a:t>of </a:t>
            </a:r>
            <a:r>
              <a:rPr sz="1881" spc="-4" dirty="0">
                <a:solidFill>
                  <a:srgbClr val="2F2F2F"/>
                </a:solidFill>
                <a:latin typeface="Times New Roman"/>
                <a:cs typeface="Times New Roman"/>
              </a:rPr>
              <a:t>the problem one </a:t>
            </a:r>
            <a:r>
              <a:rPr sz="1881" dirty="0">
                <a:solidFill>
                  <a:srgbClr val="2F2F2F"/>
                </a:solidFill>
                <a:latin typeface="Times New Roman"/>
                <a:cs typeface="Times New Roman"/>
              </a:rPr>
              <a:t>by</a:t>
            </a:r>
            <a:r>
              <a:rPr sz="1881" spc="26" dirty="0">
                <a:solidFill>
                  <a:srgbClr val="2F2F2F"/>
                </a:solidFill>
                <a:latin typeface="Times New Roman"/>
                <a:cs typeface="Times New Roman"/>
              </a:rPr>
              <a:t> </a:t>
            </a:r>
            <a:r>
              <a:rPr sz="1881" dirty="0">
                <a:solidFill>
                  <a:srgbClr val="2F2F2F"/>
                </a:solidFill>
                <a:latin typeface="Times New Roman"/>
                <a:cs typeface="Times New Roman"/>
              </a:rPr>
              <a:t>one-</a:t>
            </a:r>
            <a:endParaRPr sz="1881">
              <a:latin typeface="Times New Roman"/>
              <a:cs typeface="Times New Roman"/>
            </a:endParaRPr>
          </a:p>
        </p:txBody>
      </p:sp>
      <p:sp>
        <p:nvSpPr>
          <p:cNvPr id="5" name="Title 1">
            <a:extLst>
              <a:ext uri="{FF2B5EF4-FFF2-40B4-BE49-F238E27FC236}">
                <a16:creationId xmlns:a16="http://schemas.microsoft.com/office/drawing/2014/main" id="{E59E0709-38C0-4695-B7CA-916B72DA511A}"/>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6" name="Date Placeholder 5">
            <a:extLst>
              <a:ext uri="{FF2B5EF4-FFF2-40B4-BE49-F238E27FC236}">
                <a16:creationId xmlns:a16="http://schemas.microsoft.com/office/drawing/2014/main" id="{559F50CE-9A03-481A-BFCD-5449341179E8}"/>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1F614E-6580-4DE6-A572-15CB3EB3342B}" type="datetime1">
              <a:rPr lang="en-US" smtClean="0"/>
              <a:t>8/26/2026</a:t>
            </a:fld>
            <a:endParaRPr lang="en-US" sz="1200" dirty="0"/>
          </a:p>
        </p:txBody>
      </p:sp>
      <p:sp>
        <p:nvSpPr>
          <p:cNvPr id="7" name="Footer Placeholder 6">
            <a:extLst>
              <a:ext uri="{FF2B5EF4-FFF2-40B4-BE49-F238E27FC236}">
                <a16:creationId xmlns:a16="http://schemas.microsoft.com/office/drawing/2014/main" id="{DDE9ECEB-0E05-41D0-A6C3-16C5F6B80D08}"/>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8" name="Slide Number Placeholder 7">
            <a:extLst>
              <a:ext uri="{FF2B5EF4-FFF2-40B4-BE49-F238E27FC236}">
                <a16:creationId xmlns:a16="http://schemas.microsoft.com/office/drawing/2014/main" id="{1D656680-CF73-45D1-9577-1DCEBE4D1B80}"/>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153</a:t>
            </a:fld>
            <a:endParaRPr lang="en-IN" sz="1200" dirty="0"/>
          </a:p>
        </p:txBody>
      </p:sp>
    </p:spTree>
  </p:cSld>
  <p:clrMapOvr>
    <a:masterClrMapping/>
  </p:clrMapOvr>
  <p:transition spd="slow">
    <p:cove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23375" y="1323827"/>
            <a:ext cx="7372214" cy="4373699"/>
          </a:xfrm>
          <a:prstGeom prst="rect">
            <a:avLst/>
          </a:prstGeom>
        </p:spPr>
        <p:txBody>
          <a:bodyPr vert="horz" wrap="square" lIns="0" tIns="10860" rIns="0" bIns="0" rtlCol="0">
            <a:spAutoFit/>
          </a:bodyPr>
          <a:lstStyle/>
          <a:p>
            <a:pPr marL="83077">
              <a:spcBef>
                <a:spcPts val="86"/>
              </a:spcBef>
            </a:pPr>
            <a:r>
              <a:rPr sz="2800" b="1" dirty="0">
                <a:solidFill>
                  <a:srgbClr val="2F2F2F"/>
                </a:solidFill>
                <a:uFill>
                  <a:solidFill>
                    <a:srgbClr val="2F2F2F"/>
                  </a:solidFill>
                </a:uFill>
                <a:latin typeface="Times New Roman"/>
                <a:cs typeface="Times New Roman"/>
              </a:rPr>
              <a:t>1. </a:t>
            </a:r>
            <a:r>
              <a:rPr sz="2800" b="1" spc="-4" dirty="0">
                <a:solidFill>
                  <a:srgbClr val="2F2F2F"/>
                </a:solidFill>
                <a:uFill>
                  <a:solidFill>
                    <a:srgbClr val="2F2F2F"/>
                  </a:solidFill>
                </a:uFill>
                <a:latin typeface="Times New Roman"/>
                <a:cs typeface="Times New Roman"/>
              </a:rPr>
              <a:t>Huffman Code For The</a:t>
            </a:r>
            <a:r>
              <a:rPr sz="2800" b="1" spc="21" dirty="0">
                <a:solidFill>
                  <a:srgbClr val="2F2F2F"/>
                </a:solidFill>
                <a:uFill>
                  <a:solidFill>
                    <a:srgbClr val="2F2F2F"/>
                  </a:solidFill>
                </a:uFill>
                <a:latin typeface="Times New Roman"/>
                <a:cs typeface="Times New Roman"/>
              </a:rPr>
              <a:t> </a:t>
            </a:r>
            <a:r>
              <a:rPr sz="2800" b="1" spc="-4" dirty="0">
                <a:solidFill>
                  <a:srgbClr val="2F2F2F"/>
                </a:solidFill>
                <a:uFill>
                  <a:solidFill>
                    <a:srgbClr val="2F2F2F"/>
                  </a:solidFill>
                </a:uFill>
                <a:latin typeface="Times New Roman"/>
                <a:cs typeface="Times New Roman"/>
              </a:rPr>
              <a:t>Characters-</a:t>
            </a:r>
            <a:endParaRPr sz="2800" dirty="0">
              <a:latin typeface="Times New Roman"/>
              <a:cs typeface="Times New Roman"/>
            </a:endParaRPr>
          </a:p>
          <a:p>
            <a:pPr>
              <a:lnSpc>
                <a:spcPct val="100000"/>
              </a:lnSpc>
            </a:pPr>
            <a:endParaRPr sz="2200" dirty="0">
              <a:latin typeface="Times New Roman"/>
              <a:cs typeface="Times New Roman"/>
            </a:endParaRPr>
          </a:p>
          <a:p>
            <a:pPr marL="83077" marR="4344">
              <a:lnSpc>
                <a:spcPts val="2163"/>
              </a:lnSpc>
            </a:pPr>
            <a:r>
              <a:rPr sz="2200" spc="-4" dirty="0">
                <a:solidFill>
                  <a:srgbClr val="2F2F2F"/>
                </a:solidFill>
                <a:latin typeface="Times New Roman"/>
                <a:cs typeface="Times New Roman"/>
              </a:rPr>
              <a:t>To write Huffman Code for </a:t>
            </a:r>
            <a:r>
              <a:rPr sz="2200" dirty="0">
                <a:solidFill>
                  <a:srgbClr val="2F2F2F"/>
                </a:solidFill>
                <a:latin typeface="Times New Roman"/>
                <a:cs typeface="Times New Roman"/>
              </a:rPr>
              <a:t>a </a:t>
            </a:r>
            <a:r>
              <a:rPr sz="2200" spc="-4" dirty="0">
                <a:solidFill>
                  <a:srgbClr val="2F2F2F"/>
                </a:solidFill>
                <a:latin typeface="Times New Roman"/>
                <a:cs typeface="Times New Roman"/>
              </a:rPr>
              <a:t>character, traverse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Huffman tree from root  </a:t>
            </a:r>
            <a:r>
              <a:rPr sz="2200" dirty="0">
                <a:solidFill>
                  <a:srgbClr val="2F2F2F"/>
                </a:solidFill>
                <a:latin typeface="Times New Roman"/>
                <a:cs typeface="Times New Roman"/>
              </a:rPr>
              <a:t>node </a:t>
            </a:r>
            <a:r>
              <a:rPr sz="2200" spc="-4" dirty="0">
                <a:solidFill>
                  <a:srgbClr val="2F2F2F"/>
                </a:solidFill>
                <a:latin typeface="Times New Roman"/>
                <a:cs typeface="Times New Roman"/>
              </a:rPr>
              <a:t>to all the leaf </a:t>
            </a:r>
            <a:r>
              <a:rPr sz="2200" dirty="0">
                <a:solidFill>
                  <a:srgbClr val="2F2F2F"/>
                </a:solidFill>
                <a:latin typeface="Times New Roman"/>
                <a:cs typeface="Times New Roman"/>
              </a:rPr>
              <a:t>node of </a:t>
            </a:r>
            <a:r>
              <a:rPr sz="2200" spc="-4" dirty="0">
                <a:solidFill>
                  <a:srgbClr val="2F2F2F"/>
                </a:solidFill>
                <a:latin typeface="Times New Roman"/>
                <a:cs typeface="Times New Roman"/>
              </a:rPr>
              <a:t>that</a:t>
            </a:r>
            <a:r>
              <a:rPr sz="2200" spc="9" dirty="0">
                <a:solidFill>
                  <a:srgbClr val="2F2F2F"/>
                </a:solidFill>
                <a:latin typeface="Times New Roman"/>
                <a:cs typeface="Times New Roman"/>
              </a:rPr>
              <a:t> </a:t>
            </a:r>
            <a:r>
              <a:rPr sz="2200" spc="-4" dirty="0">
                <a:solidFill>
                  <a:srgbClr val="2F2F2F"/>
                </a:solidFill>
                <a:latin typeface="Times New Roman"/>
                <a:cs typeface="Times New Roman"/>
              </a:rPr>
              <a:t>character.</a:t>
            </a:r>
            <a:endParaRPr sz="2200" dirty="0">
              <a:latin typeface="Times New Roman"/>
              <a:cs typeface="Times New Roman"/>
            </a:endParaRPr>
          </a:p>
          <a:p>
            <a:pPr marL="83077">
              <a:spcBef>
                <a:spcPts val="620"/>
              </a:spcBef>
            </a:pPr>
            <a:r>
              <a:rPr sz="2200" spc="-4" dirty="0">
                <a:solidFill>
                  <a:srgbClr val="2F2F2F"/>
                </a:solidFill>
                <a:latin typeface="Times New Roman"/>
                <a:cs typeface="Times New Roman"/>
              </a:rPr>
              <a:t>Following this rule,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Huffman </a:t>
            </a:r>
            <a:r>
              <a:rPr sz="2200" dirty="0">
                <a:solidFill>
                  <a:srgbClr val="2F2F2F"/>
                </a:solidFill>
                <a:latin typeface="Times New Roman"/>
                <a:cs typeface="Times New Roman"/>
              </a:rPr>
              <a:t>Code </a:t>
            </a:r>
            <a:r>
              <a:rPr sz="2200" spc="-4" dirty="0">
                <a:solidFill>
                  <a:srgbClr val="2F2F2F"/>
                </a:solidFill>
                <a:latin typeface="Times New Roman"/>
                <a:cs typeface="Times New Roman"/>
              </a:rPr>
              <a:t>for each character</a:t>
            </a:r>
            <a:r>
              <a:rPr sz="2200" spc="64" dirty="0">
                <a:solidFill>
                  <a:srgbClr val="2F2F2F"/>
                </a:solidFill>
                <a:latin typeface="Times New Roman"/>
                <a:cs typeface="Times New Roman"/>
              </a:rPr>
              <a:t> </a:t>
            </a:r>
            <a:r>
              <a:rPr sz="2200" spc="-4" dirty="0">
                <a:solidFill>
                  <a:srgbClr val="2F2F2F"/>
                </a:solidFill>
                <a:latin typeface="Times New Roman"/>
                <a:cs typeface="Times New Roman"/>
              </a:rPr>
              <a:t>is-</a:t>
            </a:r>
            <a:endParaRPr sz="2200" dirty="0">
              <a:latin typeface="Times New Roman"/>
              <a:cs typeface="Times New Roman"/>
            </a:endParaRPr>
          </a:p>
          <a:p>
            <a:pPr marL="474572" indent="-463712">
              <a:spcBef>
                <a:spcPts val="676"/>
              </a:spcBef>
              <a:buFont typeface="Symbol"/>
              <a:buChar char=""/>
              <a:tabLst>
                <a:tab pos="474029" algn="l"/>
                <a:tab pos="474572" algn="l"/>
              </a:tabLst>
            </a:pPr>
            <a:r>
              <a:rPr sz="2200" dirty="0">
                <a:solidFill>
                  <a:srgbClr val="2F2F2F"/>
                </a:solidFill>
                <a:latin typeface="Times New Roman"/>
                <a:cs typeface="Times New Roman"/>
              </a:rPr>
              <a:t>a =</a:t>
            </a:r>
            <a:r>
              <a:rPr sz="2200" spc="-9" dirty="0">
                <a:solidFill>
                  <a:srgbClr val="2F2F2F"/>
                </a:solidFill>
                <a:latin typeface="Times New Roman"/>
                <a:cs typeface="Times New Roman"/>
              </a:rPr>
              <a:t> </a:t>
            </a:r>
            <a:r>
              <a:rPr sz="2200" dirty="0">
                <a:solidFill>
                  <a:srgbClr val="2F2F2F"/>
                </a:solidFill>
                <a:latin typeface="Times New Roman"/>
                <a:cs typeface="Times New Roman"/>
              </a:rPr>
              <a:t>111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e =</a:t>
            </a:r>
            <a:r>
              <a:rPr sz="2200" spc="-9" dirty="0">
                <a:solidFill>
                  <a:srgbClr val="2F2F2F"/>
                </a:solidFill>
                <a:latin typeface="Times New Roman"/>
                <a:cs typeface="Times New Roman"/>
              </a:rPr>
              <a:t> </a:t>
            </a:r>
            <a:r>
              <a:rPr sz="2200" dirty="0">
                <a:solidFill>
                  <a:srgbClr val="2F2F2F"/>
                </a:solidFill>
                <a:latin typeface="Times New Roman"/>
                <a:cs typeface="Times New Roman"/>
              </a:rPr>
              <a:t>10</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i =</a:t>
            </a:r>
            <a:r>
              <a:rPr sz="2200" spc="-13" dirty="0">
                <a:solidFill>
                  <a:srgbClr val="2F2F2F"/>
                </a:solidFill>
                <a:latin typeface="Times New Roman"/>
                <a:cs typeface="Times New Roman"/>
              </a:rPr>
              <a:t> </a:t>
            </a:r>
            <a:r>
              <a:rPr sz="2200" dirty="0">
                <a:solidFill>
                  <a:srgbClr val="2F2F2F"/>
                </a:solidFill>
                <a:latin typeface="Times New Roman"/>
                <a:cs typeface="Times New Roman"/>
              </a:rPr>
              <a:t>00</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o =</a:t>
            </a:r>
            <a:r>
              <a:rPr sz="2200" spc="-9" dirty="0">
                <a:solidFill>
                  <a:srgbClr val="2F2F2F"/>
                </a:solidFill>
                <a:latin typeface="Times New Roman"/>
                <a:cs typeface="Times New Roman"/>
              </a:rPr>
              <a:t> </a:t>
            </a:r>
            <a:r>
              <a:rPr sz="2200" dirty="0">
                <a:solidFill>
                  <a:srgbClr val="2F2F2F"/>
                </a:solidFill>
                <a:latin typeface="Times New Roman"/>
                <a:cs typeface="Times New Roman"/>
              </a:rPr>
              <a:t>11001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u =</a:t>
            </a:r>
            <a:r>
              <a:rPr sz="2200" spc="-9" dirty="0">
                <a:solidFill>
                  <a:srgbClr val="2F2F2F"/>
                </a:solidFill>
                <a:latin typeface="Times New Roman"/>
                <a:cs typeface="Times New Roman"/>
              </a:rPr>
              <a:t> </a:t>
            </a:r>
            <a:r>
              <a:rPr sz="2200" dirty="0">
                <a:solidFill>
                  <a:srgbClr val="2F2F2F"/>
                </a:solidFill>
                <a:latin typeface="Times New Roman"/>
                <a:cs typeface="Times New Roman"/>
              </a:rPr>
              <a:t>1101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s =</a:t>
            </a:r>
            <a:r>
              <a:rPr sz="2200" spc="-9" dirty="0">
                <a:solidFill>
                  <a:srgbClr val="2F2F2F"/>
                </a:solidFill>
                <a:latin typeface="Times New Roman"/>
                <a:cs typeface="Times New Roman"/>
              </a:rPr>
              <a:t> </a:t>
            </a:r>
            <a:r>
              <a:rPr sz="2200" dirty="0">
                <a:solidFill>
                  <a:srgbClr val="2F2F2F"/>
                </a:solidFill>
                <a:latin typeface="Times New Roman"/>
                <a:cs typeface="Times New Roman"/>
              </a:rPr>
              <a:t>01</a:t>
            </a:r>
            <a:endParaRPr sz="2200" dirty="0">
              <a:latin typeface="Times New Roman"/>
              <a:cs typeface="Times New Roman"/>
            </a:endParaRPr>
          </a:p>
          <a:p>
            <a:pPr marL="474572" indent="-463712">
              <a:spcBef>
                <a:spcPts val="162"/>
              </a:spcBef>
              <a:buFont typeface="Symbol"/>
              <a:buChar char=""/>
              <a:tabLst>
                <a:tab pos="474029" algn="l"/>
                <a:tab pos="474572" algn="l"/>
              </a:tabLst>
            </a:pPr>
            <a:r>
              <a:rPr sz="2200" dirty="0">
                <a:solidFill>
                  <a:srgbClr val="2F2F2F"/>
                </a:solidFill>
                <a:latin typeface="Times New Roman"/>
                <a:cs typeface="Times New Roman"/>
              </a:rPr>
              <a:t>t =</a:t>
            </a:r>
            <a:r>
              <a:rPr sz="2200" spc="-13" dirty="0">
                <a:solidFill>
                  <a:srgbClr val="2F2F2F"/>
                </a:solidFill>
                <a:latin typeface="Times New Roman"/>
                <a:cs typeface="Times New Roman"/>
              </a:rPr>
              <a:t> </a:t>
            </a:r>
            <a:r>
              <a:rPr sz="2200" dirty="0">
                <a:solidFill>
                  <a:srgbClr val="2F2F2F"/>
                </a:solidFill>
                <a:latin typeface="Times New Roman"/>
                <a:cs typeface="Times New Roman"/>
              </a:rPr>
              <a:t>11000</a:t>
            </a:r>
            <a:endParaRPr sz="2200" dirty="0">
              <a:latin typeface="Times New Roman"/>
              <a:cs typeface="Times New Roman"/>
            </a:endParaRPr>
          </a:p>
        </p:txBody>
      </p:sp>
      <p:sp>
        <p:nvSpPr>
          <p:cNvPr id="4" name="Title 1">
            <a:extLst>
              <a:ext uri="{FF2B5EF4-FFF2-40B4-BE49-F238E27FC236}">
                <a16:creationId xmlns:a16="http://schemas.microsoft.com/office/drawing/2014/main" id="{38B93F16-E88A-45AE-A4D7-5064C86707DB}"/>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id="{A3DB1BD6-017E-42A1-8D17-D069979EFDB5}"/>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FA8DAC6-550A-4869-ABE4-50F05DDE5458}" type="datetime1">
              <a:rPr lang="en-US" smtClean="0"/>
              <a:t>8/26/2026</a:t>
            </a:fld>
            <a:endParaRPr lang="en-US" sz="1200" dirty="0"/>
          </a:p>
        </p:txBody>
      </p:sp>
      <p:sp>
        <p:nvSpPr>
          <p:cNvPr id="6" name="Footer Placeholder 5">
            <a:extLst>
              <a:ext uri="{FF2B5EF4-FFF2-40B4-BE49-F238E27FC236}">
                <a16:creationId xmlns:a16="http://schemas.microsoft.com/office/drawing/2014/main" id="{157D3007-65EB-4024-A52F-7A9BB00DE3F2}"/>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7" name="Slide Number Placeholder 6">
            <a:extLst>
              <a:ext uri="{FF2B5EF4-FFF2-40B4-BE49-F238E27FC236}">
                <a16:creationId xmlns:a16="http://schemas.microsoft.com/office/drawing/2014/main" id="{4AD2AF7E-3CB0-4A34-AC99-39608B153E37}"/>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154</a:t>
            </a:fld>
            <a:endParaRPr lang="en-IN" sz="1200" dirty="0"/>
          </a:p>
        </p:txBody>
      </p:sp>
    </p:spTree>
  </p:cSld>
  <p:clrMapOvr>
    <a:masterClrMapping/>
  </p:clrMapOvr>
  <p:transition spd="slow">
    <p:cove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12516" y="865541"/>
            <a:ext cx="7648055" cy="4945078"/>
          </a:xfrm>
          <a:prstGeom prst="rect">
            <a:avLst/>
          </a:prstGeom>
        </p:spPr>
        <p:txBody>
          <a:bodyPr vert="horz" wrap="square" lIns="0" tIns="96653" rIns="0" bIns="0" rtlCol="0">
            <a:spAutoFit/>
          </a:bodyPr>
          <a:lstStyle/>
          <a:p>
            <a:pPr marL="93937">
              <a:spcBef>
                <a:spcPts val="761"/>
              </a:spcBef>
            </a:pPr>
            <a:r>
              <a:rPr sz="2800" b="1" spc="-4" dirty="0">
                <a:solidFill>
                  <a:srgbClr val="2F2F2F"/>
                </a:solidFill>
                <a:latin typeface="Times New Roman"/>
                <a:cs typeface="Times New Roman"/>
              </a:rPr>
              <a:t>From here, </a:t>
            </a:r>
            <a:r>
              <a:rPr lang="en-US" sz="2800" b="1" spc="-4" dirty="0">
                <a:solidFill>
                  <a:srgbClr val="2F2F2F"/>
                </a:solidFill>
                <a:latin typeface="Times New Roman"/>
                <a:cs typeface="Times New Roman"/>
              </a:rPr>
              <a:t>W</a:t>
            </a:r>
            <a:r>
              <a:rPr sz="2800" b="1" spc="-4" dirty="0">
                <a:solidFill>
                  <a:srgbClr val="2F2F2F"/>
                </a:solidFill>
                <a:latin typeface="Times New Roman"/>
                <a:cs typeface="Times New Roman"/>
              </a:rPr>
              <a:t>e can</a:t>
            </a:r>
            <a:r>
              <a:rPr sz="2800" b="1" spc="13" dirty="0">
                <a:solidFill>
                  <a:srgbClr val="2F2F2F"/>
                </a:solidFill>
                <a:latin typeface="Times New Roman"/>
                <a:cs typeface="Times New Roman"/>
              </a:rPr>
              <a:t> </a:t>
            </a:r>
            <a:r>
              <a:rPr sz="2800" b="1" spc="-4" dirty="0">
                <a:solidFill>
                  <a:srgbClr val="2F2F2F"/>
                </a:solidFill>
                <a:latin typeface="Times New Roman"/>
                <a:cs typeface="Times New Roman"/>
              </a:rPr>
              <a:t>observe-</a:t>
            </a:r>
            <a:endParaRPr sz="2800" b="1" dirty="0">
              <a:latin typeface="Times New Roman"/>
              <a:cs typeface="Times New Roman"/>
            </a:endParaRPr>
          </a:p>
          <a:p>
            <a:pPr marL="217195" marR="482174" indent="-195476">
              <a:lnSpc>
                <a:spcPts val="2163"/>
              </a:lnSpc>
              <a:spcBef>
                <a:spcPts val="825"/>
              </a:spcBef>
              <a:buClr>
                <a:srgbClr val="2F2F2F"/>
              </a:buClr>
              <a:buFont typeface="Symbol"/>
              <a:buChar char=""/>
              <a:tabLst>
                <a:tab pos="484889" algn="l"/>
                <a:tab pos="485432" algn="l"/>
              </a:tabLst>
            </a:pPr>
            <a:r>
              <a:rPr sz="2200" dirty="0"/>
              <a:t>	</a:t>
            </a:r>
            <a:r>
              <a:rPr sz="2200" spc="-4" dirty="0">
                <a:solidFill>
                  <a:srgbClr val="2F2F2F"/>
                </a:solidFill>
                <a:latin typeface="Times New Roman"/>
                <a:cs typeface="Times New Roman"/>
              </a:rPr>
              <a:t>Characters occurring less frequently in the text are assigned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larger  code.</a:t>
            </a:r>
            <a:endParaRPr sz="2200" dirty="0">
              <a:latin typeface="Times New Roman"/>
              <a:cs typeface="Times New Roman"/>
            </a:endParaRPr>
          </a:p>
          <a:p>
            <a:pPr marL="217195" marR="203621" indent="-195476">
              <a:lnSpc>
                <a:spcPts val="2163"/>
              </a:lnSpc>
              <a:spcBef>
                <a:spcPts val="257"/>
              </a:spcBef>
              <a:buClr>
                <a:srgbClr val="2F2F2F"/>
              </a:buClr>
              <a:buFont typeface="Symbol"/>
              <a:buChar char=""/>
              <a:tabLst>
                <a:tab pos="484889" algn="l"/>
                <a:tab pos="485432" algn="l"/>
              </a:tabLst>
            </a:pPr>
            <a:r>
              <a:rPr sz="2200" dirty="0"/>
              <a:t>	</a:t>
            </a:r>
            <a:r>
              <a:rPr sz="2200" spc="-4" dirty="0">
                <a:solidFill>
                  <a:srgbClr val="2F2F2F"/>
                </a:solidFill>
                <a:latin typeface="Times New Roman"/>
                <a:cs typeface="Times New Roman"/>
              </a:rPr>
              <a:t>Characters occurring more frequently in the text are assigned </a:t>
            </a:r>
            <a:r>
              <a:rPr sz="2200" spc="-9" dirty="0">
                <a:solidFill>
                  <a:srgbClr val="2F2F2F"/>
                </a:solidFill>
                <a:latin typeface="Times New Roman"/>
                <a:cs typeface="Times New Roman"/>
              </a:rPr>
              <a:t>the </a:t>
            </a:r>
            <a:r>
              <a:rPr sz="2200" spc="-4" dirty="0">
                <a:solidFill>
                  <a:srgbClr val="2F2F2F"/>
                </a:solidFill>
                <a:latin typeface="Times New Roman"/>
                <a:cs typeface="Times New Roman"/>
              </a:rPr>
              <a:t>smaller  code.</a:t>
            </a:r>
            <a:endParaRPr sz="2200" dirty="0">
              <a:latin typeface="Times New Roman"/>
              <a:cs typeface="Times New Roman"/>
            </a:endParaRPr>
          </a:p>
          <a:p>
            <a:pPr>
              <a:spcBef>
                <a:spcPts val="38"/>
              </a:spcBef>
            </a:pPr>
            <a:endParaRPr sz="2200" dirty="0">
              <a:latin typeface="Times New Roman"/>
              <a:cs typeface="Times New Roman"/>
            </a:endParaRPr>
          </a:p>
          <a:p>
            <a:pPr marL="93937"/>
            <a:r>
              <a:rPr sz="2200" b="1" dirty="0">
                <a:solidFill>
                  <a:srgbClr val="2F2F2F"/>
                </a:solidFill>
                <a:uFill>
                  <a:solidFill>
                    <a:srgbClr val="2F2F2F"/>
                  </a:solidFill>
                </a:uFill>
                <a:latin typeface="Times New Roman"/>
                <a:cs typeface="Times New Roman"/>
              </a:rPr>
              <a:t>2. </a:t>
            </a:r>
            <a:r>
              <a:rPr sz="2200" b="1" spc="-4" dirty="0">
                <a:solidFill>
                  <a:srgbClr val="2F2F2F"/>
                </a:solidFill>
                <a:uFill>
                  <a:solidFill>
                    <a:srgbClr val="2F2F2F"/>
                  </a:solidFill>
                </a:uFill>
                <a:latin typeface="Times New Roman"/>
                <a:cs typeface="Times New Roman"/>
              </a:rPr>
              <a:t>Average Code</a:t>
            </a:r>
            <a:r>
              <a:rPr sz="2200" b="1" dirty="0">
                <a:solidFill>
                  <a:srgbClr val="2F2F2F"/>
                </a:solidFill>
                <a:uFill>
                  <a:solidFill>
                    <a:srgbClr val="2F2F2F"/>
                  </a:solidFill>
                </a:uFill>
                <a:latin typeface="Times New Roman"/>
                <a:cs typeface="Times New Roman"/>
              </a:rPr>
              <a:t> </a:t>
            </a:r>
            <a:r>
              <a:rPr sz="2200" b="1" spc="-4" dirty="0">
                <a:solidFill>
                  <a:srgbClr val="2F2F2F"/>
                </a:solidFill>
                <a:uFill>
                  <a:solidFill>
                    <a:srgbClr val="2F2F2F"/>
                  </a:solidFill>
                </a:uFill>
                <a:latin typeface="Times New Roman"/>
                <a:cs typeface="Times New Roman"/>
              </a:rPr>
              <a:t>Length-</a:t>
            </a:r>
            <a:endParaRPr sz="2200" dirty="0">
              <a:latin typeface="Times New Roman"/>
              <a:cs typeface="Times New Roman"/>
            </a:endParaRPr>
          </a:p>
          <a:p>
            <a:pPr>
              <a:lnSpc>
                <a:spcPct val="100000"/>
              </a:lnSpc>
            </a:pPr>
            <a:endParaRPr sz="2200" dirty="0">
              <a:latin typeface="Times New Roman"/>
              <a:cs typeface="Times New Roman"/>
            </a:endParaRPr>
          </a:p>
          <a:p>
            <a:pPr marL="93937"/>
            <a:r>
              <a:rPr sz="2200" spc="-4" dirty="0">
                <a:solidFill>
                  <a:srgbClr val="2F2F2F"/>
                </a:solidFill>
                <a:latin typeface="Times New Roman"/>
                <a:cs typeface="Times New Roman"/>
              </a:rPr>
              <a:t>Average </a:t>
            </a:r>
            <a:r>
              <a:rPr sz="2200" dirty="0">
                <a:solidFill>
                  <a:srgbClr val="2F2F2F"/>
                </a:solidFill>
                <a:latin typeface="Times New Roman"/>
                <a:cs typeface="Times New Roman"/>
              </a:rPr>
              <a:t>code</a:t>
            </a:r>
            <a:r>
              <a:rPr sz="2200" spc="13" dirty="0">
                <a:solidFill>
                  <a:srgbClr val="2F2F2F"/>
                </a:solidFill>
                <a:latin typeface="Times New Roman"/>
                <a:cs typeface="Times New Roman"/>
              </a:rPr>
              <a:t> </a:t>
            </a:r>
            <a:r>
              <a:rPr sz="2200" spc="-4" dirty="0">
                <a:solidFill>
                  <a:srgbClr val="2F2F2F"/>
                </a:solidFill>
                <a:latin typeface="Times New Roman"/>
                <a:cs typeface="Times New Roman"/>
              </a:rPr>
              <a:t>length</a:t>
            </a:r>
            <a:endParaRPr sz="2200" dirty="0">
              <a:latin typeface="Times New Roman"/>
              <a:cs typeface="Times New Roman"/>
            </a:endParaRPr>
          </a:p>
          <a:p>
            <a:pPr marL="93937">
              <a:spcBef>
                <a:spcPts val="676"/>
              </a:spcBef>
            </a:pPr>
            <a:r>
              <a:rPr sz="2200" dirty="0">
                <a:solidFill>
                  <a:srgbClr val="2F2F2F"/>
                </a:solidFill>
                <a:latin typeface="Times New Roman"/>
                <a:cs typeface="Times New Roman"/>
              </a:rPr>
              <a:t>= ∑ ( frequency</a:t>
            </a:r>
            <a:r>
              <a:rPr sz="2200" baseline="-8888" dirty="0">
                <a:solidFill>
                  <a:srgbClr val="2F2F2F"/>
                </a:solidFill>
                <a:latin typeface="Times New Roman"/>
                <a:cs typeface="Times New Roman"/>
              </a:rPr>
              <a:t>i </a:t>
            </a:r>
            <a:r>
              <a:rPr sz="2200" dirty="0">
                <a:solidFill>
                  <a:srgbClr val="2F2F2F"/>
                </a:solidFill>
                <a:latin typeface="Times New Roman"/>
                <a:cs typeface="Times New Roman"/>
              </a:rPr>
              <a:t>x code </a:t>
            </a:r>
            <a:r>
              <a:rPr sz="2200" spc="-4" dirty="0">
                <a:solidFill>
                  <a:srgbClr val="2F2F2F"/>
                </a:solidFill>
                <a:latin typeface="Times New Roman"/>
                <a:cs typeface="Times New Roman"/>
              </a:rPr>
              <a:t>length</a:t>
            </a:r>
            <a:r>
              <a:rPr sz="2200" spc="-6" baseline="-8888" dirty="0">
                <a:solidFill>
                  <a:srgbClr val="2F2F2F"/>
                </a:solidFill>
                <a:latin typeface="Times New Roman"/>
                <a:cs typeface="Times New Roman"/>
              </a:rPr>
              <a:t>i </a:t>
            </a:r>
            <a:r>
              <a:rPr sz="2200" dirty="0">
                <a:solidFill>
                  <a:srgbClr val="2F2F2F"/>
                </a:solidFill>
                <a:latin typeface="Times New Roman"/>
                <a:cs typeface="Times New Roman"/>
              </a:rPr>
              <a:t>) / ∑ ( frequency</a:t>
            </a:r>
            <a:r>
              <a:rPr sz="2200" baseline="-8888" dirty="0">
                <a:solidFill>
                  <a:srgbClr val="2F2F2F"/>
                </a:solidFill>
                <a:latin typeface="Times New Roman"/>
                <a:cs typeface="Times New Roman"/>
              </a:rPr>
              <a:t>i</a:t>
            </a:r>
            <a:r>
              <a:rPr sz="2200" spc="51" baseline="-8888" dirty="0">
                <a:solidFill>
                  <a:srgbClr val="2F2F2F"/>
                </a:solidFill>
                <a:latin typeface="Times New Roman"/>
                <a:cs typeface="Times New Roman"/>
              </a:rPr>
              <a:t> </a:t>
            </a:r>
            <a:r>
              <a:rPr sz="2200" dirty="0">
                <a:solidFill>
                  <a:srgbClr val="2F2F2F"/>
                </a:solidFill>
                <a:latin typeface="Times New Roman"/>
                <a:cs typeface="Times New Roman"/>
              </a:rPr>
              <a:t>)</a:t>
            </a:r>
            <a:endParaRPr sz="2200" dirty="0">
              <a:latin typeface="Times New Roman"/>
              <a:cs typeface="Times New Roman"/>
            </a:endParaRPr>
          </a:p>
          <a:p>
            <a:pPr marL="93937">
              <a:lnSpc>
                <a:spcPts val="2210"/>
              </a:lnSpc>
              <a:spcBef>
                <a:spcPts val="676"/>
              </a:spcBef>
            </a:pPr>
            <a:r>
              <a:rPr sz="2200" dirty="0">
                <a:solidFill>
                  <a:srgbClr val="2F2F2F"/>
                </a:solidFill>
                <a:latin typeface="Times New Roman"/>
                <a:cs typeface="Times New Roman"/>
              </a:rPr>
              <a:t>= { </a:t>
            </a:r>
            <a:r>
              <a:rPr sz="2200" spc="-4" dirty="0">
                <a:solidFill>
                  <a:srgbClr val="2F2F2F"/>
                </a:solidFill>
                <a:latin typeface="Times New Roman"/>
                <a:cs typeface="Times New Roman"/>
              </a:rPr>
              <a:t>(10 </a:t>
            </a:r>
            <a:r>
              <a:rPr sz="2200" dirty="0">
                <a:solidFill>
                  <a:srgbClr val="2F2F2F"/>
                </a:solidFill>
                <a:latin typeface="Times New Roman"/>
                <a:cs typeface="Times New Roman"/>
              </a:rPr>
              <a:t>x 3) + </a:t>
            </a:r>
            <a:r>
              <a:rPr sz="2200" spc="-4" dirty="0">
                <a:solidFill>
                  <a:srgbClr val="2F2F2F"/>
                </a:solidFill>
                <a:latin typeface="Times New Roman"/>
                <a:cs typeface="Times New Roman"/>
              </a:rPr>
              <a:t>(15 </a:t>
            </a:r>
            <a:r>
              <a:rPr sz="2200" dirty="0">
                <a:solidFill>
                  <a:srgbClr val="2F2F2F"/>
                </a:solidFill>
                <a:latin typeface="Times New Roman"/>
                <a:cs typeface="Times New Roman"/>
              </a:rPr>
              <a:t>x 2) + </a:t>
            </a:r>
            <a:r>
              <a:rPr sz="2200" spc="-4" dirty="0">
                <a:solidFill>
                  <a:srgbClr val="2F2F2F"/>
                </a:solidFill>
                <a:latin typeface="Times New Roman"/>
                <a:cs typeface="Times New Roman"/>
              </a:rPr>
              <a:t>(12 </a:t>
            </a:r>
            <a:r>
              <a:rPr sz="2200" dirty="0">
                <a:solidFill>
                  <a:srgbClr val="2F2F2F"/>
                </a:solidFill>
                <a:latin typeface="Times New Roman"/>
                <a:cs typeface="Times New Roman"/>
              </a:rPr>
              <a:t>x 2) + </a:t>
            </a:r>
            <a:r>
              <a:rPr sz="2200" spc="-4" dirty="0">
                <a:solidFill>
                  <a:srgbClr val="2F2F2F"/>
                </a:solidFill>
                <a:latin typeface="Times New Roman"/>
                <a:cs typeface="Times New Roman"/>
              </a:rPr>
              <a:t>(3 </a:t>
            </a:r>
            <a:r>
              <a:rPr sz="2200" dirty="0">
                <a:solidFill>
                  <a:srgbClr val="2F2F2F"/>
                </a:solidFill>
                <a:latin typeface="Times New Roman"/>
                <a:cs typeface="Times New Roman"/>
              </a:rPr>
              <a:t>x 5) + </a:t>
            </a:r>
            <a:r>
              <a:rPr sz="2200" spc="-4" dirty="0">
                <a:solidFill>
                  <a:srgbClr val="2F2F2F"/>
                </a:solidFill>
                <a:latin typeface="Times New Roman"/>
                <a:cs typeface="Times New Roman"/>
              </a:rPr>
              <a:t>(4 </a:t>
            </a:r>
            <a:r>
              <a:rPr sz="2200" dirty="0">
                <a:solidFill>
                  <a:srgbClr val="2F2F2F"/>
                </a:solidFill>
                <a:latin typeface="Times New Roman"/>
                <a:cs typeface="Times New Roman"/>
              </a:rPr>
              <a:t>x 4) + </a:t>
            </a:r>
            <a:r>
              <a:rPr sz="2200" spc="-4" dirty="0">
                <a:solidFill>
                  <a:srgbClr val="2F2F2F"/>
                </a:solidFill>
                <a:latin typeface="Times New Roman"/>
                <a:cs typeface="Times New Roman"/>
              </a:rPr>
              <a:t>(13 </a:t>
            </a:r>
            <a:r>
              <a:rPr sz="2200" dirty="0">
                <a:solidFill>
                  <a:srgbClr val="2F2F2F"/>
                </a:solidFill>
                <a:latin typeface="Times New Roman"/>
                <a:cs typeface="Times New Roman"/>
              </a:rPr>
              <a:t>x 2) + </a:t>
            </a:r>
            <a:r>
              <a:rPr sz="2200" spc="-4" dirty="0">
                <a:solidFill>
                  <a:srgbClr val="2F2F2F"/>
                </a:solidFill>
                <a:latin typeface="Times New Roman"/>
                <a:cs typeface="Times New Roman"/>
              </a:rPr>
              <a:t>(1 </a:t>
            </a:r>
            <a:r>
              <a:rPr sz="2200" dirty="0">
                <a:solidFill>
                  <a:srgbClr val="2F2F2F"/>
                </a:solidFill>
                <a:latin typeface="Times New Roman"/>
                <a:cs typeface="Times New Roman"/>
              </a:rPr>
              <a:t>x 5) } /</a:t>
            </a:r>
            <a:r>
              <a:rPr sz="2200" spc="-60" dirty="0">
                <a:solidFill>
                  <a:srgbClr val="2F2F2F"/>
                </a:solidFill>
                <a:latin typeface="Times New Roman"/>
                <a:cs typeface="Times New Roman"/>
              </a:rPr>
              <a:t> </a:t>
            </a:r>
            <a:r>
              <a:rPr sz="2200" spc="-4" dirty="0">
                <a:solidFill>
                  <a:srgbClr val="2F2F2F"/>
                </a:solidFill>
                <a:latin typeface="Times New Roman"/>
                <a:cs typeface="Times New Roman"/>
              </a:rPr>
              <a:t>(10</a:t>
            </a:r>
            <a:endParaRPr sz="2200" dirty="0">
              <a:latin typeface="Times New Roman"/>
              <a:cs typeface="Times New Roman"/>
            </a:endParaRPr>
          </a:p>
          <a:p>
            <a:pPr marL="93937">
              <a:lnSpc>
                <a:spcPts val="2210"/>
              </a:lnSpc>
            </a:pPr>
            <a:r>
              <a:rPr sz="2200" dirty="0">
                <a:solidFill>
                  <a:srgbClr val="2F2F2F"/>
                </a:solidFill>
                <a:latin typeface="Times New Roman"/>
                <a:cs typeface="Times New Roman"/>
              </a:rPr>
              <a:t>+ 15 + 12 + 3 + 4 + 13 +</a:t>
            </a:r>
            <a:r>
              <a:rPr sz="2200" spc="-30" dirty="0">
                <a:solidFill>
                  <a:srgbClr val="2F2F2F"/>
                </a:solidFill>
                <a:latin typeface="Times New Roman"/>
                <a:cs typeface="Times New Roman"/>
              </a:rPr>
              <a:t> </a:t>
            </a:r>
            <a:r>
              <a:rPr sz="2200" dirty="0">
                <a:solidFill>
                  <a:srgbClr val="2F2F2F"/>
                </a:solidFill>
                <a:latin typeface="Times New Roman"/>
                <a:cs typeface="Times New Roman"/>
              </a:rPr>
              <a:t>1)</a:t>
            </a:r>
            <a:endParaRPr sz="2200" dirty="0">
              <a:latin typeface="Times New Roman"/>
              <a:cs typeface="Times New Roman"/>
            </a:endParaRPr>
          </a:p>
          <a:p>
            <a:pPr marL="93937">
              <a:spcBef>
                <a:spcPts val="676"/>
              </a:spcBef>
            </a:pPr>
            <a:r>
              <a:rPr sz="2200" dirty="0">
                <a:solidFill>
                  <a:srgbClr val="2F2F2F"/>
                </a:solidFill>
                <a:latin typeface="Times New Roman"/>
                <a:cs typeface="Times New Roman"/>
              </a:rPr>
              <a:t>=</a:t>
            </a:r>
            <a:r>
              <a:rPr sz="2200" spc="-9" dirty="0">
                <a:solidFill>
                  <a:srgbClr val="2F2F2F"/>
                </a:solidFill>
                <a:latin typeface="Times New Roman"/>
                <a:cs typeface="Times New Roman"/>
              </a:rPr>
              <a:t> </a:t>
            </a:r>
            <a:r>
              <a:rPr sz="2200" dirty="0">
                <a:solidFill>
                  <a:srgbClr val="2F2F2F"/>
                </a:solidFill>
                <a:latin typeface="Times New Roman"/>
                <a:cs typeface="Times New Roman"/>
              </a:rPr>
              <a:t>2.52</a:t>
            </a:r>
            <a:endParaRPr sz="2200" dirty="0">
              <a:latin typeface="Times New Roman"/>
              <a:cs typeface="Times New Roman"/>
            </a:endParaRPr>
          </a:p>
        </p:txBody>
      </p:sp>
      <p:sp>
        <p:nvSpPr>
          <p:cNvPr id="4" name="Title 1">
            <a:extLst>
              <a:ext uri="{FF2B5EF4-FFF2-40B4-BE49-F238E27FC236}">
                <a16:creationId xmlns:a16="http://schemas.microsoft.com/office/drawing/2014/main" id="{BE8D2AD8-879F-4C13-BDEB-06EEB383A595}"/>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id="{C2263F2E-7C15-49A0-82BC-72073D97B833}"/>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2E3DBD-90B1-4BC5-8AC7-73EDF46B5432}" type="datetime1">
              <a:rPr lang="en-US" smtClean="0"/>
              <a:t>8/26/2026</a:t>
            </a:fld>
            <a:endParaRPr lang="en-US" sz="1200" dirty="0"/>
          </a:p>
        </p:txBody>
      </p:sp>
      <p:sp>
        <p:nvSpPr>
          <p:cNvPr id="6" name="Footer Placeholder 5">
            <a:extLst>
              <a:ext uri="{FF2B5EF4-FFF2-40B4-BE49-F238E27FC236}">
                <a16:creationId xmlns:a16="http://schemas.microsoft.com/office/drawing/2014/main" id="{C0032FC4-3A3B-4CE4-97BA-9477F8C3A06A}"/>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7" name="Slide Number Placeholder 6">
            <a:extLst>
              <a:ext uri="{FF2B5EF4-FFF2-40B4-BE49-F238E27FC236}">
                <a16:creationId xmlns:a16="http://schemas.microsoft.com/office/drawing/2014/main" id="{53861939-2DEB-4E17-99B2-45E252DD8439}"/>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155</a:t>
            </a:fld>
            <a:endParaRPr lang="en-IN" sz="1200" dirty="0"/>
          </a:p>
        </p:txBody>
      </p:sp>
    </p:spTree>
  </p:cSld>
  <p:clrMapOvr>
    <a:masterClrMapping/>
  </p:clrMapOvr>
  <p:transition spd="slow">
    <p:cove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96135" y="1323826"/>
            <a:ext cx="6842796" cy="3140156"/>
          </a:xfrm>
          <a:prstGeom prst="rect">
            <a:avLst/>
          </a:prstGeom>
        </p:spPr>
        <p:txBody>
          <a:bodyPr vert="horz" wrap="square" lIns="0" tIns="10860" rIns="0" bIns="0" rtlCol="0">
            <a:spAutoFit/>
          </a:bodyPr>
          <a:lstStyle/>
          <a:p>
            <a:pPr marL="10860">
              <a:spcBef>
                <a:spcPts val="86"/>
              </a:spcBef>
            </a:pPr>
            <a:r>
              <a:rPr sz="2800" b="1" dirty="0">
                <a:solidFill>
                  <a:srgbClr val="2F2F2F"/>
                </a:solidFill>
                <a:uFill>
                  <a:solidFill>
                    <a:srgbClr val="2F2F2F"/>
                  </a:solidFill>
                </a:uFill>
                <a:latin typeface="Times New Roman"/>
                <a:cs typeface="Times New Roman"/>
              </a:rPr>
              <a:t>3. </a:t>
            </a:r>
            <a:r>
              <a:rPr sz="2800" b="1" spc="-4" dirty="0">
                <a:solidFill>
                  <a:srgbClr val="2F2F2F"/>
                </a:solidFill>
                <a:uFill>
                  <a:solidFill>
                    <a:srgbClr val="2F2F2F"/>
                  </a:solidFill>
                </a:uFill>
                <a:latin typeface="Times New Roman"/>
                <a:cs typeface="Times New Roman"/>
              </a:rPr>
              <a:t>Length </a:t>
            </a:r>
            <a:r>
              <a:rPr sz="2800" b="1" dirty="0">
                <a:solidFill>
                  <a:srgbClr val="2F2F2F"/>
                </a:solidFill>
                <a:uFill>
                  <a:solidFill>
                    <a:srgbClr val="2F2F2F"/>
                  </a:solidFill>
                </a:uFill>
                <a:latin typeface="Times New Roman"/>
                <a:cs typeface="Times New Roman"/>
              </a:rPr>
              <a:t>of </a:t>
            </a:r>
            <a:r>
              <a:rPr sz="2800" b="1" spc="-4" dirty="0">
                <a:solidFill>
                  <a:srgbClr val="2F2F2F"/>
                </a:solidFill>
                <a:uFill>
                  <a:solidFill>
                    <a:srgbClr val="2F2F2F"/>
                  </a:solidFill>
                </a:uFill>
                <a:latin typeface="Times New Roman"/>
                <a:cs typeface="Times New Roman"/>
              </a:rPr>
              <a:t>Huffman Encoded Message-</a:t>
            </a:r>
            <a:endParaRPr sz="2800" dirty="0">
              <a:latin typeface="Times New Roman"/>
              <a:cs typeface="Times New Roman"/>
            </a:endParaRPr>
          </a:p>
          <a:p>
            <a:pPr>
              <a:spcBef>
                <a:spcPts val="47"/>
              </a:spcBef>
            </a:pPr>
            <a:endParaRPr sz="2651" dirty="0">
              <a:latin typeface="Times New Roman"/>
              <a:cs typeface="Times New Roman"/>
            </a:endParaRPr>
          </a:p>
          <a:p>
            <a:pPr marL="10860"/>
            <a:r>
              <a:rPr sz="2200" spc="-4" dirty="0">
                <a:solidFill>
                  <a:srgbClr val="2F2F2F"/>
                </a:solidFill>
                <a:latin typeface="Times New Roman" panose="02020603050405020304" pitchFamily="18" charset="0"/>
                <a:cs typeface="Times New Roman" panose="02020603050405020304" pitchFamily="18" charset="0"/>
              </a:rPr>
              <a:t>Total number </a:t>
            </a:r>
            <a:r>
              <a:rPr sz="2200" dirty="0">
                <a:solidFill>
                  <a:srgbClr val="2F2F2F"/>
                </a:solidFill>
                <a:latin typeface="Times New Roman" panose="02020603050405020304" pitchFamily="18" charset="0"/>
                <a:cs typeface="Times New Roman" panose="02020603050405020304" pitchFamily="18" charset="0"/>
              </a:rPr>
              <a:t>of bits </a:t>
            </a:r>
            <a:r>
              <a:rPr sz="2200" spc="-4" dirty="0">
                <a:solidFill>
                  <a:srgbClr val="2F2F2F"/>
                </a:solidFill>
                <a:latin typeface="Times New Roman" panose="02020603050405020304" pitchFamily="18" charset="0"/>
                <a:cs typeface="Times New Roman" panose="02020603050405020304" pitchFamily="18" charset="0"/>
              </a:rPr>
              <a:t>in Huffman encoded</a:t>
            </a:r>
            <a:r>
              <a:rPr sz="2200" spc="26"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message</a:t>
            </a:r>
            <a:endParaRPr sz="2200" dirty="0">
              <a:latin typeface="Times New Roman" panose="02020603050405020304" pitchFamily="18" charset="0"/>
              <a:cs typeface="Times New Roman" panose="02020603050405020304" pitchFamily="18" charset="0"/>
            </a:endParaRPr>
          </a:p>
          <a:p>
            <a:pPr marL="10860" marR="4344">
              <a:lnSpc>
                <a:spcPts val="2163"/>
              </a:lnSpc>
              <a:spcBef>
                <a:spcPts val="825"/>
              </a:spcBef>
            </a:pPr>
            <a:r>
              <a:rPr sz="2200" dirty="0">
                <a:solidFill>
                  <a:srgbClr val="2F2F2F"/>
                </a:solidFill>
                <a:latin typeface="Times New Roman" panose="02020603050405020304" pitchFamily="18" charset="0"/>
                <a:cs typeface="Times New Roman" panose="02020603050405020304" pitchFamily="18" charset="0"/>
              </a:rPr>
              <a:t>= </a:t>
            </a:r>
            <a:r>
              <a:rPr sz="2200" spc="-4" dirty="0">
                <a:solidFill>
                  <a:srgbClr val="2F2F2F"/>
                </a:solidFill>
                <a:latin typeface="Times New Roman" panose="02020603050405020304" pitchFamily="18" charset="0"/>
                <a:cs typeface="Times New Roman" panose="02020603050405020304" pitchFamily="18" charset="0"/>
              </a:rPr>
              <a:t>Total number </a:t>
            </a:r>
            <a:r>
              <a:rPr sz="2200" dirty="0">
                <a:solidFill>
                  <a:srgbClr val="2F2F2F"/>
                </a:solidFill>
                <a:latin typeface="Times New Roman" panose="02020603050405020304" pitchFamily="18" charset="0"/>
                <a:cs typeface="Times New Roman" panose="02020603050405020304" pitchFamily="18" charset="0"/>
              </a:rPr>
              <a:t>of </a:t>
            </a:r>
            <a:r>
              <a:rPr sz="2200" spc="-4" dirty="0">
                <a:solidFill>
                  <a:srgbClr val="2F2F2F"/>
                </a:solidFill>
                <a:latin typeface="Times New Roman" panose="02020603050405020304" pitchFamily="18" charset="0"/>
                <a:cs typeface="Times New Roman" panose="02020603050405020304" pitchFamily="18" charset="0"/>
              </a:rPr>
              <a:t>characters in the message </a:t>
            </a:r>
            <a:r>
              <a:rPr sz="2200" dirty="0">
                <a:solidFill>
                  <a:srgbClr val="2F2F2F"/>
                </a:solidFill>
                <a:latin typeface="Times New Roman" panose="02020603050405020304" pitchFamily="18" charset="0"/>
                <a:cs typeface="Times New Roman" panose="02020603050405020304" pitchFamily="18" charset="0"/>
              </a:rPr>
              <a:t>x </a:t>
            </a:r>
            <a:r>
              <a:rPr sz="2200" spc="-4" dirty="0">
                <a:solidFill>
                  <a:srgbClr val="2F2F2F"/>
                </a:solidFill>
                <a:latin typeface="Times New Roman" panose="02020603050405020304" pitchFamily="18" charset="0"/>
                <a:cs typeface="Times New Roman" panose="02020603050405020304" pitchFamily="18" charset="0"/>
              </a:rPr>
              <a:t>Average code length per  character</a:t>
            </a:r>
            <a:endParaRPr sz="2200" dirty="0">
              <a:latin typeface="Times New Roman" panose="02020603050405020304" pitchFamily="18" charset="0"/>
              <a:cs typeface="Times New Roman" panose="02020603050405020304" pitchFamily="18" charset="0"/>
            </a:endParaRPr>
          </a:p>
          <a:p>
            <a:pPr marL="10860">
              <a:spcBef>
                <a:spcPts val="620"/>
              </a:spcBef>
            </a:pPr>
            <a:r>
              <a:rPr sz="2200" dirty="0">
                <a:solidFill>
                  <a:srgbClr val="2F2F2F"/>
                </a:solidFill>
                <a:latin typeface="Times New Roman" panose="02020603050405020304" pitchFamily="18" charset="0"/>
                <a:cs typeface="Times New Roman" panose="02020603050405020304" pitchFamily="18" charset="0"/>
              </a:rPr>
              <a:t>= 58 x</a:t>
            </a:r>
            <a:r>
              <a:rPr sz="2200" spc="-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2.52</a:t>
            </a:r>
            <a:endParaRPr sz="2200" dirty="0">
              <a:latin typeface="Times New Roman" panose="02020603050405020304" pitchFamily="18" charset="0"/>
              <a:cs typeface="Times New Roman" panose="02020603050405020304" pitchFamily="18" charset="0"/>
            </a:endParaRPr>
          </a:p>
          <a:p>
            <a:pPr marL="10860">
              <a:spcBef>
                <a:spcPts val="676"/>
              </a:spcBef>
            </a:pPr>
            <a:r>
              <a:rPr sz="2200" dirty="0">
                <a:solidFill>
                  <a:srgbClr val="2F2F2F"/>
                </a:solidFill>
                <a:latin typeface="Times New Roman" panose="02020603050405020304" pitchFamily="18" charset="0"/>
                <a:cs typeface="Times New Roman" panose="02020603050405020304" pitchFamily="18" charset="0"/>
              </a:rPr>
              <a:t>=</a:t>
            </a:r>
            <a:r>
              <a:rPr sz="2200" spc="-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146.16</a:t>
            </a:r>
            <a:endParaRPr sz="2200" dirty="0">
              <a:latin typeface="Times New Roman" panose="02020603050405020304" pitchFamily="18" charset="0"/>
              <a:cs typeface="Times New Roman" panose="02020603050405020304" pitchFamily="18" charset="0"/>
            </a:endParaRPr>
          </a:p>
          <a:p>
            <a:pPr marL="10860">
              <a:spcBef>
                <a:spcPts val="795"/>
              </a:spcBef>
            </a:pPr>
            <a:r>
              <a:rPr sz="2200" spc="-299"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147</a:t>
            </a:r>
            <a:r>
              <a:rPr sz="2200" spc="-128" dirty="0">
                <a:solidFill>
                  <a:srgbClr val="2F2F2F"/>
                </a:solidFill>
                <a:latin typeface="Times New Roman" panose="02020603050405020304" pitchFamily="18" charset="0"/>
                <a:cs typeface="Times New Roman" panose="02020603050405020304" pitchFamily="18" charset="0"/>
              </a:rPr>
              <a:t> </a:t>
            </a:r>
            <a:r>
              <a:rPr sz="2200" dirty="0">
                <a:solidFill>
                  <a:srgbClr val="2F2F2F"/>
                </a:solidFill>
                <a:latin typeface="Times New Roman" panose="02020603050405020304" pitchFamily="18" charset="0"/>
                <a:cs typeface="Times New Roman" panose="02020603050405020304" pitchFamily="18" charset="0"/>
              </a:rPr>
              <a:t>bits</a:t>
            </a:r>
            <a:endParaRPr sz="22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57F0495F-AC39-4CCA-8E58-3ED76F5417E2}"/>
              </a:ext>
            </a:extLst>
          </p:cNvPr>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dirty="0"/>
              <a:t>Huffman Coding</a:t>
            </a:r>
          </a:p>
        </p:txBody>
      </p:sp>
      <p:sp>
        <p:nvSpPr>
          <p:cNvPr id="5" name="Date Placeholder 4">
            <a:extLst>
              <a:ext uri="{FF2B5EF4-FFF2-40B4-BE49-F238E27FC236}">
                <a16:creationId xmlns:a16="http://schemas.microsoft.com/office/drawing/2014/main" id="{156979DE-7E52-4F52-BC2E-B6928ACE9149}"/>
              </a:ext>
            </a:extLst>
          </p:cNvPr>
          <p:cNvSpPr>
            <a:spLocks noGrp="1"/>
          </p:cNvSpPr>
          <p:nvPr>
            <p:ph type="dt" sz="half" idx="4294967295"/>
          </p:nvPr>
        </p:nvSpPr>
        <p:spPr>
          <a:xfrm>
            <a:off x="1981200" y="6410891"/>
            <a:ext cx="2103120" cy="276999"/>
          </a:xfrm>
          <a:prstGeom prst="rect">
            <a:avLst/>
          </a:prstGeom>
        </p:spPr>
        <p:txBody>
          <a:bodyPr vert="horz" wrap="square" lIns="0" tIns="0" rIns="0" bIns="0" rtlCol="0" anchor="ctr">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BA0C9C-F9B2-4C9C-8C0A-CDD53FC48D92}" type="datetime1">
              <a:rPr lang="en-US" smtClean="0"/>
              <a:t>8/26/2026</a:t>
            </a:fld>
            <a:endParaRPr lang="en-US" sz="1200" dirty="0"/>
          </a:p>
        </p:txBody>
      </p:sp>
      <p:sp>
        <p:nvSpPr>
          <p:cNvPr id="6" name="Footer Placeholder 5">
            <a:extLst>
              <a:ext uri="{FF2B5EF4-FFF2-40B4-BE49-F238E27FC236}">
                <a16:creationId xmlns:a16="http://schemas.microsoft.com/office/drawing/2014/main" id="{E909D3D6-C420-41B2-B133-C7843403218A}"/>
              </a:ext>
            </a:extLst>
          </p:cNvPr>
          <p:cNvSpPr>
            <a:spLocks noGrp="1"/>
          </p:cNvSpPr>
          <p:nvPr>
            <p:ph type="ftr" sz="quarter" idx="4294967295"/>
          </p:nvPr>
        </p:nvSpPr>
        <p:spPr>
          <a:xfrm>
            <a:off x="4632960" y="6272391"/>
            <a:ext cx="2926080" cy="553998"/>
          </a:xfrm>
          <a:prstGeom prst="rect">
            <a:avLst/>
          </a:prstGeom>
        </p:spPr>
        <p:txBody>
          <a:bodyPr vert="horz" wrap="square" lIns="0" tIns="0" rIns="0" bIns="0" rtlCol="0" anchor="ctr">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err="1"/>
              <a:t>Mr.</a:t>
            </a:r>
            <a:r>
              <a:rPr lang="en-IN" dirty="0"/>
              <a:t> Shamshad Ali             BCSE401: DSA-II  Unit-I                          </a:t>
            </a:r>
            <a:endParaRPr lang="en-IN" sz="1200" dirty="0"/>
          </a:p>
        </p:txBody>
      </p:sp>
      <p:sp>
        <p:nvSpPr>
          <p:cNvPr id="7" name="Slide Number Placeholder 6">
            <a:extLst>
              <a:ext uri="{FF2B5EF4-FFF2-40B4-BE49-F238E27FC236}">
                <a16:creationId xmlns:a16="http://schemas.microsoft.com/office/drawing/2014/main" id="{81EE9B80-E403-49FB-AFAA-28FBFAEC394A}"/>
              </a:ext>
            </a:extLst>
          </p:cNvPr>
          <p:cNvSpPr>
            <a:spLocks noGrp="1"/>
          </p:cNvSpPr>
          <p:nvPr>
            <p:ph type="sldNum" sz="quarter" idx="4294967295"/>
          </p:nvPr>
        </p:nvSpPr>
        <p:spPr>
          <a:xfrm>
            <a:off x="8107680" y="6410891"/>
            <a:ext cx="2103120" cy="276999"/>
          </a:xfrm>
          <a:prstGeom prst="rect">
            <a:avLst/>
          </a:prstGeom>
        </p:spPr>
        <p:txBody>
          <a:bodyPr vert="horz" wrap="square" lIns="0" tIns="0" rIns="0" bIns="0" rtlCol="0" anchor="ctr">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156</a:t>
            </a:fld>
            <a:endParaRPr lang="en-IN" sz="1200" dirty="0"/>
          </a:p>
        </p:txBody>
      </p:sp>
    </p:spTree>
  </p:cSld>
  <p:clrMapOvr>
    <a:masterClrMapping/>
  </p:clrMapOvr>
  <p:transition spd="slow">
    <p:cove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id="{BAC7FD92-43C5-439E-8489-8D278A7865C5}"/>
              </a:ext>
            </a:extLst>
          </p:cNvPr>
          <p:cNvSpPr>
            <a:spLocks noGrp="1"/>
          </p:cNvSpPr>
          <p:nvPr>
            <p:ph idx="1"/>
          </p:nvPr>
        </p:nvSpPr>
        <p:spPr>
          <a:xfrm>
            <a:off x="1752600" y="914400"/>
            <a:ext cx="8763000" cy="1676400"/>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4" name="Date Placeholder 3">
            <a:extLst>
              <a:ext uri="{FF2B5EF4-FFF2-40B4-BE49-F238E27FC236}">
                <a16:creationId xmlns:a16="http://schemas.microsoft.com/office/drawing/2014/main" id="{EC8320CA-CAD4-47B1-90AF-DD14E4864AAF}"/>
              </a:ext>
            </a:extLst>
          </p:cNvPr>
          <p:cNvSpPr>
            <a:spLocks noGrp="1"/>
          </p:cNvSpPr>
          <p:nvPr>
            <p:ph type="dt" sz="quarter" idx="10"/>
          </p:nvPr>
        </p:nvSpPr>
        <p:spPr/>
        <p:txBody>
          <a:bodyPr/>
          <a:lstStyle/>
          <a:p>
            <a:pPr>
              <a:defRPr/>
            </a:pPr>
            <a:fld id="{A930D6AE-343C-4F12-9C2F-EA1DBCD8D750}" type="datetime1">
              <a:rPr lang="en-US" smtClean="0"/>
              <a:t>8/26/2026</a:t>
            </a:fld>
            <a:endParaRPr lang="en-US"/>
          </a:p>
        </p:txBody>
      </p:sp>
      <p:sp>
        <p:nvSpPr>
          <p:cNvPr id="5" name="Footer Placeholder 4">
            <a:extLst>
              <a:ext uri="{FF2B5EF4-FFF2-40B4-BE49-F238E27FC236}">
                <a16:creationId xmlns:a16="http://schemas.microsoft.com/office/drawing/2014/main" id="{E4BA6D6A-6EA9-4144-A571-BEE1BEEA823B}"/>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DBBDCC2C-B093-434C-BC67-A9A21D9A607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60C1891-611B-4E29-BB59-58AE47C08C93}" type="slidenum">
              <a:rPr lang="en-US" altLang="en-US">
                <a:solidFill>
                  <a:srgbClr val="898989"/>
                </a:solidFill>
                <a:latin typeface="Calibri" panose="020F0502020204030204" pitchFamily="34" charset="0"/>
              </a:rPr>
              <a:pPr eaLnBrk="1" hangingPunct="1"/>
              <a:t>157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EDE439D4-1693-4483-AA64-FB2316AB9ABE}"/>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10" name="Rectangle 9">
            <a:extLst>
              <a:ext uri="{FF2B5EF4-FFF2-40B4-BE49-F238E27FC236}">
                <a16:creationId xmlns:a16="http://schemas.microsoft.com/office/drawing/2014/main" id="{B1A89BF2-8070-432C-A694-ACA9838AB4B4}"/>
              </a:ext>
            </a:extLst>
          </p:cNvPr>
          <p:cNvSpPr/>
          <p:nvPr/>
        </p:nvSpPr>
        <p:spPr>
          <a:xfrm>
            <a:off x="1765300" y="914400"/>
            <a:ext cx="8445500" cy="501676"/>
          </a:xfrm>
          <a:prstGeom prst="rect">
            <a:avLst/>
          </a:prstGeom>
        </p:spPr>
        <p:txBody>
          <a:bodyPr>
            <a:spAutoFit/>
          </a:bodyPr>
          <a:lstStyle/>
          <a:p>
            <a:pPr>
              <a:lnSpc>
                <a:spcPct val="95000"/>
              </a:lnSpc>
              <a:defRPr/>
            </a:pPr>
            <a:r>
              <a:rPr lang="en-US" sz="2800" b="1" dirty="0">
                <a:solidFill>
                  <a:srgbClr val="3B62AF"/>
                </a:solidFill>
                <a:latin typeface="+mj-lt"/>
              </a:rPr>
              <a:t>Huffman Coding </a:t>
            </a:r>
          </a:p>
        </p:txBody>
      </p:sp>
      <p:pic>
        <p:nvPicPr>
          <p:cNvPr id="55305" name="Picture 2" descr="characters sorted according to frequencies">
            <a:extLst>
              <a:ext uri="{FF2B5EF4-FFF2-40B4-BE49-F238E27FC236}">
                <a16:creationId xmlns:a16="http://schemas.microsoft.com/office/drawing/2014/main" id="{448B62A7-51A2-4D81-82F3-9D3D4E0F1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956" y="1799056"/>
            <a:ext cx="67960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6" name="Rectangle 10">
            <a:extLst>
              <a:ext uri="{FF2B5EF4-FFF2-40B4-BE49-F238E27FC236}">
                <a16:creationId xmlns:a16="http://schemas.microsoft.com/office/drawing/2014/main" id="{569FDC5A-C0B4-4734-AF08-C96B4ADE5B37}"/>
              </a:ext>
            </a:extLst>
          </p:cNvPr>
          <p:cNvSpPr>
            <a:spLocks noChangeArrowheads="1"/>
          </p:cNvSpPr>
          <p:nvPr/>
        </p:nvSpPr>
        <p:spPr bwMode="auto">
          <a:xfrm>
            <a:off x="2063750" y="2838091"/>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p>
        </p:txBody>
      </p:sp>
    </p:spTree>
  </p:cSld>
  <p:clrMapOvr>
    <a:masterClrMapping/>
  </p:clrMapOvr>
  <p:transition spd="slow">
    <p:cove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6B81F14-3823-40D9-91FF-F41838D5A2EC}"/>
              </a:ext>
            </a:extLst>
          </p:cNvPr>
          <p:cNvSpPr>
            <a:spLocks noGrp="1"/>
          </p:cNvSpPr>
          <p:nvPr>
            <p:ph type="dt" sz="quarter" idx="10"/>
          </p:nvPr>
        </p:nvSpPr>
        <p:spPr/>
        <p:txBody>
          <a:bodyPr/>
          <a:lstStyle/>
          <a:p>
            <a:pPr>
              <a:defRPr/>
            </a:pPr>
            <a:fld id="{9C2088F9-B37B-4BF4-911F-4E243611C07F}" type="datetime1">
              <a:rPr lang="en-US" smtClean="0"/>
              <a:t>8/26/2026</a:t>
            </a:fld>
            <a:endParaRPr lang="en-US"/>
          </a:p>
        </p:txBody>
      </p:sp>
      <p:sp>
        <p:nvSpPr>
          <p:cNvPr id="5" name="Footer Placeholder 4">
            <a:extLst>
              <a:ext uri="{FF2B5EF4-FFF2-40B4-BE49-F238E27FC236}">
                <a16:creationId xmlns:a16="http://schemas.microsoft.com/office/drawing/2014/main" id="{5214AA93-BDBB-4F23-9712-4755FDF4CCBC}"/>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B2FF90DF-E5AB-4626-A6F1-CE307901321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2510E1-AAF4-4EE6-8C99-D7AE613743F9}" type="slidenum">
              <a:rPr lang="en-US" altLang="en-US">
                <a:solidFill>
                  <a:srgbClr val="898989"/>
                </a:solidFill>
                <a:latin typeface="Calibri" panose="020F0502020204030204" pitchFamily="34" charset="0"/>
              </a:rPr>
              <a:pPr eaLnBrk="1" hangingPunct="1"/>
              <a:t>158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B53A5E77-6E91-476B-8EEF-94C9225D592F}"/>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pic>
        <p:nvPicPr>
          <p:cNvPr id="56327" name="Picture 4" descr="greeidly picking nodes">
            <a:extLst>
              <a:ext uri="{FF2B5EF4-FFF2-40B4-BE49-F238E27FC236}">
                <a16:creationId xmlns:a16="http://schemas.microsoft.com/office/drawing/2014/main" id="{B5721723-AE7D-4DC9-AECE-2B96B1511F2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643189" y="1676400"/>
            <a:ext cx="6981825" cy="2971800"/>
          </a:xfrm>
          <a:noFill/>
        </p:spPr>
      </p:pic>
      <p:sp>
        <p:nvSpPr>
          <p:cNvPr id="2" name="Rectangle 1">
            <a:extLst>
              <a:ext uri="{FF2B5EF4-FFF2-40B4-BE49-F238E27FC236}">
                <a16:creationId xmlns:a16="http://schemas.microsoft.com/office/drawing/2014/main" id="{3E82E361-65A1-40C3-B1AF-A79083B96D75}"/>
              </a:ext>
            </a:extLst>
          </p:cNvPr>
          <p:cNvSpPr/>
          <p:nvPr/>
        </p:nvSpPr>
        <p:spPr>
          <a:xfrm>
            <a:off x="2325529" y="1003359"/>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6327"/>
                                        </p:tgtEl>
                                        <p:attrNameLst>
                                          <p:attrName>style.visibility</p:attrName>
                                        </p:attrNameLst>
                                      </p:cBhvr>
                                      <p:to>
                                        <p:strVal val="visible"/>
                                      </p:to>
                                    </p:set>
                                    <p:animEffect transition="in" filter="barn(inVertical)">
                                      <p:cBhvr>
                                        <p:cTn id="7" dur="500"/>
                                        <p:tgtEl>
                                          <p:spTgt spid="56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A012F84-E40C-43EB-9BB5-4703CB02E677}"/>
              </a:ext>
            </a:extLst>
          </p:cNvPr>
          <p:cNvSpPr>
            <a:spLocks noGrp="1"/>
          </p:cNvSpPr>
          <p:nvPr>
            <p:ph type="dt" sz="quarter" idx="10"/>
          </p:nvPr>
        </p:nvSpPr>
        <p:spPr/>
        <p:txBody>
          <a:bodyPr/>
          <a:lstStyle/>
          <a:p>
            <a:pPr>
              <a:defRPr/>
            </a:pPr>
            <a:fld id="{FF2D35B1-D9FE-43FC-B038-70AD87E46B70}" type="datetime1">
              <a:rPr lang="en-US" smtClean="0"/>
              <a:t>8/26/2026</a:t>
            </a:fld>
            <a:endParaRPr lang="en-US"/>
          </a:p>
        </p:txBody>
      </p:sp>
      <p:sp>
        <p:nvSpPr>
          <p:cNvPr id="5" name="Footer Placeholder 4">
            <a:extLst>
              <a:ext uri="{FF2B5EF4-FFF2-40B4-BE49-F238E27FC236}">
                <a16:creationId xmlns:a16="http://schemas.microsoft.com/office/drawing/2014/main" id="{899829E3-073A-4CF5-AB98-54DA57D72DCB}"/>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F6B6B351-CFF1-40A0-8CBD-53EC1F6184B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999BBE9-160D-427D-B2BB-B71E83CD9080}" type="slidenum">
              <a:rPr lang="en-US" altLang="en-US">
                <a:solidFill>
                  <a:srgbClr val="898989"/>
                </a:solidFill>
                <a:latin typeface="Calibri" panose="020F0502020204030204" pitchFamily="34" charset="0"/>
              </a:rPr>
              <a:pPr eaLnBrk="1" hangingPunct="1"/>
              <a:t>159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35256C79-6A54-4F72-A331-AFAED4E129C4}"/>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57351" name="Rectangle 10">
            <a:extLst>
              <a:ext uri="{FF2B5EF4-FFF2-40B4-BE49-F238E27FC236}">
                <a16:creationId xmlns:a16="http://schemas.microsoft.com/office/drawing/2014/main" id="{3F209178-992E-4E5A-8C34-906839B820E6}"/>
              </a:ext>
            </a:extLst>
          </p:cNvPr>
          <p:cNvSpPr>
            <a:spLocks noChangeArrowheads="1"/>
          </p:cNvSpPr>
          <p:nvPr/>
        </p:nvSpPr>
        <p:spPr bwMode="auto">
          <a:xfrm>
            <a:off x="1981200" y="1219200"/>
            <a:ext cx="8382000"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200" dirty="0">
                <a:latin typeface="+mj-lt"/>
              </a:rPr>
              <a:t>We again sort the nodes according to the values and repeat the same process with the first two nodes.</a:t>
            </a:r>
          </a:p>
          <a:p>
            <a:pPr eaLnBrk="1" hangingPunct="1"/>
            <a:endParaRPr lang="en-US" altLang="en-US" sz="2200" dirty="0"/>
          </a:p>
          <a:p>
            <a:pPr eaLnBrk="1" hangingPunct="1"/>
            <a:r>
              <a:rPr lang="en-US" altLang="en-US" sz="2400" dirty="0"/>
              <a:t> </a:t>
            </a:r>
          </a:p>
          <a:p>
            <a:pPr eaLnBrk="1" hangingPunct="1"/>
            <a:endParaRPr lang="en-US" altLang="en-US" sz="2200" dirty="0"/>
          </a:p>
          <a:p>
            <a:pPr eaLnBrk="1" hangingPunct="1"/>
            <a:endParaRPr lang="en-US" altLang="en-US" sz="2200" dirty="0"/>
          </a:p>
        </p:txBody>
      </p:sp>
      <p:pic>
        <p:nvPicPr>
          <p:cNvPr id="57353" name="Picture 2" descr="step-wise huffman algorithm">
            <a:extLst>
              <a:ext uri="{FF2B5EF4-FFF2-40B4-BE49-F238E27FC236}">
                <a16:creationId xmlns:a16="http://schemas.microsoft.com/office/drawing/2014/main" id="{CDE06123-325D-4F14-ADF1-FD7A00B2DA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590800"/>
            <a:ext cx="72390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7FCCE0FF-2DFC-40CF-9219-B15EB8C99E2D}"/>
              </a:ext>
            </a:extLst>
          </p:cNvPr>
          <p:cNvSpPr/>
          <p:nvPr/>
        </p:nvSpPr>
        <p:spPr>
          <a:xfrm>
            <a:off x="1996441" y="871715"/>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7353"/>
                                        </p:tgtEl>
                                        <p:attrNameLst>
                                          <p:attrName>style.visibility</p:attrName>
                                        </p:attrNameLst>
                                      </p:cBhvr>
                                      <p:to>
                                        <p:strVal val="visible"/>
                                      </p:to>
                                    </p:set>
                                    <p:animEffect transition="in" filter="barn(inVertical)">
                                      <p:cBhvr>
                                        <p:cTn id="7" dur="500"/>
                                        <p:tgtEl>
                                          <p:spTgt spid="57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C4836CE-9940-443F-9E45-6A102EB2C768}"/>
              </a:ext>
            </a:extLst>
          </p:cNvPr>
          <p:cNvSpPr>
            <a:spLocks noGrp="1"/>
          </p:cNvSpPr>
          <p:nvPr>
            <p:ph type="dt" sz="quarter" idx="10"/>
          </p:nvPr>
        </p:nvSpPr>
        <p:spPr/>
        <p:txBody>
          <a:bodyPr/>
          <a:lstStyle/>
          <a:p>
            <a:pPr>
              <a:defRPr/>
            </a:pPr>
            <a:fld id="{8AA98480-FC9F-4DDA-9830-8285206E7116}" type="datetime1">
              <a:rPr lang="en-US" smtClean="0"/>
              <a:t>8/26/2026</a:t>
            </a:fld>
            <a:endParaRPr lang="en-US"/>
          </a:p>
        </p:txBody>
      </p:sp>
      <p:sp>
        <p:nvSpPr>
          <p:cNvPr id="5" name="Footer Placeholder 4">
            <a:extLst>
              <a:ext uri="{FF2B5EF4-FFF2-40B4-BE49-F238E27FC236}">
                <a16:creationId xmlns:a16="http://schemas.microsoft.com/office/drawing/2014/main" id="{03F2BA91-B103-4A99-A306-A73C75C76F6B}"/>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05232D8E-6727-430D-A2D0-A71B701A8DA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A233EF-C76C-4D1C-B5FA-ADB0A7D8B279}" type="slidenum">
              <a:rPr lang="en-US" altLang="en-US">
                <a:solidFill>
                  <a:srgbClr val="898989"/>
                </a:solidFill>
                <a:latin typeface="Calibri" panose="020F0502020204030204" pitchFamily="34" charset="0"/>
              </a:rPr>
              <a:pPr eaLnBrk="1" hangingPunct="1"/>
              <a:t>160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5F152573-EF6D-47C6-9C56-F31D812FB424}"/>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58375" name="Rectangle 1">
            <a:extLst>
              <a:ext uri="{FF2B5EF4-FFF2-40B4-BE49-F238E27FC236}">
                <a16:creationId xmlns:a16="http://schemas.microsoft.com/office/drawing/2014/main" id="{CD162309-2186-4FC4-AF82-9063B141E048}"/>
              </a:ext>
            </a:extLst>
          </p:cNvPr>
          <p:cNvSpPr>
            <a:spLocks noChangeArrowheads="1"/>
          </p:cNvSpPr>
          <p:nvPr/>
        </p:nvSpPr>
        <p:spPr bwMode="auto">
          <a:xfrm>
            <a:off x="1524000" y="-2232"/>
            <a:ext cx="2840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333333"/>
                </a:solidFill>
                <a:latin typeface="Noto Sans"/>
              </a:rPr>
              <a:t>s.</a:t>
            </a:r>
            <a:endParaRPr lang="en-US" altLang="en-US" sz="800"/>
          </a:p>
          <a:p>
            <a:r>
              <a:rPr lang="en-US" altLang="en-US" sz="1200">
                <a:solidFill>
                  <a:srgbClr val="333333"/>
                </a:solidFill>
                <a:latin typeface="Noto Sans"/>
              </a:rPr>
              <a:t>  </a:t>
            </a:r>
            <a:endParaRPr lang="en-US" altLang="en-US" sz="11500">
              <a:solidFill>
                <a:srgbClr val="333333"/>
              </a:solidFill>
              <a:latin typeface="Noto Sans"/>
            </a:endParaRPr>
          </a:p>
        </p:txBody>
      </p:sp>
      <p:pic>
        <p:nvPicPr>
          <p:cNvPr id="58376" name="Picture 5" descr="step-wise huffman algorithm">
            <a:extLst>
              <a:ext uri="{FF2B5EF4-FFF2-40B4-BE49-F238E27FC236}">
                <a16:creationId xmlns:a16="http://schemas.microsoft.com/office/drawing/2014/main" id="{6A057045-7947-4C37-9956-70F028EA99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600200"/>
            <a:ext cx="67056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F377BFF-DE77-46E9-8A18-33E41C80EE88}"/>
              </a:ext>
            </a:extLst>
          </p:cNvPr>
          <p:cNvSpPr/>
          <p:nvPr/>
        </p:nvSpPr>
        <p:spPr>
          <a:xfrm>
            <a:off x="2153365" y="899377"/>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8376"/>
                                        </p:tgtEl>
                                        <p:attrNameLst>
                                          <p:attrName>style.visibility</p:attrName>
                                        </p:attrNameLst>
                                      </p:cBhvr>
                                      <p:to>
                                        <p:strVal val="visible"/>
                                      </p:to>
                                    </p:set>
                                    <p:animEffect transition="in" filter="barn(inVertical)">
                                      <p:cBhvr>
                                        <p:cTn id="7" dur="500"/>
                                        <p:tgtEl>
                                          <p:spTgt spid="58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D7ED86E-3248-406C-AA3C-E0BF71D3C436}"/>
              </a:ext>
            </a:extLst>
          </p:cNvPr>
          <p:cNvSpPr>
            <a:spLocks noGrp="1"/>
          </p:cNvSpPr>
          <p:nvPr>
            <p:ph type="dt" sz="quarter" idx="10"/>
          </p:nvPr>
        </p:nvSpPr>
        <p:spPr/>
        <p:txBody>
          <a:bodyPr/>
          <a:lstStyle/>
          <a:p>
            <a:pPr>
              <a:defRPr/>
            </a:pPr>
            <a:fld id="{45BE9E97-C044-4AEB-8CF5-86A136B9C5FE}" type="datetime1">
              <a:rPr lang="en-US" smtClean="0"/>
              <a:t>8/26/2026</a:t>
            </a:fld>
            <a:endParaRPr lang="en-US"/>
          </a:p>
        </p:txBody>
      </p:sp>
      <p:sp>
        <p:nvSpPr>
          <p:cNvPr id="5" name="Footer Placeholder 4">
            <a:extLst>
              <a:ext uri="{FF2B5EF4-FFF2-40B4-BE49-F238E27FC236}">
                <a16:creationId xmlns:a16="http://schemas.microsoft.com/office/drawing/2014/main" id="{49ED3BC2-E05C-4FB3-8532-DFA665B88820}"/>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BD3A718D-37BE-438B-ACDF-19334C03F9E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6703CE-969D-4DE3-AB19-EBF9BF066824}" type="slidenum">
              <a:rPr lang="en-US" altLang="en-US">
                <a:solidFill>
                  <a:srgbClr val="898989"/>
                </a:solidFill>
                <a:latin typeface="Calibri" panose="020F0502020204030204" pitchFamily="34" charset="0"/>
              </a:rPr>
              <a:pPr eaLnBrk="1" hangingPunct="1"/>
              <a:t>161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15E324EB-E9F7-4916-9026-14988A89D849}"/>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59399" name="Rectangle 1">
            <a:extLst>
              <a:ext uri="{FF2B5EF4-FFF2-40B4-BE49-F238E27FC236}">
                <a16:creationId xmlns:a16="http://schemas.microsoft.com/office/drawing/2014/main" id="{30687244-DC90-4375-A128-34D0DA6309D8}"/>
              </a:ext>
            </a:extLst>
          </p:cNvPr>
          <p:cNvSpPr>
            <a:spLocks noChangeArrowheads="1"/>
          </p:cNvSpPr>
          <p:nvPr/>
        </p:nvSpPr>
        <p:spPr bwMode="auto">
          <a:xfrm>
            <a:off x="1524000" y="-2232"/>
            <a:ext cx="2840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333333"/>
                </a:solidFill>
                <a:latin typeface="Noto Sans"/>
              </a:rPr>
              <a:t>s.</a:t>
            </a:r>
            <a:endParaRPr lang="en-US" altLang="en-US" sz="800"/>
          </a:p>
          <a:p>
            <a:r>
              <a:rPr lang="en-US" altLang="en-US" sz="1200">
                <a:solidFill>
                  <a:srgbClr val="333333"/>
                </a:solidFill>
                <a:latin typeface="Noto Sans"/>
              </a:rPr>
              <a:t>  </a:t>
            </a:r>
            <a:endParaRPr lang="en-US" altLang="en-US" sz="11500">
              <a:solidFill>
                <a:srgbClr val="333333"/>
              </a:solidFill>
              <a:latin typeface="Noto Sans"/>
            </a:endParaRPr>
          </a:p>
        </p:txBody>
      </p:sp>
      <p:pic>
        <p:nvPicPr>
          <p:cNvPr id="59400" name="Picture 8" descr="step-wise huffman algorithm">
            <a:extLst>
              <a:ext uri="{FF2B5EF4-FFF2-40B4-BE49-F238E27FC236}">
                <a16:creationId xmlns:a16="http://schemas.microsoft.com/office/drawing/2014/main" id="{CB7D55EB-BEE3-47C1-A755-EA1231CAB7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600200"/>
            <a:ext cx="7221538"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318696F4-C3DF-4BC3-9609-A08C1A12F16A}"/>
              </a:ext>
            </a:extLst>
          </p:cNvPr>
          <p:cNvSpPr/>
          <p:nvPr/>
        </p:nvSpPr>
        <p:spPr>
          <a:xfrm>
            <a:off x="2325529" y="884355"/>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9400"/>
                                        </p:tgtEl>
                                        <p:attrNameLst>
                                          <p:attrName>style.visibility</p:attrName>
                                        </p:attrNameLst>
                                      </p:cBhvr>
                                      <p:to>
                                        <p:strVal val="visible"/>
                                      </p:to>
                                    </p:set>
                                    <p:animEffect transition="in" filter="barn(inVertical)">
                                      <p:cBhvr>
                                        <p:cTn id="7" dur="500"/>
                                        <p:tgtEl>
                                          <p:spTgt spid="59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DC45E7F-0012-4D7B-955A-BBF9C528189A}"/>
              </a:ext>
            </a:extLst>
          </p:cNvPr>
          <p:cNvSpPr>
            <a:spLocks noGrp="1"/>
          </p:cNvSpPr>
          <p:nvPr>
            <p:ph type="dt" sz="quarter" idx="10"/>
          </p:nvPr>
        </p:nvSpPr>
        <p:spPr/>
        <p:txBody>
          <a:bodyPr/>
          <a:lstStyle/>
          <a:p>
            <a:pPr>
              <a:defRPr/>
            </a:pPr>
            <a:fld id="{CCF27413-4E1E-439C-9B7E-2DD3ACDEDA1B}" type="datetime1">
              <a:rPr lang="en-US" smtClean="0"/>
              <a:t>8/26/2026</a:t>
            </a:fld>
            <a:endParaRPr lang="en-US"/>
          </a:p>
        </p:txBody>
      </p:sp>
      <p:sp>
        <p:nvSpPr>
          <p:cNvPr id="5" name="Footer Placeholder 4">
            <a:extLst>
              <a:ext uri="{FF2B5EF4-FFF2-40B4-BE49-F238E27FC236}">
                <a16:creationId xmlns:a16="http://schemas.microsoft.com/office/drawing/2014/main" id="{245EE217-5E11-43E5-ABE3-EE218FDDFEAB}"/>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BA78AD84-E1F2-42E7-9C2D-F579F56A70A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748A189-017A-4C01-82DC-528C27E49FFA}" type="slidenum">
              <a:rPr lang="en-US" altLang="en-US">
                <a:solidFill>
                  <a:srgbClr val="898989"/>
                </a:solidFill>
                <a:latin typeface="Calibri" panose="020F0502020204030204" pitchFamily="34" charset="0"/>
              </a:rPr>
              <a:pPr eaLnBrk="1" hangingPunct="1"/>
              <a:t>162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F7BDECE9-51A9-41EF-914D-6644892D8918}"/>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Greedy Algorithm (CO1)</a:t>
            </a:r>
          </a:p>
        </p:txBody>
      </p:sp>
      <p:sp>
        <p:nvSpPr>
          <p:cNvPr id="60423" name="Rectangle 1">
            <a:extLst>
              <a:ext uri="{FF2B5EF4-FFF2-40B4-BE49-F238E27FC236}">
                <a16:creationId xmlns:a16="http://schemas.microsoft.com/office/drawing/2014/main" id="{E1D3A305-A964-4285-B674-084BDECB74E0}"/>
              </a:ext>
            </a:extLst>
          </p:cNvPr>
          <p:cNvSpPr>
            <a:spLocks noChangeArrowheads="1"/>
          </p:cNvSpPr>
          <p:nvPr/>
        </p:nvSpPr>
        <p:spPr bwMode="auto">
          <a:xfrm>
            <a:off x="1524000" y="-2232"/>
            <a:ext cx="2840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333333"/>
                </a:solidFill>
                <a:latin typeface="Noto Sans"/>
              </a:rPr>
              <a:t>s.</a:t>
            </a:r>
            <a:endParaRPr lang="en-US" altLang="en-US" sz="800"/>
          </a:p>
          <a:p>
            <a:r>
              <a:rPr lang="en-US" altLang="en-US" sz="1200">
                <a:solidFill>
                  <a:srgbClr val="333333"/>
                </a:solidFill>
                <a:latin typeface="Noto Sans"/>
              </a:rPr>
              <a:t>  </a:t>
            </a:r>
            <a:endParaRPr lang="en-US" altLang="en-US" sz="11500">
              <a:solidFill>
                <a:srgbClr val="333333"/>
              </a:solidFill>
              <a:latin typeface="Noto Sans"/>
            </a:endParaRPr>
          </a:p>
        </p:txBody>
      </p:sp>
      <p:pic>
        <p:nvPicPr>
          <p:cNvPr id="60424" name="Picture 11" descr="step-wise huffman algorithm">
            <a:extLst>
              <a:ext uri="{FF2B5EF4-FFF2-40B4-BE49-F238E27FC236}">
                <a16:creationId xmlns:a16="http://schemas.microsoft.com/office/drawing/2014/main" id="{725EB296-EB39-481D-A517-636CB7967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900" y="1219200"/>
            <a:ext cx="8001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E7CC7C09-3F31-4477-960F-FCB05781DA0A}"/>
              </a:ext>
            </a:extLst>
          </p:cNvPr>
          <p:cNvSpPr/>
          <p:nvPr/>
        </p:nvSpPr>
        <p:spPr>
          <a:xfrm>
            <a:off x="2196906" y="909696"/>
            <a:ext cx="2682145" cy="501676"/>
          </a:xfrm>
          <a:prstGeom prst="rect">
            <a:avLst/>
          </a:prstGeom>
        </p:spPr>
        <p:txBody>
          <a:bodyPr wrap="none">
            <a:spAutoFit/>
          </a:bodyPr>
          <a:lstStyle/>
          <a:p>
            <a:pPr>
              <a:lnSpc>
                <a:spcPct val="95000"/>
              </a:lnSpc>
              <a:defRPr/>
            </a:pPr>
            <a:r>
              <a:rPr lang="en-US" sz="2800" b="1" dirty="0">
                <a:solidFill>
                  <a:srgbClr val="3B62AF"/>
                </a:solidFill>
              </a:rPr>
              <a:t>Huffman Coding </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0424"/>
                                        </p:tgtEl>
                                        <p:attrNameLst>
                                          <p:attrName>style.visibility</p:attrName>
                                        </p:attrNameLst>
                                      </p:cBhvr>
                                      <p:to>
                                        <p:strVal val="visible"/>
                                      </p:to>
                                    </p:set>
                                    <p:animEffect transition="in" filter="barn(inVertical)">
                                      <p:cBhvr>
                                        <p:cTn id="7" dur="500"/>
                                        <p:tgtEl>
                                          <p:spTgt spid="60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69F5B4F-B564-4AEA-8BDA-CB5245EE87EE}"/>
              </a:ext>
            </a:extLst>
          </p:cNvPr>
          <p:cNvSpPr>
            <a:spLocks noGrp="1"/>
          </p:cNvSpPr>
          <p:nvPr>
            <p:ph type="dt" sz="quarter" idx="10"/>
          </p:nvPr>
        </p:nvSpPr>
        <p:spPr/>
        <p:txBody>
          <a:bodyPr/>
          <a:lstStyle/>
          <a:p>
            <a:pPr>
              <a:defRPr/>
            </a:pPr>
            <a:fld id="{906942E3-5E13-4E51-B719-D73277217955}" type="datetime1">
              <a:rPr lang="en-US" smtClean="0"/>
              <a:t>8/26/2026</a:t>
            </a:fld>
            <a:endParaRPr lang="en-US"/>
          </a:p>
        </p:txBody>
      </p:sp>
      <p:sp>
        <p:nvSpPr>
          <p:cNvPr id="5" name="Footer Placeholder 4">
            <a:extLst>
              <a:ext uri="{FF2B5EF4-FFF2-40B4-BE49-F238E27FC236}">
                <a16:creationId xmlns:a16="http://schemas.microsoft.com/office/drawing/2014/main" id="{5E2B0927-A080-4239-8992-5CA13DBFB33D}"/>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DDF343FD-CC85-4293-B12F-5FA4A9FA2E2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F88CA7-1E5B-464D-B966-7255F8A7B63E}" type="slidenum">
              <a:rPr lang="en-US" altLang="en-US">
                <a:solidFill>
                  <a:srgbClr val="898989"/>
                </a:solidFill>
                <a:latin typeface="Calibri" panose="020F0502020204030204" pitchFamily="34" charset="0"/>
              </a:rPr>
              <a:pPr eaLnBrk="1" hangingPunct="1"/>
              <a:t>163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B1B5D06A-3CEC-4DFF-A9C3-D90027BAAF33}"/>
              </a:ext>
            </a:extLst>
          </p:cNvPr>
          <p:cNvSpPr txBox="1">
            <a:spLocks/>
          </p:cNvSpPr>
          <p:nvPr/>
        </p:nvSpPr>
        <p:spPr>
          <a:xfrm>
            <a:off x="2895600" y="0"/>
            <a:ext cx="7772400" cy="685800"/>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a:t>
            </a:r>
          </a:p>
        </p:txBody>
      </p:sp>
      <p:sp>
        <p:nvSpPr>
          <p:cNvPr id="20487" name="Rectangle 10">
            <a:extLst>
              <a:ext uri="{FF2B5EF4-FFF2-40B4-BE49-F238E27FC236}">
                <a16:creationId xmlns:a16="http://schemas.microsoft.com/office/drawing/2014/main" id="{D0C3E10B-D89E-42A2-B9EF-A4E1F4CCA06F}"/>
              </a:ext>
            </a:extLst>
          </p:cNvPr>
          <p:cNvSpPr>
            <a:spLocks noChangeArrowheads="1"/>
          </p:cNvSpPr>
          <p:nvPr/>
        </p:nvSpPr>
        <p:spPr bwMode="auto">
          <a:xfrm>
            <a:off x="914400" y="751344"/>
            <a:ext cx="10668000"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latin typeface="Calibri" panose="020F0502020204030204" pitchFamily="34" charset="0"/>
              </a:rPr>
              <a:t>Heap Sort</a:t>
            </a:r>
          </a:p>
          <a:p>
            <a:pPr marL="285750" indent="-285750" eaLnBrk="1" hangingPunct="1">
              <a:buFont typeface="Arial" panose="020B0604020202020204" pitchFamily="34" charset="0"/>
              <a:buChar char="•"/>
            </a:pPr>
            <a:r>
              <a:rPr lang="en-IN" sz="2200" dirty="0">
                <a:latin typeface="+mj-lt"/>
              </a:rPr>
              <a:t>Heap sort is a comparison based sorting technique based on Binary Heap data structure.</a:t>
            </a:r>
            <a:endParaRPr lang="en-US" altLang="en-US" sz="2200" b="1" dirty="0">
              <a:latin typeface="+mj-lt"/>
            </a:endParaRPr>
          </a:p>
          <a:p>
            <a:pPr eaLnBrk="1" hangingPunct="1"/>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r>
              <a:rPr lang="en-US" altLang="en-US" sz="2200" dirty="0">
                <a:latin typeface="Calibri" panose="020F0502020204030204" pitchFamily="34" charset="0"/>
              </a:rPr>
              <a:t>The binary heap data structure is an array that can be viewed as almost complete binary tree. </a:t>
            </a: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r>
              <a:rPr lang="en-US" altLang="en-US" sz="2200" dirty="0">
                <a:latin typeface="Calibri" panose="020F0502020204030204" pitchFamily="34" charset="0"/>
              </a:rPr>
              <a:t>Each node of the binary tree corresponds to an element of the array.</a:t>
            </a: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algn="just" eaLnBrk="1" hangingPunct="1">
              <a:buFont typeface="Arial" panose="020B0604020202020204" pitchFamily="34" charset="0"/>
              <a:buChar char="•"/>
            </a:pPr>
            <a:r>
              <a:rPr lang="en-IN" sz="2200" dirty="0">
                <a:latin typeface="+mj-lt"/>
              </a:rPr>
              <a:t>It is similar to selection sort where we first find the maximum element and place the maximum element at the end.</a:t>
            </a:r>
          </a:p>
          <a:p>
            <a:pPr eaLnBrk="1" hangingPunct="1"/>
            <a:endParaRPr lang="en-IN" sz="2200" dirty="0">
              <a:latin typeface="+mj-lt"/>
            </a:endParaRPr>
          </a:p>
          <a:p>
            <a:pPr marL="285750" indent="-285750" eaLnBrk="1" hangingPunct="1">
              <a:buFont typeface="Arial" panose="020B0604020202020204" pitchFamily="34" charset="0"/>
              <a:buChar char="•"/>
            </a:pPr>
            <a:r>
              <a:rPr lang="en-IN" sz="2200" dirty="0">
                <a:latin typeface="+mj-lt"/>
              </a:rPr>
              <a:t> We repeat the same process for remaining element.</a:t>
            </a:r>
            <a:endParaRPr lang="en-US" altLang="en-US" sz="2200" dirty="0">
              <a:latin typeface="+mj-lt"/>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4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69F5B4F-B564-4AEA-8BDA-CB5245EE87EE}"/>
              </a:ext>
            </a:extLst>
          </p:cNvPr>
          <p:cNvSpPr>
            <a:spLocks noGrp="1"/>
          </p:cNvSpPr>
          <p:nvPr>
            <p:ph type="dt" sz="quarter" idx="10"/>
          </p:nvPr>
        </p:nvSpPr>
        <p:spPr/>
        <p:txBody>
          <a:bodyPr/>
          <a:lstStyle/>
          <a:p>
            <a:pPr>
              <a:defRPr/>
            </a:pPr>
            <a:fld id="{A7712390-9013-40BB-8BBC-07361AE91553}" type="datetime1">
              <a:rPr lang="en-US" smtClean="0"/>
              <a:t>8/26/2026</a:t>
            </a:fld>
            <a:endParaRPr lang="en-US"/>
          </a:p>
        </p:txBody>
      </p:sp>
      <p:sp>
        <p:nvSpPr>
          <p:cNvPr id="5" name="Footer Placeholder 4">
            <a:extLst>
              <a:ext uri="{FF2B5EF4-FFF2-40B4-BE49-F238E27FC236}">
                <a16:creationId xmlns:a16="http://schemas.microsoft.com/office/drawing/2014/main" id="{5E2B0927-A080-4239-8992-5CA13DBFB33D}"/>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DDF343FD-CC85-4293-B12F-5FA4A9FA2E2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F88CA7-1E5B-464D-B966-7255F8A7B63E}" type="slidenum">
              <a:rPr lang="en-US" altLang="en-US">
                <a:solidFill>
                  <a:srgbClr val="898989"/>
                </a:solidFill>
                <a:latin typeface="Calibri" panose="020F0502020204030204" pitchFamily="34" charset="0"/>
              </a:rPr>
              <a:pPr eaLnBrk="1" hangingPunct="1"/>
              <a:t>164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B1B5D06A-3CEC-4DFF-A9C3-D90027BAAF33}"/>
              </a:ext>
            </a:extLst>
          </p:cNvPr>
          <p:cNvSpPr txBox="1">
            <a:spLocks/>
          </p:cNvSpPr>
          <p:nvPr/>
        </p:nvSpPr>
        <p:spPr>
          <a:xfrm>
            <a:off x="2895600" y="0"/>
            <a:ext cx="7772400" cy="685800"/>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a:t>
            </a:r>
          </a:p>
        </p:txBody>
      </p:sp>
      <p:sp>
        <p:nvSpPr>
          <p:cNvPr id="20487" name="Rectangle 10">
            <a:extLst>
              <a:ext uri="{FF2B5EF4-FFF2-40B4-BE49-F238E27FC236}">
                <a16:creationId xmlns:a16="http://schemas.microsoft.com/office/drawing/2014/main" id="{D0C3E10B-D89E-42A2-B9EF-A4E1F4CCA06F}"/>
              </a:ext>
            </a:extLst>
          </p:cNvPr>
          <p:cNvSpPr>
            <a:spLocks noChangeArrowheads="1"/>
          </p:cNvSpPr>
          <p:nvPr/>
        </p:nvSpPr>
        <p:spPr bwMode="auto">
          <a:xfrm>
            <a:off x="1371600" y="1066801"/>
            <a:ext cx="90678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latin typeface="Calibri" panose="020F0502020204030204" pitchFamily="34" charset="0"/>
              </a:rPr>
              <a:t> Heap Sort</a:t>
            </a:r>
          </a:p>
          <a:p>
            <a:pPr marL="285750" indent="-285750" eaLnBrk="1" hangingPunct="1">
              <a:buFont typeface="Arial" panose="020B0604020202020204" pitchFamily="34" charset="0"/>
              <a:buChar char="•"/>
            </a:pPr>
            <a:endParaRPr lang="en-US" altLang="en-US" b="1" dirty="0">
              <a:latin typeface="Calibri" panose="020F0502020204030204" pitchFamily="34" charset="0"/>
            </a:endParaRPr>
          </a:p>
          <a:p>
            <a:pPr marL="285750" indent="-285750" eaLnBrk="1" hangingPunct="1">
              <a:buFont typeface="Arial" panose="020B0604020202020204" pitchFamily="34" charset="0"/>
              <a:buChar char="•"/>
            </a:pPr>
            <a:r>
              <a:rPr lang="en-US" altLang="en-US" sz="2400" b="1" dirty="0">
                <a:latin typeface="Calibri" panose="020F0502020204030204" pitchFamily="34" charset="0"/>
              </a:rPr>
              <a:t>For Example</a:t>
            </a:r>
          </a:p>
          <a:p>
            <a:pPr marL="285750" indent="-285750" eaLnBrk="1" hangingPunct="1">
              <a:buFont typeface="Arial" panose="020B0604020202020204" pitchFamily="34" charset="0"/>
              <a:buChar char="•"/>
            </a:pPr>
            <a:r>
              <a:rPr lang="en-US" altLang="en-US" sz="2200" dirty="0">
                <a:latin typeface="Calibri" panose="020F0502020204030204" pitchFamily="34" charset="0"/>
              </a:rPr>
              <a:t>We represent heaps in level order, going from left to right. </a:t>
            </a: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endParaRPr lang="en-US" altLang="en-US" sz="2200" dirty="0">
              <a:latin typeface="Calibri" panose="020F0502020204030204" pitchFamily="34" charset="0"/>
            </a:endParaRPr>
          </a:p>
          <a:p>
            <a:pPr marL="285750" indent="-285750" eaLnBrk="1" hangingPunct="1">
              <a:buFont typeface="Arial" panose="020B0604020202020204" pitchFamily="34" charset="0"/>
              <a:buChar char="•"/>
            </a:pPr>
            <a:r>
              <a:rPr lang="en-US" altLang="en-US" sz="2200" dirty="0">
                <a:latin typeface="Calibri" panose="020F0502020204030204" pitchFamily="34" charset="0"/>
              </a:rPr>
              <a:t>The array corresponding to the heap above is       [25, 13, 17, 5, 8, 3].</a:t>
            </a:r>
          </a:p>
        </p:txBody>
      </p:sp>
      <p:pic>
        <p:nvPicPr>
          <p:cNvPr id="20488" name="Picture 2">
            <a:extLst>
              <a:ext uri="{FF2B5EF4-FFF2-40B4-BE49-F238E27FC236}">
                <a16:creationId xmlns:a16="http://schemas.microsoft.com/office/drawing/2014/main" id="{695FA80E-4346-48B4-ACC2-74818E6D3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2590800"/>
            <a:ext cx="3116656"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706558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CE4DB6-03F8-4BE9-B9A7-3BED32E41EF2}"/>
              </a:ext>
            </a:extLst>
          </p:cNvPr>
          <p:cNvSpPr>
            <a:spLocks noGrp="1"/>
          </p:cNvSpPr>
          <p:nvPr>
            <p:ph type="dt" sz="quarter" idx="10"/>
          </p:nvPr>
        </p:nvSpPr>
        <p:spPr/>
        <p:txBody>
          <a:bodyPr/>
          <a:lstStyle/>
          <a:p>
            <a:pPr>
              <a:defRPr/>
            </a:pPr>
            <a:fld id="{5CC70BA9-3F7B-4170-B56B-7819AC96439E}" type="datetime1">
              <a:rPr lang="en-US" smtClean="0"/>
              <a:t>8/26/2026</a:t>
            </a:fld>
            <a:endParaRPr lang="en-US"/>
          </a:p>
        </p:txBody>
      </p:sp>
      <p:sp>
        <p:nvSpPr>
          <p:cNvPr id="5" name="Footer Placeholder 4">
            <a:extLst>
              <a:ext uri="{FF2B5EF4-FFF2-40B4-BE49-F238E27FC236}">
                <a16:creationId xmlns:a16="http://schemas.microsoft.com/office/drawing/2014/main" id="{46DABA02-F0F2-45F5-8CBD-FD7202191435}"/>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ED14974C-2A91-4DE2-829C-A1966863D2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A7C774-3E48-4185-8721-893D1465B5FC}" type="slidenum">
              <a:rPr lang="en-US" altLang="en-US">
                <a:solidFill>
                  <a:srgbClr val="898989"/>
                </a:solidFill>
                <a:latin typeface="Calibri" panose="020F0502020204030204" pitchFamily="34" charset="0"/>
              </a:rPr>
              <a:pPr eaLnBrk="1" hangingPunct="1"/>
              <a:t>165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D04C548C-7218-4160-ABFF-72511EAF6314}"/>
              </a:ext>
            </a:extLst>
          </p:cNvPr>
          <p:cNvSpPr txBox="1">
            <a:spLocks/>
          </p:cNvSpPr>
          <p:nvPr/>
        </p:nvSpPr>
        <p:spPr>
          <a:xfrm>
            <a:off x="2895600" y="1"/>
            <a:ext cx="80772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1511" name="Rectangle 8">
            <a:extLst>
              <a:ext uri="{FF2B5EF4-FFF2-40B4-BE49-F238E27FC236}">
                <a16:creationId xmlns:a16="http://schemas.microsoft.com/office/drawing/2014/main" id="{8031335C-88D5-4550-BCC6-416C45A069C4}"/>
              </a:ext>
            </a:extLst>
          </p:cNvPr>
          <p:cNvSpPr>
            <a:spLocks noChangeArrowheads="1"/>
          </p:cNvSpPr>
          <p:nvPr/>
        </p:nvSpPr>
        <p:spPr bwMode="auto">
          <a:xfrm>
            <a:off x="914400" y="990600"/>
            <a:ext cx="94488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a:latin typeface="Calibri" panose="020F0502020204030204" pitchFamily="34" charset="0"/>
              </a:rPr>
              <a:t>Heap Sort   </a:t>
            </a:r>
          </a:p>
          <a:p>
            <a:pPr algn="just" eaLnBrk="1" hangingPunct="1"/>
            <a:r>
              <a:rPr lang="en-US" altLang="en-US" sz="2400" b="1" dirty="0">
                <a:latin typeface="Calibri" panose="020F0502020204030204" pitchFamily="34" charset="0"/>
              </a:rPr>
              <a:t> </a:t>
            </a:r>
          </a:p>
          <a:p>
            <a:pPr algn="just" eaLnBrk="1" hangingPunct="1"/>
            <a:r>
              <a:rPr lang="en-US" altLang="en-US" sz="2200" dirty="0">
                <a:latin typeface="Calibri" panose="020F0502020204030204" pitchFamily="34" charset="0"/>
              </a:rPr>
              <a:t>The root of the tree A[1] and given index </a:t>
            </a:r>
            <a:r>
              <a:rPr lang="en-US" altLang="en-US" sz="2200" i="1" dirty="0" err="1">
                <a:latin typeface="Calibri" panose="020F0502020204030204" pitchFamily="34" charset="0"/>
              </a:rPr>
              <a:t>i</a:t>
            </a:r>
            <a:r>
              <a:rPr lang="en-US" altLang="en-US" sz="2200" i="1" dirty="0">
                <a:latin typeface="Calibri" panose="020F0502020204030204" pitchFamily="34" charset="0"/>
              </a:rPr>
              <a:t> of a node, the indices of its parent, left child and right </a:t>
            </a:r>
            <a:r>
              <a:rPr lang="en-US" altLang="en-US" sz="2200" dirty="0">
                <a:latin typeface="Calibri" panose="020F0502020204030204" pitchFamily="34" charset="0"/>
              </a:rPr>
              <a:t>child can be computed as</a:t>
            </a:r>
          </a:p>
          <a:p>
            <a:pPr algn="just" eaLnBrk="1" hangingPunct="1"/>
            <a:endParaRPr lang="en-US" altLang="en-US" sz="2200" dirty="0">
              <a:latin typeface="Calibri" panose="020F0502020204030204" pitchFamily="34" charset="0"/>
            </a:endParaRPr>
          </a:p>
          <a:p>
            <a:pPr algn="just" eaLnBrk="1" hangingPunct="1"/>
            <a:r>
              <a:rPr lang="en-US" altLang="en-US" sz="2200" dirty="0">
                <a:latin typeface="Calibri" panose="020F0502020204030204" pitchFamily="34" charset="0"/>
              </a:rPr>
              <a:t>                             PARENT (</a:t>
            </a:r>
            <a:r>
              <a:rPr lang="en-US" altLang="en-US" sz="2200" i="1" dirty="0" err="1">
                <a:latin typeface="Calibri" panose="020F0502020204030204" pitchFamily="34" charset="0"/>
              </a:rPr>
              <a:t>i</a:t>
            </a:r>
            <a:r>
              <a:rPr lang="en-US" altLang="en-US" sz="2200" i="1" dirty="0">
                <a:latin typeface="Calibri" panose="020F0502020204030204" pitchFamily="34" charset="0"/>
              </a:rPr>
              <a:t>)  = </a:t>
            </a:r>
            <a:r>
              <a:rPr lang="en-US" altLang="en-US" sz="2200" dirty="0">
                <a:latin typeface="Calibri" panose="020F0502020204030204" pitchFamily="34" charset="0"/>
              </a:rPr>
              <a:t>return floor(</a:t>
            </a:r>
            <a:r>
              <a:rPr lang="en-US" altLang="en-US" sz="2200" i="1" dirty="0" err="1">
                <a:latin typeface="Calibri" panose="020F0502020204030204" pitchFamily="34" charset="0"/>
              </a:rPr>
              <a:t>i</a:t>
            </a:r>
            <a:r>
              <a:rPr lang="en-US" altLang="en-US" sz="2200" i="1" dirty="0">
                <a:latin typeface="Calibri" panose="020F0502020204030204" pitchFamily="34" charset="0"/>
              </a:rPr>
              <a:t>/2)</a:t>
            </a:r>
          </a:p>
          <a:p>
            <a:pPr algn="just" eaLnBrk="1" hangingPunct="1"/>
            <a:r>
              <a:rPr lang="en-US" altLang="en-US" sz="2200" dirty="0">
                <a:latin typeface="Calibri" panose="020F0502020204030204" pitchFamily="34" charset="0"/>
              </a:rPr>
              <a:t>                                   LEFT (</a:t>
            </a:r>
            <a:r>
              <a:rPr lang="en-US" altLang="en-US" sz="2200" i="1" dirty="0" err="1">
                <a:latin typeface="Calibri" panose="020F0502020204030204" pitchFamily="34" charset="0"/>
              </a:rPr>
              <a:t>i</a:t>
            </a:r>
            <a:r>
              <a:rPr lang="en-US" altLang="en-US" sz="2200" i="1" dirty="0">
                <a:latin typeface="Calibri" panose="020F0502020204030204" pitchFamily="34" charset="0"/>
              </a:rPr>
              <a:t>)  =  </a:t>
            </a:r>
            <a:r>
              <a:rPr lang="en-US" altLang="en-US" sz="2200" dirty="0">
                <a:latin typeface="Calibri" panose="020F0502020204030204" pitchFamily="34" charset="0"/>
              </a:rPr>
              <a:t>return 2</a:t>
            </a:r>
            <a:r>
              <a:rPr lang="en-US" altLang="en-US" sz="2200" i="1" dirty="0">
                <a:latin typeface="Calibri" panose="020F0502020204030204" pitchFamily="34" charset="0"/>
              </a:rPr>
              <a:t>i</a:t>
            </a:r>
          </a:p>
          <a:p>
            <a:pPr algn="just" eaLnBrk="1" hangingPunct="1"/>
            <a:r>
              <a:rPr lang="en-US" altLang="en-US" sz="2200" dirty="0">
                <a:latin typeface="Calibri" panose="020F0502020204030204" pitchFamily="34" charset="0"/>
              </a:rPr>
              <a:t>                                RIGHT (</a:t>
            </a:r>
            <a:r>
              <a:rPr lang="en-US" altLang="en-US" sz="2200" i="1" dirty="0" err="1">
                <a:latin typeface="Calibri" panose="020F0502020204030204" pitchFamily="34" charset="0"/>
              </a:rPr>
              <a:t>i</a:t>
            </a:r>
            <a:r>
              <a:rPr lang="en-US" altLang="en-US" sz="2200" i="1" dirty="0">
                <a:latin typeface="Calibri" panose="020F0502020204030204" pitchFamily="34" charset="0"/>
              </a:rPr>
              <a:t>)  =  </a:t>
            </a:r>
            <a:r>
              <a:rPr lang="en-US" altLang="en-US" sz="2200" dirty="0">
                <a:latin typeface="Calibri" panose="020F0502020204030204" pitchFamily="34" charset="0"/>
              </a:rPr>
              <a:t>return 2</a:t>
            </a:r>
            <a:r>
              <a:rPr lang="en-US" altLang="en-US" sz="2200" i="1" dirty="0">
                <a:latin typeface="Calibri" panose="020F0502020204030204" pitchFamily="34" charset="0"/>
              </a:rPr>
              <a:t>i + 1</a:t>
            </a:r>
          </a:p>
          <a:p>
            <a:pPr algn="just" eaLnBrk="1" hangingPunct="1"/>
            <a:endParaRPr lang="en-US" altLang="en-US" sz="2200" b="1" dirty="0">
              <a:latin typeface="Calibri" panose="020F0502020204030204" pitchFamily="34" charset="0"/>
            </a:endParaRPr>
          </a:p>
          <a:p>
            <a:pPr eaLnBrk="1" hangingPunct="1"/>
            <a:endParaRPr lang="en-US" altLang="en-US" sz="2200" b="1"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CE4DB6-03F8-4BE9-B9A7-3BED32E41EF2}"/>
              </a:ext>
            </a:extLst>
          </p:cNvPr>
          <p:cNvSpPr>
            <a:spLocks noGrp="1"/>
          </p:cNvSpPr>
          <p:nvPr>
            <p:ph type="dt" sz="half" idx="10"/>
          </p:nvPr>
        </p:nvSpPr>
        <p:spPr/>
        <p:txBody>
          <a:bodyPr/>
          <a:lstStyle/>
          <a:p>
            <a:pPr>
              <a:defRPr/>
            </a:pPr>
            <a:fld id="{48A1C363-B25E-4540-A857-79C244297A1E}" type="datetime1">
              <a:rPr lang="en-US" smtClean="0"/>
              <a:t>8/26/2026</a:t>
            </a:fld>
            <a:endParaRPr lang="en-US"/>
          </a:p>
        </p:txBody>
      </p:sp>
      <p:sp>
        <p:nvSpPr>
          <p:cNvPr id="5" name="Footer Placeholder 4">
            <a:extLst>
              <a:ext uri="{FF2B5EF4-FFF2-40B4-BE49-F238E27FC236}">
                <a16:creationId xmlns:a16="http://schemas.microsoft.com/office/drawing/2014/main" id="{46DABA02-F0F2-45F5-8CBD-FD7202191435}"/>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ED14974C-2A91-4DE2-829C-A1966863D2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A7C774-3E48-4185-8721-893D1465B5FC}" type="slidenum">
              <a:rPr lang="en-US" altLang="en-US">
                <a:solidFill>
                  <a:srgbClr val="898989"/>
                </a:solidFill>
                <a:latin typeface="Calibri" panose="020F0502020204030204" pitchFamily="34" charset="0"/>
              </a:rPr>
              <a:pPr eaLnBrk="1" hangingPunct="1"/>
              <a:t>166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D04C548C-7218-4160-ABFF-72511EAF6314}"/>
              </a:ext>
            </a:extLst>
          </p:cNvPr>
          <p:cNvSpPr txBox="1">
            <a:spLocks/>
          </p:cNvSpPr>
          <p:nvPr/>
        </p:nvSpPr>
        <p:spPr>
          <a:xfrm>
            <a:off x="2743200" y="76200"/>
            <a:ext cx="8915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1511" name="Rectangle 8">
            <a:extLst>
              <a:ext uri="{FF2B5EF4-FFF2-40B4-BE49-F238E27FC236}">
                <a16:creationId xmlns:a16="http://schemas.microsoft.com/office/drawing/2014/main" id="{8031335C-88D5-4550-BCC6-416C45A069C4}"/>
              </a:ext>
            </a:extLst>
          </p:cNvPr>
          <p:cNvSpPr>
            <a:spLocks noChangeArrowheads="1"/>
          </p:cNvSpPr>
          <p:nvPr/>
        </p:nvSpPr>
        <p:spPr bwMode="auto">
          <a:xfrm>
            <a:off x="1143000" y="865628"/>
            <a:ext cx="105918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a:latin typeface="Calibri" panose="020F0502020204030204" pitchFamily="34" charset="0"/>
              </a:rPr>
              <a:t>Heap Property</a:t>
            </a:r>
            <a:endParaRPr lang="en-US" altLang="en-US" sz="2400" dirty="0">
              <a:latin typeface="Calibri" panose="020F0502020204030204" pitchFamily="34" charset="0"/>
            </a:endParaRPr>
          </a:p>
          <a:p>
            <a:pPr marL="457200" indent="-457200" algn="just" eaLnBrk="1" hangingPunct="1">
              <a:buAutoNum type="arabicPeriod"/>
            </a:pPr>
            <a:r>
              <a:rPr lang="en-US" altLang="en-US" sz="2200" b="1" dirty="0">
                <a:latin typeface="+mj-lt"/>
              </a:rPr>
              <a:t>Max-heap property: </a:t>
            </a:r>
            <a:r>
              <a:rPr lang="en-IN" sz="2200" dirty="0">
                <a:latin typeface="+mj-lt"/>
              </a:rPr>
              <a:t>A max-</a:t>
            </a:r>
            <a:r>
              <a:rPr lang="en-IN" sz="2200" b="1" dirty="0">
                <a:latin typeface="+mj-lt"/>
              </a:rPr>
              <a:t>heap</a:t>
            </a:r>
            <a:r>
              <a:rPr lang="en-IN" sz="2200" dirty="0">
                <a:latin typeface="+mj-lt"/>
              </a:rPr>
              <a:t> is a </a:t>
            </a:r>
            <a:r>
              <a:rPr lang="en-IN" sz="2200" b="1" dirty="0">
                <a:latin typeface="+mj-lt"/>
              </a:rPr>
              <a:t>binary</a:t>
            </a:r>
            <a:r>
              <a:rPr lang="en-IN" sz="2200" dirty="0">
                <a:latin typeface="+mj-lt"/>
              </a:rPr>
              <a:t> tree such that. - the data contained in each node is greater than (or equal to) the data in that node's children. </a:t>
            </a:r>
            <a:r>
              <a:rPr lang="en-IN" sz="2200" dirty="0" err="1">
                <a:latin typeface="+mj-lt"/>
              </a:rPr>
              <a:t>ie</a:t>
            </a:r>
            <a:r>
              <a:rPr lang="en-IN" sz="2200" dirty="0">
                <a:latin typeface="+mj-lt"/>
              </a:rPr>
              <a:t>. </a:t>
            </a:r>
            <a:r>
              <a:rPr lang="en-US" altLang="en-US" sz="2200" dirty="0">
                <a:latin typeface="+mj-lt"/>
              </a:rPr>
              <a:t>for every node </a:t>
            </a:r>
            <a:r>
              <a:rPr lang="en-US" altLang="en-US" sz="2200" dirty="0" err="1">
                <a:latin typeface="+mj-lt"/>
              </a:rPr>
              <a:t>i</a:t>
            </a:r>
            <a:r>
              <a:rPr lang="en-US" altLang="en-US" sz="2200" dirty="0">
                <a:latin typeface="+mj-lt"/>
              </a:rPr>
              <a:t> other than the root                        </a:t>
            </a:r>
          </a:p>
          <a:p>
            <a:pPr algn="just" eaLnBrk="1" hangingPunct="1"/>
            <a:r>
              <a:rPr lang="en-US" altLang="en-US" sz="2200" dirty="0">
                <a:latin typeface="+mj-lt"/>
              </a:rPr>
              <a:t>				A[PARENT(</a:t>
            </a:r>
            <a:r>
              <a:rPr lang="en-US" altLang="en-US" sz="2200" dirty="0" err="1">
                <a:latin typeface="+mj-lt"/>
              </a:rPr>
              <a:t>i</a:t>
            </a:r>
            <a:r>
              <a:rPr lang="en-US" altLang="en-US" sz="2200" dirty="0">
                <a:latin typeface="+mj-lt"/>
              </a:rPr>
              <a:t>)] &gt;= A[</a:t>
            </a:r>
            <a:r>
              <a:rPr lang="en-US" altLang="en-US" sz="2200" dirty="0" err="1">
                <a:latin typeface="+mj-lt"/>
              </a:rPr>
              <a:t>i</a:t>
            </a:r>
            <a:r>
              <a:rPr lang="en-US" altLang="en-US" sz="2200" dirty="0">
                <a:latin typeface="+mj-lt"/>
              </a:rPr>
              <a:t>]</a:t>
            </a:r>
          </a:p>
          <a:p>
            <a:pPr algn="just" eaLnBrk="1" hangingPunct="1"/>
            <a:endParaRPr lang="en-US" altLang="en-US" sz="2200" dirty="0">
              <a:latin typeface="Calibri" panose="020F0502020204030204" pitchFamily="34" charset="0"/>
            </a:endParaRPr>
          </a:p>
          <a:p>
            <a:pPr algn="just" eaLnBrk="1" hangingPunct="1"/>
            <a:endParaRPr lang="en-US" altLang="en-US" sz="2200" b="1" dirty="0">
              <a:latin typeface="Calibri" panose="020F0502020204030204" pitchFamily="34" charset="0"/>
            </a:endParaRPr>
          </a:p>
        </p:txBody>
      </p:sp>
      <p:pic>
        <p:nvPicPr>
          <p:cNvPr id="8" name="Picture 7" descr="Binary Min - Max Heap Implementation | Algorithms">
            <a:extLst>
              <a:ext uri="{FF2B5EF4-FFF2-40B4-BE49-F238E27FC236}">
                <a16:creationId xmlns:a16="http://schemas.microsoft.com/office/drawing/2014/main" id="{F6117013-EB41-46DA-96B2-EA6F0ADD35D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709182" y="2895601"/>
            <a:ext cx="5029200" cy="3328987"/>
          </a:xfrm>
          <a:prstGeom prst="rect">
            <a:avLst/>
          </a:prstGeom>
          <a:noFill/>
          <a:ln>
            <a:noFill/>
          </a:ln>
        </p:spPr>
      </p:pic>
    </p:spTree>
    <p:extLst>
      <p:ext uri="{BB962C8B-B14F-4D97-AF65-F5344CB8AC3E}">
        <p14:creationId xmlns:p14="http://schemas.microsoft.com/office/powerpoint/2010/main" val="1382311079"/>
      </p:ext>
    </p:extLst>
  </p:cSld>
  <p:clrMapOvr>
    <a:overrideClrMapping bg1="lt1" tx1="dk1" bg2="lt2" tx2="dk2" accent1="accent1" accent2="accent2" accent3="accent3" accent4="accent4" accent5="accent5" accent6="accent6" hlink="hlink" folHlink="folHlink"/>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CE4DB6-03F8-4BE9-B9A7-3BED32E41EF2}"/>
              </a:ext>
            </a:extLst>
          </p:cNvPr>
          <p:cNvSpPr>
            <a:spLocks noGrp="1"/>
          </p:cNvSpPr>
          <p:nvPr>
            <p:ph type="dt" sz="quarter" idx="10"/>
          </p:nvPr>
        </p:nvSpPr>
        <p:spPr/>
        <p:txBody>
          <a:bodyPr/>
          <a:lstStyle/>
          <a:p>
            <a:pPr>
              <a:defRPr/>
            </a:pPr>
            <a:fld id="{1D3D3A86-C67D-408A-9912-BF4AEC4AFF61}" type="datetime1">
              <a:rPr lang="en-US" smtClean="0"/>
              <a:t>8/26/2026</a:t>
            </a:fld>
            <a:endParaRPr lang="en-US"/>
          </a:p>
        </p:txBody>
      </p:sp>
      <p:sp>
        <p:nvSpPr>
          <p:cNvPr id="5" name="Footer Placeholder 4">
            <a:extLst>
              <a:ext uri="{FF2B5EF4-FFF2-40B4-BE49-F238E27FC236}">
                <a16:creationId xmlns:a16="http://schemas.microsoft.com/office/drawing/2014/main" id="{46DABA02-F0F2-45F5-8CBD-FD7202191435}"/>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ED14974C-2A91-4DE2-829C-A1966863D2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1A7C774-3E48-4185-8721-893D1465B5FC}" type="slidenum">
              <a:rPr lang="en-US" altLang="en-US">
                <a:solidFill>
                  <a:srgbClr val="898989"/>
                </a:solidFill>
                <a:latin typeface="Calibri" panose="020F0502020204030204" pitchFamily="34" charset="0"/>
              </a:rPr>
              <a:pPr eaLnBrk="1" hangingPunct="1"/>
              <a:t>167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D04C548C-7218-4160-ABFF-72511EAF6314}"/>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a:t>
            </a:r>
          </a:p>
        </p:txBody>
      </p:sp>
      <p:sp>
        <p:nvSpPr>
          <p:cNvPr id="21511" name="Rectangle 8">
            <a:extLst>
              <a:ext uri="{FF2B5EF4-FFF2-40B4-BE49-F238E27FC236}">
                <a16:creationId xmlns:a16="http://schemas.microsoft.com/office/drawing/2014/main" id="{8031335C-88D5-4550-BCC6-416C45A069C4}"/>
              </a:ext>
            </a:extLst>
          </p:cNvPr>
          <p:cNvSpPr>
            <a:spLocks noChangeArrowheads="1"/>
          </p:cNvSpPr>
          <p:nvPr/>
        </p:nvSpPr>
        <p:spPr bwMode="auto">
          <a:xfrm>
            <a:off x="1066800" y="990601"/>
            <a:ext cx="106680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200" b="1" dirty="0">
                <a:latin typeface="Calibri" panose="020F0502020204030204" pitchFamily="34" charset="0"/>
              </a:rPr>
              <a:t>2. Min-heap property: </a:t>
            </a:r>
            <a:r>
              <a:rPr lang="en-IN" sz="2200" dirty="0">
                <a:latin typeface="+mj-lt"/>
              </a:rPr>
              <a:t>A </a:t>
            </a:r>
            <a:r>
              <a:rPr lang="en-IN" sz="2200" b="1" dirty="0">
                <a:latin typeface="+mj-lt"/>
              </a:rPr>
              <a:t>min</a:t>
            </a:r>
            <a:r>
              <a:rPr lang="en-IN" sz="2200" dirty="0">
                <a:latin typeface="+mj-lt"/>
              </a:rPr>
              <a:t>-</a:t>
            </a:r>
            <a:r>
              <a:rPr lang="en-IN" sz="2200" b="1" dirty="0">
                <a:latin typeface="+mj-lt"/>
              </a:rPr>
              <a:t>heap</a:t>
            </a:r>
            <a:r>
              <a:rPr lang="en-IN" sz="2200" dirty="0">
                <a:latin typeface="+mj-lt"/>
              </a:rPr>
              <a:t> is a </a:t>
            </a:r>
            <a:r>
              <a:rPr lang="en-IN" sz="2200" b="1" dirty="0">
                <a:latin typeface="+mj-lt"/>
              </a:rPr>
              <a:t>binary</a:t>
            </a:r>
            <a:r>
              <a:rPr lang="en-IN" sz="2200" dirty="0">
                <a:latin typeface="+mj-lt"/>
              </a:rPr>
              <a:t> tree such that. - the data contained in each node is less than (or equal to) the data in that node's children. - the </a:t>
            </a:r>
            <a:r>
              <a:rPr lang="en-IN" sz="2200" b="1" dirty="0">
                <a:latin typeface="+mj-lt"/>
              </a:rPr>
              <a:t>binary</a:t>
            </a:r>
            <a:r>
              <a:rPr lang="en-IN" sz="2200" dirty="0">
                <a:latin typeface="+mj-lt"/>
              </a:rPr>
              <a:t> tree is complete</a:t>
            </a:r>
            <a:endParaRPr lang="en-US" altLang="en-US" sz="2200" b="1" dirty="0">
              <a:latin typeface="+mj-lt"/>
            </a:endParaRPr>
          </a:p>
          <a:p>
            <a:pPr algn="just" eaLnBrk="1" hangingPunct="1"/>
            <a:r>
              <a:rPr lang="en-US" altLang="en-US" sz="2200" dirty="0">
                <a:latin typeface="+mj-lt"/>
              </a:rPr>
              <a:t>for every node </a:t>
            </a:r>
            <a:r>
              <a:rPr lang="en-US" altLang="en-US" sz="2200" dirty="0" err="1">
                <a:latin typeface="+mj-lt"/>
              </a:rPr>
              <a:t>i</a:t>
            </a:r>
            <a:r>
              <a:rPr lang="en-US" altLang="en-US" sz="2200" dirty="0">
                <a:latin typeface="+mj-lt"/>
              </a:rPr>
              <a:t> other than the root</a:t>
            </a:r>
          </a:p>
          <a:p>
            <a:pPr algn="just" eaLnBrk="1" hangingPunct="1"/>
            <a:r>
              <a:rPr lang="en-US" altLang="en-US" sz="2200" dirty="0">
                <a:latin typeface="+mj-lt"/>
              </a:rPr>
              <a:t>                                          A[PARENT(</a:t>
            </a:r>
            <a:r>
              <a:rPr lang="en-US" altLang="en-US" sz="2200" dirty="0" err="1">
                <a:latin typeface="+mj-lt"/>
              </a:rPr>
              <a:t>i</a:t>
            </a:r>
            <a:r>
              <a:rPr lang="en-US" altLang="en-US" sz="2200" dirty="0">
                <a:latin typeface="+mj-lt"/>
              </a:rPr>
              <a:t>)] &lt;= A[</a:t>
            </a:r>
            <a:r>
              <a:rPr lang="en-US" altLang="en-US" sz="2200" dirty="0" err="1">
                <a:latin typeface="+mj-lt"/>
              </a:rPr>
              <a:t>i</a:t>
            </a:r>
            <a:r>
              <a:rPr lang="en-US" altLang="en-US" sz="2200" dirty="0">
                <a:latin typeface="+mj-lt"/>
              </a:rPr>
              <a:t>]</a:t>
            </a:r>
          </a:p>
          <a:p>
            <a:pPr algn="just" eaLnBrk="1" hangingPunct="1"/>
            <a:endParaRPr lang="en-US" altLang="en-US" sz="2200" dirty="0">
              <a:latin typeface="+mj-lt"/>
            </a:endParaRPr>
          </a:p>
          <a:p>
            <a:pPr algn="just" eaLnBrk="1" hangingPunct="1"/>
            <a:endParaRPr lang="en-US" altLang="en-US" sz="2200" dirty="0">
              <a:latin typeface="+mj-lt"/>
            </a:endParaRPr>
          </a:p>
          <a:p>
            <a:pPr eaLnBrk="1" hangingPunct="1"/>
            <a:endParaRPr lang="en-US" altLang="en-US" sz="2200" b="1" dirty="0">
              <a:latin typeface="Calibri" panose="020F0502020204030204" pitchFamily="34" charset="0"/>
            </a:endParaRPr>
          </a:p>
        </p:txBody>
      </p:sp>
      <p:pic>
        <p:nvPicPr>
          <p:cNvPr id="8" name="Picture 7" descr="Binary Heap - GeeksforGeeks">
            <a:extLst>
              <a:ext uri="{FF2B5EF4-FFF2-40B4-BE49-F238E27FC236}">
                <a16:creationId xmlns:a16="http://schemas.microsoft.com/office/drawing/2014/main" id="{03345554-657A-46E2-88F4-D534B8E3BF0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657601" y="2971800"/>
            <a:ext cx="4571999" cy="3048000"/>
          </a:xfrm>
          <a:prstGeom prst="rect">
            <a:avLst/>
          </a:prstGeom>
          <a:noFill/>
          <a:ln>
            <a:noFill/>
          </a:ln>
        </p:spPr>
      </p:pic>
    </p:spTree>
    <p:extLst>
      <p:ext uri="{BB962C8B-B14F-4D97-AF65-F5344CB8AC3E}">
        <p14:creationId xmlns:p14="http://schemas.microsoft.com/office/powerpoint/2010/main" val="55378211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A6B9E65-A614-4A7B-B2F7-88D8ECBBDAFD}"/>
              </a:ext>
            </a:extLst>
          </p:cNvPr>
          <p:cNvSpPr>
            <a:spLocks noGrp="1"/>
          </p:cNvSpPr>
          <p:nvPr>
            <p:ph type="dt" sz="quarter" idx="10"/>
          </p:nvPr>
        </p:nvSpPr>
        <p:spPr/>
        <p:txBody>
          <a:bodyPr/>
          <a:lstStyle/>
          <a:p>
            <a:pPr>
              <a:defRPr/>
            </a:pPr>
            <a:fld id="{EC271AEB-18E9-4F70-A804-706EFB19CA8D}" type="datetime1">
              <a:rPr lang="en-US" smtClean="0"/>
              <a:t>8/26/2026</a:t>
            </a:fld>
            <a:endParaRPr lang="en-US"/>
          </a:p>
        </p:txBody>
      </p:sp>
      <p:sp>
        <p:nvSpPr>
          <p:cNvPr id="5" name="Footer Placeholder 4">
            <a:extLst>
              <a:ext uri="{FF2B5EF4-FFF2-40B4-BE49-F238E27FC236}">
                <a16:creationId xmlns:a16="http://schemas.microsoft.com/office/drawing/2014/main" id="{ABCFAFE1-B465-4AFB-B99D-31B10CF37B22}"/>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44D644BF-846A-4C4A-95A8-0D75BC61ACD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C7D6765-A453-4BCD-BAB1-1322620DCEAB}" type="slidenum">
              <a:rPr lang="en-US" altLang="en-US">
                <a:solidFill>
                  <a:srgbClr val="898989"/>
                </a:solidFill>
                <a:latin typeface="Calibri" panose="020F0502020204030204" pitchFamily="34" charset="0"/>
              </a:rPr>
              <a:pPr eaLnBrk="1" hangingPunct="1"/>
              <a:t>168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85065F9C-A4F5-4FE1-B087-B2A53B7ECA13}"/>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a:t>
            </a:r>
          </a:p>
        </p:txBody>
      </p:sp>
      <p:sp>
        <p:nvSpPr>
          <p:cNvPr id="22535" name="Rectangle 9">
            <a:extLst>
              <a:ext uri="{FF2B5EF4-FFF2-40B4-BE49-F238E27FC236}">
                <a16:creationId xmlns:a16="http://schemas.microsoft.com/office/drawing/2014/main" id="{48F852B8-D82E-4633-9459-BEA297645C64}"/>
              </a:ext>
            </a:extLst>
          </p:cNvPr>
          <p:cNvSpPr>
            <a:spLocks noChangeArrowheads="1"/>
          </p:cNvSpPr>
          <p:nvPr/>
        </p:nvSpPr>
        <p:spPr bwMode="auto">
          <a:xfrm>
            <a:off x="914400" y="1143001"/>
            <a:ext cx="105156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200" dirty="0">
                <a:latin typeface="Calibri" panose="020F0502020204030204" pitchFamily="34" charset="0"/>
              </a:rPr>
              <a:t>Four basic procedures on heap are</a:t>
            </a:r>
          </a:p>
          <a:p>
            <a:pPr eaLnBrk="1" hangingPunct="1"/>
            <a:endParaRPr lang="en-US" altLang="en-US" sz="2200" dirty="0">
              <a:latin typeface="Calibri" panose="020F0502020204030204" pitchFamily="34" charset="0"/>
            </a:endParaRPr>
          </a:p>
          <a:p>
            <a:pPr eaLnBrk="1" hangingPunct="1"/>
            <a:r>
              <a:rPr lang="en-US" altLang="en-US" sz="2200" dirty="0">
                <a:latin typeface="Calibri" panose="020F0502020204030204" pitchFamily="34" charset="0"/>
              </a:rPr>
              <a:t>1. </a:t>
            </a:r>
            <a:r>
              <a:rPr lang="en-US" altLang="en-US" sz="2200" dirty="0" err="1">
                <a:latin typeface="Calibri" panose="020F0502020204030204" pitchFamily="34" charset="0"/>
              </a:rPr>
              <a:t>Heapify</a:t>
            </a:r>
            <a:r>
              <a:rPr lang="en-US" altLang="en-US" sz="2200" dirty="0">
                <a:latin typeface="Calibri" panose="020F0502020204030204" pitchFamily="34" charset="0"/>
              </a:rPr>
              <a:t>, which runs in O(lg </a:t>
            </a:r>
            <a:r>
              <a:rPr lang="en-US" altLang="en-US" sz="2200" i="1" dirty="0">
                <a:latin typeface="Calibri" panose="020F0502020204030204" pitchFamily="34" charset="0"/>
              </a:rPr>
              <a:t>n) time.</a:t>
            </a:r>
          </a:p>
          <a:p>
            <a:pPr marL="457200" indent="-457200" eaLnBrk="1" hangingPunct="1">
              <a:buAutoNum type="arabicPeriod"/>
            </a:pPr>
            <a:endParaRPr lang="en-US" altLang="en-US" sz="2200" i="1" dirty="0">
              <a:latin typeface="Calibri" panose="020F0502020204030204" pitchFamily="34" charset="0"/>
            </a:endParaRPr>
          </a:p>
          <a:p>
            <a:pPr eaLnBrk="1" hangingPunct="1"/>
            <a:r>
              <a:rPr lang="en-US" altLang="en-US" sz="2200" dirty="0">
                <a:latin typeface="Calibri" panose="020F0502020204030204" pitchFamily="34" charset="0"/>
              </a:rPr>
              <a:t>2. Build-Heap, which runs in linear time.</a:t>
            </a:r>
          </a:p>
          <a:p>
            <a:pPr eaLnBrk="1" hangingPunct="1"/>
            <a:endParaRPr lang="en-US" altLang="en-US" sz="2200" dirty="0">
              <a:latin typeface="Calibri" panose="020F0502020204030204" pitchFamily="34" charset="0"/>
            </a:endParaRPr>
          </a:p>
          <a:p>
            <a:pPr eaLnBrk="1" hangingPunct="1"/>
            <a:r>
              <a:rPr lang="en-US" altLang="en-US" sz="2200" dirty="0">
                <a:latin typeface="Calibri" panose="020F0502020204030204" pitchFamily="34" charset="0"/>
              </a:rPr>
              <a:t>3. Heap Sort, which runs in O(</a:t>
            </a:r>
            <a:r>
              <a:rPr lang="en-US" altLang="en-US" sz="2200" i="1" dirty="0">
                <a:latin typeface="Calibri" panose="020F0502020204030204" pitchFamily="34" charset="0"/>
              </a:rPr>
              <a:t>n lg n) time.</a:t>
            </a:r>
          </a:p>
          <a:p>
            <a:pPr eaLnBrk="1" hangingPunct="1"/>
            <a:endParaRPr lang="en-US" altLang="en-US" sz="2200" i="1" dirty="0">
              <a:latin typeface="Calibri" panose="020F0502020204030204" pitchFamily="34" charset="0"/>
            </a:endParaRPr>
          </a:p>
          <a:p>
            <a:pPr eaLnBrk="1" hangingPunct="1"/>
            <a:r>
              <a:rPr lang="en-US" altLang="en-US" sz="2200" dirty="0">
                <a:latin typeface="Calibri" panose="020F0502020204030204" pitchFamily="34" charset="0"/>
              </a:rPr>
              <a:t>4. Extract-Max, which runs in O(lg </a:t>
            </a:r>
            <a:r>
              <a:rPr lang="en-US" altLang="en-US" sz="2200" i="1" dirty="0">
                <a:latin typeface="Calibri" panose="020F0502020204030204" pitchFamily="34" charset="0"/>
              </a:rPr>
              <a:t>n) time.</a:t>
            </a:r>
            <a:endParaRPr lang="en-US" altLang="en-US" sz="2200" dirty="0">
              <a:latin typeface="Calibri" panose="020F0502020204030204" pitchFamily="34" charset="0"/>
            </a:endParaRPr>
          </a:p>
        </p:txBody>
      </p:sp>
    </p:spTree>
  </p:cSld>
  <p:clrMapOvr>
    <a:masterClrMapping/>
  </p:clrMapOvr>
  <p:transition spd="slow">
    <p:cove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7B75B6A-A639-4091-AD34-EA37B70D765D}"/>
              </a:ext>
            </a:extLst>
          </p:cNvPr>
          <p:cNvSpPr>
            <a:spLocks noGrp="1"/>
          </p:cNvSpPr>
          <p:nvPr>
            <p:ph type="dt" sz="quarter" idx="10"/>
          </p:nvPr>
        </p:nvSpPr>
        <p:spPr/>
        <p:txBody>
          <a:bodyPr/>
          <a:lstStyle/>
          <a:p>
            <a:pPr>
              <a:defRPr/>
            </a:pPr>
            <a:fld id="{93C4D8CC-A10C-4445-8AB5-1A270FDF706D}" type="datetime1">
              <a:rPr lang="en-US" smtClean="0"/>
              <a:t>8/26/2026</a:t>
            </a:fld>
            <a:endParaRPr lang="en-US"/>
          </a:p>
        </p:txBody>
      </p:sp>
      <p:sp>
        <p:nvSpPr>
          <p:cNvPr id="5" name="Footer Placeholder 4">
            <a:extLst>
              <a:ext uri="{FF2B5EF4-FFF2-40B4-BE49-F238E27FC236}">
                <a16:creationId xmlns:a16="http://schemas.microsoft.com/office/drawing/2014/main" id="{19E1A35B-AA47-4519-991D-D8FBA3EF9C4A}"/>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E708C37E-D059-40CF-8238-8DAC9CA4ED4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E7D5E06-CF01-4371-984D-3C4228E4AB67}" type="slidenum">
              <a:rPr lang="en-US" altLang="en-US">
                <a:solidFill>
                  <a:srgbClr val="898989"/>
                </a:solidFill>
                <a:latin typeface="Calibri" panose="020F0502020204030204" pitchFamily="34" charset="0"/>
              </a:rPr>
              <a:pPr eaLnBrk="1" hangingPunct="1"/>
              <a:t>169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EE97A894-2F86-4F57-A961-130A89B7F8DC}"/>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3559" name="Rectangle 8">
            <a:extLst>
              <a:ext uri="{FF2B5EF4-FFF2-40B4-BE49-F238E27FC236}">
                <a16:creationId xmlns:a16="http://schemas.microsoft.com/office/drawing/2014/main" id="{ABE05733-B054-4B69-A426-26355BC0A11B}"/>
              </a:ext>
            </a:extLst>
          </p:cNvPr>
          <p:cNvSpPr>
            <a:spLocks noChangeArrowheads="1"/>
          </p:cNvSpPr>
          <p:nvPr/>
        </p:nvSpPr>
        <p:spPr bwMode="auto">
          <a:xfrm>
            <a:off x="990600" y="1066801"/>
            <a:ext cx="929640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err="1">
                <a:latin typeface="Calibri" panose="020F0502020204030204" pitchFamily="34" charset="0"/>
              </a:rPr>
              <a:t>Heapify</a:t>
            </a:r>
            <a:r>
              <a:rPr lang="en-US" altLang="en-US" sz="2400" b="1" dirty="0">
                <a:latin typeface="Calibri" panose="020F0502020204030204" pitchFamily="34" charset="0"/>
              </a:rPr>
              <a:t> (</a:t>
            </a:r>
            <a:r>
              <a:rPr lang="en-US" altLang="en-US" sz="2400" b="1" i="1" dirty="0">
                <a:latin typeface="Calibri" panose="020F0502020204030204" pitchFamily="34" charset="0"/>
              </a:rPr>
              <a:t>A, </a:t>
            </a:r>
            <a:r>
              <a:rPr lang="en-US" altLang="en-US" sz="2400" b="1" i="1" dirty="0" err="1">
                <a:latin typeface="Calibri" panose="020F0502020204030204" pitchFamily="34" charset="0"/>
              </a:rPr>
              <a:t>i</a:t>
            </a:r>
            <a:r>
              <a:rPr lang="en-US" altLang="en-US" sz="2400" b="1" i="1" dirty="0">
                <a:latin typeface="Calibri" panose="020F0502020204030204" pitchFamily="34" charset="0"/>
              </a:rPr>
              <a:t>)</a:t>
            </a:r>
          </a:p>
          <a:p>
            <a:pPr eaLnBrk="1" hangingPunct="1"/>
            <a:endParaRPr lang="en-US" altLang="en-US" sz="2400" b="1" i="1" dirty="0">
              <a:latin typeface="Calibri" panose="020F0502020204030204" pitchFamily="34" charset="0"/>
            </a:endParaRPr>
          </a:p>
          <a:p>
            <a:pPr eaLnBrk="1" hangingPunct="1"/>
            <a:r>
              <a:rPr lang="en-US" altLang="en-US" sz="2200" dirty="0">
                <a:latin typeface="Calibri" panose="020F0502020204030204" pitchFamily="34" charset="0"/>
              </a:rPr>
              <a:t>1. </a:t>
            </a:r>
            <a:r>
              <a:rPr lang="en-US" altLang="en-US" sz="2200" i="1" dirty="0">
                <a:latin typeface="Calibri" panose="020F0502020204030204" pitchFamily="34" charset="0"/>
              </a:rPr>
              <a:t>l ← left [</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eaLnBrk="1" hangingPunct="1"/>
            <a:r>
              <a:rPr lang="en-US" altLang="en-US" sz="2200" dirty="0">
                <a:latin typeface="Calibri" panose="020F0502020204030204" pitchFamily="34" charset="0"/>
              </a:rPr>
              <a:t>2. </a:t>
            </a:r>
            <a:r>
              <a:rPr lang="en-US" altLang="en-US" sz="2200" i="1" dirty="0">
                <a:latin typeface="Calibri" panose="020F0502020204030204" pitchFamily="34" charset="0"/>
              </a:rPr>
              <a:t>r ← right [</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eaLnBrk="1" hangingPunct="1"/>
            <a:r>
              <a:rPr lang="en-US" altLang="en-US" sz="2200" dirty="0">
                <a:latin typeface="Calibri" panose="020F0502020204030204" pitchFamily="34" charset="0"/>
              </a:rPr>
              <a:t>3. if </a:t>
            </a:r>
            <a:r>
              <a:rPr lang="en-US" altLang="en-US" sz="2200" i="1" dirty="0">
                <a:latin typeface="Calibri" panose="020F0502020204030204" pitchFamily="34" charset="0"/>
              </a:rPr>
              <a:t>l ≤ heap-size [A] OR A[l] &gt; A[</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eaLnBrk="1" hangingPunct="1"/>
            <a:r>
              <a:rPr lang="en-US" altLang="en-US" sz="2200" dirty="0">
                <a:latin typeface="Calibri" panose="020F0502020204030204" pitchFamily="34" charset="0"/>
              </a:rPr>
              <a:t>4.     then largest ← </a:t>
            </a:r>
            <a:r>
              <a:rPr lang="en-US" altLang="en-US" sz="2200" i="1" dirty="0">
                <a:latin typeface="Calibri" panose="020F0502020204030204" pitchFamily="34" charset="0"/>
              </a:rPr>
              <a:t>l</a:t>
            </a:r>
          </a:p>
          <a:p>
            <a:pPr eaLnBrk="1" hangingPunct="1"/>
            <a:r>
              <a:rPr lang="en-US" altLang="en-US" sz="2200" dirty="0">
                <a:latin typeface="Calibri" panose="020F0502020204030204" pitchFamily="34" charset="0"/>
              </a:rPr>
              <a:t>5.     else largest ← </a:t>
            </a:r>
            <a:r>
              <a:rPr lang="en-US" altLang="en-US" sz="2200" i="1" dirty="0" err="1">
                <a:latin typeface="Calibri" panose="020F0502020204030204" pitchFamily="34" charset="0"/>
              </a:rPr>
              <a:t>i</a:t>
            </a:r>
            <a:endParaRPr lang="en-US" altLang="en-US" sz="2200" i="1" dirty="0">
              <a:latin typeface="Calibri" panose="020F0502020204030204" pitchFamily="34" charset="0"/>
            </a:endParaRPr>
          </a:p>
          <a:p>
            <a:pPr eaLnBrk="1" hangingPunct="1"/>
            <a:r>
              <a:rPr lang="en-US" altLang="en-US" sz="2200" dirty="0">
                <a:latin typeface="Calibri" panose="020F0502020204030204" pitchFamily="34" charset="0"/>
              </a:rPr>
              <a:t>6. if </a:t>
            </a:r>
            <a:r>
              <a:rPr lang="en-US" altLang="en-US" sz="2200" i="1" dirty="0">
                <a:latin typeface="Calibri" panose="020F0502020204030204" pitchFamily="34" charset="0"/>
              </a:rPr>
              <a:t>r ≤ heap-size [A] OR A[r] &gt; A[largest]</a:t>
            </a:r>
          </a:p>
          <a:p>
            <a:pPr eaLnBrk="1" hangingPunct="1"/>
            <a:r>
              <a:rPr lang="en-US" altLang="en-US" sz="2200" dirty="0">
                <a:latin typeface="Calibri" panose="020F0502020204030204" pitchFamily="34" charset="0"/>
              </a:rPr>
              <a:t>7.      then largest ← </a:t>
            </a:r>
            <a:r>
              <a:rPr lang="en-US" altLang="en-US" sz="2200" i="1" dirty="0">
                <a:latin typeface="Calibri" panose="020F0502020204030204" pitchFamily="34" charset="0"/>
              </a:rPr>
              <a:t>r</a:t>
            </a:r>
          </a:p>
          <a:p>
            <a:pPr eaLnBrk="1" hangingPunct="1"/>
            <a:r>
              <a:rPr lang="en-US" altLang="en-US" sz="2200" dirty="0">
                <a:latin typeface="Calibri" panose="020F0502020204030204" pitchFamily="34" charset="0"/>
              </a:rPr>
              <a:t>8. if largest </a:t>
            </a:r>
            <a:r>
              <a:rPr lang="en-US" altLang="en-US" sz="2200" i="1" dirty="0">
                <a:latin typeface="Calibri" panose="020F0502020204030204" pitchFamily="34" charset="0"/>
              </a:rPr>
              <a:t>≠ </a:t>
            </a:r>
            <a:r>
              <a:rPr lang="en-US" altLang="en-US" sz="2200" i="1" dirty="0" err="1">
                <a:latin typeface="Calibri" panose="020F0502020204030204" pitchFamily="34" charset="0"/>
              </a:rPr>
              <a:t>i</a:t>
            </a:r>
            <a:endParaRPr lang="en-US" altLang="en-US" sz="2200" i="1" dirty="0">
              <a:latin typeface="Calibri" panose="020F0502020204030204" pitchFamily="34" charset="0"/>
            </a:endParaRPr>
          </a:p>
          <a:p>
            <a:pPr eaLnBrk="1" hangingPunct="1"/>
            <a:r>
              <a:rPr lang="en-US" altLang="en-US" sz="2200" dirty="0">
                <a:latin typeface="Calibri" panose="020F0502020204030204" pitchFamily="34" charset="0"/>
              </a:rPr>
              <a:t>9.      then exchange </a:t>
            </a:r>
            <a:r>
              <a:rPr lang="en-US" altLang="en-US" sz="2200" i="1" dirty="0">
                <a:latin typeface="Calibri" panose="020F0502020204030204" pitchFamily="34" charset="0"/>
              </a:rPr>
              <a:t>A[</a:t>
            </a:r>
            <a:r>
              <a:rPr lang="en-US" altLang="en-US" sz="2200" i="1" dirty="0" err="1">
                <a:latin typeface="Calibri" panose="020F0502020204030204" pitchFamily="34" charset="0"/>
              </a:rPr>
              <a:t>i</a:t>
            </a:r>
            <a:r>
              <a:rPr lang="en-US" altLang="en-US" sz="2200" i="1" dirty="0">
                <a:latin typeface="Calibri" panose="020F0502020204030204" pitchFamily="34" charset="0"/>
              </a:rPr>
              <a:t>] ↔ A[largest]</a:t>
            </a:r>
          </a:p>
          <a:p>
            <a:pPr eaLnBrk="1" hangingPunct="1"/>
            <a:r>
              <a:rPr lang="en-US" altLang="en-US" sz="2200" dirty="0">
                <a:latin typeface="Calibri" panose="020F0502020204030204" pitchFamily="34" charset="0"/>
              </a:rPr>
              <a:t>10. </a:t>
            </a:r>
            <a:r>
              <a:rPr lang="en-US" altLang="en-US" sz="2200" dirty="0" err="1">
                <a:latin typeface="Calibri" panose="020F0502020204030204" pitchFamily="34" charset="0"/>
              </a:rPr>
              <a:t>Heapify</a:t>
            </a:r>
            <a:r>
              <a:rPr lang="en-US" altLang="en-US" sz="2200" dirty="0">
                <a:latin typeface="Calibri" panose="020F0502020204030204" pitchFamily="34" charset="0"/>
              </a:rPr>
              <a:t> (</a:t>
            </a:r>
            <a:r>
              <a:rPr lang="en-US" altLang="en-US" sz="2200" i="1" dirty="0">
                <a:latin typeface="Calibri" panose="020F0502020204030204" pitchFamily="34" charset="0"/>
              </a:rPr>
              <a:t>A, largest)</a:t>
            </a:r>
            <a:endParaRPr lang="en-US" altLang="en-US" sz="2200" b="1"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9">
                                            <p:txEl>
                                              <p:pRg st="2" end="2"/>
                                            </p:txEl>
                                          </p:spTgt>
                                        </p:tgtEl>
                                        <p:attrNameLst>
                                          <p:attrName>style.visibility</p:attrName>
                                        </p:attrNameLst>
                                      </p:cBhvr>
                                      <p:to>
                                        <p:strVal val="visible"/>
                                      </p:to>
                                    </p:set>
                                    <p:animEffect transition="in" filter="fade">
                                      <p:cBhvr>
                                        <p:cTn id="7" dur="1000"/>
                                        <p:tgtEl>
                                          <p:spTgt spid="23559">
                                            <p:txEl>
                                              <p:pRg st="2" end="2"/>
                                            </p:txEl>
                                          </p:spTgt>
                                        </p:tgtEl>
                                      </p:cBhvr>
                                    </p:animEffect>
                                    <p:anim calcmode="lin" valueType="num">
                                      <p:cBhvr>
                                        <p:cTn id="8" dur="1000" fill="hold"/>
                                        <p:tgtEl>
                                          <p:spTgt spid="2355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355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9">
                                            <p:txEl>
                                              <p:pRg st="3" end="3"/>
                                            </p:txEl>
                                          </p:spTgt>
                                        </p:tgtEl>
                                        <p:attrNameLst>
                                          <p:attrName>style.visibility</p:attrName>
                                        </p:attrNameLst>
                                      </p:cBhvr>
                                      <p:to>
                                        <p:strVal val="visible"/>
                                      </p:to>
                                    </p:set>
                                    <p:animEffect transition="in" filter="fade">
                                      <p:cBhvr>
                                        <p:cTn id="12" dur="1000"/>
                                        <p:tgtEl>
                                          <p:spTgt spid="23559">
                                            <p:txEl>
                                              <p:pRg st="3" end="3"/>
                                            </p:txEl>
                                          </p:spTgt>
                                        </p:tgtEl>
                                      </p:cBhvr>
                                    </p:animEffect>
                                    <p:anim calcmode="lin" valueType="num">
                                      <p:cBhvr>
                                        <p:cTn id="13" dur="1000" fill="hold"/>
                                        <p:tgtEl>
                                          <p:spTgt spid="2355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3559">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559">
                                            <p:txEl>
                                              <p:pRg st="4" end="4"/>
                                            </p:txEl>
                                          </p:spTgt>
                                        </p:tgtEl>
                                        <p:attrNameLst>
                                          <p:attrName>style.visibility</p:attrName>
                                        </p:attrNameLst>
                                      </p:cBhvr>
                                      <p:to>
                                        <p:strVal val="visible"/>
                                      </p:to>
                                    </p:set>
                                    <p:animEffect transition="in" filter="fade">
                                      <p:cBhvr>
                                        <p:cTn id="17" dur="1000"/>
                                        <p:tgtEl>
                                          <p:spTgt spid="23559">
                                            <p:txEl>
                                              <p:pRg st="4" end="4"/>
                                            </p:txEl>
                                          </p:spTgt>
                                        </p:tgtEl>
                                      </p:cBhvr>
                                    </p:animEffect>
                                    <p:anim calcmode="lin" valueType="num">
                                      <p:cBhvr>
                                        <p:cTn id="18" dur="1000" fill="hold"/>
                                        <p:tgtEl>
                                          <p:spTgt spid="23559">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3559">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3559">
                                            <p:txEl>
                                              <p:pRg st="5" end="5"/>
                                            </p:txEl>
                                          </p:spTgt>
                                        </p:tgtEl>
                                        <p:attrNameLst>
                                          <p:attrName>style.visibility</p:attrName>
                                        </p:attrNameLst>
                                      </p:cBhvr>
                                      <p:to>
                                        <p:strVal val="visible"/>
                                      </p:to>
                                    </p:set>
                                    <p:animEffect transition="in" filter="fade">
                                      <p:cBhvr>
                                        <p:cTn id="22" dur="1000"/>
                                        <p:tgtEl>
                                          <p:spTgt spid="23559">
                                            <p:txEl>
                                              <p:pRg st="5" end="5"/>
                                            </p:txEl>
                                          </p:spTgt>
                                        </p:tgtEl>
                                      </p:cBhvr>
                                    </p:animEffect>
                                    <p:anim calcmode="lin" valueType="num">
                                      <p:cBhvr>
                                        <p:cTn id="23" dur="1000" fill="hold"/>
                                        <p:tgtEl>
                                          <p:spTgt spid="23559">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23559">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3559">
                                            <p:txEl>
                                              <p:pRg st="6" end="6"/>
                                            </p:txEl>
                                          </p:spTgt>
                                        </p:tgtEl>
                                        <p:attrNameLst>
                                          <p:attrName>style.visibility</p:attrName>
                                        </p:attrNameLst>
                                      </p:cBhvr>
                                      <p:to>
                                        <p:strVal val="visible"/>
                                      </p:to>
                                    </p:set>
                                    <p:animEffect transition="in" filter="fade">
                                      <p:cBhvr>
                                        <p:cTn id="27" dur="1000"/>
                                        <p:tgtEl>
                                          <p:spTgt spid="23559">
                                            <p:txEl>
                                              <p:pRg st="6" end="6"/>
                                            </p:txEl>
                                          </p:spTgt>
                                        </p:tgtEl>
                                      </p:cBhvr>
                                    </p:animEffect>
                                    <p:anim calcmode="lin" valueType="num">
                                      <p:cBhvr>
                                        <p:cTn id="28" dur="1000" fill="hold"/>
                                        <p:tgtEl>
                                          <p:spTgt spid="23559">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23559">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3559">
                                            <p:txEl>
                                              <p:pRg st="7" end="7"/>
                                            </p:txEl>
                                          </p:spTgt>
                                        </p:tgtEl>
                                        <p:attrNameLst>
                                          <p:attrName>style.visibility</p:attrName>
                                        </p:attrNameLst>
                                      </p:cBhvr>
                                      <p:to>
                                        <p:strVal val="visible"/>
                                      </p:to>
                                    </p:set>
                                    <p:animEffect transition="in" filter="fade">
                                      <p:cBhvr>
                                        <p:cTn id="32" dur="1000"/>
                                        <p:tgtEl>
                                          <p:spTgt spid="23559">
                                            <p:txEl>
                                              <p:pRg st="7" end="7"/>
                                            </p:txEl>
                                          </p:spTgt>
                                        </p:tgtEl>
                                      </p:cBhvr>
                                    </p:animEffect>
                                    <p:anim calcmode="lin" valueType="num">
                                      <p:cBhvr>
                                        <p:cTn id="33" dur="1000" fill="hold"/>
                                        <p:tgtEl>
                                          <p:spTgt spid="23559">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23559">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3559">
                                            <p:txEl>
                                              <p:pRg st="8" end="8"/>
                                            </p:txEl>
                                          </p:spTgt>
                                        </p:tgtEl>
                                        <p:attrNameLst>
                                          <p:attrName>style.visibility</p:attrName>
                                        </p:attrNameLst>
                                      </p:cBhvr>
                                      <p:to>
                                        <p:strVal val="visible"/>
                                      </p:to>
                                    </p:set>
                                    <p:animEffect transition="in" filter="fade">
                                      <p:cBhvr>
                                        <p:cTn id="37" dur="1000"/>
                                        <p:tgtEl>
                                          <p:spTgt spid="23559">
                                            <p:txEl>
                                              <p:pRg st="8" end="8"/>
                                            </p:txEl>
                                          </p:spTgt>
                                        </p:tgtEl>
                                      </p:cBhvr>
                                    </p:animEffect>
                                    <p:anim calcmode="lin" valueType="num">
                                      <p:cBhvr>
                                        <p:cTn id="38" dur="1000" fill="hold"/>
                                        <p:tgtEl>
                                          <p:spTgt spid="23559">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23559">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3559">
                                            <p:txEl>
                                              <p:pRg st="9" end="9"/>
                                            </p:txEl>
                                          </p:spTgt>
                                        </p:tgtEl>
                                        <p:attrNameLst>
                                          <p:attrName>style.visibility</p:attrName>
                                        </p:attrNameLst>
                                      </p:cBhvr>
                                      <p:to>
                                        <p:strVal val="visible"/>
                                      </p:to>
                                    </p:set>
                                    <p:animEffect transition="in" filter="fade">
                                      <p:cBhvr>
                                        <p:cTn id="42" dur="1000"/>
                                        <p:tgtEl>
                                          <p:spTgt spid="23559">
                                            <p:txEl>
                                              <p:pRg st="9" end="9"/>
                                            </p:txEl>
                                          </p:spTgt>
                                        </p:tgtEl>
                                      </p:cBhvr>
                                    </p:animEffect>
                                    <p:anim calcmode="lin" valueType="num">
                                      <p:cBhvr>
                                        <p:cTn id="43" dur="1000" fill="hold"/>
                                        <p:tgtEl>
                                          <p:spTgt spid="23559">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23559">
                                            <p:txEl>
                                              <p:pRg st="9" end="9"/>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3559">
                                            <p:txEl>
                                              <p:pRg st="10" end="10"/>
                                            </p:txEl>
                                          </p:spTgt>
                                        </p:tgtEl>
                                        <p:attrNameLst>
                                          <p:attrName>style.visibility</p:attrName>
                                        </p:attrNameLst>
                                      </p:cBhvr>
                                      <p:to>
                                        <p:strVal val="visible"/>
                                      </p:to>
                                    </p:set>
                                    <p:animEffect transition="in" filter="fade">
                                      <p:cBhvr>
                                        <p:cTn id="47" dur="1000"/>
                                        <p:tgtEl>
                                          <p:spTgt spid="23559">
                                            <p:txEl>
                                              <p:pRg st="10" end="10"/>
                                            </p:txEl>
                                          </p:spTgt>
                                        </p:tgtEl>
                                      </p:cBhvr>
                                    </p:animEffect>
                                    <p:anim calcmode="lin" valueType="num">
                                      <p:cBhvr>
                                        <p:cTn id="48" dur="1000" fill="hold"/>
                                        <p:tgtEl>
                                          <p:spTgt spid="23559">
                                            <p:txEl>
                                              <p:pRg st="10" end="10"/>
                                            </p:txEl>
                                          </p:spTgt>
                                        </p:tgtEl>
                                        <p:attrNameLst>
                                          <p:attrName>ppt_x</p:attrName>
                                        </p:attrNameLst>
                                      </p:cBhvr>
                                      <p:tavLst>
                                        <p:tav tm="0">
                                          <p:val>
                                            <p:strVal val="#ppt_x"/>
                                          </p:val>
                                        </p:tav>
                                        <p:tav tm="100000">
                                          <p:val>
                                            <p:strVal val="#ppt_x"/>
                                          </p:val>
                                        </p:tav>
                                      </p:tavLst>
                                    </p:anim>
                                    <p:anim calcmode="lin" valueType="num">
                                      <p:cBhvr>
                                        <p:cTn id="49" dur="1000" fill="hold"/>
                                        <p:tgtEl>
                                          <p:spTgt spid="23559">
                                            <p:txEl>
                                              <p:pRg st="10" end="1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3559">
                                            <p:txEl>
                                              <p:pRg st="11" end="11"/>
                                            </p:txEl>
                                          </p:spTgt>
                                        </p:tgtEl>
                                        <p:attrNameLst>
                                          <p:attrName>style.visibility</p:attrName>
                                        </p:attrNameLst>
                                      </p:cBhvr>
                                      <p:to>
                                        <p:strVal val="visible"/>
                                      </p:to>
                                    </p:set>
                                    <p:animEffect transition="in" filter="fade">
                                      <p:cBhvr>
                                        <p:cTn id="52" dur="1000"/>
                                        <p:tgtEl>
                                          <p:spTgt spid="23559">
                                            <p:txEl>
                                              <p:pRg st="11" end="11"/>
                                            </p:txEl>
                                          </p:spTgt>
                                        </p:tgtEl>
                                      </p:cBhvr>
                                    </p:animEffect>
                                    <p:anim calcmode="lin" valueType="num">
                                      <p:cBhvr>
                                        <p:cTn id="53" dur="1000" fill="hold"/>
                                        <p:tgtEl>
                                          <p:spTgt spid="23559">
                                            <p:txEl>
                                              <p:pRg st="11" end="11"/>
                                            </p:txEl>
                                          </p:spTgt>
                                        </p:tgtEl>
                                        <p:attrNameLst>
                                          <p:attrName>ppt_x</p:attrName>
                                        </p:attrNameLst>
                                      </p:cBhvr>
                                      <p:tavLst>
                                        <p:tav tm="0">
                                          <p:val>
                                            <p:strVal val="#ppt_x"/>
                                          </p:val>
                                        </p:tav>
                                        <p:tav tm="100000">
                                          <p:val>
                                            <p:strVal val="#ppt_x"/>
                                          </p:val>
                                        </p:tav>
                                      </p:tavLst>
                                    </p:anim>
                                    <p:anim calcmode="lin" valueType="num">
                                      <p:cBhvr>
                                        <p:cTn id="54" dur="1000" fill="hold"/>
                                        <p:tgtEl>
                                          <p:spTgt spid="23559">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C7F7706-4958-4CBF-A34B-8CF5193CFD5C}"/>
              </a:ext>
            </a:extLst>
          </p:cNvPr>
          <p:cNvSpPr>
            <a:spLocks noGrp="1"/>
          </p:cNvSpPr>
          <p:nvPr>
            <p:ph type="dt" sz="quarter" idx="10"/>
          </p:nvPr>
        </p:nvSpPr>
        <p:spPr/>
        <p:txBody>
          <a:bodyPr/>
          <a:lstStyle/>
          <a:p>
            <a:pPr>
              <a:defRPr/>
            </a:pPr>
            <a:fld id="{2CB618CA-F70E-43BE-B3CF-08B731AA536C}" type="datetime1">
              <a:rPr lang="en-US" smtClean="0"/>
              <a:t>8/26/2026</a:t>
            </a:fld>
            <a:endParaRPr lang="en-US"/>
          </a:p>
        </p:txBody>
      </p:sp>
      <p:sp>
        <p:nvSpPr>
          <p:cNvPr id="5" name="Footer Placeholder 4">
            <a:extLst>
              <a:ext uri="{FF2B5EF4-FFF2-40B4-BE49-F238E27FC236}">
                <a16:creationId xmlns:a16="http://schemas.microsoft.com/office/drawing/2014/main" id="{D4C05BA7-84EE-4986-A4AE-8DF9C824C64E}"/>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239005C7-0B3D-4B69-87F9-B73DBE3B3AE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B0AFCD-5DE9-48C3-9B35-CAC55106A6C7}" type="slidenum">
              <a:rPr lang="en-US" altLang="en-US">
                <a:solidFill>
                  <a:srgbClr val="898989"/>
                </a:solidFill>
                <a:latin typeface="Calibri" panose="020F0502020204030204" pitchFamily="34" charset="0"/>
              </a:rPr>
              <a:pPr eaLnBrk="1" hangingPunct="1"/>
              <a:t>170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FE5C3FEC-77F5-4D67-BB84-0881490FBCB4}"/>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4583" name="Rectangle 9">
            <a:extLst>
              <a:ext uri="{FF2B5EF4-FFF2-40B4-BE49-F238E27FC236}">
                <a16:creationId xmlns:a16="http://schemas.microsoft.com/office/drawing/2014/main" id="{0D8F8DA0-C6FF-4601-8C80-77B2D1A0CD3F}"/>
              </a:ext>
            </a:extLst>
          </p:cNvPr>
          <p:cNvSpPr>
            <a:spLocks noChangeArrowheads="1"/>
          </p:cNvSpPr>
          <p:nvPr/>
        </p:nvSpPr>
        <p:spPr bwMode="auto">
          <a:xfrm>
            <a:off x="990600" y="914400"/>
            <a:ext cx="10591800"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Calibri" panose="020F0502020204030204" pitchFamily="34" charset="0"/>
              </a:rPr>
              <a:t>Build Max Heap (</a:t>
            </a:r>
            <a:r>
              <a:rPr lang="en-US" altLang="en-US" sz="2400" b="1" i="1" dirty="0">
                <a:latin typeface="Calibri" panose="020F0502020204030204" pitchFamily="34" charset="0"/>
              </a:rPr>
              <a:t>A)</a:t>
            </a:r>
          </a:p>
          <a:p>
            <a:pPr eaLnBrk="1" hangingPunct="1"/>
            <a:r>
              <a:rPr lang="en-US" altLang="en-US" sz="2200" dirty="0">
                <a:latin typeface="Calibri" panose="020F0502020204030204" pitchFamily="34" charset="0"/>
              </a:rPr>
              <a:t>1. </a:t>
            </a:r>
            <a:r>
              <a:rPr lang="en-US" altLang="en-US" sz="2200" i="1" dirty="0">
                <a:latin typeface="Calibri" panose="020F0502020204030204" pitchFamily="34" charset="0"/>
              </a:rPr>
              <a:t>heap-size [A] ← length [A]</a:t>
            </a:r>
          </a:p>
          <a:p>
            <a:pPr eaLnBrk="1" hangingPunct="1"/>
            <a:r>
              <a:rPr lang="en-US" altLang="en-US" sz="2200" dirty="0">
                <a:latin typeface="Calibri" panose="020F0502020204030204" pitchFamily="34" charset="0"/>
              </a:rPr>
              <a:t>2. </a:t>
            </a:r>
            <a:r>
              <a:rPr lang="en-US" altLang="en-US" sz="2200" i="1" dirty="0">
                <a:latin typeface="Calibri" panose="020F0502020204030204" pitchFamily="34" charset="0"/>
              </a:rPr>
              <a:t>For </a:t>
            </a:r>
            <a:r>
              <a:rPr lang="en-US" altLang="en-US" sz="2200" i="1" dirty="0" err="1">
                <a:latin typeface="Calibri" panose="020F0502020204030204" pitchFamily="34" charset="0"/>
              </a:rPr>
              <a:t>i</a:t>
            </a:r>
            <a:r>
              <a:rPr lang="en-US" altLang="en-US" sz="2200" i="1" dirty="0">
                <a:latin typeface="Calibri" panose="020F0502020204030204" pitchFamily="34" charset="0"/>
              </a:rPr>
              <a:t> ← lower bound (length [A])/2 down to 1</a:t>
            </a:r>
          </a:p>
          <a:p>
            <a:pPr marL="457200" indent="-457200" eaLnBrk="1" hangingPunct="1">
              <a:buAutoNum type="arabicPeriod" startAt="3"/>
            </a:pPr>
            <a:r>
              <a:rPr lang="en-US" altLang="en-US" sz="2200" dirty="0">
                <a:latin typeface="Calibri" panose="020F0502020204030204" pitchFamily="34" charset="0"/>
              </a:rPr>
              <a:t>Do Max </a:t>
            </a:r>
            <a:r>
              <a:rPr lang="en-US" altLang="en-US" sz="2200" dirty="0" err="1">
                <a:latin typeface="Calibri" panose="020F0502020204030204" pitchFamily="34" charset="0"/>
              </a:rPr>
              <a:t>Heapify</a:t>
            </a:r>
            <a:r>
              <a:rPr lang="en-US" altLang="en-US" sz="2200" i="1" dirty="0">
                <a:latin typeface="Calibri" panose="020F0502020204030204" pitchFamily="34" charset="0"/>
              </a:rPr>
              <a:t> [A, </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marL="457200" indent="-457200" eaLnBrk="1" hangingPunct="1">
              <a:buAutoNum type="arabicPeriod" startAt="3"/>
            </a:pPr>
            <a:endParaRPr lang="en-US" altLang="en-US" sz="2200" b="1" i="1" dirty="0">
              <a:latin typeface="Calibri" panose="020F0502020204030204" pitchFamily="34" charset="0"/>
            </a:endParaRPr>
          </a:p>
          <a:p>
            <a:pPr eaLnBrk="1" hangingPunct="1"/>
            <a:r>
              <a:rPr lang="en-US" altLang="en-US" sz="2000" dirty="0" err="1">
                <a:latin typeface="Calibri" panose="020F0502020204030204" pitchFamily="34" charset="0"/>
              </a:rPr>
              <a:t>HeapSort</a:t>
            </a:r>
            <a:r>
              <a:rPr lang="en-US" altLang="en-US" sz="2000" dirty="0">
                <a:latin typeface="Calibri" panose="020F0502020204030204" pitchFamily="34" charset="0"/>
              </a:rPr>
              <a:t> (</a:t>
            </a:r>
            <a:r>
              <a:rPr lang="en-US" altLang="en-US" sz="2000" dirty="0" err="1">
                <a:latin typeface="Calibri" panose="020F0502020204030204" pitchFamily="34" charset="0"/>
              </a:rPr>
              <a:t>A,n</a:t>
            </a:r>
            <a:r>
              <a:rPr lang="en-US" altLang="en-US" sz="2000" dirty="0">
                <a:latin typeface="Calibri" panose="020F0502020204030204" pitchFamily="34" charset="0"/>
              </a:rPr>
              <a:t>)</a:t>
            </a:r>
          </a:p>
          <a:p>
            <a:pPr eaLnBrk="1" hangingPunct="1"/>
            <a:r>
              <a:rPr lang="en-US" altLang="en-US" sz="2000" dirty="0">
                <a:latin typeface="Calibri" panose="020F0502020204030204" pitchFamily="34" charset="0"/>
              </a:rPr>
              <a:t>{</a:t>
            </a:r>
          </a:p>
          <a:p>
            <a:pPr eaLnBrk="1" hangingPunct="1"/>
            <a:r>
              <a:rPr lang="en-US" altLang="en-US" sz="2000" dirty="0">
                <a:latin typeface="Calibri" panose="020F0502020204030204" pitchFamily="34" charset="0"/>
              </a:rPr>
              <a:t>        Build Max Heap (A)</a:t>
            </a:r>
          </a:p>
          <a:p>
            <a:pPr eaLnBrk="1" hangingPunct="1"/>
            <a:r>
              <a:rPr lang="en-US" altLang="en-US" sz="2000" dirty="0">
                <a:latin typeface="Calibri" panose="020F0502020204030204" pitchFamily="34" charset="0"/>
              </a:rPr>
              <a:t>        </a:t>
            </a:r>
            <a:r>
              <a:rPr lang="en-US" altLang="en-US" sz="2000" dirty="0" err="1">
                <a:latin typeface="Calibri" panose="020F0502020204030204" pitchFamily="34" charset="0"/>
              </a:rPr>
              <a:t>heapsize</a:t>
            </a:r>
            <a:r>
              <a:rPr lang="en-US" altLang="en-US" sz="2000" dirty="0">
                <a:latin typeface="Calibri" panose="020F0502020204030204" pitchFamily="34" charset="0"/>
              </a:rPr>
              <a:t> = n</a:t>
            </a:r>
          </a:p>
          <a:p>
            <a:pPr eaLnBrk="1" hangingPunct="1"/>
            <a:r>
              <a:rPr lang="en-US" altLang="en-US" sz="2000" dirty="0">
                <a:latin typeface="Calibri" panose="020F0502020204030204" pitchFamily="34" charset="0"/>
              </a:rPr>
              <a:t>        for i = n  to 2 do</a:t>
            </a:r>
          </a:p>
          <a:p>
            <a:pPr eaLnBrk="1" hangingPunct="1"/>
            <a:r>
              <a:rPr lang="en-US" altLang="en-US" sz="2000" dirty="0">
                <a:latin typeface="Calibri" panose="020F0502020204030204" pitchFamily="34" charset="0"/>
              </a:rPr>
              <a:t>	t = A[1]</a:t>
            </a:r>
          </a:p>
          <a:p>
            <a:pPr eaLnBrk="1" hangingPunct="1"/>
            <a:r>
              <a:rPr lang="en-US" altLang="en-US" sz="2000" dirty="0">
                <a:latin typeface="Calibri" panose="020F0502020204030204" pitchFamily="34" charset="0"/>
              </a:rPr>
              <a:t>	A[1] = A[i]</a:t>
            </a:r>
          </a:p>
          <a:p>
            <a:pPr eaLnBrk="1" hangingPunct="1"/>
            <a:r>
              <a:rPr lang="en-US" altLang="en-US" sz="2000" dirty="0">
                <a:latin typeface="Calibri" panose="020F0502020204030204" pitchFamily="34" charset="0"/>
              </a:rPr>
              <a:t>                A[i] = t</a:t>
            </a:r>
          </a:p>
          <a:p>
            <a:pPr eaLnBrk="1" hangingPunct="1"/>
            <a:r>
              <a:rPr lang="en-US" altLang="en-US" sz="2000" dirty="0">
                <a:latin typeface="Calibri" panose="020F0502020204030204" pitchFamily="34" charset="0"/>
              </a:rPr>
              <a:t>               </a:t>
            </a:r>
            <a:r>
              <a:rPr lang="en-US" altLang="en-US" sz="2000" dirty="0" err="1">
                <a:latin typeface="Calibri" panose="020F0502020204030204" pitchFamily="34" charset="0"/>
              </a:rPr>
              <a:t>heapsize</a:t>
            </a:r>
            <a:r>
              <a:rPr lang="en-US" altLang="en-US" sz="2000" dirty="0">
                <a:latin typeface="Calibri" panose="020F0502020204030204" pitchFamily="34" charset="0"/>
              </a:rPr>
              <a:t> = </a:t>
            </a:r>
            <a:r>
              <a:rPr lang="en-US" altLang="en-US" sz="2000" dirty="0" err="1">
                <a:latin typeface="Calibri" panose="020F0502020204030204" pitchFamily="34" charset="0"/>
              </a:rPr>
              <a:t>heapsize</a:t>
            </a:r>
            <a:r>
              <a:rPr lang="en-US" altLang="en-US" sz="2000" dirty="0">
                <a:latin typeface="Calibri" panose="020F0502020204030204" pitchFamily="34" charset="0"/>
              </a:rPr>
              <a:t> – 1</a:t>
            </a:r>
          </a:p>
          <a:p>
            <a:pPr eaLnBrk="1" hangingPunct="1"/>
            <a:r>
              <a:rPr lang="en-US" altLang="en-US" sz="2000" dirty="0">
                <a:latin typeface="Calibri" panose="020F0502020204030204" pitchFamily="34" charset="0"/>
              </a:rPr>
              <a:t>               </a:t>
            </a:r>
            <a:r>
              <a:rPr lang="en-US" altLang="en-US" sz="2000" dirty="0" err="1">
                <a:latin typeface="Calibri" panose="020F0502020204030204" pitchFamily="34" charset="0"/>
              </a:rPr>
              <a:t>heapify</a:t>
            </a:r>
            <a:r>
              <a:rPr lang="en-US" altLang="en-US" sz="2000" dirty="0">
                <a:latin typeface="Calibri" panose="020F0502020204030204" pitchFamily="34" charset="0"/>
              </a:rPr>
              <a:t>(A,1,heapsize)</a:t>
            </a:r>
          </a:p>
          <a:p>
            <a:pPr eaLnBrk="1" hangingPunct="1"/>
            <a:r>
              <a:rPr lang="en-US" altLang="en-US" sz="2000" dirty="0">
                <a:latin typeface="Calibri" panose="020F0502020204030204" pitchFamily="34" charset="0"/>
              </a:rPr>
              <a:t>}</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8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58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8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8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8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8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58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58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58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58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58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58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58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7873821-F8CA-4CD2-A1CE-84F333878572}"/>
              </a:ext>
            </a:extLst>
          </p:cNvPr>
          <p:cNvSpPr>
            <a:spLocks noGrp="1"/>
          </p:cNvSpPr>
          <p:nvPr>
            <p:ph type="dt" sz="quarter" idx="10"/>
          </p:nvPr>
        </p:nvSpPr>
        <p:spPr/>
        <p:txBody>
          <a:bodyPr/>
          <a:lstStyle/>
          <a:p>
            <a:pPr>
              <a:defRPr/>
            </a:pPr>
            <a:fld id="{234D65BA-029D-4248-9F24-29289DB63319}" type="datetime1">
              <a:rPr lang="en-US" smtClean="0"/>
              <a:t>8/26/2026</a:t>
            </a:fld>
            <a:endParaRPr lang="en-US"/>
          </a:p>
        </p:txBody>
      </p:sp>
      <p:sp>
        <p:nvSpPr>
          <p:cNvPr id="5" name="Footer Placeholder 4">
            <a:extLst>
              <a:ext uri="{FF2B5EF4-FFF2-40B4-BE49-F238E27FC236}">
                <a16:creationId xmlns:a16="http://schemas.microsoft.com/office/drawing/2014/main" id="{197F1681-5799-4E62-BC27-602946103E02}"/>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AAB0C328-C81F-4AE7-AB33-A5A5C0A0D43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15DFA6-AAFC-4F8A-9807-00A1FC2E6118}" type="slidenum">
              <a:rPr lang="en-US" altLang="en-US">
                <a:solidFill>
                  <a:srgbClr val="898989"/>
                </a:solidFill>
                <a:latin typeface="Calibri" panose="020F0502020204030204" pitchFamily="34" charset="0"/>
              </a:rPr>
              <a:pPr eaLnBrk="1" hangingPunct="1"/>
              <a:t>171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04609649-3459-49CF-BBC5-94C3FFF0065C}"/>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5607" name="Rectangle 8">
            <a:extLst>
              <a:ext uri="{FF2B5EF4-FFF2-40B4-BE49-F238E27FC236}">
                <a16:creationId xmlns:a16="http://schemas.microsoft.com/office/drawing/2014/main" id="{3FE0270F-77F8-4B17-9C75-6BAF449D4694}"/>
              </a:ext>
            </a:extLst>
          </p:cNvPr>
          <p:cNvSpPr>
            <a:spLocks noChangeArrowheads="1"/>
          </p:cNvSpPr>
          <p:nvPr/>
        </p:nvSpPr>
        <p:spPr bwMode="auto">
          <a:xfrm>
            <a:off x="1828800" y="776865"/>
            <a:ext cx="8534400" cy="557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Calibri" panose="020F0502020204030204" pitchFamily="34" charset="0"/>
              </a:rPr>
              <a:t>Characteristics of Heap Sort Algorithm</a:t>
            </a:r>
          </a:p>
          <a:p>
            <a:pPr eaLnBrk="1" hangingPunct="1"/>
            <a:endParaRPr lang="en-US" altLang="en-US" sz="2400" b="1" dirty="0">
              <a:latin typeface="Calibri" panose="020F0502020204030204" pitchFamily="34" charset="0"/>
            </a:endParaRPr>
          </a:p>
          <a:p>
            <a:pPr marL="342900" indent="-342900" algn="just" eaLnBrk="1" hangingPunct="1">
              <a:buFont typeface="Arial" panose="020B0604020202020204" pitchFamily="34" charset="0"/>
              <a:buChar char="•"/>
            </a:pPr>
            <a:r>
              <a:rPr lang="en-US" altLang="en-US" sz="2200" dirty="0">
                <a:latin typeface="Calibri" panose="020F0502020204030204" pitchFamily="34" charset="0"/>
              </a:rPr>
              <a:t>The heap sort combines the best of both merge sort and insertion sort. Like merge sort, the worst case time of heap sort is O(</a:t>
            </a:r>
            <a:r>
              <a:rPr lang="en-US" altLang="en-US" sz="2200" i="1" dirty="0">
                <a:latin typeface="Calibri" panose="020F0502020204030204" pitchFamily="34" charset="0"/>
              </a:rPr>
              <a:t>n log n) and like insertion sort, heap sort sorts in-place. </a:t>
            </a:r>
          </a:p>
          <a:p>
            <a:pPr marL="342900" indent="-342900" algn="just" eaLnBrk="1" hangingPunct="1">
              <a:buFont typeface="Arial" panose="020B0604020202020204" pitchFamily="34" charset="0"/>
              <a:buChar char="•"/>
            </a:pPr>
            <a:endParaRPr lang="en-US" altLang="en-US" sz="2200" i="1" dirty="0">
              <a:latin typeface="Calibri" panose="020F0502020204030204" pitchFamily="34" charset="0"/>
            </a:endParaRPr>
          </a:p>
          <a:p>
            <a:pPr marL="342900" indent="-342900" algn="just" eaLnBrk="1" hangingPunct="1">
              <a:buFont typeface="Arial" panose="020B0604020202020204" pitchFamily="34" charset="0"/>
              <a:buChar char="•"/>
            </a:pPr>
            <a:r>
              <a:rPr lang="en-US" altLang="en-US" sz="2200" i="1" dirty="0">
                <a:latin typeface="Calibri" panose="020F0502020204030204" pitchFamily="34" charset="0"/>
              </a:rPr>
              <a:t>The </a:t>
            </a:r>
            <a:r>
              <a:rPr lang="en-US" altLang="en-US" sz="2200" dirty="0">
                <a:latin typeface="Calibri" panose="020F0502020204030204" pitchFamily="34" charset="0"/>
              </a:rPr>
              <a:t>heap sort algorithm starts by using procedure BUILD-HEAP to build a heap on the input array A[1 . . </a:t>
            </a:r>
            <a:r>
              <a:rPr lang="en-US" altLang="en-US" sz="2200" i="1" dirty="0">
                <a:latin typeface="Calibri" panose="020F0502020204030204" pitchFamily="34" charset="0"/>
              </a:rPr>
              <a:t>n]. </a:t>
            </a:r>
          </a:p>
          <a:p>
            <a:pPr marL="342900" indent="-342900" algn="just" eaLnBrk="1" hangingPunct="1">
              <a:buFont typeface="Arial" panose="020B0604020202020204" pitchFamily="34" charset="0"/>
              <a:buChar char="•"/>
            </a:pPr>
            <a:endParaRPr lang="en-US" altLang="en-US" sz="2200" i="1" dirty="0">
              <a:latin typeface="Calibri" panose="020F0502020204030204" pitchFamily="34" charset="0"/>
            </a:endParaRPr>
          </a:p>
          <a:p>
            <a:pPr marL="342900" indent="-342900" algn="just" eaLnBrk="1" hangingPunct="1">
              <a:buFont typeface="Arial" panose="020B0604020202020204" pitchFamily="34" charset="0"/>
              <a:buChar char="•"/>
            </a:pPr>
            <a:r>
              <a:rPr lang="en-US" altLang="en-US" sz="2200" i="1" dirty="0">
                <a:latin typeface="Calibri" panose="020F0502020204030204" pitchFamily="34" charset="0"/>
              </a:rPr>
              <a:t>Since the maximum element of the array stored at the root A[1], it can be put into its </a:t>
            </a:r>
            <a:r>
              <a:rPr lang="en-US" altLang="en-US" sz="2200" dirty="0">
                <a:latin typeface="Calibri" panose="020F0502020204030204" pitchFamily="34" charset="0"/>
              </a:rPr>
              <a:t>correct final position by exchanging it with </a:t>
            </a:r>
            <a:r>
              <a:rPr lang="en-US" altLang="en-US" sz="2200" i="1" dirty="0">
                <a:latin typeface="Calibri" panose="020F0502020204030204" pitchFamily="34" charset="0"/>
              </a:rPr>
              <a:t>A[n] (the last element in A). </a:t>
            </a:r>
          </a:p>
          <a:p>
            <a:pPr marL="342900" indent="-342900" algn="just" eaLnBrk="1" hangingPunct="1">
              <a:buFont typeface="Arial" panose="020B0604020202020204" pitchFamily="34" charset="0"/>
              <a:buChar char="•"/>
            </a:pPr>
            <a:endParaRPr lang="en-US" altLang="en-US" sz="2200" i="1" dirty="0">
              <a:latin typeface="Calibri" panose="020F0502020204030204" pitchFamily="34" charset="0"/>
            </a:endParaRPr>
          </a:p>
          <a:p>
            <a:pPr marL="342900" indent="-342900" algn="just" eaLnBrk="1" hangingPunct="1">
              <a:buFont typeface="Arial" panose="020B0604020202020204" pitchFamily="34" charset="0"/>
              <a:buChar char="•"/>
            </a:pPr>
            <a:r>
              <a:rPr lang="en-US" altLang="en-US" sz="2200" i="1" dirty="0">
                <a:latin typeface="Calibri" panose="020F0502020204030204" pitchFamily="34" charset="0"/>
              </a:rPr>
              <a:t>If we now discard node </a:t>
            </a:r>
            <a:r>
              <a:rPr lang="en-US" altLang="en-US" sz="2200" dirty="0">
                <a:latin typeface="Calibri" panose="020F0502020204030204" pitchFamily="34" charset="0"/>
              </a:rPr>
              <a:t>n from the heap than the remaining elements can be made into heap. Note that the new element at the root may violate the heap property. </a:t>
            </a:r>
            <a:endParaRPr lang="en-US" altLang="en-US" sz="2200" i="1"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B532637-7332-4549-A54A-A66C9029A17B}"/>
              </a:ext>
            </a:extLst>
          </p:cNvPr>
          <p:cNvSpPr>
            <a:spLocks noGrp="1"/>
          </p:cNvSpPr>
          <p:nvPr>
            <p:ph type="dt" sz="quarter" idx="10"/>
          </p:nvPr>
        </p:nvSpPr>
        <p:spPr/>
        <p:txBody>
          <a:bodyPr/>
          <a:lstStyle/>
          <a:p>
            <a:pPr>
              <a:defRPr/>
            </a:pPr>
            <a:fld id="{A067D065-9C67-4A9F-8264-75C1FC12A8E5}" type="datetime1">
              <a:rPr lang="en-US" smtClean="0"/>
              <a:t>8/26/2026</a:t>
            </a:fld>
            <a:endParaRPr lang="en-US"/>
          </a:p>
        </p:txBody>
      </p:sp>
      <p:sp>
        <p:nvSpPr>
          <p:cNvPr id="5" name="Footer Placeholder 4">
            <a:extLst>
              <a:ext uri="{FF2B5EF4-FFF2-40B4-BE49-F238E27FC236}">
                <a16:creationId xmlns:a16="http://schemas.microsoft.com/office/drawing/2014/main" id="{EAD9AE37-86E6-4B48-9B09-381253A91AA3}"/>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100C8749-961C-4793-A16E-F38C5D642F2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1384F44-E22A-46A9-B8AE-4B570E335AD2}" type="slidenum">
              <a:rPr lang="en-US" altLang="en-US">
                <a:solidFill>
                  <a:srgbClr val="898989"/>
                </a:solidFill>
                <a:latin typeface="Calibri" panose="020F0502020204030204" pitchFamily="34" charset="0"/>
              </a:rPr>
              <a:pPr eaLnBrk="1" hangingPunct="1"/>
              <a:t>172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4FC15F1C-E4E7-431A-A8C5-3D5539E00583}"/>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6631" name="Rectangle 9">
            <a:extLst>
              <a:ext uri="{FF2B5EF4-FFF2-40B4-BE49-F238E27FC236}">
                <a16:creationId xmlns:a16="http://schemas.microsoft.com/office/drawing/2014/main" id="{78465C39-B844-4AF4-A7D6-930307B8BBE2}"/>
              </a:ext>
            </a:extLst>
          </p:cNvPr>
          <p:cNvSpPr>
            <a:spLocks noChangeArrowheads="1"/>
          </p:cNvSpPr>
          <p:nvPr/>
        </p:nvSpPr>
        <p:spPr bwMode="auto">
          <a:xfrm>
            <a:off x="762000" y="1066801"/>
            <a:ext cx="10744200"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Calibri" panose="020F0502020204030204" pitchFamily="34" charset="0"/>
              </a:rPr>
              <a:t>Heap Sort Algorithm</a:t>
            </a:r>
          </a:p>
          <a:p>
            <a:pPr eaLnBrk="1" hangingPunct="1"/>
            <a:endParaRPr lang="en-US" altLang="en-US" sz="2400" b="1" dirty="0">
              <a:latin typeface="Calibri" panose="020F0502020204030204" pitchFamily="34" charset="0"/>
            </a:endParaRPr>
          </a:p>
          <a:p>
            <a:pPr eaLnBrk="1" hangingPunct="1"/>
            <a:r>
              <a:rPr lang="en-US" altLang="en-US" sz="2200" b="1" dirty="0">
                <a:latin typeface="Calibri" panose="020F0502020204030204" pitchFamily="34" charset="0"/>
              </a:rPr>
              <a:t>HEAPSORT (A)</a:t>
            </a:r>
          </a:p>
          <a:p>
            <a:pPr eaLnBrk="1" hangingPunct="1"/>
            <a:r>
              <a:rPr lang="en-US" altLang="en-US" sz="2200" dirty="0">
                <a:latin typeface="Calibri" panose="020F0502020204030204" pitchFamily="34" charset="0"/>
              </a:rPr>
              <a:t>1. BUILD_HEAP (</a:t>
            </a:r>
            <a:r>
              <a:rPr lang="en-US" altLang="en-US" sz="2200" i="1" dirty="0">
                <a:latin typeface="Calibri" panose="020F0502020204030204" pitchFamily="34" charset="0"/>
              </a:rPr>
              <a:t>A)</a:t>
            </a:r>
          </a:p>
          <a:p>
            <a:pPr eaLnBrk="1" hangingPunct="1"/>
            <a:r>
              <a:rPr lang="en-US" altLang="en-US" sz="2200" dirty="0">
                <a:latin typeface="Calibri" panose="020F0502020204030204" pitchFamily="34" charset="0"/>
              </a:rPr>
              <a:t>2. for </a:t>
            </a:r>
            <a:r>
              <a:rPr lang="en-US" altLang="en-US" sz="2200" i="1" dirty="0" err="1">
                <a:latin typeface="Calibri" panose="020F0502020204030204" pitchFamily="34" charset="0"/>
              </a:rPr>
              <a:t>i</a:t>
            </a:r>
            <a:r>
              <a:rPr lang="en-US" altLang="en-US" sz="2200" i="1" dirty="0">
                <a:latin typeface="Calibri" panose="020F0502020204030204" pitchFamily="34" charset="0"/>
              </a:rPr>
              <a:t> ← length (A) down to 2 do</a:t>
            </a:r>
          </a:p>
          <a:p>
            <a:pPr eaLnBrk="1" hangingPunct="1"/>
            <a:r>
              <a:rPr lang="en-US" altLang="en-US" sz="2200" dirty="0">
                <a:latin typeface="Calibri" panose="020F0502020204030204" pitchFamily="34" charset="0"/>
              </a:rPr>
              <a:t>exchange </a:t>
            </a:r>
            <a:r>
              <a:rPr lang="en-US" altLang="en-US" sz="2200" i="1" dirty="0">
                <a:latin typeface="Calibri" panose="020F0502020204030204" pitchFamily="34" charset="0"/>
              </a:rPr>
              <a:t>A[1] ↔ A[</a:t>
            </a:r>
            <a:r>
              <a:rPr lang="en-US" altLang="en-US" sz="2200" i="1" dirty="0" err="1">
                <a:latin typeface="Calibri" panose="020F0502020204030204" pitchFamily="34" charset="0"/>
              </a:rPr>
              <a:t>i</a:t>
            </a:r>
            <a:r>
              <a:rPr lang="en-US" altLang="en-US" sz="2200" i="1" dirty="0">
                <a:latin typeface="Calibri" panose="020F0502020204030204" pitchFamily="34" charset="0"/>
              </a:rPr>
              <a:t>]</a:t>
            </a:r>
          </a:p>
          <a:p>
            <a:pPr eaLnBrk="1" hangingPunct="1"/>
            <a:r>
              <a:rPr lang="en-US" altLang="en-US" sz="2200" dirty="0">
                <a:latin typeface="Calibri" panose="020F0502020204030204" pitchFamily="34" charset="0"/>
              </a:rPr>
              <a:t>heap-size [</a:t>
            </a:r>
            <a:r>
              <a:rPr lang="en-US" altLang="en-US" sz="2200" i="1" dirty="0">
                <a:latin typeface="Calibri" panose="020F0502020204030204" pitchFamily="34" charset="0"/>
              </a:rPr>
              <a:t>A] ← heap-size [A] - 1</a:t>
            </a:r>
          </a:p>
          <a:p>
            <a:pPr eaLnBrk="1" hangingPunct="1"/>
            <a:r>
              <a:rPr lang="en-US" altLang="en-US" sz="2200" dirty="0" err="1">
                <a:latin typeface="Calibri" panose="020F0502020204030204" pitchFamily="34" charset="0"/>
              </a:rPr>
              <a:t>Heapify</a:t>
            </a:r>
            <a:r>
              <a:rPr lang="en-US" altLang="en-US" sz="2200" dirty="0">
                <a:latin typeface="Calibri" panose="020F0502020204030204" pitchFamily="34" charset="0"/>
              </a:rPr>
              <a:t> (</a:t>
            </a:r>
            <a:r>
              <a:rPr lang="en-US" altLang="en-US" sz="2200" i="1" dirty="0">
                <a:latin typeface="Calibri" panose="020F0502020204030204" pitchFamily="34" charset="0"/>
              </a:rPr>
              <a:t>A, 1)</a:t>
            </a:r>
          </a:p>
          <a:p>
            <a:pPr eaLnBrk="1" hangingPunct="1"/>
            <a:endParaRPr lang="en-US" altLang="en-US" sz="2200" b="1" i="1" dirty="0">
              <a:latin typeface="Calibri" panose="020F0502020204030204" pitchFamily="34" charset="0"/>
            </a:endParaRPr>
          </a:p>
          <a:p>
            <a:pPr algn="just" eaLnBrk="1" hangingPunct="1"/>
            <a:r>
              <a:rPr lang="en-US" altLang="en-US" sz="2200" dirty="0">
                <a:latin typeface="Calibri" panose="020F0502020204030204" pitchFamily="34" charset="0"/>
              </a:rPr>
              <a:t>The HEAPSORT procedure takes time O(</a:t>
            </a:r>
            <a:r>
              <a:rPr lang="en-US" altLang="en-US" sz="2200" i="1" dirty="0">
                <a:latin typeface="Calibri" panose="020F0502020204030204" pitchFamily="34" charset="0"/>
              </a:rPr>
              <a:t>n lg n), since the call to BUILD_HEAP takes </a:t>
            </a:r>
            <a:r>
              <a:rPr lang="en-US" altLang="en-US" sz="2200" dirty="0">
                <a:latin typeface="Calibri" panose="020F0502020204030204" pitchFamily="34" charset="0"/>
              </a:rPr>
              <a:t>time </a:t>
            </a:r>
            <a:r>
              <a:rPr lang="en-US" altLang="en-US" sz="2200" i="1" dirty="0">
                <a:latin typeface="Calibri" panose="020F0502020204030204" pitchFamily="34" charset="0"/>
              </a:rPr>
              <a:t>O(n) and each of the n -1 calls to </a:t>
            </a:r>
            <a:r>
              <a:rPr lang="en-US" altLang="en-US" sz="2200" i="1" dirty="0" err="1">
                <a:latin typeface="Calibri" panose="020F0502020204030204" pitchFamily="34" charset="0"/>
              </a:rPr>
              <a:t>Heapify</a:t>
            </a:r>
            <a:r>
              <a:rPr lang="en-US" altLang="en-US" sz="2200" i="1" dirty="0">
                <a:latin typeface="Calibri" panose="020F0502020204030204" pitchFamily="34" charset="0"/>
              </a:rPr>
              <a:t> takes time O(lg n).  </a:t>
            </a:r>
            <a:endParaRPr lang="en-US" altLang="en-US" sz="2200" b="1" dirty="0">
              <a:latin typeface="Calibri" panose="020F0502020204030204" pitchFamily="34"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3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631">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6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4D216A7-8C08-47F5-A4F3-5416D17BEE68}"/>
              </a:ext>
            </a:extLst>
          </p:cNvPr>
          <p:cNvSpPr>
            <a:spLocks noGrp="1"/>
          </p:cNvSpPr>
          <p:nvPr>
            <p:ph type="dt" sz="quarter" idx="10"/>
          </p:nvPr>
        </p:nvSpPr>
        <p:spPr/>
        <p:txBody>
          <a:bodyPr/>
          <a:lstStyle/>
          <a:p>
            <a:pPr>
              <a:defRPr/>
            </a:pPr>
            <a:fld id="{4E53B513-EE06-464F-8A27-F80BD71705CF}" type="datetime1">
              <a:rPr lang="en-US" smtClean="0"/>
              <a:t>8/26/2026</a:t>
            </a:fld>
            <a:endParaRPr lang="en-US"/>
          </a:p>
        </p:txBody>
      </p:sp>
      <p:sp>
        <p:nvSpPr>
          <p:cNvPr id="5" name="Footer Placeholder 4">
            <a:extLst>
              <a:ext uri="{FF2B5EF4-FFF2-40B4-BE49-F238E27FC236}">
                <a16:creationId xmlns:a16="http://schemas.microsoft.com/office/drawing/2014/main" id="{0CA28562-03EC-4E9B-B19A-D11F33FD3F33}"/>
              </a:ext>
            </a:extLst>
          </p:cNvPr>
          <p:cNvSpPr>
            <a:spLocks noGrp="1"/>
          </p:cNvSpPr>
          <p:nvPr>
            <p:ph type="ftr" sz="quarter" idx="11"/>
          </p:nvPr>
        </p:nvSpPr>
        <p:spPr>
          <a:xfrm>
            <a:off x="4038600" y="6356351"/>
            <a:ext cx="5029200" cy="365125"/>
          </a:xfrm>
        </p:spPr>
        <p:txBody>
          <a:bodyPr/>
          <a:lstStyle/>
          <a:p>
            <a:pPr>
              <a:defRPr/>
            </a:pPr>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DA02315B-D471-4C41-AAFC-CDE0BD2E092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7F63A3-AA24-4662-AFE5-189575C2F4FA}" type="slidenum">
              <a:rPr lang="en-US" altLang="en-US">
                <a:solidFill>
                  <a:srgbClr val="898989"/>
                </a:solidFill>
                <a:latin typeface="Calibri" panose="020F0502020204030204" pitchFamily="34" charset="0"/>
              </a:rPr>
              <a:pPr eaLnBrk="1" hangingPunct="1"/>
              <a:t>173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F64BAA56-0D0D-463F-8648-202F0941C9F9}"/>
              </a:ext>
            </a:extLst>
          </p:cNvPr>
          <p:cNvSpPr txBox="1">
            <a:spLocks/>
          </p:cNvSpPr>
          <p:nvPr/>
        </p:nvSpPr>
        <p:spPr>
          <a:xfrm>
            <a:off x="2895600" y="0"/>
            <a:ext cx="7772400" cy="553998"/>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Sorting(CO1) </a:t>
            </a:r>
          </a:p>
        </p:txBody>
      </p:sp>
      <p:sp>
        <p:nvSpPr>
          <p:cNvPr id="27655" name="Rectangle 8">
            <a:extLst>
              <a:ext uri="{FF2B5EF4-FFF2-40B4-BE49-F238E27FC236}">
                <a16:creationId xmlns:a16="http://schemas.microsoft.com/office/drawing/2014/main" id="{30768E56-2938-4160-AA53-791B78142DAC}"/>
              </a:ext>
            </a:extLst>
          </p:cNvPr>
          <p:cNvSpPr>
            <a:spLocks noChangeArrowheads="1"/>
          </p:cNvSpPr>
          <p:nvPr/>
        </p:nvSpPr>
        <p:spPr bwMode="auto">
          <a:xfrm>
            <a:off x="2362200" y="914401"/>
            <a:ext cx="80010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200">
                <a:latin typeface="Calibri" panose="020F0502020204030204" pitchFamily="34" charset="0"/>
              </a:rPr>
              <a:t>Example: A=[7, 4, 3, 1, 2]</a:t>
            </a:r>
          </a:p>
          <a:p>
            <a:pPr eaLnBrk="1" hangingPunct="1"/>
            <a:endParaRPr lang="en-US" altLang="en-US" sz="2200">
              <a:latin typeface="Calibri" panose="020F0502020204030204" pitchFamily="34" charset="0"/>
            </a:endParaRPr>
          </a:p>
          <a:p>
            <a:pPr eaLnBrk="1" hangingPunct="1"/>
            <a:endParaRPr lang="en-US" altLang="en-US" sz="2200">
              <a:latin typeface="Calibri" panose="020F0502020204030204" pitchFamily="34" charset="0"/>
            </a:endParaRPr>
          </a:p>
        </p:txBody>
      </p:sp>
      <p:pic>
        <p:nvPicPr>
          <p:cNvPr id="27656" name="Picture 3">
            <a:extLst>
              <a:ext uri="{FF2B5EF4-FFF2-40B4-BE49-F238E27FC236}">
                <a16:creationId xmlns:a16="http://schemas.microsoft.com/office/drawing/2014/main" id="{347EFE0F-8F5A-4EAF-9482-EF0319D8DF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3900" y="1295400"/>
            <a:ext cx="82169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7656"/>
                                        </p:tgtEl>
                                        <p:attrNameLst>
                                          <p:attrName>style.visibility</p:attrName>
                                        </p:attrNameLst>
                                      </p:cBhvr>
                                      <p:to>
                                        <p:strVal val="visible"/>
                                      </p:to>
                                    </p:set>
                                    <p:animEffect transition="in" filter="barn(inVertical)">
                                      <p:cBhvr>
                                        <p:cTn id="7" dur="500"/>
                                        <p:tgtEl>
                                          <p:spTgt spid="27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D5B2B-9719-380D-0EF9-0185AB2DD249}"/>
              </a:ext>
            </a:extLst>
          </p:cNvPr>
          <p:cNvSpPr>
            <a:spLocks noGrp="1"/>
          </p:cNvSpPr>
          <p:nvPr>
            <p:ph type="title" idx="4294967295"/>
          </p:nvPr>
        </p:nvSpPr>
        <p:spPr>
          <a:xfrm>
            <a:off x="2640724" y="0"/>
            <a:ext cx="8915400" cy="731836"/>
          </a:xfrm>
          <a:prstGeom prst="rect">
            <a:avLst/>
          </a:prstGeom>
        </p:spPr>
        <p:txBody>
          <a:bodyPr>
            <a:normAutofit/>
          </a:bodyPr>
          <a:lstStyle/>
          <a:p>
            <a:r>
              <a:rPr lang="en-US" sz="2800" b="1" i="0" dirty="0">
                <a:solidFill>
                  <a:srgbClr val="273239"/>
                </a:solidFill>
                <a:effectLst/>
                <a:latin typeface="Source Sans 3"/>
              </a:rPr>
              <a:t>Priority Queue</a:t>
            </a:r>
            <a:endParaRPr lang="en-US" sz="2800" dirty="0"/>
          </a:p>
        </p:txBody>
      </p:sp>
      <p:sp>
        <p:nvSpPr>
          <p:cNvPr id="3" name="Content Placeholder 2">
            <a:extLst>
              <a:ext uri="{FF2B5EF4-FFF2-40B4-BE49-F238E27FC236}">
                <a16:creationId xmlns:a16="http://schemas.microsoft.com/office/drawing/2014/main" id="{8907904A-980E-1D1B-5AF2-38B25EC97C47}"/>
              </a:ext>
            </a:extLst>
          </p:cNvPr>
          <p:cNvSpPr>
            <a:spLocks noGrp="1"/>
          </p:cNvSpPr>
          <p:nvPr>
            <p:ph idx="1"/>
          </p:nvPr>
        </p:nvSpPr>
        <p:spPr/>
        <p:txBody>
          <a:bodyPr/>
          <a:lstStyle/>
          <a:p>
            <a:r>
              <a:rPr lang="en-US" b="0" i="0" dirty="0">
                <a:solidFill>
                  <a:srgbClr val="273239"/>
                </a:solidFill>
                <a:effectLst/>
                <a:latin typeface="Nunito" pitchFamily="2" charset="0"/>
              </a:rPr>
              <a:t>A </a:t>
            </a:r>
            <a:r>
              <a:rPr lang="en-US" b="1" i="0" dirty="0">
                <a:solidFill>
                  <a:srgbClr val="273239"/>
                </a:solidFill>
                <a:effectLst/>
                <a:latin typeface="Nunito" pitchFamily="2" charset="0"/>
              </a:rPr>
              <a:t>priority queue</a:t>
            </a:r>
            <a:r>
              <a:rPr lang="en-US" b="0" i="0" dirty="0">
                <a:solidFill>
                  <a:srgbClr val="273239"/>
                </a:solidFill>
                <a:effectLst/>
                <a:latin typeface="Nunito" pitchFamily="2" charset="0"/>
              </a:rPr>
              <a:t> is a type of queue that arranges elements based on their priority values. </a:t>
            </a:r>
          </a:p>
          <a:p>
            <a:endParaRPr lang="en-US" dirty="0">
              <a:solidFill>
                <a:srgbClr val="273239"/>
              </a:solidFill>
              <a:latin typeface="Nunito" pitchFamily="2" charset="0"/>
            </a:endParaRPr>
          </a:p>
          <a:p>
            <a:r>
              <a:rPr lang="en-US" b="0" i="0" dirty="0">
                <a:solidFill>
                  <a:srgbClr val="273239"/>
                </a:solidFill>
                <a:effectLst/>
                <a:latin typeface="Nunito" pitchFamily="2" charset="0"/>
              </a:rPr>
              <a:t>Elements with higher priority values are typically retrieved before elements with lower priority values.</a:t>
            </a:r>
            <a:endParaRPr lang="en-US" dirty="0"/>
          </a:p>
        </p:txBody>
      </p:sp>
      <p:sp>
        <p:nvSpPr>
          <p:cNvPr id="4" name="Date Placeholder 3">
            <a:extLst>
              <a:ext uri="{FF2B5EF4-FFF2-40B4-BE49-F238E27FC236}">
                <a16:creationId xmlns:a16="http://schemas.microsoft.com/office/drawing/2014/main" id="{E0DFEF16-E21A-93B6-3DD2-D816B8734C5B}"/>
              </a:ext>
            </a:extLst>
          </p:cNvPr>
          <p:cNvSpPr>
            <a:spLocks noGrp="1"/>
          </p:cNvSpPr>
          <p:nvPr>
            <p:ph type="dt" sz="half" idx="10"/>
          </p:nvPr>
        </p:nvSpPr>
        <p:spPr/>
        <p:txBody>
          <a:bodyPr/>
          <a:lstStyle/>
          <a:p>
            <a:fld id="{340CD702-5C49-4B4A-BFFF-8FC89BA974AD}" type="datetime1">
              <a:rPr lang="en-US" smtClean="0"/>
              <a:t>8/26/2026</a:t>
            </a:fld>
            <a:endParaRPr lang="en-US"/>
          </a:p>
        </p:txBody>
      </p:sp>
      <p:sp>
        <p:nvSpPr>
          <p:cNvPr id="5" name="Footer Placeholder 4">
            <a:extLst>
              <a:ext uri="{FF2B5EF4-FFF2-40B4-BE49-F238E27FC236}">
                <a16:creationId xmlns:a16="http://schemas.microsoft.com/office/drawing/2014/main" id="{AEEE61C8-692C-99D3-A13A-CA64AD5FAFA8}"/>
              </a:ext>
            </a:extLst>
          </p:cNvPr>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a:extLst>
              <a:ext uri="{FF2B5EF4-FFF2-40B4-BE49-F238E27FC236}">
                <a16:creationId xmlns:a16="http://schemas.microsoft.com/office/drawing/2014/main" id="{2D8247D4-79E3-6B9F-C3F3-36765B040EF3}"/>
              </a:ext>
            </a:extLst>
          </p:cNvPr>
          <p:cNvSpPr>
            <a:spLocks noGrp="1"/>
          </p:cNvSpPr>
          <p:nvPr>
            <p:ph type="sldNum" sz="quarter" idx="12"/>
          </p:nvPr>
        </p:nvSpPr>
        <p:spPr/>
        <p:txBody>
          <a:bodyPr/>
          <a:lstStyle/>
          <a:p>
            <a:fld id="{B6F15528-21DE-4FAA-801E-634DDDAF4B2B}" type="slidenum">
              <a:rPr lang="en-US" smtClean="0"/>
              <a:pPr/>
              <a:t>174</a:t>
            </a:fld>
            <a:endParaRPr lang="en-US"/>
          </a:p>
        </p:txBody>
      </p:sp>
    </p:spTree>
    <p:extLst>
      <p:ext uri="{BB962C8B-B14F-4D97-AF65-F5344CB8AC3E}">
        <p14:creationId xmlns:p14="http://schemas.microsoft.com/office/powerpoint/2010/main" val="2022973071"/>
      </p:ext>
    </p:extLst>
  </p:cSld>
  <p:clrMapOvr>
    <a:masterClrMapping/>
  </p:clrMapOvr>
  <p:transition spd="slow">
    <p:cove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E1C64BF-95D0-4C06-AB9D-8FF2B0D837D4}"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175</a:t>
            </a:fld>
            <a:endParaRPr lang="en-US"/>
          </a:p>
        </p:txBody>
      </p:sp>
      <p:sp>
        <p:nvSpPr>
          <p:cNvPr id="10" name="Content Placeholder 2"/>
          <p:cNvSpPr>
            <a:spLocks noGrp="1"/>
          </p:cNvSpPr>
          <p:nvPr>
            <p:ph idx="1"/>
          </p:nvPr>
        </p:nvSpPr>
        <p:spPr>
          <a:xfrm>
            <a:off x="914400" y="888007"/>
            <a:ext cx="10591800" cy="5081986"/>
          </a:xfrm>
        </p:spPr>
        <p:txBody>
          <a:bodyPr>
            <a:normAutofit lnSpcReduction="10000"/>
          </a:bodyPr>
          <a:lstStyle/>
          <a:p>
            <a:r>
              <a:rPr lang="en-US" sz="2400" dirty="0"/>
              <a:t>The number of edges from the root to the node is called __________ of the tree.</a:t>
            </a:r>
            <a:br>
              <a:rPr lang="en-US" sz="2400" dirty="0"/>
            </a:br>
            <a:r>
              <a:rPr lang="en-US" sz="2400" dirty="0"/>
              <a:t>a) Height</a:t>
            </a:r>
            <a:br>
              <a:rPr lang="en-US" sz="2400" dirty="0"/>
            </a:br>
            <a:r>
              <a:rPr lang="en-US" sz="2400" b="1" dirty="0"/>
              <a:t>b) Depth</a:t>
            </a:r>
            <a:br>
              <a:rPr lang="en-US" sz="2400" dirty="0"/>
            </a:br>
            <a:r>
              <a:rPr lang="en-US" sz="2400" dirty="0"/>
              <a:t>c) Length</a:t>
            </a:r>
            <a:br>
              <a:rPr lang="en-US" sz="2400" dirty="0"/>
            </a:br>
            <a:r>
              <a:rPr lang="en-US" sz="2400" dirty="0"/>
              <a:t>d) Width</a:t>
            </a:r>
          </a:p>
          <a:p>
            <a:r>
              <a:rPr lang="en-US" sz="2400" dirty="0"/>
              <a:t> What is a full binary tree?</a:t>
            </a:r>
            <a:br>
              <a:rPr lang="en-US" sz="2400" dirty="0"/>
            </a:br>
            <a:r>
              <a:rPr lang="en-US" sz="2400" b="1" dirty="0"/>
              <a:t>a) Each node has exactly zero or two children</a:t>
            </a:r>
            <a:br>
              <a:rPr lang="en-US" sz="2400" dirty="0"/>
            </a:br>
            <a:r>
              <a:rPr lang="en-US" sz="2400" dirty="0"/>
              <a:t>b) Each node has exactly two children</a:t>
            </a:r>
            <a:br>
              <a:rPr lang="en-US" sz="2400" dirty="0"/>
            </a:br>
            <a:r>
              <a:rPr lang="en-US" sz="2400" dirty="0"/>
              <a:t>c) All the leaves are at the same level</a:t>
            </a:r>
            <a:br>
              <a:rPr lang="en-US" sz="2400" dirty="0"/>
            </a:br>
            <a:r>
              <a:rPr lang="en-US" sz="2400" dirty="0"/>
              <a:t>d) Each node has exactly one or two children</a:t>
            </a:r>
          </a:p>
          <a:p>
            <a:r>
              <a:rPr lang="en-US" sz="2000" dirty="0"/>
              <a:t>What is the average case time complexity for finding the height of the binary tree?</a:t>
            </a:r>
            <a:br>
              <a:rPr lang="en-US" sz="2000" dirty="0"/>
            </a:br>
            <a:r>
              <a:rPr lang="en-US" sz="2000" dirty="0"/>
              <a:t>a) h = O(</a:t>
            </a:r>
            <a:r>
              <a:rPr lang="en-US" sz="2000" dirty="0" err="1"/>
              <a:t>loglogn</a:t>
            </a:r>
            <a:r>
              <a:rPr lang="en-US" sz="2000" dirty="0"/>
              <a:t>)</a:t>
            </a:r>
            <a:br>
              <a:rPr lang="en-US" sz="2000" dirty="0"/>
            </a:br>
            <a:r>
              <a:rPr lang="en-US" sz="2000" dirty="0"/>
              <a:t>b) h = O(</a:t>
            </a:r>
            <a:r>
              <a:rPr lang="en-US" sz="2000" dirty="0" err="1"/>
              <a:t>nlogn</a:t>
            </a:r>
            <a:r>
              <a:rPr lang="en-US" sz="2000" dirty="0"/>
              <a:t>)</a:t>
            </a:r>
            <a:br>
              <a:rPr lang="en-US" sz="2000" dirty="0"/>
            </a:br>
            <a:r>
              <a:rPr lang="en-US" sz="2000" dirty="0"/>
              <a:t>c) h = O(n)</a:t>
            </a:r>
            <a:br>
              <a:rPr lang="en-US" sz="2000" dirty="0"/>
            </a:br>
            <a:r>
              <a:rPr lang="en-US" sz="2000" b="1" dirty="0"/>
              <a:t>d) h = O(log n)</a:t>
            </a:r>
          </a:p>
          <a:p>
            <a:endParaRPr lang="en-US" sz="2200" dirty="0"/>
          </a:p>
        </p:txBody>
      </p:sp>
      <p:sp>
        <p:nvSpPr>
          <p:cNvPr id="11"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Daily Quiz</a:t>
            </a:r>
          </a:p>
        </p:txBody>
      </p:sp>
    </p:spTree>
    <p:extLst>
      <p:ext uri="{BB962C8B-B14F-4D97-AF65-F5344CB8AC3E}">
        <p14:creationId xmlns:p14="http://schemas.microsoft.com/office/powerpoint/2010/main" val="4277984535"/>
      </p:ext>
    </p:extLst>
  </p:cSld>
  <p:clrMapOvr>
    <a:masterClrMapping/>
  </p:clrMapOvr>
  <p:transition spd="slow">
    <p:cove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1"/>
            <a:ext cx="10439400" cy="4525963"/>
          </a:xfrm>
        </p:spPr>
        <p:txBody>
          <a:bodyPr>
            <a:normAutofit lnSpcReduction="10000"/>
          </a:bodyPr>
          <a:lstStyle/>
          <a:p>
            <a:r>
              <a:rPr lang="en-US" sz="2400" dirty="0"/>
              <a:t> Which of the following is the most widely used external memory data structure?</a:t>
            </a:r>
            <a:br>
              <a:rPr lang="en-US" sz="2400" dirty="0"/>
            </a:br>
            <a:r>
              <a:rPr lang="en-US" sz="2400" dirty="0"/>
              <a:t>a) AVL tree</a:t>
            </a:r>
            <a:br>
              <a:rPr lang="en-US" sz="2400" dirty="0"/>
            </a:br>
            <a:r>
              <a:rPr lang="en-US" sz="2400" b="1" dirty="0"/>
              <a:t>b) B-tree</a:t>
            </a:r>
            <a:br>
              <a:rPr lang="en-US" sz="2400" dirty="0"/>
            </a:br>
            <a:r>
              <a:rPr lang="en-US" sz="2400" dirty="0"/>
              <a:t>c) Red-black tree</a:t>
            </a:r>
            <a:br>
              <a:rPr lang="en-US" sz="2400" dirty="0"/>
            </a:br>
            <a:r>
              <a:rPr lang="en-US" sz="2400" dirty="0"/>
              <a:t>d) Both AVL tree and Red-black tree</a:t>
            </a:r>
          </a:p>
          <a:p>
            <a:r>
              <a:rPr lang="en-US" sz="2400" dirty="0"/>
              <a:t> B-tree of order n is a order-n </a:t>
            </a:r>
            <a:r>
              <a:rPr lang="en-US" sz="2400" dirty="0" err="1"/>
              <a:t>multiway</a:t>
            </a:r>
            <a:r>
              <a:rPr lang="en-US" sz="2400" dirty="0"/>
              <a:t> tree in which each non-root node contains __________</a:t>
            </a:r>
            <a:br>
              <a:rPr lang="en-US" sz="2400" dirty="0"/>
            </a:br>
            <a:r>
              <a:rPr lang="en-US" sz="2400" dirty="0"/>
              <a:t>a) at most (n – 1)/2 keys</a:t>
            </a:r>
            <a:br>
              <a:rPr lang="en-US" sz="2400" dirty="0"/>
            </a:br>
            <a:r>
              <a:rPr lang="en-US" sz="2400" dirty="0"/>
              <a:t>b) exact (n – 1)/2 keys</a:t>
            </a:r>
            <a:br>
              <a:rPr lang="en-US" sz="2400" dirty="0"/>
            </a:br>
            <a:r>
              <a:rPr lang="en-US" sz="2400" dirty="0"/>
              <a:t>c) at least 2n keys</a:t>
            </a:r>
            <a:br>
              <a:rPr lang="en-US" sz="2400" dirty="0"/>
            </a:br>
            <a:r>
              <a:rPr lang="en-US" sz="2400" b="1" dirty="0"/>
              <a:t>d) at least (n – 1)/2 keys</a:t>
            </a:r>
          </a:p>
          <a:p>
            <a:endParaRPr lang="en-US" sz="2400" b="1" dirty="0"/>
          </a:p>
          <a:p>
            <a:pPr>
              <a:buNone/>
            </a:pPr>
            <a:endParaRPr lang="en-IN" sz="2200" b="1" dirty="0"/>
          </a:p>
        </p:txBody>
      </p:sp>
      <p:sp>
        <p:nvSpPr>
          <p:cNvPr id="4" name="Date Placeholder 3"/>
          <p:cNvSpPr>
            <a:spLocks noGrp="1"/>
          </p:cNvSpPr>
          <p:nvPr>
            <p:ph type="dt" sz="half" idx="10"/>
          </p:nvPr>
        </p:nvSpPr>
        <p:spPr/>
        <p:txBody>
          <a:bodyPr/>
          <a:lstStyle/>
          <a:p>
            <a:fld id="{28D8C68D-9484-4A2E-BF65-36F4AEF1D274}" type="datetime1">
              <a:rPr lang="en-US" smtClean="0"/>
              <a:t>8/26/2026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176</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MCQ s</a:t>
            </a:r>
          </a:p>
        </p:txBody>
      </p:sp>
    </p:spTree>
  </p:cSld>
  <p:clrMapOvr>
    <a:masterClrMapping/>
  </p:clrMapOvr>
  <p:transition spd="slow">
    <p:cove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CA1B95-12D1-4ABF-87CF-DAC81B113B77}"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177</a:t>
            </a:fld>
            <a:endParaRPr lang="en-US"/>
          </a:p>
        </p:txBody>
      </p:sp>
      <p:sp>
        <p:nvSpPr>
          <p:cNvPr id="7" name="Content Placeholder 2"/>
          <p:cNvSpPr>
            <a:spLocks noGrp="1"/>
          </p:cNvSpPr>
          <p:nvPr>
            <p:ph idx="1"/>
          </p:nvPr>
        </p:nvSpPr>
        <p:spPr>
          <a:xfrm>
            <a:off x="1066800" y="1143001"/>
            <a:ext cx="10363200" cy="4525963"/>
          </a:xfrm>
        </p:spPr>
        <p:txBody>
          <a:bodyPr>
            <a:normAutofit/>
          </a:bodyPr>
          <a:lstStyle/>
          <a:p>
            <a:pPr lvl="0" algn="just"/>
            <a:r>
              <a:rPr lang="en-US" sz="2400" dirty="0"/>
              <a:t> </a:t>
            </a:r>
            <a:r>
              <a:rPr lang="en-US" sz="2200" dirty="0"/>
              <a:t>Define tree data structure with its terminologies.</a:t>
            </a:r>
          </a:p>
          <a:p>
            <a:pPr lvl="0" algn="just"/>
            <a:r>
              <a:rPr lang="en-US" sz="2200" dirty="0"/>
              <a:t>Construct expression tree for the following expressions</a:t>
            </a:r>
          </a:p>
          <a:p>
            <a:pPr lvl="1" algn="just"/>
            <a:r>
              <a:rPr lang="en-US" sz="2200" dirty="0"/>
              <a:t>A + (B * (C / D) )</a:t>
            </a:r>
          </a:p>
          <a:p>
            <a:pPr lvl="1" algn="just"/>
            <a:r>
              <a:rPr lang="en-US" sz="2200" dirty="0"/>
              <a:t>(a + b*c) * ( d + e)	</a:t>
            </a:r>
          </a:p>
          <a:p>
            <a:pPr lvl="0" algn="just"/>
            <a:r>
              <a:rPr lang="en-US" sz="2200" dirty="0"/>
              <a:t>Prove that the number of leaves in a non-empty full binary tree is one more than the number of internal nodes. </a:t>
            </a:r>
          </a:p>
          <a:p>
            <a:pPr lvl="0" algn="just"/>
            <a:r>
              <a:rPr lang="en-US" sz="2200" dirty="0"/>
              <a:t>Construct a binary tree if the in-order and pre-order traversal is given</a:t>
            </a:r>
          </a:p>
          <a:p>
            <a:pPr lvl="1" algn="just"/>
            <a:r>
              <a:rPr lang="en-US" sz="2200" dirty="0" err="1"/>
              <a:t>Inorder</a:t>
            </a:r>
            <a:r>
              <a:rPr lang="en-US" sz="2200" dirty="0"/>
              <a:t> : 10, 15, 17, 18, 20, 25, 30, 35, 38, 40, 50</a:t>
            </a:r>
          </a:p>
          <a:p>
            <a:pPr lvl="1" algn="just"/>
            <a:r>
              <a:rPr lang="en-US" sz="2200" dirty="0"/>
              <a:t>Preorder: 20, 15, 10, 18, 17, 30, 25, 40, 35, 38, 50</a:t>
            </a:r>
          </a:p>
          <a:p>
            <a:endParaRPr lang="en-US" sz="2400" dirty="0"/>
          </a:p>
        </p:txBody>
      </p:sp>
      <p:sp>
        <p:nvSpPr>
          <p:cNvPr id="8" name="Title 1"/>
          <p:cNvSpPr txBox="1">
            <a:spLocks/>
          </p:cNvSpPr>
          <p:nvPr/>
        </p:nvSpPr>
        <p:spPr>
          <a:xfrm>
            <a:off x="2895600" y="1"/>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Weekly Assignment</a:t>
            </a:r>
          </a:p>
        </p:txBody>
      </p:sp>
    </p:spTree>
    <p:extLst>
      <p:ext uri="{BB962C8B-B14F-4D97-AF65-F5344CB8AC3E}">
        <p14:creationId xmlns:p14="http://schemas.microsoft.com/office/powerpoint/2010/main" val="2940300164"/>
      </p:ext>
    </p:extLst>
  </p:cSld>
  <p:clrMapOvr>
    <a:masterClrMapping/>
  </p:clrMapOvr>
  <p:transition spd="slow">
    <p:cove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43001"/>
            <a:ext cx="10439400" cy="4525963"/>
          </a:xfrm>
        </p:spPr>
        <p:txBody>
          <a:bodyPr>
            <a:normAutofit/>
          </a:bodyPr>
          <a:lstStyle/>
          <a:p>
            <a:pPr marL="457200" algn="just"/>
            <a:r>
              <a:rPr lang="en-US" sz="2400" b="1" dirty="0">
                <a:cs typeface="Times New Roman" panose="02020603050405020304" pitchFamily="18" charset="0"/>
              </a:rPr>
              <a:t>Create a BST using 28, 56, 12, 9 87, 7, 23, 19</a:t>
            </a:r>
          </a:p>
          <a:p>
            <a:pPr marL="457200" algn="just"/>
            <a:r>
              <a:rPr lang="en-US" sz="2400" b="1" dirty="0">
                <a:cs typeface="Times New Roman" panose="02020603050405020304" pitchFamily="18" charset="0"/>
              </a:rPr>
              <a:t>What is the difference between BST and AVL tree?</a:t>
            </a:r>
          </a:p>
          <a:p>
            <a:pPr marL="457200" algn="just"/>
            <a:r>
              <a:rPr lang="en-US" sz="2400" b="1" dirty="0">
                <a:cs typeface="Times New Roman" panose="02020603050405020304" pitchFamily="18" charset="0"/>
              </a:rPr>
              <a:t>From a BST with numbers: 28, 56, 12, 9 87, 7, 23, 19. Delete 56.</a:t>
            </a:r>
          </a:p>
          <a:p>
            <a:pPr marL="457200" algn="just"/>
            <a:r>
              <a:rPr lang="en-US" sz="2400" b="1" dirty="0">
                <a:cs typeface="Times New Roman" panose="02020603050405020304" pitchFamily="18" charset="0"/>
              </a:rPr>
              <a:t>What is B Tree? How is it different from Binary T</a:t>
            </a:r>
          </a:p>
          <a:p>
            <a:pPr marL="457200" algn="just"/>
            <a:r>
              <a:rPr lang="en-US" sz="2400" b="1" dirty="0">
                <a:cs typeface="Times New Roman" panose="02020603050405020304" pitchFamily="18" charset="0"/>
              </a:rPr>
              <a:t>Create an AVL Tree using 39, 56, 2, 9 87, 7, 23, 19</a:t>
            </a:r>
          </a:p>
          <a:p>
            <a:pPr marL="114300" indent="0">
              <a:buNone/>
            </a:pPr>
            <a:endParaRPr lang="en-IN" sz="2200" b="1" dirty="0"/>
          </a:p>
        </p:txBody>
      </p:sp>
      <p:sp>
        <p:nvSpPr>
          <p:cNvPr id="4" name="Date Placeholder 3"/>
          <p:cNvSpPr>
            <a:spLocks noGrp="1"/>
          </p:cNvSpPr>
          <p:nvPr>
            <p:ph type="dt" sz="half" idx="10"/>
          </p:nvPr>
        </p:nvSpPr>
        <p:spPr/>
        <p:txBody>
          <a:bodyPr/>
          <a:lstStyle/>
          <a:p>
            <a:fld id="{F88C62A4-D2D6-43D5-AFB8-ADC26D03B400}" type="datetime1">
              <a:rPr lang="en-US" smtClean="0"/>
              <a:t>8/26/2026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178</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defRPr sz="3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Weekly Assignment</a:t>
            </a:r>
          </a:p>
        </p:txBody>
      </p:sp>
    </p:spTree>
    <p:extLst>
      <p:ext uri="{BB962C8B-B14F-4D97-AF65-F5344CB8AC3E}">
        <p14:creationId xmlns:p14="http://schemas.microsoft.com/office/powerpoint/2010/main" val="1218685449"/>
      </p:ext>
    </p:extLst>
  </p:cSld>
  <p:clrMapOvr>
    <a:masterClrMapping/>
  </p:clrMapOvr>
  <p:transition spd="slow">
    <p:cove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E93745-D2AE-4BB0-A284-001FEAB43186}" type="datetime1">
              <a:rPr lang="en-US" smtClean="0"/>
              <a:t>8/26/2026</a:t>
            </a:fld>
            <a:endParaRPr lang="en-US"/>
          </a:p>
        </p:txBody>
      </p:sp>
      <p:sp>
        <p:nvSpPr>
          <p:cNvPr id="5" name="Footer Placeholder 4"/>
          <p:cNvSpPr>
            <a:spLocks noGrp="1"/>
          </p:cNvSpPr>
          <p:nvPr>
            <p:ph type="ftr" sz="quarter" idx="11"/>
          </p:nvPr>
        </p:nvSpPr>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179</a:t>
            </a:fld>
            <a:endParaRPr lang="en-US"/>
          </a:p>
        </p:txBody>
      </p:sp>
      <p:sp>
        <p:nvSpPr>
          <p:cNvPr id="7" name="Title 1">
            <a:extLst>
              <a:ext uri="{FF2B5EF4-FFF2-40B4-BE49-F238E27FC236}">
                <a16:creationId xmlns:a16="http://schemas.microsoft.com/office/drawing/2014/main" id="{2F8E575E-14B1-4C2D-8B27-DB56819CF3BC}"/>
              </a:ext>
            </a:extLst>
          </p:cNvPr>
          <p:cNvSpPr>
            <a:spLocks noGrp="1"/>
          </p:cNvSpPr>
          <p:nvPr>
            <p:ph type="title" idx="4294967295"/>
          </p:nvPr>
        </p:nvSpPr>
        <p:spPr>
          <a:xfrm>
            <a:off x="3032290" y="1"/>
            <a:ext cx="7635711" cy="731837"/>
          </a:xfrm>
          <a:prstGeom prst="rect">
            <a:avLst/>
          </a:prstGeom>
          <a:noFill/>
        </p:spPr>
        <p:txBody>
          <a:bodyPr wrap="square" rtlCol="0">
            <a:spAutoFit/>
          </a:bodyPr>
          <a:lstStyle/>
          <a:p>
            <a:r>
              <a:rPr lang="en-US" sz="3000" dirty="0">
                <a:solidFill>
                  <a:schemeClr val="tx1"/>
                </a:solidFill>
              </a:rPr>
              <a:t>Glossary Question</a:t>
            </a:r>
            <a:endParaRPr lang="en-IN" sz="3000" dirty="0">
              <a:solidFill>
                <a:schemeClr val="tx1"/>
              </a:solidFill>
            </a:endParaRPr>
          </a:p>
        </p:txBody>
      </p:sp>
      <p:sp>
        <p:nvSpPr>
          <p:cNvPr id="8" name="Text Placeholder 2">
            <a:extLst>
              <a:ext uri="{FF2B5EF4-FFF2-40B4-BE49-F238E27FC236}">
                <a16:creationId xmlns:a16="http://schemas.microsoft.com/office/drawing/2014/main" id="{0B064753-D351-40F4-B795-8522BB0A4B1C}"/>
              </a:ext>
            </a:extLst>
          </p:cNvPr>
          <p:cNvSpPr txBox="1">
            <a:spLocks/>
          </p:cNvSpPr>
          <p:nvPr/>
        </p:nvSpPr>
        <p:spPr>
          <a:xfrm>
            <a:off x="1143000" y="1281113"/>
            <a:ext cx="99060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indent="0">
              <a:buNone/>
            </a:pPr>
            <a:r>
              <a:rPr lang="en-US" sz="2800" b="1" dirty="0" err="1">
                <a:latin typeface="Times New Roman" panose="02020603050405020304" pitchFamily="18" charset="0"/>
                <a:cs typeface="Times New Roman" panose="02020603050405020304" pitchFamily="18" charset="0"/>
              </a:rPr>
              <a:t>i</a:t>
            </a:r>
            <a:r>
              <a:rPr lang="en-US" sz="2800" b="1" dirty="0">
                <a:latin typeface="Times New Roman" panose="02020603050405020304" pitchFamily="18" charset="0"/>
                <a:cs typeface="Times New Roman" panose="02020603050405020304" pitchFamily="18" charset="0"/>
              </a:rPr>
              <a:t>. Trees ii. Graphs </a:t>
            </a:r>
            <a:r>
              <a:rPr lang="en-US" sz="2800" b="1" dirty="0" err="1">
                <a:latin typeface="Times New Roman" panose="02020603050405020304" pitchFamily="18" charset="0"/>
                <a:cs typeface="Times New Roman" panose="02020603050405020304" pitchFamily="18" charset="0"/>
              </a:rPr>
              <a:t>iii.List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iv.Leaf</a:t>
            </a:r>
            <a:r>
              <a:rPr lang="en-US" sz="2800" b="1" dirty="0">
                <a:latin typeface="Times New Roman" panose="02020603050405020304" pitchFamily="18" charset="0"/>
                <a:cs typeface="Times New Roman" panose="02020603050405020304" pitchFamily="18" charset="0"/>
              </a:rPr>
              <a:t> Node</a:t>
            </a:r>
          </a:p>
          <a:p>
            <a:pPr marL="114300" indent="0">
              <a:buNone/>
            </a:pPr>
            <a:r>
              <a:rPr lang="en-US" sz="2800" b="1" u="sng" dirty="0">
                <a:latin typeface="Times New Roman" panose="02020603050405020304" pitchFamily="18" charset="0"/>
                <a:cs typeface="Times New Roman" panose="02020603050405020304" pitchFamily="18" charset="0"/>
              </a:rPr>
              <a:t>Answer the questions</a:t>
            </a:r>
            <a:r>
              <a:rPr lang="en-US" sz="2800" dirty="0">
                <a:latin typeface="Times New Roman" panose="02020603050405020304" pitchFamily="18" charset="0"/>
                <a:cs typeface="Times New Roman" panose="02020603050405020304" pitchFamily="18" charset="0"/>
              </a:rPr>
              <a:t>.</a:t>
            </a:r>
          </a:p>
          <a:p>
            <a:pPr marL="114300" indent="0">
              <a:buNone/>
            </a:pPr>
            <a:r>
              <a:rPr lang="en-US" sz="2800" dirty="0">
                <a:latin typeface="Times New Roman" panose="02020603050405020304" pitchFamily="18" charset="0"/>
                <a:cs typeface="Times New Roman" panose="02020603050405020304" pitchFamily="18" charset="0"/>
              </a:rPr>
              <a:t>a. A finite ,ordered sequence of data items….</a:t>
            </a:r>
          </a:p>
          <a:p>
            <a:pPr marL="114300" indent="0">
              <a:buNone/>
            </a:pPr>
            <a:r>
              <a:rPr lang="en-US" sz="2800" dirty="0">
                <a:latin typeface="Times New Roman" panose="02020603050405020304" pitchFamily="18" charset="0"/>
                <a:cs typeface="Times New Roman" panose="02020603050405020304" pitchFamily="18" charset="0"/>
              </a:rPr>
              <a:t>b. Any node that has two empty children…</a:t>
            </a:r>
          </a:p>
          <a:p>
            <a:pPr marL="114300" indent="0">
              <a:buNone/>
            </a:pPr>
            <a:r>
              <a:rPr lang="en-US" sz="2800" dirty="0">
                <a:latin typeface="Times New Roman" panose="02020603050405020304" pitchFamily="18" charset="0"/>
                <a:cs typeface="Times New Roman" panose="02020603050405020304" pitchFamily="18" charset="0"/>
              </a:rPr>
              <a:t>c. Consists of a set of vertices  and edges…..</a:t>
            </a:r>
          </a:p>
          <a:p>
            <a:pPr marL="114300" indent="0">
              <a:buNone/>
            </a:pPr>
            <a:r>
              <a:rPr lang="en-US" sz="2800" dirty="0">
                <a:latin typeface="Times New Roman" panose="02020603050405020304" pitchFamily="18" charset="0"/>
                <a:cs typeface="Times New Roman" panose="02020603050405020304" pitchFamily="18" charset="0"/>
              </a:rPr>
              <a:t>d. Finite set of one or more nodes……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269920"/>
      </p:ext>
    </p:extLst>
  </p:cSld>
  <p:clrMapOvr>
    <a:masterClrMapping/>
  </p:clrMapOvr>
  <p:transition spd="slow">
    <p:cove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143000"/>
            <a:ext cx="10591800" cy="5257800"/>
          </a:xfrm>
        </p:spPr>
        <p:txBody>
          <a:bodyPr>
            <a:noAutofit/>
          </a:bodyPr>
          <a:lstStyle/>
          <a:p>
            <a:r>
              <a:rPr lang="en-US" sz="2200" dirty="0" err="1"/>
              <a:t>Youtube</a:t>
            </a:r>
            <a:r>
              <a:rPr lang="en-US" sz="2200" dirty="0"/>
              <a:t>/other  Video Links</a:t>
            </a:r>
          </a:p>
          <a:p>
            <a:r>
              <a:rPr lang="en-US" sz="2200" dirty="0"/>
              <a:t>Binary tree traversal</a:t>
            </a:r>
          </a:p>
          <a:p>
            <a:pPr marL="742950" lvl="2" indent="-342900"/>
            <a:r>
              <a:rPr lang="en-US" sz="2200" dirty="0">
                <a:hlinkClick r:id="rId2"/>
              </a:rPr>
              <a:t>https://www.youtube.com/watch?v=e_Wv_pH4Se8</a:t>
            </a:r>
            <a:endParaRPr lang="en-US" sz="2200" dirty="0"/>
          </a:p>
          <a:p>
            <a:r>
              <a:rPr lang="en-US" sz="2200" dirty="0"/>
              <a:t>Constructing binary tree from </a:t>
            </a:r>
            <a:r>
              <a:rPr lang="en-US" sz="2200" dirty="0" err="1"/>
              <a:t>inorder</a:t>
            </a:r>
            <a:r>
              <a:rPr lang="en-US" sz="2200" dirty="0"/>
              <a:t>, </a:t>
            </a:r>
            <a:r>
              <a:rPr lang="en-US" sz="2200" dirty="0" err="1"/>
              <a:t>postorder</a:t>
            </a:r>
            <a:endParaRPr lang="en-US" sz="2200" dirty="0"/>
          </a:p>
          <a:p>
            <a:pPr lvl="1"/>
            <a:r>
              <a:rPr lang="en-US" sz="2200" dirty="0">
                <a:hlinkClick r:id="rId3"/>
              </a:rPr>
              <a:t>https://www.youtube.com/watch?v=s5XRtcud35E</a:t>
            </a:r>
            <a:endParaRPr lang="en-US" sz="2200" dirty="0"/>
          </a:p>
          <a:p>
            <a:r>
              <a:rPr lang="en-US" sz="2200" dirty="0"/>
              <a:t>Constructing binary tree from </a:t>
            </a:r>
            <a:r>
              <a:rPr lang="en-US" sz="2200" dirty="0" err="1"/>
              <a:t>inorder</a:t>
            </a:r>
            <a:r>
              <a:rPr lang="en-US" sz="2200" dirty="0"/>
              <a:t>, preorder</a:t>
            </a:r>
          </a:p>
          <a:p>
            <a:pPr lvl="1"/>
            <a:r>
              <a:rPr lang="en-US" sz="2200" dirty="0">
                <a:hlinkClick r:id="rId4"/>
              </a:rPr>
              <a:t>https://www.youtube.com/watch?v=PoBGyrIWisE</a:t>
            </a:r>
            <a:endParaRPr lang="en-US" sz="2200" dirty="0"/>
          </a:p>
          <a:p>
            <a:r>
              <a:rPr lang="en-US" sz="2200" dirty="0"/>
              <a:t>Huffman Coding</a:t>
            </a:r>
          </a:p>
          <a:p>
            <a:pPr lvl="1"/>
            <a:r>
              <a:rPr lang="en-US" sz="2200" dirty="0">
                <a:hlinkClick r:id="rId5"/>
              </a:rPr>
              <a:t>https://www.youtube.com/watch?v=saofdNsZiYY</a:t>
            </a:r>
            <a:endParaRPr lang="en-US" sz="2200" dirty="0"/>
          </a:p>
          <a:p>
            <a:r>
              <a:rPr lang="en-US" sz="2200" dirty="0"/>
              <a:t>AVL Tree</a:t>
            </a:r>
          </a:p>
          <a:p>
            <a:pPr lvl="1"/>
            <a:r>
              <a:rPr lang="en-US" sz="2200" dirty="0">
                <a:hlinkClick r:id="rId6"/>
              </a:rPr>
              <a:t>https://www.youtube.com/watch?v=_8qqlVH5NC0</a:t>
            </a:r>
            <a:endParaRPr lang="en-US" sz="2200" dirty="0"/>
          </a:p>
          <a:p>
            <a:r>
              <a:rPr lang="en-US" sz="2200" dirty="0"/>
              <a:t>B-tree</a:t>
            </a:r>
          </a:p>
          <a:p>
            <a:pPr lvl="1"/>
            <a:r>
              <a:rPr lang="en-US" sz="2200" dirty="0">
                <a:hlinkClick r:id="rId7"/>
              </a:rPr>
              <a:t>https://www.youtube.com/watch?v=aNU9XYYCHu8</a:t>
            </a:r>
            <a:endParaRPr lang="en-US" sz="2200" dirty="0"/>
          </a:p>
          <a:p>
            <a:endParaRPr lang="en-US" sz="2200" dirty="0"/>
          </a:p>
        </p:txBody>
      </p:sp>
      <p:sp>
        <p:nvSpPr>
          <p:cNvPr id="4" name="Date Placeholder 3"/>
          <p:cNvSpPr>
            <a:spLocks noGrp="1"/>
          </p:cNvSpPr>
          <p:nvPr>
            <p:ph type="dt" sz="half" idx="10"/>
          </p:nvPr>
        </p:nvSpPr>
        <p:spPr/>
        <p:txBody>
          <a:bodyPr/>
          <a:lstStyle/>
          <a:p>
            <a:fld id="{7F3E9BAF-9424-4753-84AF-09C94B5CB52E}" type="datetime1">
              <a:rPr lang="en-US" smtClean="0"/>
              <a:t>8/26/2026</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180</a:t>
            </a:fld>
            <a:endParaRPr lang="en-US"/>
          </a:p>
        </p:txBody>
      </p:sp>
      <p:sp>
        <p:nvSpPr>
          <p:cNvPr id="7" name="Title 1"/>
          <p:cNvSpPr txBox="1">
            <a:spLocks/>
          </p:cNvSpPr>
          <p:nvPr/>
        </p:nvSpPr>
        <p:spPr>
          <a:xfrm>
            <a:off x="2895600" y="1"/>
            <a:ext cx="7772400" cy="685799"/>
          </a:xfrm>
          <a:prstGeom prst="rect">
            <a:avLst/>
          </a:prstGeom>
          <a:noFill/>
        </p:spPr>
        <p:txBody>
          <a:bodyPr wrap="square" rtlCol="0">
            <a:spAutoFit/>
          </a:bodyPr>
          <a:lstStyle>
            <a:lvl1pPr algn="ctr">
              <a:spcBef>
                <a:spcPct val="0"/>
              </a:spcBef>
              <a:buNone/>
              <a:defRPr sz="3000">
                <a:solidFill>
                  <a:schemeClr val="tx1"/>
                </a:solidFill>
                <a:latin typeface="+mj-lt"/>
                <a:ea typeface="+mj-ea"/>
                <a:cs typeface="+mj-cs"/>
              </a:defRPr>
            </a:lvl1pPr>
          </a:lstStyle>
          <a:p>
            <a:r>
              <a:rPr lang="en-US" dirty="0"/>
              <a:t>Faculty Video Links, </a:t>
            </a:r>
            <a:r>
              <a:rPr lang="en-US" dirty="0" err="1"/>
              <a:t>Youtube</a:t>
            </a:r>
            <a:r>
              <a:rPr lang="en-US" dirty="0"/>
              <a:t> &amp; NPTEL Video Links and Online Courses Details  </a:t>
            </a:r>
          </a:p>
        </p:txBody>
      </p:sp>
    </p:spTree>
  </p:cSld>
  <p:clrMapOvr>
    <a:masterClrMapping/>
  </p:clrMapOvr>
  <p:transition spd="slow">
    <p:cove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69972A-E7CA-4FC5-B62C-620AF7679161}" type="datetime1">
              <a:rPr lang="en-US" smtClean="0"/>
              <a:t>8/26/2026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181</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Old Question Papers</a:t>
            </a:r>
          </a:p>
        </p:txBody>
      </p:sp>
      <p:pic>
        <p:nvPicPr>
          <p:cNvPr id="2" name="Picture 1"/>
          <p:cNvPicPr>
            <a:picLocks noChangeAspect="1"/>
          </p:cNvPicPr>
          <p:nvPr/>
        </p:nvPicPr>
        <p:blipFill>
          <a:blip r:embed="rId2"/>
          <a:stretch>
            <a:fillRect/>
          </a:stretch>
        </p:blipFill>
        <p:spPr>
          <a:xfrm>
            <a:off x="2971800" y="609600"/>
            <a:ext cx="9820276" cy="6857998"/>
          </a:xfrm>
          <a:prstGeom prst="rect">
            <a:avLst/>
          </a:prstGeom>
        </p:spPr>
      </p:pic>
    </p:spTree>
  </p:cSld>
  <p:clrMapOvr>
    <a:masterClrMapping/>
  </p:clrMapOvr>
  <p:transition spd="slow">
    <p:cove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A838E2-511E-4002-98EA-FF0390EC31B9}" type="datetime1">
              <a:rPr lang="en-US" smtClean="0"/>
              <a:t>8/26/2026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182</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Old Question Papers</a:t>
            </a:r>
          </a:p>
        </p:txBody>
      </p:sp>
      <p:pic>
        <p:nvPicPr>
          <p:cNvPr id="3" name="Picture 2"/>
          <p:cNvPicPr>
            <a:picLocks noChangeAspect="1"/>
          </p:cNvPicPr>
          <p:nvPr/>
        </p:nvPicPr>
        <p:blipFill>
          <a:blip r:embed="rId3"/>
          <a:stretch>
            <a:fillRect/>
          </a:stretch>
        </p:blipFill>
        <p:spPr>
          <a:xfrm>
            <a:off x="1143000" y="1"/>
            <a:ext cx="10744200" cy="6857998"/>
          </a:xfrm>
          <a:prstGeom prst="rect">
            <a:avLst/>
          </a:prstGeom>
        </p:spPr>
      </p:pic>
    </p:spTree>
    <p:extLst>
      <p:ext uri="{BB962C8B-B14F-4D97-AF65-F5344CB8AC3E}">
        <p14:creationId xmlns:p14="http://schemas.microsoft.com/office/powerpoint/2010/main" val="1467578729"/>
      </p:ext>
    </p:extLst>
  </p:cSld>
  <p:clrMapOvr>
    <a:masterClrMapping/>
  </p:clrMapOvr>
  <p:transition spd="slow">
    <p:cove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5177956-7058-427F-89F6-852A23BE2AF7}" type="datetime1">
              <a:rPr lang="en-US" smtClean="0"/>
              <a:t>8/26/2026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183</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Old Question Papers</a:t>
            </a:r>
          </a:p>
        </p:txBody>
      </p:sp>
      <p:pic>
        <p:nvPicPr>
          <p:cNvPr id="2" name="Picture 1"/>
          <p:cNvPicPr>
            <a:picLocks noChangeAspect="1"/>
          </p:cNvPicPr>
          <p:nvPr/>
        </p:nvPicPr>
        <p:blipFill>
          <a:blip r:embed="rId2"/>
          <a:stretch>
            <a:fillRect/>
          </a:stretch>
        </p:blipFill>
        <p:spPr>
          <a:xfrm>
            <a:off x="1905000" y="136524"/>
            <a:ext cx="10134600" cy="6721475"/>
          </a:xfrm>
          <a:prstGeom prst="rect">
            <a:avLst/>
          </a:prstGeom>
        </p:spPr>
      </p:pic>
    </p:spTree>
    <p:extLst>
      <p:ext uri="{BB962C8B-B14F-4D97-AF65-F5344CB8AC3E}">
        <p14:creationId xmlns:p14="http://schemas.microsoft.com/office/powerpoint/2010/main" val="2358531737"/>
      </p:ext>
    </p:extLst>
  </p:cSld>
  <p:clrMapOvr>
    <a:masterClrMapping/>
  </p:clrMapOvr>
  <p:transition spd="slow">
    <p:cove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601C54-EB48-49CF-B6B5-3E3079EF90C8}" type="datetime1">
              <a:rPr lang="en-US" smtClean="0"/>
              <a:t>8/26/2026</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184</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Old Question Papers</a:t>
            </a:r>
          </a:p>
        </p:txBody>
      </p:sp>
      <p:sp>
        <p:nvSpPr>
          <p:cNvPr id="3" name="Rectangle 2"/>
          <p:cNvSpPr/>
          <p:nvPr/>
        </p:nvSpPr>
        <p:spPr>
          <a:xfrm>
            <a:off x="990600" y="1181002"/>
            <a:ext cx="10744200" cy="2031325"/>
          </a:xfrm>
          <a:prstGeom prst="rect">
            <a:avLst/>
          </a:prstGeom>
        </p:spPr>
        <p:txBody>
          <a:bodyPr wrap="square">
            <a:spAutoFit/>
          </a:bodyPr>
          <a:lstStyle/>
          <a:p>
            <a:pPr marL="285750" indent="-285750" algn="just">
              <a:buFont typeface="Arial" panose="020B0604020202020204" pitchFamily="34" charset="0"/>
              <a:buChar char="•"/>
            </a:pPr>
            <a:r>
              <a:rPr lang="en-US" dirty="0">
                <a:hlinkClick r:id="rId2"/>
              </a:rPr>
              <a:t>http://www.aktuonline.com/papers/btech-cs-3-sem-data-structures-kcs301-2020.html</a:t>
            </a:r>
            <a:endParaRPr lang="en-US" dirty="0"/>
          </a:p>
          <a:p>
            <a:pPr marL="285750" indent="-285750" algn="just">
              <a:buFont typeface="Arial" panose="020B0604020202020204" pitchFamily="34" charset="0"/>
              <a:buChar char="•"/>
            </a:pPr>
            <a:r>
              <a:rPr lang="en-US" dirty="0">
                <a:hlinkClick r:id="rId3"/>
              </a:rPr>
              <a:t>http://www.aktuonline.com/papers/btech-cs-3-sem-data-structures-rcs-305-2018-19.html</a:t>
            </a:r>
            <a:endParaRPr lang="en-US" dirty="0"/>
          </a:p>
          <a:p>
            <a:pPr marL="285750" indent="-285750" algn="just">
              <a:buFont typeface="Arial" panose="020B0604020202020204" pitchFamily="34" charset="0"/>
              <a:buChar char="•"/>
            </a:pPr>
            <a:r>
              <a:rPr lang="en-US" dirty="0">
                <a:hlinkClick r:id="rId4"/>
              </a:rPr>
              <a:t>http://www.aktuonline.com/papers/btech-cs-3-sem-data-structures-rcs-305-2017-18.html</a:t>
            </a:r>
            <a:endParaRPr lang="en-US" dirty="0"/>
          </a:p>
          <a:p>
            <a:pPr marL="285750" indent="-285750" algn="just">
              <a:buFont typeface="Arial" panose="020B0604020202020204" pitchFamily="34" charset="0"/>
              <a:buChar char="•"/>
            </a:pPr>
            <a:r>
              <a:rPr lang="en-US" dirty="0">
                <a:hlinkClick r:id="rId5"/>
              </a:rPr>
              <a:t>http://www.aktuonline.com/papers/btech-cs-3-sem-data-structures-using-c-ncs-301-2016-17.html</a:t>
            </a:r>
            <a:endParaRPr lang="en-US" dirty="0"/>
          </a:p>
          <a:p>
            <a:pPr marL="285750" indent="-285750" algn="just">
              <a:buFont typeface="Arial" panose="020B0604020202020204" pitchFamily="34" charset="0"/>
              <a:buChar char="•"/>
            </a:pPr>
            <a:r>
              <a:rPr lang="en-US" dirty="0">
                <a:hlinkClick r:id="rId6"/>
              </a:rPr>
              <a:t>https://www.aktuonline.com/papers/btech-cs-3-sem-data-structures-kcs301-2020.html</a:t>
            </a:r>
            <a:r>
              <a:rPr lang="en-US" dirty="0"/>
              <a:t> </a:t>
            </a:r>
          </a:p>
          <a:p>
            <a:pPr marL="285750" indent="-285750" algn="just">
              <a:buFont typeface="Arial" panose="020B0604020202020204" pitchFamily="34" charset="0"/>
              <a:buChar char="•"/>
            </a:pPr>
            <a:r>
              <a:rPr lang="en-US" dirty="0">
                <a:hlinkClick r:id="rId7"/>
              </a:rPr>
              <a:t>https://firstranker.com/fr/frdA290120A1345373/download-aktu-b-tech-3rd-sem-2018-2019-data-structures-rcs-305-question-paper</a:t>
            </a:r>
            <a:r>
              <a:rPr lang="en-US" dirty="0"/>
              <a:t> </a:t>
            </a:r>
          </a:p>
        </p:txBody>
      </p:sp>
    </p:spTree>
    <p:extLst>
      <p:ext uri="{BB962C8B-B14F-4D97-AF65-F5344CB8AC3E}">
        <p14:creationId xmlns:p14="http://schemas.microsoft.com/office/powerpoint/2010/main" val="2130843659"/>
      </p:ext>
    </p:extLst>
  </p:cSld>
  <p:clrMapOvr>
    <a:masterClrMapping/>
  </p:clrMapOvr>
  <p:transition spd="slow">
    <p:cove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4800600"/>
          </a:xfrm>
        </p:spPr>
        <p:txBody>
          <a:bodyPr>
            <a:noAutofit/>
          </a:bodyPr>
          <a:lstStyle/>
          <a:p>
            <a:pPr algn="just"/>
            <a:r>
              <a:rPr lang="en-US" sz="2200" dirty="0"/>
              <a:t>Define extended binary tree, full binary tree, strictly binary tree and complete binary tree.</a:t>
            </a:r>
          </a:p>
          <a:p>
            <a:pPr algn="just"/>
            <a:r>
              <a:rPr lang="en-US" sz="2200" dirty="0"/>
              <a:t>Explain threaded binary tree.</a:t>
            </a:r>
          </a:p>
          <a:p>
            <a:pPr algn="just"/>
            <a:r>
              <a:rPr lang="en-US" sz="2200" dirty="0"/>
              <a:t>Can you find a unique tree when any two traversals are given? Using the following traversals construct the corresponding binary tree: </a:t>
            </a:r>
          </a:p>
          <a:p>
            <a:pPr lvl="1" algn="just"/>
            <a:r>
              <a:rPr lang="en-US" sz="2200" dirty="0"/>
              <a:t>INORDER: H K D B I L E A F C M J G </a:t>
            </a:r>
          </a:p>
          <a:p>
            <a:pPr lvl="1" algn="just"/>
            <a:r>
              <a:rPr lang="en-US" sz="2200" dirty="0"/>
              <a:t>PREORDER: A B D H K E I L C F G J M </a:t>
            </a:r>
          </a:p>
          <a:p>
            <a:pPr algn="just">
              <a:buNone/>
            </a:pPr>
            <a:r>
              <a:rPr lang="en-US" sz="2200" dirty="0"/>
              <a:t>	Also find the Post Order traversal of obtained tree.</a:t>
            </a:r>
          </a:p>
          <a:p>
            <a:pPr algn="just"/>
            <a:r>
              <a:rPr lang="en-US" sz="2200" dirty="0"/>
              <a:t>What is a B-Tree? Generate a B-Tree of order 4 with the alphabets (letters) arrive in the sequence as follows: a g f b k d h m j e s </a:t>
            </a:r>
            <a:r>
              <a:rPr lang="en-US" sz="2200" dirty="0" err="1"/>
              <a:t>i</a:t>
            </a:r>
            <a:r>
              <a:rPr lang="en-US" sz="2200" dirty="0"/>
              <a:t> r x c l n t u p </a:t>
            </a:r>
          </a:p>
          <a:p>
            <a:pPr algn="just"/>
            <a:r>
              <a:rPr lang="en-US" sz="2200" dirty="0"/>
              <a:t>Draw a binary Tree for the expression: A * B - (C + D) * (P /Q)</a:t>
            </a:r>
          </a:p>
        </p:txBody>
      </p:sp>
      <p:sp>
        <p:nvSpPr>
          <p:cNvPr id="4" name="Date Placeholder 3"/>
          <p:cNvSpPr>
            <a:spLocks noGrp="1"/>
          </p:cNvSpPr>
          <p:nvPr>
            <p:ph type="dt" sz="half" idx="10"/>
          </p:nvPr>
        </p:nvSpPr>
        <p:spPr/>
        <p:txBody>
          <a:bodyPr/>
          <a:lstStyle/>
          <a:p>
            <a:fld id="{89239BAF-EB8A-4913-9600-0F5F35933B9F}" type="datetime1">
              <a:rPr lang="en-US" smtClean="0"/>
              <a:t>8/26/2026</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185</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Expected Questions for University Exam </a:t>
            </a:r>
          </a:p>
        </p:txBody>
      </p:sp>
    </p:spTree>
    <p:extLst>
      <p:ext uri="{BB962C8B-B14F-4D97-AF65-F5344CB8AC3E}">
        <p14:creationId xmlns:p14="http://schemas.microsoft.com/office/powerpoint/2010/main" val="2232356009"/>
      </p:ext>
    </p:extLst>
  </p:cSld>
  <p:clrMapOvr>
    <a:masterClrMapping/>
  </p:clrMapOvr>
  <p:transition spd="slow">
    <p:cove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143000"/>
            <a:ext cx="10896600" cy="4800600"/>
          </a:xfrm>
        </p:spPr>
        <p:txBody>
          <a:bodyPr>
            <a:noAutofit/>
          </a:bodyPr>
          <a:lstStyle/>
          <a:p>
            <a:pPr algn="just"/>
            <a:r>
              <a:rPr lang="en-US" sz="2200" dirty="0"/>
              <a:t>What is a height balanced Tree? Why height balancing of Tree is required? Create an AVL Tree for the following elements: a, z, b, y, c, x, d, w, e, v, f </a:t>
            </a:r>
          </a:p>
          <a:p>
            <a:pPr algn="just"/>
            <a:r>
              <a:rPr lang="en-US" sz="2200" dirty="0"/>
              <a:t>Construct a B-tree of order 5 created by inserting the following elements 3, 14, 7, 1, 8, 5, 11, 17, 13, 6, 23, 12, 20, 26, 4, 16, 18, 24, 25, 19 Also delete elements 6, 23 and 3 from the constructed tree</a:t>
            </a:r>
          </a:p>
        </p:txBody>
      </p:sp>
      <p:sp>
        <p:nvSpPr>
          <p:cNvPr id="4" name="Date Placeholder 3"/>
          <p:cNvSpPr>
            <a:spLocks noGrp="1"/>
          </p:cNvSpPr>
          <p:nvPr>
            <p:ph type="dt" sz="half" idx="10"/>
          </p:nvPr>
        </p:nvSpPr>
        <p:spPr/>
        <p:txBody>
          <a:bodyPr/>
          <a:lstStyle/>
          <a:p>
            <a:fld id="{36DEE239-1364-4319-8BBB-993623E1079E}" type="datetime1">
              <a:rPr lang="en-US" smtClean="0"/>
              <a:t>8/26/2026</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186</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Expected Questions for University Exam </a:t>
            </a:r>
          </a:p>
        </p:txBody>
      </p:sp>
    </p:spTree>
    <p:extLst>
      <p:ext uri="{BB962C8B-B14F-4D97-AF65-F5344CB8AC3E}">
        <p14:creationId xmlns:p14="http://schemas.microsoft.com/office/powerpoint/2010/main" val="1399738374"/>
      </p:ext>
    </p:extLst>
  </p:cSld>
  <p:clrMapOvr>
    <a:masterClrMapping/>
  </p:clrMapOvr>
  <p:transition spd="slow">
    <p:cove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7A640EF-9BCD-4609-9D1A-6704CDB28572}" type="datetime1">
              <a:rPr lang="en-US" smtClean="0"/>
              <a:t>8/26/2026</a:t>
            </a:fld>
            <a:endParaRPr lang="en-US"/>
          </a:p>
        </p:txBody>
      </p:sp>
      <p:sp>
        <p:nvSpPr>
          <p:cNvPr id="5" name="Footer Placeholder 4"/>
          <p:cNvSpPr>
            <a:spLocks noGrp="1"/>
          </p:cNvSpPr>
          <p:nvPr>
            <p:ph type="ftr" sz="quarter" idx="11"/>
          </p:nvPr>
        </p:nvSpPr>
        <p:spPr>
          <a:xfrm>
            <a:off x="4038600" y="6356351"/>
            <a:ext cx="51816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187</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Recap of Unit</a:t>
            </a:r>
          </a:p>
        </p:txBody>
      </p:sp>
      <p:sp>
        <p:nvSpPr>
          <p:cNvPr id="2" name="Content Placeholder 1"/>
          <p:cNvSpPr>
            <a:spLocks noGrp="1"/>
          </p:cNvSpPr>
          <p:nvPr>
            <p:ph idx="1"/>
          </p:nvPr>
        </p:nvSpPr>
        <p:spPr>
          <a:xfrm>
            <a:off x="873432" y="990600"/>
            <a:ext cx="10480368" cy="4525963"/>
          </a:xfrm>
        </p:spPr>
        <p:txBody>
          <a:bodyPr>
            <a:normAutofit/>
          </a:bodyPr>
          <a:lstStyle/>
          <a:p>
            <a:pPr algn="just"/>
            <a:r>
              <a:rPr lang="en-US" sz="2200" dirty="0"/>
              <a:t>Knowledge of tree terminology and different types of trees.</a:t>
            </a:r>
          </a:p>
          <a:p>
            <a:pPr algn="just"/>
            <a:endParaRPr lang="en-US" sz="2200" dirty="0"/>
          </a:p>
          <a:p>
            <a:pPr algn="just"/>
            <a:r>
              <a:rPr lang="en-US" sz="2200" dirty="0"/>
              <a:t>Knowledge of application areas of trees.</a:t>
            </a:r>
          </a:p>
          <a:p>
            <a:pPr algn="just"/>
            <a:endParaRPr lang="en-US" sz="2200" dirty="0"/>
          </a:p>
          <a:p>
            <a:pPr algn="just"/>
            <a:r>
              <a:rPr lang="en-US" sz="2200" dirty="0"/>
              <a:t> Limitation of different trees and how those limitations are removed</a:t>
            </a:r>
            <a:endParaRPr lang="en-IN" sz="2200" dirty="0"/>
          </a:p>
        </p:txBody>
      </p:sp>
    </p:spTree>
  </p:cSld>
  <p:clrMapOvr>
    <a:masterClrMapping/>
  </p:clrMapOvr>
  <p:transition spd="slow">
    <p:cove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16C7C61-117B-4130-9338-1500C06999B4}" type="datetime1">
              <a:rPr lang="en-US" smtClean="0"/>
              <a:t>8/26/2026</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188</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References</a:t>
            </a:r>
          </a:p>
        </p:txBody>
      </p:sp>
      <p:sp>
        <p:nvSpPr>
          <p:cNvPr id="10" name="Content Placeholder 2"/>
          <p:cNvSpPr>
            <a:spLocks noGrp="1"/>
          </p:cNvSpPr>
          <p:nvPr>
            <p:ph idx="1"/>
          </p:nvPr>
        </p:nvSpPr>
        <p:spPr>
          <a:xfrm>
            <a:off x="701368" y="838200"/>
            <a:ext cx="11033432" cy="4966894"/>
          </a:xfrm>
        </p:spPr>
        <p:txBody>
          <a:bodyPr>
            <a:noAutofit/>
          </a:bodyPr>
          <a:lstStyle/>
          <a:p>
            <a:pPr algn="just"/>
            <a:r>
              <a:rPr lang="en-US" sz="2200" dirty="0"/>
              <a:t>Aaron M. </a:t>
            </a:r>
            <a:r>
              <a:rPr lang="en-US" sz="2200" dirty="0" err="1"/>
              <a:t>Tenenbaum</a:t>
            </a:r>
            <a:r>
              <a:rPr lang="en-US" sz="2200" dirty="0"/>
              <a:t>, </a:t>
            </a:r>
            <a:r>
              <a:rPr lang="en-US" sz="2200" dirty="0" err="1"/>
              <a:t>Yedidyah</a:t>
            </a:r>
            <a:r>
              <a:rPr lang="en-US" sz="2200" dirty="0"/>
              <a:t> </a:t>
            </a:r>
            <a:r>
              <a:rPr lang="en-US" sz="2200" dirty="0" err="1"/>
              <a:t>Langsam</a:t>
            </a:r>
            <a:r>
              <a:rPr lang="en-US" sz="2200" dirty="0"/>
              <a:t> and Moshe J. </a:t>
            </a:r>
            <a:r>
              <a:rPr lang="en-US" sz="2200" dirty="0" err="1"/>
              <a:t>Augenstein</a:t>
            </a:r>
            <a:r>
              <a:rPr lang="en-US" sz="2200" dirty="0"/>
              <a:t>, “Data Structures Using C and C++”, PHI Learning Private Limited, Delhi India</a:t>
            </a:r>
            <a:endParaRPr lang="en-IN" sz="2200" dirty="0"/>
          </a:p>
          <a:p>
            <a:pPr algn="just"/>
            <a:r>
              <a:rPr lang="en-US" sz="2200" dirty="0"/>
              <a:t>Horowitz and </a:t>
            </a:r>
            <a:r>
              <a:rPr lang="en-US" sz="2200" dirty="0" err="1"/>
              <a:t>Sahani</a:t>
            </a:r>
            <a:r>
              <a:rPr lang="en-US" sz="2200" dirty="0"/>
              <a:t>, “Fundamentals of Data Structures”, </a:t>
            </a:r>
            <a:r>
              <a:rPr lang="en-US" sz="2200" dirty="0" err="1"/>
              <a:t>Galgotia</a:t>
            </a:r>
            <a:r>
              <a:rPr lang="en-US" sz="2200" dirty="0"/>
              <a:t> Publications </a:t>
            </a:r>
            <a:r>
              <a:rPr lang="en-US" sz="2200" dirty="0" err="1"/>
              <a:t>Pvt</a:t>
            </a:r>
            <a:r>
              <a:rPr lang="en-US" sz="2200" dirty="0"/>
              <a:t> Ltd Delhi India.</a:t>
            </a:r>
            <a:endParaRPr lang="en-IN" sz="2200" dirty="0"/>
          </a:p>
          <a:p>
            <a:pPr algn="just"/>
            <a:r>
              <a:rPr lang="en-US" sz="2200" dirty="0" err="1"/>
              <a:t>Lipschutz</a:t>
            </a:r>
            <a:r>
              <a:rPr lang="en-US" sz="2200" dirty="0"/>
              <a:t>, “Data Structures” </a:t>
            </a:r>
            <a:r>
              <a:rPr lang="en-US" sz="2200" dirty="0" err="1"/>
              <a:t>Schaum’s</a:t>
            </a:r>
            <a:r>
              <a:rPr lang="en-US" sz="2200" dirty="0"/>
              <a:t> Outline Series, Tata </a:t>
            </a:r>
            <a:r>
              <a:rPr lang="en-US" sz="2200" dirty="0" err="1"/>
              <a:t>McGraw-hill</a:t>
            </a:r>
            <a:r>
              <a:rPr lang="en-US" sz="2200" dirty="0"/>
              <a:t> Education (India) Pvt. Ltd.</a:t>
            </a:r>
            <a:endParaRPr lang="en-IN" sz="2200" dirty="0"/>
          </a:p>
          <a:p>
            <a:pPr algn="just"/>
            <a:r>
              <a:rPr lang="en-US" sz="2200" dirty="0" err="1"/>
              <a:t>Thareja</a:t>
            </a:r>
            <a:r>
              <a:rPr lang="en-US" sz="2200" dirty="0"/>
              <a:t>, “Data Structure Using C” Oxford Higher Education.</a:t>
            </a:r>
            <a:endParaRPr lang="en-IN" sz="2200" dirty="0"/>
          </a:p>
          <a:p>
            <a:pPr algn="just"/>
            <a:r>
              <a:rPr lang="en-US" sz="2200" dirty="0"/>
              <a:t>AK Sharma, “Data Structure Using C”, Pearson Education India.</a:t>
            </a:r>
            <a:endParaRPr lang="en-IN" sz="2200" dirty="0"/>
          </a:p>
          <a:p>
            <a:pPr algn="just"/>
            <a:r>
              <a:rPr lang="en-US" sz="2200" dirty="0"/>
              <a:t>Michael T. Goodrich, Roberto </a:t>
            </a:r>
            <a:r>
              <a:rPr lang="en-US" sz="2200" dirty="0" err="1"/>
              <a:t>Tamassia</a:t>
            </a:r>
            <a:r>
              <a:rPr lang="en-US" sz="2200" dirty="0"/>
              <a:t>, David M. Mount “Data Structures and Algorithms in C++”, Wiley India.</a:t>
            </a:r>
            <a:endParaRPr lang="en-IN" sz="2200" dirty="0"/>
          </a:p>
          <a:p>
            <a:pPr algn="just"/>
            <a:r>
              <a:rPr lang="en-US" sz="2200" dirty="0"/>
              <a:t>. P. S. </a:t>
            </a:r>
            <a:r>
              <a:rPr lang="en-US" sz="2200" dirty="0" err="1"/>
              <a:t>Deshpandey</a:t>
            </a:r>
            <a:r>
              <a:rPr lang="en-US" sz="2200" dirty="0"/>
              <a:t>, “C and Data structure”, Wiley </a:t>
            </a:r>
            <a:r>
              <a:rPr lang="en-US" sz="2200" dirty="0" err="1"/>
              <a:t>Dreamtech</a:t>
            </a:r>
            <a:r>
              <a:rPr lang="en-US" sz="2200" dirty="0"/>
              <a:t> Publication.</a:t>
            </a:r>
            <a:endParaRPr lang="en-IN" sz="2200" dirty="0"/>
          </a:p>
        </p:txBody>
      </p:sp>
    </p:spTree>
    <p:extLst>
      <p:ext uri="{BB962C8B-B14F-4D97-AF65-F5344CB8AC3E}">
        <p14:creationId xmlns:p14="http://schemas.microsoft.com/office/powerpoint/2010/main" val="2555220207"/>
      </p:ext>
    </p:extLst>
  </p:cSld>
  <p:clrMapOvr>
    <a:masterClrMapping/>
  </p:clrMapOvr>
  <p:transition spd="slow">
    <p:cove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70B587F-411C-47EF-961E-A05F825F6429}" type="datetime1">
              <a:rPr lang="en-US" smtClean="0"/>
              <a:t>8/26/2026</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it-IT" dirty="0"/>
              <a:t>Mr. Shamshad Ali             BCSE401: DSA-II  Unit-I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189</a:t>
            </a:fld>
            <a:endParaRPr lang="en-US"/>
          </a:p>
        </p:txBody>
      </p:sp>
      <p:sp>
        <p:nvSpPr>
          <p:cNvPr id="7" name="Title 1"/>
          <p:cNvSpPr txBox="1">
            <a:spLocks/>
          </p:cNvSpPr>
          <p:nvPr/>
        </p:nvSpPr>
        <p:spPr>
          <a:xfrm>
            <a:off x="2895600" y="2"/>
            <a:ext cx="7772400" cy="685799"/>
          </a:xfrm>
          <a:prstGeom prst="rect">
            <a:avLst/>
          </a:prstGeom>
          <a:noFill/>
        </p:spPr>
        <p:txBody>
          <a:bodyPr wrap="square" rtlCol="0">
            <a:spAutoFit/>
          </a:bodyPr>
          <a:lstStyle>
            <a:defPPr>
              <a:defRPr lang="en-US"/>
            </a:defPPr>
            <a:lvl1pPr algn="ctr">
              <a:spcBef>
                <a:spcPct val="0"/>
              </a:spcBef>
              <a:buNone/>
              <a:defRPr sz="3000">
                <a:solidFill>
                  <a:schemeClr val="tx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dirty="0"/>
          </a:p>
        </p:txBody>
      </p:sp>
      <p:sp>
        <p:nvSpPr>
          <p:cNvPr id="9" name="Content Placeholder 8"/>
          <p:cNvSpPr>
            <a:spLocks noGrp="1"/>
          </p:cNvSpPr>
          <p:nvPr>
            <p:ph idx="1"/>
          </p:nvPr>
        </p:nvSpPr>
        <p:spPr>
          <a:xfrm>
            <a:off x="4371885" y="2133600"/>
            <a:ext cx="4286430" cy="2326791"/>
          </a:xfrm>
          <a:prstGeom prst="rect">
            <a:avLst/>
          </a:prstGeom>
          <a:noFill/>
        </p:spPr>
        <p:txBody>
          <a:bodyPr vert="horz" wrap="none" lIns="91440" tIns="45720" rIns="91440" bIns="45720" rtlCol="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Any Query?</a:t>
            </a:r>
          </a:p>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Tree>
    <p:extLst>
      <p:ext uri="{BB962C8B-B14F-4D97-AF65-F5344CB8AC3E}">
        <p14:creationId xmlns:p14="http://schemas.microsoft.com/office/powerpoint/2010/main" val="3505845510"/>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3515</TotalTime>
  <Words>13385</Words>
  <Application>Microsoft Office PowerPoint</Application>
  <PresentationFormat>Widescreen</PresentationFormat>
  <Paragraphs>1790</Paragraphs>
  <Slides>189</Slides>
  <Notes>12</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189</vt:i4>
      </vt:variant>
    </vt:vector>
  </HeadingPairs>
  <TitlesOfParts>
    <vt:vector size="209" baseType="lpstr">
      <vt:lpstr>ADLaM Display</vt:lpstr>
      <vt:lpstr>Arial</vt:lpstr>
      <vt:lpstr>Calibri</vt:lpstr>
      <vt:lpstr>Consolas</vt:lpstr>
      <vt:lpstr>erdana</vt:lpstr>
      <vt:lpstr>inter-bold</vt:lpstr>
      <vt:lpstr>inter-regular</vt:lpstr>
      <vt:lpstr>Noto Sans</vt:lpstr>
      <vt:lpstr>Nunito</vt:lpstr>
      <vt:lpstr>Roboto</vt:lpstr>
      <vt:lpstr>Source Sans 3</vt:lpstr>
      <vt:lpstr>Symbol</vt:lpstr>
      <vt:lpstr>times new roman</vt:lpstr>
      <vt:lpstr>times new roman</vt:lpstr>
      <vt:lpstr>Trebuchet MS</vt:lpstr>
      <vt:lpstr>urw-din</vt:lpstr>
      <vt:lpstr>var(--font-sofia)</vt:lpstr>
      <vt:lpstr>verdana</vt:lpstr>
      <vt:lpstr>Wingdings</vt:lpstr>
      <vt:lpstr>Office Theme</vt:lpstr>
      <vt:lpstr>PowerPoint Presentation</vt:lpstr>
      <vt:lpstr>Faculty Introduction</vt:lpstr>
      <vt:lpstr>Evaluation Scheme</vt:lpstr>
      <vt:lpstr>Syllabus Contents</vt:lpstr>
      <vt:lpstr>Syllabus Contents</vt:lpstr>
      <vt:lpstr>Syllabus Contents</vt:lpstr>
      <vt:lpstr>Syllabus Contents</vt:lpstr>
      <vt:lpstr>Syllabus Contents</vt:lpstr>
      <vt:lpstr>Branch-wise Applications</vt:lpstr>
      <vt:lpstr>Branch-wise Applications</vt:lpstr>
      <vt:lpstr>Branch-wise Applications</vt:lpstr>
      <vt:lpstr>Branch-wise Applications</vt:lpstr>
      <vt:lpstr>Branch-wise Applications</vt:lpstr>
      <vt:lpstr>Branch-wise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 Tree from given Inorder and Postorder traversals </vt:lpstr>
      <vt:lpstr>Construct Tree from given Inorder and Postorder traversals </vt:lpstr>
      <vt:lpstr>Construct Tree from given Inorder and Preorder traversals </vt:lpstr>
      <vt:lpstr>Construct Tree from given Inorder and Preorder traversals </vt:lpstr>
      <vt:lpstr>PowerPoint Presentation</vt:lpstr>
      <vt:lpstr>Binary Search Tree Representation</vt:lpstr>
      <vt:lpstr>PowerPoint Presentation</vt:lpstr>
      <vt:lpstr>PowerPoint Presentation</vt:lpstr>
      <vt:lpstr>PowerPoint Presentation</vt:lpstr>
      <vt:lpstr>PowerPoint Presentation</vt:lpstr>
      <vt:lpstr>PowerPoint Presentation</vt:lpstr>
      <vt:lpstr>PowerPoint Presentation</vt:lpstr>
      <vt:lpstr>Binary Search Tree Deletion</vt:lpstr>
      <vt:lpstr>Binary Search Tree Deletion</vt:lpstr>
      <vt:lpstr>Binary Search Tree Deletion</vt:lpstr>
      <vt:lpstr>PowerPoint Presentation</vt:lpstr>
      <vt:lpstr>Binary Search Tree Representation</vt:lpstr>
      <vt:lpstr>PowerPoint Presentation</vt:lpstr>
      <vt:lpstr>PowerPoint Presentation</vt:lpstr>
      <vt:lpstr>PowerPoint Presentation</vt:lpstr>
      <vt:lpstr>PowerPoint Presentation</vt:lpstr>
      <vt:lpstr>PowerPoint Presentation</vt:lpstr>
      <vt:lpstr>Binary Heap </vt:lpstr>
      <vt:lpstr>Operation on Binary Heap </vt:lpstr>
      <vt:lpstr>Insert 32 in this tree</vt:lpstr>
      <vt:lpstr>PowerPoint Presentation</vt:lpstr>
      <vt:lpstr>Extract Max</vt:lpstr>
      <vt:lpstr>Extract Max</vt:lpstr>
      <vt:lpstr>Change Priority/Increase Key</vt:lpstr>
      <vt:lpstr>Priority Queue Algorithm</vt:lpstr>
      <vt:lpstr>Priority Queue Algorithm</vt:lpstr>
      <vt:lpstr>Heap-Increase-Key(A, i, key) </vt:lpstr>
      <vt:lpstr>Max_Heap-Insert(A, key)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Threaded Binary Tree(CO1)</vt:lpstr>
      <vt:lpstr>TBT Contd…</vt:lpstr>
      <vt:lpstr>TBT Contd…</vt:lpstr>
      <vt:lpstr>PowerPoint Presentation</vt:lpstr>
      <vt:lpstr>TBT Node Implementation</vt:lpstr>
      <vt:lpstr>Traversing a Threaded Binary Tree </vt:lpstr>
      <vt:lpstr>TBT inorder traversal</vt:lpstr>
      <vt:lpstr>In the Example</vt:lpstr>
      <vt:lpstr> </vt:lpstr>
      <vt:lpstr>PowerPoint Presentation</vt:lpstr>
      <vt:lpstr>Insertion in TBT</vt:lpstr>
      <vt:lpstr>Insertion in TBT</vt:lpstr>
      <vt:lpstr>PowerPoint Presentation</vt:lpstr>
      <vt:lpstr>Insertion in TBT</vt:lpstr>
      <vt:lpstr>Insertion in TBT</vt:lpstr>
      <vt:lpstr>Insertion in TBT</vt:lpstr>
      <vt:lpstr>PowerPoint Presentation</vt:lpstr>
      <vt:lpstr>PowerPoint Presentation</vt:lpstr>
      <vt:lpstr>Prefix Rule-</vt:lpstr>
      <vt:lpstr>PowerPoint Presentation</vt:lpstr>
      <vt:lpstr>PowerPoint Presentation</vt:lpstr>
      <vt:lpstr>Important Formulas-</vt:lpstr>
      <vt:lpstr>PowerPoint Presentation</vt:lpstr>
      <vt:lpstr>PowerPoint Presentation</vt:lpstr>
      <vt:lpstr>PowerPoint Presentation</vt:lpstr>
      <vt:lpstr>PowerPoint Presentation</vt:lpstr>
      <vt:lpstr>Step-03:</vt:lpstr>
      <vt:lpstr>Step-04:</vt:lpstr>
      <vt:lpstr>Step-05:</vt:lpstr>
      <vt:lpstr>Step-06:</vt:lpstr>
      <vt:lpstr>Step-07: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Priority Queue</vt:lpstr>
      <vt:lpstr>PowerPoint Presentation</vt:lpstr>
      <vt:lpstr>PowerPoint Presentation</vt:lpstr>
      <vt:lpstr>PowerPoint Presentation</vt:lpstr>
      <vt:lpstr>PowerPoint Presentation</vt:lpstr>
      <vt:lpstr>Glossary 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Utkarsh Kushwaha</cp:lastModifiedBy>
  <cp:revision>386</cp:revision>
  <dcterms:created xsi:type="dcterms:W3CDTF">2006-08-16T00:00:00Z</dcterms:created>
  <dcterms:modified xsi:type="dcterms:W3CDTF">2026-08-26T06:28:11Z</dcterms:modified>
</cp:coreProperties>
</file>